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0"/>
  </p:notesMasterIdLst>
  <p:sldIdLst>
    <p:sldId id="256" r:id="rId2"/>
    <p:sldId id="268" r:id="rId3"/>
    <p:sldId id="269" r:id="rId4"/>
    <p:sldId id="270" r:id="rId5"/>
    <p:sldId id="284" r:id="rId6"/>
    <p:sldId id="271" r:id="rId7"/>
    <p:sldId id="272" r:id="rId8"/>
    <p:sldId id="273" r:id="rId9"/>
    <p:sldId id="274" r:id="rId10"/>
    <p:sldId id="275" r:id="rId11"/>
    <p:sldId id="276" r:id="rId12"/>
    <p:sldId id="285" r:id="rId13"/>
    <p:sldId id="277" r:id="rId14"/>
    <p:sldId id="278" r:id="rId15"/>
    <p:sldId id="286" r:id="rId16"/>
    <p:sldId id="287" r:id="rId17"/>
    <p:sldId id="288" r:id="rId18"/>
    <p:sldId id="289" r:id="rId19"/>
    <p:sldId id="279" r:id="rId20"/>
    <p:sldId id="280" r:id="rId21"/>
    <p:sldId id="281" r:id="rId22"/>
    <p:sldId id="282" r:id="rId23"/>
    <p:sldId id="283"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28" r:id="rId62"/>
    <p:sldId id="329" r:id="rId63"/>
    <p:sldId id="330" r:id="rId64"/>
    <p:sldId id="331" r:id="rId65"/>
    <p:sldId id="332" r:id="rId66"/>
    <p:sldId id="333" r:id="rId67"/>
    <p:sldId id="334" r:id="rId68"/>
    <p:sldId id="335" r:id="rId69"/>
    <p:sldId id="336" r:id="rId70"/>
    <p:sldId id="337" r:id="rId71"/>
    <p:sldId id="338" r:id="rId72"/>
    <p:sldId id="339" r:id="rId73"/>
    <p:sldId id="340" r:id="rId74"/>
    <p:sldId id="341"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57" r:id="rId91"/>
    <p:sldId id="358" r:id="rId92"/>
    <p:sldId id="359" r:id="rId93"/>
    <p:sldId id="360" r:id="rId94"/>
    <p:sldId id="361" r:id="rId95"/>
    <p:sldId id="362" r:id="rId96"/>
    <p:sldId id="363" r:id="rId97"/>
    <p:sldId id="364" r:id="rId98"/>
    <p:sldId id="365" r:id="rId99"/>
    <p:sldId id="366" r:id="rId100"/>
    <p:sldId id="367" r:id="rId101"/>
    <p:sldId id="260" r:id="rId102"/>
    <p:sldId id="261" r:id="rId103"/>
    <p:sldId id="262" r:id="rId104"/>
    <p:sldId id="263" r:id="rId105"/>
    <p:sldId id="264" r:id="rId106"/>
    <p:sldId id="265" r:id="rId107"/>
    <p:sldId id="266" r:id="rId108"/>
    <p:sldId id="267" r:id="rId10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E62372-24DB-4CA0-A076-D3A4D5887DC9}" type="datetimeFigureOut">
              <a:rPr lang="en-IN" smtClean="0"/>
              <a:t>30-01-2025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51303D-03C7-4165-8CD4-3D9CD37699B0}" type="slidenum">
              <a:rPr lang="en-IN" smtClean="0"/>
              <a:t>‹#›</a:t>
            </a:fld>
            <a:endParaRPr lang="en-IN"/>
          </a:p>
        </p:txBody>
      </p:sp>
    </p:spTree>
    <p:extLst>
      <p:ext uri="{BB962C8B-B14F-4D97-AF65-F5344CB8AC3E}">
        <p14:creationId xmlns:p14="http://schemas.microsoft.com/office/powerpoint/2010/main" val="1042402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EF3674D2-6B3D-42A6-AB7E-1EA6E640A03C}"/>
              </a:ext>
            </a:extLst>
          </p:cNvPr>
          <p:cNvSpPr>
            <a:spLocks noGrp="1" noChangeArrowheads="1"/>
          </p:cNvSpPr>
          <p:nvPr>
            <p:ph type="sldNum" sz="quarter" idx="5"/>
          </p:nvPr>
        </p:nvSpPr>
        <p:spPr>
          <a:ln/>
        </p:spPr>
        <p:txBody>
          <a:bodyPr/>
          <a:lstStyle/>
          <a:p>
            <a:fld id="{309085FE-50D4-4608-991C-E0D0BDD3270F}" type="slidenum">
              <a:rPr lang="en-US" altLang="en-US"/>
              <a:pPr/>
              <a:t>8</a:t>
            </a:fld>
            <a:endParaRPr lang="en-US" altLang="en-US"/>
          </a:p>
        </p:txBody>
      </p:sp>
      <p:sp>
        <p:nvSpPr>
          <p:cNvPr id="188418" name="Rectangle 2">
            <a:extLst>
              <a:ext uri="{FF2B5EF4-FFF2-40B4-BE49-F238E27FC236}">
                <a16:creationId xmlns:a16="http://schemas.microsoft.com/office/drawing/2014/main" xmlns="" id="{0F659500-86B4-4FAB-A185-0471967ED77F}"/>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xmlns="" id="{24D2E64F-937F-4BA5-B3F4-B26C213AC5B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52B46DAD-3D87-4CA3-8EAC-8F2E661128BA}"/>
              </a:ext>
            </a:extLst>
          </p:cNvPr>
          <p:cNvSpPr>
            <a:spLocks noGrp="1" noChangeArrowheads="1"/>
          </p:cNvSpPr>
          <p:nvPr>
            <p:ph type="sldNum" sz="quarter" idx="5"/>
          </p:nvPr>
        </p:nvSpPr>
        <p:spPr>
          <a:ln/>
        </p:spPr>
        <p:txBody>
          <a:bodyPr/>
          <a:lstStyle/>
          <a:p>
            <a:fld id="{FAD3B4EE-9836-49DE-A7FE-5D6E2443628A}" type="slidenum">
              <a:rPr lang="en-US" altLang="en-US"/>
              <a:pPr/>
              <a:t>9</a:t>
            </a:fld>
            <a:endParaRPr lang="en-US" altLang="en-US"/>
          </a:p>
        </p:txBody>
      </p:sp>
      <p:sp>
        <p:nvSpPr>
          <p:cNvPr id="189442" name="Rectangle 2">
            <a:extLst>
              <a:ext uri="{FF2B5EF4-FFF2-40B4-BE49-F238E27FC236}">
                <a16:creationId xmlns:a16="http://schemas.microsoft.com/office/drawing/2014/main" xmlns="" id="{86A1ED6B-7154-4A69-8084-1B1394768F4F}"/>
              </a:ext>
            </a:extLst>
          </p:cNvPr>
          <p:cNvSpPr>
            <a:spLocks noGrp="1" noRot="1" noChangeAspect="1" noChangeArrowheads="1" noTextEdit="1"/>
          </p:cNvSpPr>
          <p:nvPr>
            <p:ph type="sldImg"/>
          </p:nvPr>
        </p:nvSpPr>
        <p:spPr>
          <a:ln/>
        </p:spPr>
      </p:sp>
      <p:sp>
        <p:nvSpPr>
          <p:cNvPr id="189443" name="Rectangle 3">
            <a:extLst>
              <a:ext uri="{FF2B5EF4-FFF2-40B4-BE49-F238E27FC236}">
                <a16:creationId xmlns:a16="http://schemas.microsoft.com/office/drawing/2014/main" xmlns="" id="{3B39F047-F469-4748-B81D-AE6053A8CAA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E39EF26D-0833-4C75-8C81-C7A2AD31A38E}"/>
              </a:ext>
            </a:extLst>
          </p:cNvPr>
          <p:cNvSpPr>
            <a:spLocks noGrp="1" noChangeArrowheads="1"/>
          </p:cNvSpPr>
          <p:nvPr>
            <p:ph type="sldNum" sz="quarter" idx="5"/>
          </p:nvPr>
        </p:nvSpPr>
        <p:spPr>
          <a:ln/>
        </p:spPr>
        <p:txBody>
          <a:bodyPr/>
          <a:lstStyle/>
          <a:p>
            <a:fld id="{6D98502A-2C93-4279-8029-5A536AB8715A}" type="slidenum">
              <a:rPr lang="en-US" altLang="en-US"/>
              <a:pPr/>
              <a:t>10</a:t>
            </a:fld>
            <a:endParaRPr lang="en-US" altLang="en-US"/>
          </a:p>
        </p:txBody>
      </p:sp>
      <p:sp>
        <p:nvSpPr>
          <p:cNvPr id="190466" name="Rectangle 2">
            <a:extLst>
              <a:ext uri="{FF2B5EF4-FFF2-40B4-BE49-F238E27FC236}">
                <a16:creationId xmlns:a16="http://schemas.microsoft.com/office/drawing/2014/main" xmlns="" id="{175659E9-EBB4-4D8F-B3A5-728A1F5B4441}"/>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xmlns="" id="{57BB00D7-BC5D-42A2-A4E8-B06DBD64252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0659A666-2D40-4601-B2B5-39BAB7A1F379}"/>
              </a:ext>
            </a:extLst>
          </p:cNvPr>
          <p:cNvSpPr>
            <a:spLocks noGrp="1" noChangeArrowheads="1"/>
          </p:cNvSpPr>
          <p:nvPr>
            <p:ph type="sldNum" sz="quarter" idx="5"/>
          </p:nvPr>
        </p:nvSpPr>
        <p:spPr>
          <a:ln/>
        </p:spPr>
        <p:txBody>
          <a:bodyPr/>
          <a:lstStyle/>
          <a:p>
            <a:fld id="{EF003664-85DF-4BBC-B39B-1A2C39A2B365}" type="slidenum">
              <a:rPr lang="en-US" altLang="en-US"/>
              <a:pPr/>
              <a:t>11</a:t>
            </a:fld>
            <a:endParaRPr lang="en-US" altLang="en-US"/>
          </a:p>
        </p:txBody>
      </p:sp>
      <p:sp>
        <p:nvSpPr>
          <p:cNvPr id="172034" name="Rectangle 2">
            <a:extLst>
              <a:ext uri="{FF2B5EF4-FFF2-40B4-BE49-F238E27FC236}">
                <a16:creationId xmlns:a16="http://schemas.microsoft.com/office/drawing/2014/main" xmlns="" id="{436136DA-B72B-4763-825D-40EB70A5343D}"/>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xmlns="" id="{2DE7B6C0-C879-42D3-84BF-B090622BD95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AD2B0A68-7849-4AC0-8035-4EDB5EFB7D23}"/>
              </a:ext>
            </a:extLst>
          </p:cNvPr>
          <p:cNvSpPr>
            <a:spLocks noGrp="1" noChangeArrowheads="1"/>
          </p:cNvSpPr>
          <p:nvPr>
            <p:ph type="sldNum" sz="quarter" idx="5"/>
          </p:nvPr>
        </p:nvSpPr>
        <p:spPr>
          <a:ln/>
        </p:spPr>
        <p:txBody>
          <a:bodyPr/>
          <a:lstStyle/>
          <a:p>
            <a:fld id="{5F3A30CC-98FF-4083-8222-9691F781241E}" type="slidenum">
              <a:rPr lang="en-US" altLang="en-US"/>
              <a:pPr/>
              <a:t>13</a:t>
            </a:fld>
            <a:endParaRPr lang="en-US" altLang="en-US"/>
          </a:p>
        </p:txBody>
      </p:sp>
      <p:sp>
        <p:nvSpPr>
          <p:cNvPr id="176130" name="Rectangle 2">
            <a:extLst>
              <a:ext uri="{FF2B5EF4-FFF2-40B4-BE49-F238E27FC236}">
                <a16:creationId xmlns:a16="http://schemas.microsoft.com/office/drawing/2014/main" xmlns="" id="{238EE995-5376-4369-890B-0895788996E1}"/>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xmlns="" id="{25B9E405-31B0-4D7B-A870-97F4BAB794B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B3038CD7-03B8-48BF-9C4A-A7103EF04DD8}"/>
              </a:ext>
            </a:extLst>
          </p:cNvPr>
          <p:cNvSpPr>
            <a:spLocks noGrp="1" noChangeArrowheads="1"/>
          </p:cNvSpPr>
          <p:nvPr>
            <p:ph type="sldNum" sz="quarter" idx="5"/>
          </p:nvPr>
        </p:nvSpPr>
        <p:spPr>
          <a:ln/>
        </p:spPr>
        <p:txBody>
          <a:bodyPr/>
          <a:lstStyle/>
          <a:p>
            <a:fld id="{019BC48F-9495-498B-B9C8-023752B9C2FA}" type="slidenum">
              <a:rPr lang="en-US" altLang="en-US"/>
              <a:pPr/>
              <a:t>20</a:t>
            </a:fld>
            <a:endParaRPr lang="en-US" altLang="en-US"/>
          </a:p>
        </p:txBody>
      </p:sp>
      <p:sp>
        <p:nvSpPr>
          <p:cNvPr id="182274" name="Rectangle 2">
            <a:extLst>
              <a:ext uri="{FF2B5EF4-FFF2-40B4-BE49-F238E27FC236}">
                <a16:creationId xmlns:a16="http://schemas.microsoft.com/office/drawing/2014/main" xmlns="" id="{D8A6EE21-2BA9-4D68-8F57-8ECE6CDF5017}"/>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xmlns="" id="{C1F2B32A-EE87-44FB-974E-7E045FCBA570}"/>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02ED3CB-4C7F-4288-A067-3E00D911B98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3757230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02ED3CB-4C7F-4288-A067-3E00D911B98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3612452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2ED3CB-4C7F-4288-A067-3E00D911B98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3851218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02ED3CB-4C7F-4288-A067-3E00D911B980}" type="datetimeFigureOut">
              <a:rPr lang="en-IN" smtClean="0"/>
              <a:t>30-01-2025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111739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02ED3CB-4C7F-4288-A067-3E00D911B980}" type="datetimeFigureOut">
              <a:rPr lang="en-IN" smtClean="0"/>
              <a:t>30-01-2025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4161778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02ED3CB-4C7F-4288-A067-3E00D911B980}" type="datetimeFigureOut">
              <a:rPr lang="en-IN" smtClean="0"/>
              <a:t>30-01-2025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3645802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2ED3CB-4C7F-4288-A067-3E00D911B980}" type="datetimeFigureOut">
              <a:rPr lang="en-IN" smtClean="0"/>
              <a:t>30-01-2025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358864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2ED3CB-4C7F-4288-A067-3E00D911B980}" type="datetimeFigureOut">
              <a:rPr lang="en-IN" smtClean="0"/>
              <a:t>30-01-2025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399252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2ED3CB-4C7F-4288-A067-3E00D911B980}" type="datetimeFigureOut">
              <a:rPr lang="en-IN" smtClean="0"/>
              <a:t>30-01-2025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145635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02ED3CB-4C7F-4288-A067-3E00D911B98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2395788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02ED3CB-4C7F-4288-A067-3E00D911B980}" type="datetimeFigureOut">
              <a:rPr lang="en-IN" smtClean="0"/>
              <a:t>30-01-2025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E1A48-DB71-4231-B777-0F90DA95822F}" type="slidenum">
              <a:rPr lang="en-IN" smtClean="0"/>
              <a:t>‹#›</a:t>
            </a:fld>
            <a:endParaRPr lang="en-IN"/>
          </a:p>
        </p:txBody>
      </p:sp>
    </p:spTree>
    <p:extLst>
      <p:ext uri="{BB962C8B-B14F-4D97-AF65-F5344CB8AC3E}">
        <p14:creationId xmlns:p14="http://schemas.microsoft.com/office/powerpoint/2010/main" val="3633147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2ED3CB-4C7F-4288-A067-3E00D911B980}" type="datetimeFigureOut">
              <a:rPr lang="en-IN" smtClean="0"/>
              <a:t>30-01-2025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4E1A48-DB71-4231-B777-0F90DA95822F}" type="slidenum">
              <a:rPr lang="en-IN" smtClean="0"/>
              <a:t>‹#›</a:t>
            </a:fld>
            <a:endParaRPr lang="en-IN"/>
          </a:p>
        </p:txBody>
      </p:sp>
    </p:spTree>
    <p:extLst>
      <p:ext uri="{BB962C8B-B14F-4D97-AF65-F5344CB8AC3E}">
        <p14:creationId xmlns:p14="http://schemas.microsoft.com/office/powerpoint/2010/main" val="1822406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0.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2.png"/><Relationship Id="rId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1.png"/><Relationship Id="rId9" Type="http://schemas.openxmlformats.org/officeDocument/2006/relationships/image" Target="../media/image20.png"/></Relationships>
</file>

<file path=ppt/slides/_rels/slide6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0.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2.png"/><Relationship Id="rId5" Type="http://schemas.openxmlformats.org/officeDocument/2006/relationships/image" Target="../media/image24.png"/><Relationship Id="rId10" Type="http://schemas.openxmlformats.org/officeDocument/2006/relationships/image" Target="../media/image21.png"/><Relationship Id="rId4" Type="http://schemas.openxmlformats.org/officeDocument/2006/relationships/image" Target="../media/image11.png"/><Relationship Id="rId9" Type="http://schemas.openxmlformats.org/officeDocument/2006/relationships/image" Target="../media/image2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196752"/>
            <a:ext cx="7772400" cy="1470025"/>
          </a:xfrm>
        </p:spPr>
        <p:txBody>
          <a:bodyPr/>
          <a:lstStyle/>
          <a:p>
            <a:r>
              <a:rPr lang="en-IN" dirty="0" smtClean="0"/>
              <a:t>Unit - 1</a:t>
            </a:r>
            <a:endParaRPr lang="en-IN" dirty="0"/>
          </a:p>
        </p:txBody>
      </p:sp>
      <p:sp>
        <p:nvSpPr>
          <p:cNvPr id="3" name="Subtitle 2"/>
          <p:cNvSpPr>
            <a:spLocks noGrp="1"/>
          </p:cNvSpPr>
          <p:nvPr>
            <p:ph type="subTitle" idx="1"/>
          </p:nvPr>
        </p:nvSpPr>
        <p:spPr>
          <a:xfrm>
            <a:off x="1331640" y="2636912"/>
            <a:ext cx="6656784" cy="3816424"/>
          </a:xfrm>
        </p:spPr>
        <p:txBody>
          <a:bodyPr>
            <a:noAutofit/>
          </a:bodyPr>
          <a:lstStyle/>
          <a:p>
            <a:r>
              <a:rPr lang="en-US" sz="2000" b="1" dirty="0">
                <a:solidFill>
                  <a:schemeClr val="tx1"/>
                </a:solidFill>
                <a:latin typeface="Times New Roman" pitchFamily="18" charset="0"/>
                <a:cs typeface="Times New Roman" pitchFamily="18" charset="0"/>
              </a:rPr>
              <a:t>Introduction: </a:t>
            </a:r>
            <a:r>
              <a:rPr lang="en-US" sz="2000" dirty="0">
                <a:solidFill>
                  <a:schemeClr val="tx1"/>
                </a:solidFill>
                <a:latin typeface="Times New Roman" pitchFamily="18" charset="0"/>
                <a:cs typeface="Times New Roman" pitchFamily="18" charset="0"/>
              </a:rPr>
              <a:t>Foundations of AI, History, State of the Art, Risks and Benefits.</a:t>
            </a:r>
            <a:endParaRPr lang="en-IN"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 </a:t>
            </a:r>
            <a:endParaRPr lang="en-IN"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 </a:t>
            </a:r>
            <a:r>
              <a:rPr lang="en-US" sz="2000" b="1" dirty="0" smtClean="0">
                <a:solidFill>
                  <a:schemeClr val="tx1"/>
                </a:solidFill>
                <a:latin typeface="Times New Roman" pitchFamily="18" charset="0"/>
                <a:cs typeface="Times New Roman" pitchFamily="18" charset="0"/>
              </a:rPr>
              <a:t>Intelligent </a:t>
            </a:r>
            <a:r>
              <a:rPr lang="en-US" sz="2000" b="1" dirty="0">
                <a:solidFill>
                  <a:schemeClr val="tx1"/>
                </a:solidFill>
                <a:latin typeface="Times New Roman" pitchFamily="18" charset="0"/>
                <a:cs typeface="Times New Roman" pitchFamily="18" charset="0"/>
              </a:rPr>
              <a:t>agents: </a:t>
            </a:r>
            <a:r>
              <a:rPr lang="en-US" sz="2000" dirty="0">
                <a:solidFill>
                  <a:schemeClr val="tx1"/>
                </a:solidFill>
                <a:latin typeface="Times New Roman" pitchFamily="18" charset="0"/>
                <a:cs typeface="Times New Roman" pitchFamily="18" charset="0"/>
              </a:rPr>
              <a:t>Agents and Environment, The Concept of Rationality, Structure of an Agent.</a:t>
            </a:r>
            <a:endParaRPr lang="en-IN"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 </a:t>
            </a:r>
            <a:endParaRPr lang="en-IN" sz="2000" dirty="0">
              <a:solidFill>
                <a:schemeClr val="tx1"/>
              </a:solidFill>
              <a:latin typeface="Times New Roman" pitchFamily="18" charset="0"/>
              <a:cs typeface="Times New Roman" pitchFamily="18" charset="0"/>
            </a:endParaRPr>
          </a:p>
          <a:p>
            <a:r>
              <a:rPr lang="en-US" sz="2000" b="1" dirty="0">
                <a:solidFill>
                  <a:schemeClr val="tx1"/>
                </a:solidFill>
                <a:latin typeface="Times New Roman" pitchFamily="18" charset="0"/>
                <a:cs typeface="Times New Roman" pitchFamily="18" charset="0"/>
              </a:rPr>
              <a:t>Solving problems by Search- </a:t>
            </a:r>
            <a:r>
              <a:rPr lang="en-US" sz="2000" dirty="0">
                <a:solidFill>
                  <a:schemeClr val="tx1"/>
                </a:solidFill>
                <a:latin typeface="Times New Roman" pitchFamily="18" charset="0"/>
                <a:cs typeface="Times New Roman" pitchFamily="18" charset="0"/>
              </a:rPr>
              <a:t>Problem-Solving Agents, State space representation, Search graph and Search tree Searching for Solutions,</a:t>
            </a:r>
            <a:endParaRPr lang="en-IN" sz="2000" dirty="0">
              <a:solidFill>
                <a:schemeClr val="tx1"/>
              </a:solidFill>
              <a:latin typeface="Times New Roman" pitchFamily="18" charset="0"/>
              <a:cs typeface="Times New Roman" pitchFamily="18" charset="0"/>
            </a:endParaRPr>
          </a:p>
          <a:p>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78583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b="1" dirty="0"/>
              <a:t>What is Artificial Intelligence</a:t>
            </a:r>
          </a:p>
        </p:txBody>
      </p:sp>
      <p:sp>
        <p:nvSpPr>
          <p:cNvPr id="12291" name="Rectangle 3"/>
          <p:cNvSpPr>
            <a:spLocks noGrp="1" noChangeArrowheads="1"/>
          </p:cNvSpPr>
          <p:nvPr>
            <p:ph type="body" idx="1"/>
          </p:nvPr>
        </p:nvSpPr>
        <p:spPr/>
        <p:txBody>
          <a:bodyPr>
            <a:normAutofit lnSpcReduction="10000"/>
          </a:bodyPr>
          <a:lstStyle/>
          <a:p>
            <a:pPr algn="just" eaLnBrk="1" hangingPunct="1">
              <a:lnSpc>
                <a:spcPct val="80000"/>
              </a:lnSpc>
            </a:pPr>
            <a:r>
              <a:rPr lang="en-US" dirty="0"/>
              <a:t>AI provides satisficing solutions</a:t>
            </a:r>
          </a:p>
          <a:p>
            <a:pPr algn="just" eaLnBrk="1" hangingPunct="1">
              <a:lnSpc>
                <a:spcPct val="80000"/>
              </a:lnSpc>
              <a:buFontTx/>
              <a:buNone/>
            </a:pPr>
            <a:endParaRPr lang="en-US" dirty="0"/>
          </a:p>
          <a:p>
            <a:pPr algn="just" eaLnBrk="1" hangingPunct="1">
              <a:lnSpc>
                <a:spcPct val="80000"/>
              </a:lnSpc>
            </a:pPr>
            <a:r>
              <a:rPr lang="en-US" dirty="0"/>
              <a:t>AI provides general solutions to a problem in a particular domain.</a:t>
            </a:r>
          </a:p>
          <a:p>
            <a:pPr algn="just" eaLnBrk="1" hangingPunct="1">
              <a:lnSpc>
                <a:spcPct val="80000"/>
              </a:lnSpc>
              <a:buFontTx/>
              <a:buNone/>
            </a:pPr>
            <a:endParaRPr lang="en-US" dirty="0"/>
          </a:p>
          <a:p>
            <a:pPr algn="just" eaLnBrk="1" hangingPunct="1">
              <a:lnSpc>
                <a:spcPct val="80000"/>
              </a:lnSpc>
            </a:pPr>
            <a:r>
              <a:rPr lang="en-US" dirty="0"/>
              <a:t>AI deals with problems which take exponential time to solve. The goal of AI is to reduce the exponential times to polynomial times. This goal is achieved by being tolerant to imprecision, uncertainty, partial truth and approximation. </a:t>
            </a:r>
          </a:p>
          <a:p>
            <a:pPr eaLnBrk="1" hangingPunct="1">
              <a:lnSpc>
                <a:spcPct val="80000"/>
              </a:lnSpc>
            </a:pPr>
            <a:endParaRPr lang="en-US" dirty="0"/>
          </a:p>
        </p:txBody>
      </p:sp>
      <p:sp>
        <p:nvSpPr>
          <p:cNvPr id="2" name="Date Placeholder 1">
            <a:extLst>
              <a:ext uri="{FF2B5EF4-FFF2-40B4-BE49-F238E27FC236}">
                <a16:creationId xmlns:a16="http://schemas.microsoft.com/office/drawing/2014/main" xmlns="" id="{4C740494-0CD5-4E9F-B88B-97E69075DEA9}"/>
              </a:ext>
            </a:extLst>
          </p:cNvPr>
          <p:cNvSpPr>
            <a:spLocks noGrp="1"/>
          </p:cNvSpPr>
          <p:nvPr>
            <p:ph type="dt" sz="half" idx="10"/>
          </p:nvPr>
        </p:nvSpPr>
        <p:spPr/>
        <p:txBody>
          <a:bodyPr/>
          <a:lstStyle/>
          <a:p>
            <a:fld id="{31EAB6C4-946D-48AA-9177-55C925D21F18}" type="datetime1">
              <a:rPr lang="en-US" smtClean="0"/>
              <a:t>1/30/2025</a:t>
            </a:fld>
            <a:endParaRPr lang="en-IN"/>
          </a:p>
        </p:txBody>
      </p:sp>
      <p:sp>
        <p:nvSpPr>
          <p:cNvPr id="3" name="Footer Placeholder 2">
            <a:extLst>
              <a:ext uri="{FF2B5EF4-FFF2-40B4-BE49-F238E27FC236}">
                <a16:creationId xmlns:a16="http://schemas.microsoft.com/office/drawing/2014/main" xmlns="" id="{2F807DF1-7423-49F6-919D-D9ADAAD5C343}"/>
              </a:ext>
            </a:extLst>
          </p:cNvPr>
          <p:cNvSpPr>
            <a:spLocks noGrp="1"/>
          </p:cNvSpPr>
          <p:nvPr>
            <p:ph type="ftr" sz="quarter" idx="11"/>
          </p:nvPr>
        </p:nvSpPr>
        <p:spPr/>
        <p:txBody>
          <a:bodyPr/>
          <a:lstStyle/>
          <a:p>
            <a:r>
              <a:rPr lang="en-IN" dirty="0"/>
              <a:t>Prof </a:t>
            </a:r>
            <a:r>
              <a:rPr lang="en-IN" dirty="0" err="1"/>
              <a:t>Saroj</a:t>
            </a:r>
            <a:r>
              <a:rPr lang="en-IN" dirty="0"/>
              <a:t> </a:t>
            </a:r>
            <a:r>
              <a:rPr lang="en-IN" dirty="0" err="1"/>
              <a:t>Kaushik</a:t>
            </a:r>
            <a:endParaRPr lang="en-IN" dirty="0"/>
          </a:p>
        </p:txBody>
      </p:sp>
      <p:sp>
        <p:nvSpPr>
          <p:cNvPr id="4" name="Slide Number Placeholder 3">
            <a:extLst>
              <a:ext uri="{FF2B5EF4-FFF2-40B4-BE49-F238E27FC236}">
                <a16:creationId xmlns:a16="http://schemas.microsoft.com/office/drawing/2014/main" xmlns="" id="{C88F3A37-9A78-4A1E-AF46-5720761E8800}"/>
              </a:ext>
            </a:extLst>
          </p:cNvPr>
          <p:cNvSpPr>
            <a:spLocks noGrp="1"/>
          </p:cNvSpPr>
          <p:nvPr>
            <p:ph type="sldNum" sz="quarter" idx="12"/>
          </p:nvPr>
        </p:nvSpPr>
        <p:spPr/>
        <p:txBody>
          <a:bodyPr/>
          <a:lstStyle/>
          <a:p>
            <a:fld id="{68F3827D-0A5E-42DB-88B7-D3FF5E601C77}" type="slidenum">
              <a:rPr lang="en-IN" smtClean="0"/>
              <a:t>2</a:t>
            </a:fld>
            <a:endParaRPr lang="en-IN"/>
          </a:p>
        </p:txBody>
      </p:sp>
    </p:spTree>
    <p:extLst>
      <p:ext uri="{BB962C8B-B14F-4D97-AF65-F5344CB8AC3E}">
        <p14:creationId xmlns:p14="http://schemas.microsoft.com/office/powerpoint/2010/main" val="132899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xmlns="" id="{AFD5334E-1F78-487F-9E97-D33A9C3A9412}"/>
              </a:ext>
            </a:extLst>
          </p:cNvPr>
          <p:cNvSpPr>
            <a:spLocks noGrp="1" noChangeArrowheads="1"/>
          </p:cNvSpPr>
          <p:nvPr>
            <p:ph type="title"/>
          </p:nvPr>
        </p:nvSpPr>
        <p:spPr/>
        <p:txBody>
          <a:bodyPr/>
          <a:lstStyle/>
          <a:p>
            <a:r>
              <a:rPr lang="en-US" altLang="en-US" sz="3600" b="1">
                <a:solidFill>
                  <a:srgbClr val="C5153F"/>
                </a:solidFill>
              </a:rPr>
              <a:t>More Formal Definition of AI</a:t>
            </a:r>
          </a:p>
        </p:txBody>
      </p:sp>
      <p:sp>
        <p:nvSpPr>
          <p:cNvPr id="237571" name="Rectangle 3">
            <a:extLst>
              <a:ext uri="{FF2B5EF4-FFF2-40B4-BE49-F238E27FC236}">
                <a16:creationId xmlns:a16="http://schemas.microsoft.com/office/drawing/2014/main" xmlns="" id="{9E106CDA-B327-4E05-AC53-0F23775CACF1}"/>
              </a:ext>
            </a:extLst>
          </p:cNvPr>
          <p:cNvSpPr>
            <a:spLocks noGrp="1" noChangeArrowheads="1"/>
          </p:cNvSpPr>
          <p:nvPr>
            <p:ph type="body" idx="1"/>
          </p:nvPr>
        </p:nvSpPr>
        <p:spPr/>
        <p:txBody>
          <a:bodyPr/>
          <a:lstStyle/>
          <a:p>
            <a:pPr lvl="1" algn="just">
              <a:spcBef>
                <a:spcPct val="0"/>
              </a:spcBef>
              <a:buClr>
                <a:schemeClr val="accent1"/>
              </a:buClr>
              <a:buSzPct val="65000"/>
              <a:buFont typeface="Wingdings" panose="05000000000000000000" pitchFamily="2" charset="2"/>
              <a:buChar char="n"/>
            </a:pPr>
            <a:r>
              <a:rPr lang="en-US" altLang="en-US" sz="3000"/>
              <a:t>AI is a branch of computer science which is concerned with the study and creation of computer systems that exhibit</a:t>
            </a:r>
          </a:p>
          <a:p>
            <a:pPr lvl="1" algn="just">
              <a:spcBef>
                <a:spcPct val="0"/>
              </a:spcBef>
              <a:buClr>
                <a:schemeClr val="accent1"/>
              </a:buClr>
              <a:buSzPct val="65000"/>
              <a:buFont typeface="Wingdings" panose="05000000000000000000" pitchFamily="2" charset="2"/>
              <a:buChar char="n"/>
            </a:pPr>
            <a:endParaRPr lang="en-US" altLang="en-US" sz="3000"/>
          </a:p>
          <a:p>
            <a:pPr lvl="3" algn="just">
              <a:spcBef>
                <a:spcPct val="0"/>
              </a:spcBef>
              <a:buClr>
                <a:schemeClr val="tx2"/>
              </a:buClr>
              <a:buSzPct val="65000"/>
            </a:pPr>
            <a:r>
              <a:rPr lang="en-US" altLang="en-US" sz="2800"/>
              <a:t>some form of intelligence </a:t>
            </a:r>
          </a:p>
          <a:p>
            <a:pPr lvl="3" algn="just">
              <a:spcBef>
                <a:spcPct val="0"/>
              </a:spcBef>
              <a:buClr>
                <a:schemeClr val="tx2"/>
              </a:buClr>
              <a:buSzPct val="65000"/>
              <a:buFont typeface="Wingdings" panose="05000000000000000000" pitchFamily="2" charset="2"/>
              <a:buNone/>
            </a:pPr>
            <a:r>
              <a:rPr lang="en-US" altLang="en-US" sz="2800"/>
              <a:t>		OR</a:t>
            </a:r>
          </a:p>
          <a:p>
            <a:pPr lvl="3" algn="just">
              <a:spcBef>
                <a:spcPct val="0"/>
              </a:spcBef>
              <a:buClr>
                <a:schemeClr val="tx2"/>
              </a:buClr>
              <a:buSzPct val="65000"/>
            </a:pPr>
            <a:r>
              <a:rPr lang="en-US" altLang="en-US" sz="2800"/>
              <a:t>those characteristics which we associate with intelligence in human behavior</a:t>
            </a:r>
            <a:endParaRPr lang="en-US" altLang="en-US"/>
          </a:p>
        </p:txBody>
      </p:sp>
      <p:sp>
        <p:nvSpPr>
          <p:cNvPr id="2" name="Date Placeholder 1">
            <a:extLst>
              <a:ext uri="{FF2B5EF4-FFF2-40B4-BE49-F238E27FC236}">
                <a16:creationId xmlns:a16="http://schemas.microsoft.com/office/drawing/2014/main" xmlns="" id="{6B9BC23B-45C9-415E-8A46-063353524D45}"/>
              </a:ext>
            </a:extLst>
          </p:cNvPr>
          <p:cNvSpPr>
            <a:spLocks noGrp="1"/>
          </p:cNvSpPr>
          <p:nvPr>
            <p:ph type="dt" sz="half" idx="10"/>
          </p:nvPr>
        </p:nvSpPr>
        <p:spPr/>
        <p:txBody>
          <a:bodyPr/>
          <a:lstStyle/>
          <a:p>
            <a:fld id="{ABD965E7-1075-472E-8185-2A070A5AC45C}" type="datetime1">
              <a:rPr lang="en-US" smtClean="0"/>
              <a:t>1/30/2025</a:t>
            </a:fld>
            <a:endParaRPr lang="en-IN"/>
          </a:p>
        </p:txBody>
      </p:sp>
      <p:sp>
        <p:nvSpPr>
          <p:cNvPr id="3" name="Footer Placeholder 2">
            <a:extLst>
              <a:ext uri="{FF2B5EF4-FFF2-40B4-BE49-F238E27FC236}">
                <a16:creationId xmlns:a16="http://schemas.microsoft.com/office/drawing/2014/main" xmlns="" id="{1622BF30-2588-4C17-A713-30D4D5803E30}"/>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13987B3D-6FC7-472C-AAFD-6FD781F22D41}"/>
              </a:ext>
            </a:extLst>
          </p:cNvPr>
          <p:cNvSpPr>
            <a:spLocks noGrp="1"/>
          </p:cNvSpPr>
          <p:nvPr>
            <p:ph type="sldNum" sz="quarter" idx="12"/>
          </p:nvPr>
        </p:nvSpPr>
        <p:spPr/>
        <p:txBody>
          <a:bodyPr/>
          <a:lstStyle/>
          <a:p>
            <a:fld id="{68F3827D-0A5E-42DB-88B7-D3FF5E601C77}" type="slidenum">
              <a:rPr lang="en-IN" smtClean="0"/>
              <a:t>3</a:t>
            </a:fld>
            <a:endParaRPr lang="en-IN"/>
          </a:p>
        </p:txBody>
      </p:sp>
    </p:spTree>
    <p:extLst>
      <p:ext uri="{BB962C8B-B14F-4D97-AF65-F5344CB8AC3E}">
        <p14:creationId xmlns:p14="http://schemas.microsoft.com/office/powerpoint/2010/main" val="1231267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xmlns="" id="{3C3E2F41-3EA5-41C3-BE13-C716C6A297F6}"/>
              </a:ext>
            </a:extLst>
          </p:cNvPr>
          <p:cNvSpPr>
            <a:spLocks noGrp="1" noChangeArrowheads="1"/>
          </p:cNvSpPr>
          <p:nvPr>
            <p:ph type="title"/>
          </p:nvPr>
        </p:nvSpPr>
        <p:spPr>
          <a:xfrm>
            <a:off x="1485900" y="228602"/>
            <a:ext cx="6172200" cy="1139825"/>
          </a:xfrm>
        </p:spPr>
        <p:txBody>
          <a:bodyPr/>
          <a:lstStyle/>
          <a:p>
            <a:r>
              <a:rPr lang="en-US" altLang="en-US" sz="3600" b="1">
                <a:solidFill>
                  <a:srgbClr val="C5153F"/>
                </a:solidFill>
              </a:rPr>
              <a:t>What is Intelligence?</a:t>
            </a:r>
          </a:p>
        </p:txBody>
      </p:sp>
      <p:sp>
        <p:nvSpPr>
          <p:cNvPr id="304131" name="Rectangle 3">
            <a:extLst>
              <a:ext uri="{FF2B5EF4-FFF2-40B4-BE49-F238E27FC236}">
                <a16:creationId xmlns:a16="http://schemas.microsoft.com/office/drawing/2014/main" xmlns="" id="{40AA97B8-F796-4A98-BDD7-934E983915DA}"/>
              </a:ext>
            </a:extLst>
          </p:cNvPr>
          <p:cNvSpPr>
            <a:spLocks noGrp="1" noChangeArrowheads="1"/>
          </p:cNvSpPr>
          <p:nvPr>
            <p:ph type="body" idx="1"/>
          </p:nvPr>
        </p:nvSpPr>
        <p:spPr>
          <a:xfrm>
            <a:off x="1485900" y="1447802"/>
            <a:ext cx="6172200" cy="4683125"/>
          </a:xfrm>
        </p:spPr>
        <p:txBody>
          <a:bodyPr>
            <a:normAutofit fontScale="92500" lnSpcReduction="20000"/>
          </a:bodyPr>
          <a:lstStyle/>
          <a:p>
            <a:pPr algn="just"/>
            <a:r>
              <a:rPr lang="en-US" altLang="en-US" dirty="0"/>
              <a:t>Intelligence is a property of mind that encompasses many related mental abilities, such as the capabilities to </a:t>
            </a:r>
          </a:p>
          <a:p>
            <a:pPr lvl="1" algn="just"/>
            <a:r>
              <a:rPr lang="en-US" altLang="en-US" dirty="0"/>
              <a:t>     reason</a:t>
            </a:r>
          </a:p>
          <a:p>
            <a:pPr lvl="1" algn="just"/>
            <a:r>
              <a:rPr lang="en-US" altLang="en-US" dirty="0"/>
              <a:t>     plan </a:t>
            </a:r>
          </a:p>
          <a:p>
            <a:pPr lvl="1" algn="just"/>
            <a:r>
              <a:rPr lang="en-US" altLang="en-US" dirty="0"/>
              <a:t>     solve problems</a:t>
            </a:r>
          </a:p>
          <a:p>
            <a:pPr lvl="1" algn="just"/>
            <a:r>
              <a:rPr lang="en-US" altLang="en-US" dirty="0"/>
              <a:t>     think abstractly </a:t>
            </a:r>
          </a:p>
          <a:p>
            <a:pPr lvl="1" algn="just"/>
            <a:r>
              <a:rPr lang="en-US" altLang="en-US" dirty="0"/>
              <a:t>     comprehend ideas and language and </a:t>
            </a:r>
          </a:p>
          <a:p>
            <a:pPr lvl="1" algn="just"/>
            <a:r>
              <a:rPr lang="en-US" altLang="en-US" dirty="0"/>
              <a:t>     learn</a:t>
            </a:r>
          </a:p>
        </p:txBody>
      </p:sp>
      <p:sp>
        <p:nvSpPr>
          <p:cNvPr id="2" name="Date Placeholder 1">
            <a:extLst>
              <a:ext uri="{FF2B5EF4-FFF2-40B4-BE49-F238E27FC236}">
                <a16:creationId xmlns:a16="http://schemas.microsoft.com/office/drawing/2014/main" xmlns="" id="{342A308D-169C-47B3-8F81-AACA9631E0CB}"/>
              </a:ext>
            </a:extLst>
          </p:cNvPr>
          <p:cNvSpPr>
            <a:spLocks noGrp="1"/>
          </p:cNvSpPr>
          <p:nvPr>
            <p:ph type="dt" sz="half" idx="10"/>
          </p:nvPr>
        </p:nvSpPr>
        <p:spPr/>
        <p:txBody>
          <a:bodyPr/>
          <a:lstStyle/>
          <a:p>
            <a:fld id="{55083E19-E936-493A-89F9-2CA9020F9C73}" type="datetime1">
              <a:rPr lang="en-US" smtClean="0"/>
              <a:t>1/30/2025</a:t>
            </a:fld>
            <a:endParaRPr lang="en-IN"/>
          </a:p>
        </p:txBody>
      </p:sp>
      <p:sp>
        <p:nvSpPr>
          <p:cNvPr id="3" name="Footer Placeholder 2">
            <a:extLst>
              <a:ext uri="{FF2B5EF4-FFF2-40B4-BE49-F238E27FC236}">
                <a16:creationId xmlns:a16="http://schemas.microsoft.com/office/drawing/2014/main" xmlns="" id="{BF7C1C54-76CF-4243-ADEE-48C20F1ED0A0}"/>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8CC570C2-1C10-4EC6-BDB3-CB71698A74BC}"/>
              </a:ext>
            </a:extLst>
          </p:cNvPr>
          <p:cNvSpPr>
            <a:spLocks noGrp="1"/>
          </p:cNvSpPr>
          <p:nvPr>
            <p:ph type="sldNum" sz="quarter" idx="12"/>
          </p:nvPr>
        </p:nvSpPr>
        <p:spPr/>
        <p:txBody>
          <a:bodyPr/>
          <a:lstStyle/>
          <a:p>
            <a:fld id="{68F3827D-0A5E-42DB-88B7-D3FF5E601C77}" type="slidenum">
              <a:rPr lang="en-IN" smtClean="0"/>
              <a:t>4</a:t>
            </a:fld>
            <a:endParaRPr lang="en-IN"/>
          </a:p>
        </p:txBody>
      </p:sp>
    </p:spTree>
    <p:extLst>
      <p:ext uri="{BB962C8B-B14F-4D97-AF65-F5344CB8AC3E}">
        <p14:creationId xmlns:p14="http://schemas.microsoft.com/office/powerpoint/2010/main" val="1902401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fontScale="92500" lnSpcReduction="20000"/>
          </a:bodyPr>
          <a:lstStyle/>
          <a:p>
            <a:pPr lvl="0"/>
            <a:r>
              <a:rPr lang="en-US" b="1" dirty="0"/>
              <a:t>Intelligence - </a:t>
            </a:r>
            <a:r>
              <a:rPr lang="en-US" dirty="0"/>
              <a:t>Ability to apply knowledge in order to perform better in an environment.</a:t>
            </a:r>
            <a:endParaRPr lang="en-IN" dirty="0"/>
          </a:p>
          <a:p>
            <a:pPr lvl="0"/>
            <a:r>
              <a:rPr lang="en-US" b="1" dirty="0"/>
              <a:t>Artificial Intelligence - </a:t>
            </a:r>
            <a:r>
              <a:rPr lang="en-US" dirty="0"/>
              <a:t>Study and construction of agent programs that perform well in a given environment, for a given agent architecture</a:t>
            </a:r>
            <a:r>
              <a:rPr lang="en-US" b="1" dirty="0"/>
              <a:t>.</a:t>
            </a:r>
            <a:endParaRPr lang="en-IN" dirty="0"/>
          </a:p>
          <a:p>
            <a:pPr lvl="0"/>
            <a:r>
              <a:rPr lang="en-US" b="1" dirty="0"/>
              <a:t>Agent - </a:t>
            </a:r>
            <a:r>
              <a:rPr lang="en-US" dirty="0"/>
              <a:t>An entity that takes action in response to percepts from an environment</a:t>
            </a:r>
            <a:r>
              <a:rPr lang="en-US" b="1" dirty="0"/>
              <a:t>.</a:t>
            </a:r>
            <a:endParaRPr lang="en-IN" dirty="0"/>
          </a:p>
          <a:p>
            <a:pPr lvl="0"/>
            <a:r>
              <a:rPr lang="en-US" b="1" dirty="0"/>
              <a:t>Rationality </a:t>
            </a:r>
            <a:r>
              <a:rPr lang="en-US" dirty="0"/>
              <a:t>- property of a system which does the “right thing” given what it knows.</a:t>
            </a:r>
            <a:endParaRPr lang="en-IN" dirty="0"/>
          </a:p>
          <a:p>
            <a:pPr lvl="0"/>
            <a:r>
              <a:rPr lang="en-US" b="1" dirty="0"/>
              <a:t>Logical Reasoning - </a:t>
            </a:r>
            <a:r>
              <a:rPr lang="en-US" dirty="0"/>
              <a:t>A process of deriving new sentences from old, such that the new     sentences are necessarily true if the old ones are true.</a:t>
            </a:r>
            <a:endParaRPr lang="en-IN" dirty="0"/>
          </a:p>
          <a:p>
            <a:endParaRPr lang="en-IN" dirty="0"/>
          </a:p>
        </p:txBody>
      </p:sp>
    </p:spTree>
    <p:extLst>
      <p:ext uri="{BB962C8B-B14F-4D97-AF65-F5344CB8AC3E}">
        <p14:creationId xmlns:p14="http://schemas.microsoft.com/office/powerpoint/2010/main" val="4088070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xmlns="" id="{D802B89B-C5B0-4F25-876B-175B4EB13FCC}"/>
              </a:ext>
            </a:extLst>
          </p:cNvPr>
          <p:cNvSpPr>
            <a:spLocks noGrp="1" noChangeArrowheads="1"/>
          </p:cNvSpPr>
          <p:nvPr>
            <p:ph type="title"/>
          </p:nvPr>
        </p:nvSpPr>
        <p:spPr/>
        <p:txBody>
          <a:bodyPr/>
          <a:lstStyle/>
          <a:p>
            <a:r>
              <a:rPr lang="en-US" altLang="en-US" b="1"/>
              <a:t>Characteristics of AI systems</a:t>
            </a:r>
          </a:p>
        </p:txBody>
      </p:sp>
      <p:sp>
        <p:nvSpPr>
          <p:cNvPr id="306179" name="Rectangle 3">
            <a:extLst>
              <a:ext uri="{FF2B5EF4-FFF2-40B4-BE49-F238E27FC236}">
                <a16:creationId xmlns:a16="http://schemas.microsoft.com/office/drawing/2014/main" xmlns="" id="{4DDEEF92-4CC1-43CA-A83C-BDE7078879DE}"/>
              </a:ext>
            </a:extLst>
          </p:cNvPr>
          <p:cNvSpPr>
            <a:spLocks noGrp="1" noChangeArrowheads="1"/>
          </p:cNvSpPr>
          <p:nvPr>
            <p:ph type="body" idx="1"/>
          </p:nvPr>
        </p:nvSpPr>
        <p:spPr/>
        <p:txBody>
          <a:bodyPr>
            <a:normAutofit lnSpcReduction="10000"/>
          </a:bodyPr>
          <a:lstStyle/>
          <a:p>
            <a:pPr>
              <a:lnSpc>
                <a:spcPct val="90000"/>
              </a:lnSpc>
            </a:pPr>
            <a:r>
              <a:rPr lang="en-US" altLang="en-US"/>
              <a:t>learn new concepts and tasks</a:t>
            </a:r>
          </a:p>
          <a:p>
            <a:pPr>
              <a:lnSpc>
                <a:spcPct val="90000"/>
              </a:lnSpc>
            </a:pPr>
            <a:r>
              <a:rPr lang="en-US" altLang="en-US"/>
              <a:t>reason and draw useful conclusions about the world around us </a:t>
            </a:r>
          </a:p>
          <a:p>
            <a:pPr lvl="1">
              <a:lnSpc>
                <a:spcPct val="90000"/>
              </a:lnSpc>
            </a:pPr>
            <a:r>
              <a:rPr lang="en-US" altLang="en-US"/>
              <a:t>remember complicated interrelated facts and draw conclusions from them (inference)</a:t>
            </a:r>
          </a:p>
          <a:p>
            <a:pPr>
              <a:lnSpc>
                <a:spcPct val="90000"/>
              </a:lnSpc>
            </a:pPr>
            <a:r>
              <a:rPr lang="en-US" altLang="en-US"/>
              <a:t>understand a natural language or perceive and comprehend a visual scene</a:t>
            </a:r>
          </a:p>
          <a:p>
            <a:pPr lvl="1">
              <a:lnSpc>
                <a:spcPct val="90000"/>
              </a:lnSpc>
            </a:pPr>
            <a:r>
              <a:rPr lang="en-US" altLang="en-US"/>
              <a:t>look through cameras and see what's there (vision), to move themselves and objects around in the real world (robotics)</a:t>
            </a:r>
            <a:endParaRPr lang="en-US" altLang="en-US" sz="2200"/>
          </a:p>
        </p:txBody>
      </p:sp>
      <p:sp>
        <p:nvSpPr>
          <p:cNvPr id="2" name="Date Placeholder 1">
            <a:extLst>
              <a:ext uri="{FF2B5EF4-FFF2-40B4-BE49-F238E27FC236}">
                <a16:creationId xmlns:a16="http://schemas.microsoft.com/office/drawing/2014/main" xmlns="" id="{11AFCBA5-1987-43FA-9F78-BA32B4D24350}"/>
              </a:ext>
            </a:extLst>
          </p:cNvPr>
          <p:cNvSpPr>
            <a:spLocks noGrp="1"/>
          </p:cNvSpPr>
          <p:nvPr>
            <p:ph type="dt" sz="half" idx="10"/>
          </p:nvPr>
        </p:nvSpPr>
        <p:spPr/>
        <p:txBody>
          <a:bodyPr/>
          <a:lstStyle/>
          <a:p>
            <a:fld id="{20DAC6BC-19D0-4A4B-B9D7-F49B69C0D415}" type="datetime1">
              <a:rPr lang="en-US" smtClean="0"/>
              <a:t>1/30/2025</a:t>
            </a:fld>
            <a:endParaRPr lang="en-IN"/>
          </a:p>
        </p:txBody>
      </p:sp>
      <p:sp>
        <p:nvSpPr>
          <p:cNvPr id="3" name="Footer Placeholder 2">
            <a:extLst>
              <a:ext uri="{FF2B5EF4-FFF2-40B4-BE49-F238E27FC236}">
                <a16:creationId xmlns:a16="http://schemas.microsoft.com/office/drawing/2014/main" xmlns="" id="{1BCC0140-4E59-4102-8F87-C277C20EC084}"/>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C256224E-A7A7-4F20-8FD0-78E6C0160240}"/>
              </a:ext>
            </a:extLst>
          </p:cNvPr>
          <p:cNvSpPr>
            <a:spLocks noGrp="1"/>
          </p:cNvSpPr>
          <p:nvPr>
            <p:ph type="sldNum" sz="quarter" idx="12"/>
          </p:nvPr>
        </p:nvSpPr>
        <p:spPr/>
        <p:txBody>
          <a:bodyPr/>
          <a:lstStyle/>
          <a:p>
            <a:fld id="{68F3827D-0A5E-42DB-88B7-D3FF5E601C77}" type="slidenum">
              <a:rPr lang="en-IN" smtClean="0"/>
              <a:t>6</a:t>
            </a:fld>
            <a:endParaRPr lang="en-IN"/>
          </a:p>
        </p:txBody>
      </p:sp>
    </p:spTree>
    <p:extLst>
      <p:ext uri="{BB962C8B-B14F-4D97-AF65-F5344CB8AC3E}">
        <p14:creationId xmlns:p14="http://schemas.microsoft.com/office/powerpoint/2010/main" val="2999850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xmlns="" id="{791E5D7D-0961-4156-8885-77C575223C36}"/>
              </a:ext>
            </a:extLst>
          </p:cNvPr>
          <p:cNvSpPr>
            <a:spLocks noGrp="1" noChangeArrowheads="1"/>
          </p:cNvSpPr>
          <p:nvPr>
            <p:ph type="title"/>
          </p:nvPr>
        </p:nvSpPr>
        <p:spPr/>
        <p:txBody>
          <a:bodyPr/>
          <a:lstStyle/>
          <a:p>
            <a:r>
              <a:rPr lang="en-US" altLang="en-US" b="1"/>
              <a:t>Contd..</a:t>
            </a:r>
          </a:p>
        </p:txBody>
      </p:sp>
      <p:sp>
        <p:nvSpPr>
          <p:cNvPr id="307203" name="Rectangle 3">
            <a:extLst>
              <a:ext uri="{FF2B5EF4-FFF2-40B4-BE49-F238E27FC236}">
                <a16:creationId xmlns:a16="http://schemas.microsoft.com/office/drawing/2014/main" xmlns="" id="{F967FDD3-12EE-4038-9B98-0D1965B68629}"/>
              </a:ext>
            </a:extLst>
          </p:cNvPr>
          <p:cNvSpPr>
            <a:spLocks noGrp="1" noChangeArrowheads="1"/>
          </p:cNvSpPr>
          <p:nvPr>
            <p:ph type="body" idx="1"/>
          </p:nvPr>
        </p:nvSpPr>
        <p:spPr/>
        <p:txBody>
          <a:bodyPr/>
          <a:lstStyle/>
          <a:p>
            <a:r>
              <a:rPr lang="en-US" altLang="en-US" sz="2600"/>
              <a:t>plan sequences of actions to complete a goal</a:t>
            </a:r>
          </a:p>
          <a:p>
            <a:r>
              <a:rPr lang="en-US" altLang="en-US" sz="2600"/>
              <a:t>offer advice based on rules and situations</a:t>
            </a:r>
          </a:p>
          <a:p>
            <a:r>
              <a:rPr lang="en-US" altLang="en-US" sz="2600"/>
              <a:t>may not necessarily imitate human senses and thought processes</a:t>
            </a:r>
            <a:r>
              <a:rPr lang="en-US" altLang="en-US"/>
              <a:t> </a:t>
            </a:r>
          </a:p>
          <a:p>
            <a:pPr lvl="1"/>
            <a:r>
              <a:rPr lang="en-US" altLang="en-US"/>
              <a:t>but indeed, in performing some tasks differently, they may actually exceed human abilities</a:t>
            </a:r>
          </a:p>
          <a:p>
            <a:r>
              <a:rPr lang="en-US" altLang="en-US" sz="2600"/>
              <a:t>capable of performing intelligent tasks effectively and efficiently </a:t>
            </a:r>
          </a:p>
          <a:p>
            <a:r>
              <a:rPr lang="en-US" altLang="en-US" sz="2600"/>
              <a:t>perform tasks that require high levels of intelligence</a:t>
            </a:r>
            <a:endParaRPr lang="en-US" altLang="en-US"/>
          </a:p>
        </p:txBody>
      </p:sp>
      <p:sp>
        <p:nvSpPr>
          <p:cNvPr id="2" name="Date Placeholder 1">
            <a:extLst>
              <a:ext uri="{FF2B5EF4-FFF2-40B4-BE49-F238E27FC236}">
                <a16:creationId xmlns:a16="http://schemas.microsoft.com/office/drawing/2014/main" xmlns="" id="{894B87AD-435E-404B-9317-4D0E3BC2717B}"/>
              </a:ext>
            </a:extLst>
          </p:cNvPr>
          <p:cNvSpPr>
            <a:spLocks noGrp="1"/>
          </p:cNvSpPr>
          <p:nvPr>
            <p:ph type="dt" sz="half" idx="10"/>
          </p:nvPr>
        </p:nvSpPr>
        <p:spPr/>
        <p:txBody>
          <a:bodyPr/>
          <a:lstStyle/>
          <a:p>
            <a:fld id="{FE3768B0-6C8B-4B64-8645-17500E7CEA1C}" type="datetime1">
              <a:rPr lang="en-US" smtClean="0"/>
              <a:t>1/30/2025</a:t>
            </a:fld>
            <a:endParaRPr lang="en-IN"/>
          </a:p>
        </p:txBody>
      </p:sp>
      <p:sp>
        <p:nvSpPr>
          <p:cNvPr id="3" name="Footer Placeholder 2">
            <a:extLst>
              <a:ext uri="{FF2B5EF4-FFF2-40B4-BE49-F238E27FC236}">
                <a16:creationId xmlns:a16="http://schemas.microsoft.com/office/drawing/2014/main" xmlns="" id="{B72E0F28-571B-41B1-B2E7-AFEA37F2BB02}"/>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BDB76DBD-F53A-4CEC-96CD-33CEBEA069EA}"/>
              </a:ext>
            </a:extLst>
          </p:cNvPr>
          <p:cNvSpPr>
            <a:spLocks noGrp="1"/>
          </p:cNvSpPr>
          <p:nvPr>
            <p:ph type="sldNum" sz="quarter" idx="12"/>
          </p:nvPr>
        </p:nvSpPr>
        <p:spPr/>
        <p:txBody>
          <a:bodyPr/>
          <a:lstStyle/>
          <a:p>
            <a:fld id="{68F3827D-0A5E-42DB-88B7-D3FF5E601C77}" type="slidenum">
              <a:rPr lang="en-IN" smtClean="0"/>
              <a:t>7</a:t>
            </a:fld>
            <a:endParaRPr lang="en-IN"/>
          </a:p>
        </p:txBody>
      </p:sp>
    </p:spTree>
    <p:extLst>
      <p:ext uri="{BB962C8B-B14F-4D97-AF65-F5344CB8AC3E}">
        <p14:creationId xmlns:p14="http://schemas.microsoft.com/office/powerpoint/2010/main" val="3163279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5534C517-3F44-48DA-A261-11154AC120F4}"/>
              </a:ext>
            </a:extLst>
          </p:cNvPr>
          <p:cNvSpPr>
            <a:spLocks noGrp="1" noChangeArrowheads="1"/>
          </p:cNvSpPr>
          <p:nvPr>
            <p:ph type="title"/>
          </p:nvPr>
        </p:nvSpPr>
        <p:spPr/>
        <p:txBody>
          <a:bodyPr>
            <a:normAutofit fontScale="90000"/>
          </a:bodyPr>
          <a:lstStyle/>
          <a:p>
            <a:r>
              <a:rPr lang="en-US" altLang="en-US" sz="3600" b="1">
                <a:solidFill>
                  <a:srgbClr val="C5153F"/>
                </a:solidFill>
              </a:rPr>
              <a:t>Understanding of AI</a:t>
            </a:r>
            <a:br>
              <a:rPr lang="en-US" altLang="en-US" sz="3600" b="1">
                <a:solidFill>
                  <a:srgbClr val="C5153F"/>
                </a:solidFill>
              </a:rPr>
            </a:br>
            <a:endParaRPr lang="en-US" altLang="en-US" sz="3600" b="1">
              <a:solidFill>
                <a:srgbClr val="C5153F"/>
              </a:solidFill>
            </a:endParaRPr>
          </a:p>
        </p:txBody>
      </p:sp>
      <p:sp>
        <p:nvSpPr>
          <p:cNvPr id="46083" name="Rectangle 3">
            <a:extLst>
              <a:ext uri="{FF2B5EF4-FFF2-40B4-BE49-F238E27FC236}">
                <a16:creationId xmlns:a16="http://schemas.microsoft.com/office/drawing/2014/main" xmlns="" id="{86F68879-B25C-4D64-86CE-3E438FFB60B1}"/>
              </a:ext>
            </a:extLst>
          </p:cNvPr>
          <p:cNvSpPr>
            <a:spLocks noGrp="1" noChangeArrowheads="1"/>
          </p:cNvSpPr>
          <p:nvPr>
            <p:ph type="body" idx="1"/>
          </p:nvPr>
        </p:nvSpPr>
        <p:spPr>
          <a:xfrm>
            <a:off x="1657350" y="1524000"/>
            <a:ext cx="5829300" cy="4724400"/>
          </a:xfrm>
        </p:spPr>
        <p:txBody>
          <a:bodyPr>
            <a:normAutofit lnSpcReduction="10000"/>
          </a:bodyPr>
          <a:lstStyle/>
          <a:p>
            <a:pPr algn="just"/>
            <a:r>
              <a:rPr lang="en-US" altLang="en-US"/>
              <a:t>AI techniques and ideas seem to be harder to understand than most things in computer science</a:t>
            </a:r>
          </a:p>
          <a:p>
            <a:pPr algn="just"/>
            <a:endParaRPr lang="en-US" altLang="en-US"/>
          </a:p>
          <a:p>
            <a:pPr algn="just"/>
            <a:r>
              <a:rPr lang="en-US" altLang="en-US"/>
              <a:t>AI shows best on complex problems for which general principles don't help much, though there are a few useful general principles </a:t>
            </a:r>
          </a:p>
        </p:txBody>
      </p:sp>
      <p:sp>
        <p:nvSpPr>
          <p:cNvPr id="2" name="Date Placeholder 1">
            <a:extLst>
              <a:ext uri="{FF2B5EF4-FFF2-40B4-BE49-F238E27FC236}">
                <a16:creationId xmlns:a16="http://schemas.microsoft.com/office/drawing/2014/main" xmlns="" id="{436C134E-6091-4038-A98C-876FA37C931A}"/>
              </a:ext>
            </a:extLst>
          </p:cNvPr>
          <p:cNvSpPr>
            <a:spLocks noGrp="1"/>
          </p:cNvSpPr>
          <p:nvPr>
            <p:ph type="dt" sz="half" idx="10"/>
          </p:nvPr>
        </p:nvSpPr>
        <p:spPr/>
        <p:txBody>
          <a:bodyPr/>
          <a:lstStyle/>
          <a:p>
            <a:fld id="{826934A8-7D66-46A1-BAF2-0FB27D623B65}" type="datetime1">
              <a:rPr lang="en-US" smtClean="0"/>
              <a:t>1/30/2025</a:t>
            </a:fld>
            <a:endParaRPr lang="en-IN"/>
          </a:p>
        </p:txBody>
      </p:sp>
      <p:sp>
        <p:nvSpPr>
          <p:cNvPr id="3" name="Footer Placeholder 2">
            <a:extLst>
              <a:ext uri="{FF2B5EF4-FFF2-40B4-BE49-F238E27FC236}">
                <a16:creationId xmlns:a16="http://schemas.microsoft.com/office/drawing/2014/main" xmlns="" id="{0A0A22EE-5DC9-4BD4-B7D1-14670F9516A3}"/>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68ED60EE-9229-40D4-AE1F-10D2CA7C961F}"/>
              </a:ext>
            </a:extLst>
          </p:cNvPr>
          <p:cNvSpPr>
            <a:spLocks noGrp="1"/>
          </p:cNvSpPr>
          <p:nvPr>
            <p:ph type="sldNum" sz="quarter" idx="12"/>
          </p:nvPr>
        </p:nvSpPr>
        <p:spPr/>
        <p:txBody>
          <a:bodyPr/>
          <a:lstStyle/>
          <a:p>
            <a:fld id="{68F3827D-0A5E-42DB-88B7-D3FF5E601C77}" type="slidenum">
              <a:rPr lang="en-IN" smtClean="0"/>
              <a:t>8</a:t>
            </a:fld>
            <a:endParaRPr lang="en-IN"/>
          </a:p>
        </p:txBody>
      </p:sp>
    </p:spTree>
    <p:extLst>
      <p:ext uri="{BB962C8B-B14F-4D97-AF65-F5344CB8AC3E}">
        <p14:creationId xmlns:p14="http://schemas.microsoft.com/office/powerpoint/2010/main" val="2505265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xmlns="" id="{9BCB3E95-0DF4-4C07-B3AC-6BBB4DDAC104}"/>
              </a:ext>
            </a:extLst>
          </p:cNvPr>
          <p:cNvSpPr>
            <a:spLocks noGrp="1" noChangeArrowheads="1"/>
          </p:cNvSpPr>
          <p:nvPr>
            <p:ph type="body" idx="1"/>
          </p:nvPr>
        </p:nvSpPr>
        <p:spPr>
          <a:xfrm>
            <a:off x="1657350" y="1066800"/>
            <a:ext cx="5829300" cy="5257800"/>
          </a:xfrm>
        </p:spPr>
        <p:txBody>
          <a:bodyPr>
            <a:normAutofit fontScale="92500" lnSpcReduction="20000"/>
          </a:bodyPr>
          <a:lstStyle/>
          <a:p>
            <a:pPr algn="just"/>
            <a:r>
              <a:rPr lang="en-US" altLang="en-US"/>
              <a:t>Artificial intelligence is also difficult to understand by its content.</a:t>
            </a:r>
          </a:p>
          <a:p>
            <a:pPr algn="just"/>
            <a:r>
              <a:rPr lang="en-US" altLang="en-US"/>
              <a:t>Boundaries of AI are not well defined.</a:t>
            </a:r>
          </a:p>
          <a:p>
            <a:pPr algn="just"/>
            <a:r>
              <a:rPr lang="en-US" altLang="en-US"/>
              <a:t>Often it means the advanced software engineering, sophisticated software techniques for hard problems that can't be solved in any easy way.</a:t>
            </a:r>
          </a:p>
          <a:p>
            <a:pPr algn="just"/>
            <a:r>
              <a:rPr lang="en-US" altLang="en-US"/>
              <a:t>AI programs - like people - are usually not perfect, and even make mistakes.</a:t>
            </a:r>
            <a:endParaRPr lang="en-US" altLang="en-US" sz="2600"/>
          </a:p>
        </p:txBody>
      </p:sp>
      <p:sp>
        <p:nvSpPr>
          <p:cNvPr id="2" name="Date Placeholder 1">
            <a:extLst>
              <a:ext uri="{FF2B5EF4-FFF2-40B4-BE49-F238E27FC236}">
                <a16:creationId xmlns:a16="http://schemas.microsoft.com/office/drawing/2014/main" xmlns="" id="{82FE1607-94D8-4FDB-97C2-7B155D55630B}"/>
              </a:ext>
            </a:extLst>
          </p:cNvPr>
          <p:cNvSpPr>
            <a:spLocks noGrp="1"/>
          </p:cNvSpPr>
          <p:nvPr>
            <p:ph type="dt" sz="half" idx="10"/>
          </p:nvPr>
        </p:nvSpPr>
        <p:spPr/>
        <p:txBody>
          <a:bodyPr/>
          <a:lstStyle/>
          <a:p>
            <a:fld id="{8CD0E846-F54A-41CF-AA1C-A17D51542BFC}" type="datetime1">
              <a:rPr lang="en-US" smtClean="0"/>
              <a:t>1/30/2025</a:t>
            </a:fld>
            <a:endParaRPr lang="en-IN"/>
          </a:p>
        </p:txBody>
      </p:sp>
      <p:sp>
        <p:nvSpPr>
          <p:cNvPr id="3" name="Footer Placeholder 2">
            <a:extLst>
              <a:ext uri="{FF2B5EF4-FFF2-40B4-BE49-F238E27FC236}">
                <a16:creationId xmlns:a16="http://schemas.microsoft.com/office/drawing/2014/main" xmlns="" id="{A1638564-A9C7-4A1D-8C17-09FA2F9653E7}"/>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5A95AB56-32B5-4950-85AB-0169ACDE7BA1}"/>
              </a:ext>
            </a:extLst>
          </p:cNvPr>
          <p:cNvSpPr>
            <a:spLocks noGrp="1"/>
          </p:cNvSpPr>
          <p:nvPr>
            <p:ph type="sldNum" sz="quarter" idx="12"/>
          </p:nvPr>
        </p:nvSpPr>
        <p:spPr/>
        <p:txBody>
          <a:bodyPr/>
          <a:lstStyle/>
          <a:p>
            <a:fld id="{68F3827D-0A5E-42DB-88B7-D3FF5E601C77}" type="slidenum">
              <a:rPr lang="en-IN" smtClean="0"/>
              <a:t>9</a:t>
            </a:fld>
            <a:endParaRPr lang="en-IN"/>
          </a:p>
        </p:txBody>
      </p:sp>
    </p:spTree>
    <p:extLst>
      <p:ext uri="{BB962C8B-B14F-4D97-AF65-F5344CB8AC3E}">
        <p14:creationId xmlns:p14="http://schemas.microsoft.com/office/powerpoint/2010/main" val="3237432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1027">
            <a:extLst>
              <a:ext uri="{FF2B5EF4-FFF2-40B4-BE49-F238E27FC236}">
                <a16:creationId xmlns:a16="http://schemas.microsoft.com/office/drawing/2014/main" xmlns="" id="{63D89AD0-1E15-4B45-93EE-5D658C8F42F4}"/>
              </a:ext>
            </a:extLst>
          </p:cNvPr>
          <p:cNvSpPr>
            <a:spLocks noGrp="1" noChangeArrowheads="1"/>
          </p:cNvSpPr>
          <p:nvPr>
            <p:ph type="body" idx="1"/>
          </p:nvPr>
        </p:nvSpPr>
        <p:spPr>
          <a:xfrm>
            <a:off x="1657350" y="914400"/>
            <a:ext cx="5829300" cy="5181600"/>
          </a:xfrm>
        </p:spPr>
        <p:txBody>
          <a:bodyPr>
            <a:normAutofit fontScale="92500" lnSpcReduction="20000"/>
          </a:bodyPr>
          <a:lstStyle/>
          <a:p>
            <a:pPr algn="just"/>
            <a:r>
              <a:rPr lang="en-US" altLang="en-US"/>
              <a:t>It often means, nonnumeric ways of solving problems, since people can't handle numbers well. </a:t>
            </a:r>
          </a:p>
          <a:p>
            <a:pPr algn="just"/>
            <a:r>
              <a:rPr lang="en-US" altLang="en-US"/>
              <a:t>Nonnumeric ways are generally "common sense" ways, not necessarily the best ones.</a:t>
            </a:r>
          </a:p>
          <a:p>
            <a:pPr algn="just"/>
            <a:r>
              <a:rPr lang="en-US" altLang="en-US"/>
              <a:t>Understanding of AI also requires an understanding of related terms such as intelligence, knowledge, reasoning, thought, cognition, learning, and a number of other computer related terms.</a:t>
            </a:r>
          </a:p>
        </p:txBody>
      </p:sp>
      <p:sp>
        <p:nvSpPr>
          <p:cNvPr id="2" name="Date Placeholder 1">
            <a:extLst>
              <a:ext uri="{FF2B5EF4-FFF2-40B4-BE49-F238E27FC236}">
                <a16:creationId xmlns:a16="http://schemas.microsoft.com/office/drawing/2014/main" xmlns="" id="{B74CAC4B-86D7-435A-BD5C-6FE86E7915DF}"/>
              </a:ext>
            </a:extLst>
          </p:cNvPr>
          <p:cNvSpPr>
            <a:spLocks noGrp="1"/>
          </p:cNvSpPr>
          <p:nvPr>
            <p:ph type="dt" sz="half" idx="10"/>
          </p:nvPr>
        </p:nvSpPr>
        <p:spPr/>
        <p:txBody>
          <a:bodyPr/>
          <a:lstStyle/>
          <a:p>
            <a:fld id="{6178EFA6-789B-421F-9CCB-CF5ACE94913D}" type="datetime1">
              <a:rPr lang="en-US" smtClean="0"/>
              <a:t>1/30/2025</a:t>
            </a:fld>
            <a:endParaRPr lang="en-IN"/>
          </a:p>
        </p:txBody>
      </p:sp>
      <p:sp>
        <p:nvSpPr>
          <p:cNvPr id="3" name="Footer Placeholder 2">
            <a:extLst>
              <a:ext uri="{FF2B5EF4-FFF2-40B4-BE49-F238E27FC236}">
                <a16:creationId xmlns:a16="http://schemas.microsoft.com/office/drawing/2014/main" xmlns="" id="{249F0BF2-D62B-45E4-A889-06550635A2EB}"/>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44F1CF08-3321-4666-B7FB-D9819ED954F2}"/>
              </a:ext>
            </a:extLst>
          </p:cNvPr>
          <p:cNvSpPr>
            <a:spLocks noGrp="1"/>
          </p:cNvSpPr>
          <p:nvPr>
            <p:ph type="sldNum" sz="quarter" idx="12"/>
          </p:nvPr>
        </p:nvSpPr>
        <p:spPr/>
        <p:txBody>
          <a:bodyPr/>
          <a:lstStyle/>
          <a:p>
            <a:fld id="{68F3827D-0A5E-42DB-88B7-D3FF5E601C77}" type="slidenum">
              <a:rPr lang="en-IN" smtClean="0"/>
              <a:t>10</a:t>
            </a:fld>
            <a:endParaRPr lang="en-IN"/>
          </a:p>
        </p:txBody>
      </p:sp>
    </p:spTree>
    <p:extLst>
      <p:ext uri="{BB962C8B-B14F-4D97-AF65-F5344CB8AC3E}">
        <p14:creationId xmlns:p14="http://schemas.microsoft.com/office/powerpoint/2010/main" val="568449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xmlns="" id="{46AED701-EAF0-4703-AE24-6B2877397A4B}"/>
              </a:ext>
            </a:extLst>
          </p:cNvPr>
          <p:cNvSpPr>
            <a:spLocks noGrp="1" noChangeArrowheads="1"/>
          </p:cNvSpPr>
          <p:nvPr>
            <p:ph type="title"/>
          </p:nvPr>
        </p:nvSpPr>
        <p:spPr/>
        <p:txBody>
          <a:bodyPr/>
          <a:lstStyle/>
          <a:p>
            <a:r>
              <a:rPr lang="en-US" altLang="en-US" b="1"/>
              <a:t>Categories of AI System</a:t>
            </a:r>
          </a:p>
        </p:txBody>
      </p:sp>
      <p:sp>
        <p:nvSpPr>
          <p:cNvPr id="119811" name="Rectangle 3">
            <a:extLst>
              <a:ext uri="{FF2B5EF4-FFF2-40B4-BE49-F238E27FC236}">
                <a16:creationId xmlns:a16="http://schemas.microsoft.com/office/drawing/2014/main" xmlns="" id="{26DB8474-FA38-4EAB-B0AC-19A9152F08A8}"/>
              </a:ext>
            </a:extLst>
          </p:cNvPr>
          <p:cNvSpPr>
            <a:spLocks noGrp="1" noChangeArrowheads="1"/>
          </p:cNvSpPr>
          <p:nvPr>
            <p:ph type="body" idx="1"/>
          </p:nvPr>
        </p:nvSpPr>
        <p:spPr/>
        <p:txBody>
          <a:bodyPr/>
          <a:lstStyle/>
          <a:p>
            <a:r>
              <a:rPr lang="en-US" altLang="en-US"/>
              <a:t>Systems that think like humans</a:t>
            </a:r>
          </a:p>
          <a:p>
            <a:r>
              <a:rPr lang="en-US" altLang="en-US"/>
              <a:t>Systems that act like humans</a:t>
            </a:r>
          </a:p>
          <a:p>
            <a:endParaRPr lang="en-US" altLang="en-US"/>
          </a:p>
          <a:p>
            <a:r>
              <a:rPr lang="en-US" altLang="en-US"/>
              <a:t>Systems that think rationally</a:t>
            </a:r>
          </a:p>
          <a:p>
            <a:r>
              <a:rPr lang="en-US" altLang="en-US"/>
              <a:t>Systems that act rationally</a:t>
            </a:r>
          </a:p>
        </p:txBody>
      </p:sp>
      <p:sp>
        <p:nvSpPr>
          <p:cNvPr id="2" name="Date Placeholder 1">
            <a:extLst>
              <a:ext uri="{FF2B5EF4-FFF2-40B4-BE49-F238E27FC236}">
                <a16:creationId xmlns:a16="http://schemas.microsoft.com/office/drawing/2014/main" xmlns="" id="{18B2B088-A2A1-40E1-8B03-8207156A58E4}"/>
              </a:ext>
            </a:extLst>
          </p:cNvPr>
          <p:cNvSpPr>
            <a:spLocks noGrp="1"/>
          </p:cNvSpPr>
          <p:nvPr>
            <p:ph type="dt" sz="half" idx="10"/>
          </p:nvPr>
        </p:nvSpPr>
        <p:spPr/>
        <p:txBody>
          <a:bodyPr/>
          <a:lstStyle/>
          <a:p>
            <a:fld id="{DA1E7504-917F-40B1-B6D0-7E9512A3D44B}" type="datetime1">
              <a:rPr lang="en-US" smtClean="0"/>
              <a:t>1/30/2025</a:t>
            </a:fld>
            <a:endParaRPr lang="en-IN"/>
          </a:p>
        </p:txBody>
      </p:sp>
      <p:sp>
        <p:nvSpPr>
          <p:cNvPr id="3" name="Footer Placeholder 2">
            <a:extLst>
              <a:ext uri="{FF2B5EF4-FFF2-40B4-BE49-F238E27FC236}">
                <a16:creationId xmlns:a16="http://schemas.microsoft.com/office/drawing/2014/main" xmlns="" id="{D69621D3-239B-4251-8741-D8BA35388D63}"/>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1A821B3D-B1A5-4B1C-835B-674149AF93E2}"/>
              </a:ext>
            </a:extLst>
          </p:cNvPr>
          <p:cNvSpPr>
            <a:spLocks noGrp="1"/>
          </p:cNvSpPr>
          <p:nvPr>
            <p:ph type="sldNum" sz="quarter" idx="12"/>
          </p:nvPr>
        </p:nvSpPr>
        <p:spPr/>
        <p:txBody>
          <a:bodyPr/>
          <a:lstStyle/>
          <a:p>
            <a:fld id="{68F3827D-0A5E-42DB-88B7-D3FF5E601C77}" type="slidenum">
              <a:rPr lang="en-IN" smtClean="0"/>
              <a:t>11</a:t>
            </a:fld>
            <a:endParaRPr lang="en-IN"/>
          </a:p>
        </p:txBody>
      </p:sp>
    </p:spTree>
    <p:extLst>
      <p:ext uri="{BB962C8B-B14F-4D97-AF65-F5344CB8AC3E}">
        <p14:creationId xmlns:p14="http://schemas.microsoft.com/office/powerpoint/2010/main" val="2423615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692696"/>
            <a:ext cx="8043925" cy="542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2791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26">
            <a:extLst>
              <a:ext uri="{FF2B5EF4-FFF2-40B4-BE49-F238E27FC236}">
                <a16:creationId xmlns:a16="http://schemas.microsoft.com/office/drawing/2014/main" xmlns="" id="{329B4EE6-81C5-46CF-88D0-86DF09918205}"/>
              </a:ext>
            </a:extLst>
          </p:cNvPr>
          <p:cNvSpPr>
            <a:spLocks noGrp="1" noChangeArrowheads="1"/>
          </p:cNvSpPr>
          <p:nvPr>
            <p:ph type="title"/>
          </p:nvPr>
        </p:nvSpPr>
        <p:spPr>
          <a:xfrm>
            <a:off x="1371600" y="228600"/>
            <a:ext cx="6115050" cy="914400"/>
          </a:xfrm>
        </p:spPr>
        <p:txBody>
          <a:bodyPr/>
          <a:lstStyle/>
          <a:p>
            <a:r>
              <a:rPr lang="en-US" altLang="en-US" b="1"/>
              <a:t>The Turing Test</a:t>
            </a:r>
            <a:r>
              <a:rPr lang="en-US" altLang="en-US"/>
              <a:t>  </a:t>
            </a:r>
            <a:endParaRPr lang="en-US" altLang="en-US" sz="4600"/>
          </a:p>
        </p:txBody>
      </p:sp>
      <p:sp>
        <p:nvSpPr>
          <p:cNvPr id="135171" name="Rectangle 1027">
            <a:extLst>
              <a:ext uri="{FF2B5EF4-FFF2-40B4-BE49-F238E27FC236}">
                <a16:creationId xmlns:a16="http://schemas.microsoft.com/office/drawing/2014/main" xmlns="" id="{42BCBD93-D2A8-4261-9881-1761237CD0E5}"/>
              </a:ext>
            </a:extLst>
          </p:cNvPr>
          <p:cNvSpPr>
            <a:spLocks noGrp="1" noChangeArrowheads="1"/>
          </p:cNvSpPr>
          <p:nvPr>
            <p:ph type="body" idx="1"/>
          </p:nvPr>
        </p:nvSpPr>
        <p:spPr>
          <a:xfrm>
            <a:off x="1657350" y="1219200"/>
            <a:ext cx="5829300" cy="4876800"/>
          </a:xfrm>
        </p:spPr>
        <p:txBody>
          <a:bodyPr>
            <a:normAutofit fontScale="92500" lnSpcReduction="20000"/>
          </a:bodyPr>
          <a:lstStyle/>
          <a:p>
            <a:pPr lvl="1">
              <a:buFont typeface="Wingdings" panose="05000000000000000000" pitchFamily="2" charset="2"/>
              <a:buNone/>
            </a:pPr>
            <a:r>
              <a:rPr lang="en-US" altLang="en-US" dirty="0"/>
              <a:t>Turing proposed operational test for intelligent </a:t>
            </a:r>
          </a:p>
          <a:p>
            <a:pPr lvl="1">
              <a:buFont typeface="Wingdings" panose="05000000000000000000" pitchFamily="2" charset="2"/>
              <a:buNone/>
            </a:pPr>
            <a:r>
              <a:rPr lang="en-US" altLang="en-US" dirty="0"/>
              <a:t>behavior in 1950.</a:t>
            </a:r>
          </a:p>
          <a:p>
            <a:pPr lvl="1">
              <a:buFont typeface="Wingdings" panose="05000000000000000000" pitchFamily="2" charset="2"/>
              <a:buNone/>
            </a:pPr>
            <a:endParaRPr lang="en-US" altLang="en-US" dirty="0"/>
          </a:p>
          <a:p>
            <a:pPr lvl="1">
              <a:buFont typeface="Wingdings" panose="05000000000000000000" pitchFamily="2" charset="2"/>
              <a:buNone/>
            </a:pPr>
            <a:r>
              <a:rPr lang="en-US" altLang="en-US" dirty="0"/>
              <a:t>							Human</a:t>
            </a:r>
          </a:p>
          <a:p>
            <a:pPr lvl="1">
              <a:buFont typeface="Wingdings" panose="05000000000000000000" pitchFamily="2" charset="2"/>
              <a:buNone/>
            </a:pPr>
            <a:endParaRPr lang="en-US" altLang="en-US" dirty="0"/>
          </a:p>
          <a:p>
            <a:pPr lvl="1">
              <a:buFont typeface="Wingdings" panose="05000000000000000000" pitchFamily="2" charset="2"/>
              <a:buNone/>
            </a:pPr>
            <a:r>
              <a:rPr lang="en-US" altLang="en-US" dirty="0"/>
              <a:t>Human				?</a:t>
            </a:r>
          </a:p>
          <a:p>
            <a:pPr lvl="1">
              <a:buFont typeface="Wingdings" panose="05000000000000000000" pitchFamily="2" charset="2"/>
              <a:buNone/>
            </a:pPr>
            <a:r>
              <a:rPr lang="en-US" altLang="en-US" dirty="0"/>
              <a:t>Interrogator	</a:t>
            </a:r>
          </a:p>
          <a:p>
            <a:pPr lvl="1">
              <a:buFont typeface="Wingdings" panose="05000000000000000000" pitchFamily="2" charset="2"/>
              <a:buNone/>
            </a:pPr>
            <a:r>
              <a:rPr lang="en-US" altLang="en-US" dirty="0"/>
              <a:t>							</a:t>
            </a:r>
          </a:p>
          <a:p>
            <a:pPr lvl="1">
              <a:buFont typeface="Wingdings" panose="05000000000000000000" pitchFamily="2" charset="2"/>
              <a:buNone/>
            </a:pPr>
            <a:r>
              <a:rPr lang="en-US" altLang="en-US" dirty="0"/>
              <a:t>							AI system</a:t>
            </a:r>
          </a:p>
        </p:txBody>
      </p:sp>
      <p:sp>
        <p:nvSpPr>
          <p:cNvPr id="135172" name="Line 1028">
            <a:extLst>
              <a:ext uri="{FF2B5EF4-FFF2-40B4-BE49-F238E27FC236}">
                <a16:creationId xmlns:a16="http://schemas.microsoft.com/office/drawing/2014/main" xmlns="" id="{96D2FBD5-0D14-425D-979D-89BB9251309E}"/>
              </a:ext>
            </a:extLst>
          </p:cNvPr>
          <p:cNvSpPr>
            <a:spLocks noChangeShapeType="1"/>
          </p:cNvSpPr>
          <p:nvPr/>
        </p:nvSpPr>
        <p:spPr bwMode="auto">
          <a:xfrm>
            <a:off x="4629150" y="26670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5173" name="Rectangle 1029">
            <a:extLst>
              <a:ext uri="{FF2B5EF4-FFF2-40B4-BE49-F238E27FC236}">
                <a16:creationId xmlns:a16="http://schemas.microsoft.com/office/drawing/2014/main" xmlns="" id="{74016071-B2EB-4FD9-9E0F-40314F25DBC0}"/>
              </a:ext>
            </a:extLst>
          </p:cNvPr>
          <p:cNvSpPr>
            <a:spLocks noChangeArrowheads="1"/>
          </p:cNvSpPr>
          <p:nvPr/>
        </p:nvSpPr>
        <p:spPr bwMode="auto">
          <a:xfrm>
            <a:off x="1657350" y="3505200"/>
            <a:ext cx="1771650" cy="1371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5174" name="Oval 1030">
            <a:extLst>
              <a:ext uri="{FF2B5EF4-FFF2-40B4-BE49-F238E27FC236}">
                <a16:creationId xmlns:a16="http://schemas.microsoft.com/office/drawing/2014/main" xmlns="" id="{43BD9971-D98D-48E2-9408-D4E2A306492D}"/>
              </a:ext>
            </a:extLst>
          </p:cNvPr>
          <p:cNvSpPr>
            <a:spLocks noChangeArrowheads="1"/>
          </p:cNvSpPr>
          <p:nvPr/>
        </p:nvSpPr>
        <p:spPr bwMode="auto">
          <a:xfrm>
            <a:off x="5535827" y="2400300"/>
            <a:ext cx="1200150" cy="7620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135175" name="Oval 1031">
            <a:extLst>
              <a:ext uri="{FF2B5EF4-FFF2-40B4-BE49-F238E27FC236}">
                <a16:creationId xmlns:a16="http://schemas.microsoft.com/office/drawing/2014/main" xmlns="" id="{CEFDAB0A-77D0-4DBC-8C67-302FBDE69289}"/>
              </a:ext>
            </a:extLst>
          </p:cNvPr>
          <p:cNvSpPr>
            <a:spLocks noChangeArrowheads="1"/>
          </p:cNvSpPr>
          <p:nvPr/>
        </p:nvSpPr>
        <p:spPr bwMode="auto">
          <a:xfrm>
            <a:off x="5461687" y="4114800"/>
            <a:ext cx="1543050" cy="8382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135176" name="Line 1032">
            <a:extLst>
              <a:ext uri="{FF2B5EF4-FFF2-40B4-BE49-F238E27FC236}">
                <a16:creationId xmlns:a16="http://schemas.microsoft.com/office/drawing/2014/main" xmlns="" id="{03BBC4DA-5025-4876-A92B-A54A87C1FCC5}"/>
              </a:ext>
            </a:extLst>
          </p:cNvPr>
          <p:cNvSpPr>
            <a:spLocks noChangeShapeType="1"/>
          </p:cNvSpPr>
          <p:nvPr/>
        </p:nvSpPr>
        <p:spPr bwMode="auto">
          <a:xfrm>
            <a:off x="3371850" y="4114800"/>
            <a:ext cx="1257300" cy="0"/>
          </a:xfrm>
          <a:prstGeom prst="line">
            <a:avLst/>
          </a:prstGeom>
          <a:noFill/>
          <a:ln w="2857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5177" name="Line 1033">
            <a:extLst>
              <a:ext uri="{FF2B5EF4-FFF2-40B4-BE49-F238E27FC236}">
                <a16:creationId xmlns:a16="http://schemas.microsoft.com/office/drawing/2014/main" xmlns="" id="{6000B521-E015-42C9-9083-A05072D42294}"/>
              </a:ext>
            </a:extLst>
          </p:cNvPr>
          <p:cNvSpPr>
            <a:spLocks noChangeShapeType="1"/>
          </p:cNvSpPr>
          <p:nvPr/>
        </p:nvSpPr>
        <p:spPr bwMode="auto">
          <a:xfrm flipV="1">
            <a:off x="4629150" y="3048000"/>
            <a:ext cx="1028700" cy="99060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5178" name="Line 1034">
            <a:extLst>
              <a:ext uri="{FF2B5EF4-FFF2-40B4-BE49-F238E27FC236}">
                <a16:creationId xmlns:a16="http://schemas.microsoft.com/office/drawing/2014/main" xmlns="" id="{54CAF5CB-8E57-4C69-9C07-A08BE10BF6E7}"/>
              </a:ext>
            </a:extLst>
          </p:cNvPr>
          <p:cNvSpPr>
            <a:spLocks noChangeShapeType="1"/>
          </p:cNvSpPr>
          <p:nvPr/>
        </p:nvSpPr>
        <p:spPr bwMode="auto">
          <a:xfrm>
            <a:off x="4629150" y="4191000"/>
            <a:ext cx="1028700" cy="68580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 name="Date Placeholder 1">
            <a:extLst>
              <a:ext uri="{FF2B5EF4-FFF2-40B4-BE49-F238E27FC236}">
                <a16:creationId xmlns:a16="http://schemas.microsoft.com/office/drawing/2014/main" xmlns="" id="{9D298182-8930-4E6D-B909-D4EE24F38D44}"/>
              </a:ext>
            </a:extLst>
          </p:cNvPr>
          <p:cNvSpPr>
            <a:spLocks noGrp="1"/>
          </p:cNvSpPr>
          <p:nvPr>
            <p:ph type="dt" sz="half" idx="10"/>
          </p:nvPr>
        </p:nvSpPr>
        <p:spPr/>
        <p:txBody>
          <a:bodyPr/>
          <a:lstStyle/>
          <a:p>
            <a:fld id="{74327E36-848B-49A7-BD54-D724B9BC4A33}" type="datetime1">
              <a:rPr lang="en-US" smtClean="0"/>
              <a:t>1/30/2025</a:t>
            </a:fld>
            <a:endParaRPr lang="en-IN"/>
          </a:p>
        </p:txBody>
      </p:sp>
      <p:sp>
        <p:nvSpPr>
          <p:cNvPr id="3" name="Footer Placeholder 2">
            <a:extLst>
              <a:ext uri="{FF2B5EF4-FFF2-40B4-BE49-F238E27FC236}">
                <a16:creationId xmlns:a16="http://schemas.microsoft.com/office/drawing/2014/main" xmlns="" id="{13638BD7-02FE-4C53-8B75-3DE7B7766295}"/>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673B8ABF-B3D9-41C7-A24C-7AA441127902}"/>
              </a:ext>
            </a:extLst>
          </p:cNvPr>
          <p:cNvSpPr>
            <a:spLocks noGrp="1"/>
          </p:cNvSpPr>
          <p:nvPr>
            <p:ph type="sldNum" sz="quarter" idx="12"/>
          </p:nvPr>
        </p:nvSpPr>
        <p:spPr/>
        <p:txBody>
          <a:bodyPr/>
          <a:lstStyle/>
          <a:p>
            <a:fld id="{68F3827D-0A5E-42DB-88B7-D3FF5E601C77}" type="slidenum">
              <a:rPr lang="en-IN" smtClean="0"/>
              <a:t>13</a:t>
            </a:fld>
            <a:endParaRPr lang="en-IN"/>
          </a:p>
        </p:txBody>
      </p:sp>
    </p:spTree>
    <p:extLst>
      <p:ext uri="{BB962C8B-B14F-4D97-AF65-F5344CB8AC3E}">
        <p14:creationId xmlns:p14="http://schemas.microsoft.com/office/powerpoint/2010/main" val="1065697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xmlns="" id="{9D0C736D-2DD0-4F18-92CF-2F3E13791371}"/>
              </a:ext>
            </a:extLst>
          </p:cNvPr>
          <p:cNvSpPr>
            <a:spLocks noGrp="1" noChangeArrowheads="1"/>
          </p:cNvSpPr>
          <p:nvPr>
            <p:ph type="title"/>
          </p:nvPr>
        </p:nvSpPr>
        <p:spPr>
          <a:xfrm>
            <a:off x="1485900" y="277813"/>
            <a:ext cx="6172200" cy="760412"/>
          </a:xfrm>
        </p:spPr>
        <p:txBody>
          <a:bodyPr/>
          <a:lstStyle/>
          <a:p>
            <a:r>
              <a:rPr lang="en-US" altLang="en-US" sz="3600" b="1">
                <a:solidFill>
                  <a:srgbClr val="C5153F"/>
                </a:solidFill>
                <a:cs typeface="Times New Roman" panose="02020603050405020304" pitchFamily="18" charset="0"/>
              </a:rPr>
              <a:t>ELIZA</a:t>
            </a:r>
          </a:p>
        </p:txBody>
      </p:sp>
      <p:sp>
        <p:nvSpPr>
          <p:cNvPr id="239619" name="Rectangle 3">
            <a:extLst>
              <a:ext uri="{FF2B5EF4-FFF2-40B4-BE49-F238E27FC236}">
                <a16:creationId xmlns:a16="http://schemas.microsoft.com/office/drawing/2014/main" xmlns="" id="{7FECE310-EC14-466F-A489-04FFCA91AC48}"/>
              </a:ext>
            </a:extLst>
          </p:cNvPr>
          <p:cNvSpPr>
            <a:spLocks noGrp="1" noChangeArrowheads="1"/>
          </p:cNvSpPr>
          <p:nvPr>
            <p:ph type="body" idx="1"/>
          </p:nvPr>
        </p:nvSpPr>
        <p:spPr>
          <a:xfrm>
            <a:off x="1657350" y="1295400"/>
            <a:ext cx="5943600" cy="4800600"/>
          </a:xfrm>
        </p:spPr>
        <p:txBody>
          <a:bodyPr>
            <a:normAutofit fontScale="92500" lnSpcReduction="10000"/>
          </a:bodyPr>
          <a:lstStyle/>
          <a:p>
            <a:pPr algn="just">
              <a:lnSpc>
                <a:spcPct val="90000"/>
              </a:lnSpc>
            </a:pPr>
            <a:r>
              <a:rPr lang="en-US" altLang="en-US">
                <a:cs typeface="Times New Roman" panose="02020603050405020304" pitchFamily="18" charset="0"/>
              </a:rPr>
              <a:t>Eliza was first program developed by Joseph Wiezbaum to converse in English in mid 1960's </a:t>
            </a:r>
          </a:p>
          <a:p>
            <a:pPr lvl="1" algn="just">
              <a:lnSpc>
                <a:spcPct val="90000"/>
              </a:lnSpc>
            </a:pPr>
            <a:r>
              <a:rPr lang="en-US" altLang="en-US">
                <a:cs typeface="Times New Roman" panose="02020603050405020304" pitchFamily="18" charset="0"/>
              </a:rPr>
              <a:t>It passed turing test.</a:t>
            </a:r>
          </a:p>
          <a:p>
            <a:pPr algn="just">
              <a:lnSpc>
                <a:spcPct val="90000"/>
              </a:lnSpc>
            </a:pPr>
            <a:r>
              <a:rPr lang="en-US" altLang="en-US">
                <a:cs typeface="Times New Roman" panose="02020603050405020304" pitchFamily="18" charset="0"/>
              </a:rPr>
              <a:t>The following passage shows Eliza’s talking to a teenage girl. Blue text Eliza’s response</a:t>
            </a:r>
          </a:p>
          <a:p>
            <a:pPr algn="just">
              <a:lnSpc>
                <a:spcPct val="90000"/>
              </a:lnSpc>
              <a:spcBef>
                <a:spcPct val="50000"/>
              </a:spcBef>
              <a:buFont typeface="Wingdings" panose="05000000000000000000" pitchFamily="2" charset="2"/>
              <a:buNone/>
            </a:pPr>
            <a:endParaRPr lang="en-US" altLang="en-US" sz="2100" i="1">
              <a:cs typeface="Times New Roman" panose="02020603050405020304" pitchFamily="18" charset="0"/>
            </a:endParaRPr>
          </a:p>
          <a:p>
            <a:pPr algn="just">
              <a:lnSpc>
                <a:spcPct val="90000"/>
              </a:lnSpc>
              <a:spcBef>
                <a:spcPct val="50000"/>
              </a:spcBef>
              <a:buFont typeface="Wingdings" panose="05000000000000000000" pitchFamily="2" charset="2"/>
              <a:buNone/>
            </a:pPr>
            <a:r>
              <a:rPr lang="en-US" altLang="en-US" sz="2100" i="1">
                <a:cs typeface="Times New Roman" panose="02020603050405020304" pitchFamily="18" charset="0"/>
              </a:rPr>
              <a:t>Men are all alike. </a:t>
            </a:r>
            <a:endParaRPr lang="en-US" altLang="en-US" sz="2100">
              <a:cs typeface="Times New Roman" panose="02020603050405020304" pitchFamily="18" charset="0"/>
            </a:endParaRPr>
          </a:p>
          <a:p>
            <a:pPr algn="just">
              <a:lnSpc>
                <a:spcPct val="90000"/>
              </a:lnSpc>
              <a:spcBef>
                <a:spcPct val="50000"/>
              </a:spcBef>
              <a:buFont typeface="Wingdings" panose="05000000000000000000" pitchFamily="2" charset="2"/>
              <a:buNone/>
            </a:pPr>
            <a:r>
              <a:rPr lang="en-US" altLang="en-US" sz="2100" i="1">
                <a:solidFill>
                  <a:srgbClr val="0000FF"/>
                </a:solidFill>
                <a:cs typeface="Times New Roman" panose="02020603050405020304" pitchFamily="18" charset="0"/>
              </a:rPr>
              <a:t>IN WHAT WAY</a:t>
            </a:r>
            <a:r>
              <a:rPr lang="en-US" altLang="en-US" sz="2100" i="1">
                <a:cs typeface="Times New Roman" panose="02020603050405020304" pitchFamily="18" charset="0"/>
              </a:rPr>
              <a:t> </a:t>
            </a:r>
            <a:endParaRPr lang="en-US" altLang="en-US" sz="2100">
              <a:cs typeface="Times New Roman" panose="02020603050405020304" pitchFamily="18" charset="0"/>
            </a:endParaRPr>
          </a:p>
          <a:p>
            <a:pPr algn="just">
              <a:lnSpc>
                <a:spcPct val="90000"/>
              </a:lnSpc>
              <a:spcBef>
                <a:spcPct val="50000"/>
              </a:spcBef>
              <a:buFont typeface="Wingdings" panose="05000000000000000000" pitchFamily="2" charset="2"/>
              <a:buNone/>
            </a:pPr>
            <a:r>
              <a:rPr lang="en-US" altLang="en-US" sz="2100" i="1">
                <a:cs typeface="Times New Roman" panose="02020603050405020304" pitchFamily="18" charset="0"/>
              </a:rPr>
              <a:t>They're always bugging us about something or other. </a:t>
            </a:r>
            <a:endParaRPr lang="en-US" altLang="en-US" sz="2100">
              <a:cs typeface="Times New Roman" panose="02020603050405020304" pitchFamily="18" charset="0"/>
            </a:endParaRPr>
          </a:p>
          <a:p>
            <a:pPr algn="just">
              <a:lnSpc>
                <a:spcPct val="90000"/>
              </a:lnSpc>
              <a:spcBef>
                <a:spcPct val="50000"/>
              </a:spcBef>
              <a:buFont typeface="Wingdings" panose="05000000000000000000" pitchFamily="2" charset="2"/>
              <a:buNone/>
            </a:pPr>
            <a:r>
              <a:rPr lang="en-US" altLang="en-US" sz="2100" i="1">
                <a:solidFill>
                  <a:srgbClr val="0000FF"/>
                </a:solidFill>
                <a:cs typeface="Times New Roman" panose="02020603050405020304" pitchFamily="18" charset="0"/>
              </a:rPr>
              <a:t>CAN YOU THINK OF A SPECIFIC EXAMPLE</a:t>
            </a:r>
            <a:r>
              <a:rPr lang="en-US" altLang="en-US" sz="2100" i="1">
                <a:cs typeface="Times New Roman" panose="02020603050405020304" pitchFamily="18" charset="0"/>
              </a:rPr>
              <a:t> </a:t>
            </a:r>
            <a:endParaRPr lang="en-US" altLang="en-US">
              <a:cs typeface="Times New Roman" panose="02020603050405020304" pitchFamily="18" charset="0"/>
            </a:endParaRPr>
          </a:p>
        </p:txBody>
      </p:sp>
      <p:sp>
        <p:nvSpPr>
          <p:cNvPr id="2" name="Date Placeholder 1">
            <a:extLst>
              <a:ext uri="{FF2B5EF4-FFF2-40B4-BE49-F238E27FC236}">
                <a16:creationId xmlns:a16="http://schemas.microsoft.com/office/drawing/2014/main" xmlns="" id="{ABC3F549-771D-489E-AA50-7EABAD10900A}"/>
              </a:ext>
            </a:extLst>
          </p:cNvPr>
          <p:cNvSpPr>
            <a:spLocks noGrp="1"/>
          </p:cNvSpPr>
          <p:nvPr>
            <p:ph type="dt" sz="half" idx="10"/>
          </p:nvPr>
        </p:nvSpPr>
        <p:spPr/>
        <p:txBody>
          <a:bodyPr/>
          <a:lstStyle/>
          <a:p>
            <a:fld id="{E41C1FD2-B255-4EEF-8CF4-063AA2B09599}" type="datetime1">
              <a:rPr lang="en-US" smtClean="0"/>
              <a:t>1/30/2025</a:t>
            </a:fld>
            <a:endParaRPr lang="en-IN"/>
          </a:p>
        </p:txBody>
      </p:sp>
      <p:sp>
        <p:nvSpPr>
          <p:cNvPr id="3" name="Footer Placeholder 2">
            <a:extLst>
              <a:ext uri="{FF2B5EF4-FFF2-40B4-BE49-F238E27FC236}">
                <a16:creationId xmlns:a16="http://schemas.microsoft.com/office/drawing/2014/main" xmlns="" id="{D217EEFC-ADE8-47DA-8A0F-3E6B1310E498}"/>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1EAA92F0-CBE0-4819-AA1B-1E555A39C266}"/>
              </a:ext>
            </a:extLst>
          </p:cNvPr>
          <p:cNvSpPr>
            <a:spLocks noGrp="1"/>
          </p:cNvSpPr>
          <p:nvPr>
            <p:ph type="sldNum" sz="quarter" idx="12"/>
          </p:nvPr>
        </p:nvSpPr>
        <p:spPr/>
        <p:txBody>
          <a:bodyPr/>
          <a:lstStyle/>
          <a:p>
            <a:fld id="{68F3827D-0A5E-42DB-88B7-D3FF5E601C77}" type="slidenum">
              <a:rPr lang="en-IN" smtClean="0"/>
              <a:t>14</a:t>
            </a:fld>
            <a:endParaRPr lang="en-IN"/>
          </a:p>
        </p:txBody>
      </p:sp>
    </p:spTree>
    <p:extLst>
      <p:ext uri="{BB962C8B-B14F-4D97-AF65-F5344CB8AC3E}">
        <p14:creationId xmlns:p14="http://schemas.microsoft.com/office/powerpoint/2010/main" val="2672505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Autofit/>
          </a:bodyPr>
          <a:lstStyle/>
          <a:p>
            <a:pPr marL="514350" indent="-514350" algn="just">
              <a:buAutoNum type="arabicPeriod"/>
            </a:pPr>
            <a:r>
              <a:rPr lang="en-US" sz="2000" b="1" dirty="0" smtClean="0">
                <a:latin typeface="Times New Roman" pitchFamily="18" charset="0"/>
                <a:cs typeface="Times New Roman" pitchFamily="18" charset="0"/>
              </a:rPr>
              <a:t>Acting </a:t>
            </a:r>
            <a:r>
              <a:rPr lang="en-US" sz="2000" b="1" dirty="0">
                <a:latin typeface="Times New Roman" pitchFamily="18" charset="0"/>
                <a:cs typeface="Times New Roman" pitchFamily="18" charset="0"/>
              </a:rPr>
              <a:t>humanly: The Turing Test </a:t>
            </a:r>
            <a:r>
              <a:rPr lang="en-US" sz="2000" b="1" dirty="0" smtClean="0">
                <a:latin typeface="Times New Roman" pitchFamily="18" charset="0"/>
                <a:cs typeface="Times New Roman" pitchFamily="18" charset="0"/>
              </a:rPr>
              <a:t>approach</a:t>
            </a:r>
          </a:p>
          <a:p>
            <a:pPr marL="514350" indent="-514350" algn="just">
              <a:buAutoNum type="arabicPeriod"/>
            </a:pPr>
            <a:endParaRPr lang="en-US" sz="2000" b="1"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Turing Test</a:t>
            </a:r>
            <a:r>
              <a:rPr lang="en-US" sz="2000" dirty="0">
                <a:latin typeface="Times New Roman" pitchFamily="18" charset="0"/>
                <a:cs typeface="Times New Roman" pitchFamily="18" charset="0"/>
              </a:rPr>
              <a:t>, proposed by Alan Turing </a:t>
            </a:r>
            <a:r>
              <a:rPr lang="en-US" sz="2000" dirty="0" err="1">
                <a:latin typeface="Times New Roman" pitchFamily="18" charset="0"/>
                <a:cs typeface="Times New Roman" pitchFamily="18" charset="0"/>
              </a:rPr>
              <a:t>TURING</a:t>
            </a:r>
            <a:r>
              <a:rPr lang="en-US" sz="2000" dirty="0">
                <a:latin typeface="Times New Roman" pitchFamily="18" charset="0"/>
                <a:cs typeface="Times New Roman" pitchFamily="18" charset="0"/>
              </a:rPr>
              <a:t> TEST (1950), was designed to provide a </a:t>
            </a:r>
            <a:r>
              <a:rPr lang="en-US" sz="2000" dirty="0" smtClean="0">
                <a:latin typeface="Times New Roman" pitchFamily="18" charset="0"/>
                <a:cs typeface="Times New Roman" pitchFamily="18" charset="0"/>
              </a:rPr>
              <a:t>satisfactory operational </a:t>
            </a:r>
            <a:r>
              <a:rPr lang="en-US" sz="2000" dirty="0">
                <a:latin typeface="Times New Roman" pitchFamily="18" charset="0"/>
                <a:cs typeface="Times New Roman" pitchFamily="18" charset="0"/>
              </a:rPr>
              <a:t>definition of intelligence. A computer passes the test if a human interrogator, </a:t>
            </a:r>
            <a:r>
              <a:rPr lang="en-US" sz="2000" dirty="0" smtClean="0">
                <a:latin typeface="Times New Roman" pitchFamily="18" charset="0"/>
                <a:cs typeface="Times New Roman" pitchFamily="18" charset="0"/>
              </a:rPr>
              <a:t>after posing </a:t>
            </a:r>
            <a:r>
              <a:rPr lang="en-US" sz="2000" dirty="0">
                <a:latin typeface="Times New Roman" pitchFamily="18" charset="0"/>
                <a:cs typeface="Times New Roman" pitchFamily="18" charset="0"/>
              </a:rPr>
              <a:t>some written questions, cannot tell whether the written responses come from a </a:t>
            </a:r>
            <a:r>
              <a:rPr lang="en-US" sz="2000" dirty="0" smtClean="0">
                <a:latin typeface="Times New Roman" pitchFamily="18" charset="0"/>
                <a:cs typeface="Times New Roman" pitchFamily="18" charset="0"/>
              </a:rPr>
              <a:t>person </a:t>
            </a:r>
            <a:r>
              <a:rPr lang="en-IN" sz="2000" dirty="0" smtClean="0">
                <a:latin typeface="Times New Roman" pitchFamily="18" charset="0"/>
                <a:cs typeface="Times New Roman" pitchFamily="18" charset="0"/>
              </a:rPr>
              <a:t>or </a:t>
            </a:r>
            <a:r>
              <a:rPr lang="en-IN" sz="2000" dirty="0">
                <a:latin typeface="Times New Roman" pitchFamily="18" charset="0"/>
                <a:cs typeface="Times New Roman" pitchFamily="18" charset="0"/>
              </a:rPr>
              <a:t>from a computer</a:t>
            </a:r>
            <a:r>
              <a:rPr lang="en-IN"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computer would need to possess </a:t>
            </a:r>
            <a:r>
              <a:rPr lang="en-US" sz="2000" dirty="0" smtClean="0">
                <a:latin typeface="Times New Roman" pitchFamily="18" charset="0"/>
                <a:cs typeface="Times New Roman" pitchFamily="18" charset="0"/>
              </a:rPr>
              <a:t>the </a:t>
            </a:r>
            <a:r>
              <a:rPr lang="en-IN" sz="2000" dirty="0" smtClean="0">
                <a:latin typeface="Times New Roman" pitchFamily="18" charset="0"/>
                <a:cs typeface="Times New Roman" pitchFamily="18" charset="0"/>
              </a:rPr>
              <a:t>following </a:t>
            </a:r>
            <a:r>
              <a:rPr lang="en-IN" sz="2000" dirty="0">
                <a:latin typeface="Times New Roman" pitchFamily="18" charset="0"/>
                <a:cs typeface="Times New Roman" pitchFamily="18" charset="0"/>
              </a:rPr>
              <a:t>capabilities</a:t>
            </a:r>
            <a:r>
              <a:rPr lang="en-IN"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natural language processing </a:t>
            </a:r>
            <a:r>
              <a:rPr lang="en-US" sz="2000" dirty="0">
                <a:latin typeface="Times New Roman" pitchFamily="18" charset="0"/>
                <a:cs typeface="Times New Roman" pitchFamily="18" charset="0"/>
              </a:rPr>
              <a:t>to enable it to communicate successfully in English;</a:t>
            </a:r>
          </a:p>
          <a:p>
            <a:pPr algn="just"/>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knowledge representation </a:t>
            </a:r>
            <a:r>
              <a:rPr lang="en-US" sz="2000" dirty="0">
                <a:latin typeface="Times New Roman" pitchFamily="18" charset="0"/>
                <a:cs typeface="Times New Roman" pitchFamily="18" charset="0"/>
              </a:rPr>
              <a:t>to store what it knows or hears</a:t>
            </a:r>
            <a:r>
              <a:rPr lang="en-US" sz="2000" dirty="0" smtClean="0">
                <a:latin typeface="Times New Roman" pitchFamily="18" charset="0"/>
                <a:cs typeface="Times New Roman" pitchFamily="18" charset="0"/>
              </a:rPr>
              <a:t>;</a:t>
            </a:r>
          </a:p>
          <a:p>
            <a:pPr marL="0" indent="0" algn="just">
              <a:buNone/>
            </a:pPr>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automated reasoning </a:t>
            </a:r>
            <a:r>
              <a:rPr lang="en-US" sz="2000" dirty="0">
                <a:latin typeface="Times New Roman" pitchFamily="18" charset="0"/>
                <a:cs typeface="Times New Roman" pitchFamily="18" charset="0"/>
              </a:rPr>
              <a:t>to use the stored information to answer questions and to </a:t>
            </a:r>
            <a:r>
              <a:rPr lang="en-US" sz="2000" dirty="0" smtClean="0">
                <a:latin typeface="Times New Roman" pitchFamily="18" charset="0"/>
                <a:cs typeface="Times New Roman" pitchFamily="18" charset="0"/>
              </a:rPr>
              <a:t>draw</a:t>
            </a:r>
          </a:p>
          <a:p>
            <a:pPr algn="just"/>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machine learning </a:t>
            </a:r>
            <a:r>
              <a:rPr lang="en-US" sz="2000" dirty="0">
                <a:latin typeface="Times New Roman" pitchFamily="18" charset="0"/>
                <a:cs typeface="Times New Roman" pitchFamily="18" charset="0"/>
              </a:rPr>
              <a:t>to adapt to new circumstances and to detect and extrapolate patterns</a:t>
            </a:r>
            <a:r>
              <a:rPr lang="en-US" sz="2000" dirty="0" smtClean="0">
                <a:latin typeface="Times New Roman" pitchFamily="18" charset="0"/>
                <a:cs typeface="Times New Roman" pitchFamily="18" charset="0"/>
              </a:rPr>
              <a:t>.</a:t>
            </a:r>
          </a:p>
          <a:p>
            <a:r>
              <a:rPr lang="en-US" sz="2000" b="1" dirty="0">
                <a:latin typeface="Times New Roman" pitchFamily="18" charset="0"/>
                <a:cs typeface="Times New Roman" pitchFamily="18" charset="0"/>
              </a:rPr>
              <a:t>computer vision </a:t>
            </a:r>
            <a:r>
              <a:rPr lang="en-US" sz="2000" dirty="0">
                <a:latin typeface="Times New Roman" pitchFamily="18" charset="0"/>
                <a:cs typeface="Times New Roman" pitchFamily="18" charset="0"/>
              </a:rPr>
              <a:t>to perceive objects, and</a:t>
            </a:r>
          </a:p>
          <a:p>
            <a:r>
              <a:rPr lang="en-US" sz="2000" b="1" dirty="0" smtClean="0">
                <a:latin typeface="Times New Roman" pitchFamily="18" charset="0"/>
                <a:cs typeface="Times New Roman" pitchFamily="18" charset="0"/>
              </a:rPr>
              <a:t>robotics </a:t>
            </a:r>
            <a:r>
              <a:rPr lang="en-US" sz="2000" dirty="0">
                <a:latin typeface="Times New Roman" pitchFamily="18" charset="0"/>
                <a:cs typeface="Times New Roman" pitchFamily="18" charset="0"/>
              </a:rPr>
              <a:t>to manipulate objects and move about.</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784157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85000" lnSpcReduction="10000"/>
          </a:bodyPr>
          <a:lstStyle/>
          <a:p>
            <a:pPr marL="0" indent="0">
              <a:buNone/>
            </a:pPr>
            <a:r>
              <a:rPr lang="en-US" b="1" dirty="0" smtClean="0"/>
              <a:t>2. Thinking </a:t>
            </a:r>
            <a:r>
              <a:rPr lang="en-US" b="1" dirty="0"/>
              <a:t>humanly: The cognitive modeling approach</a:t>
            </a:r>
          </a:p>
          <a:p>
            <a:r>
              <a:rPr lang="en-US" dirty="0"/>
              <a:t>If we are going to say that a given program thinks like a human, we must have some way </a:t>
            </a:r>
            <a:r>
              <a:rPr lang="en-US" dirty="0" smtClean="0"/>
              <a:t>of determining </a:t>
            </a:r>
            <a:r>
              <a:rPr lang="en-US" dirty="0"/>
              <a:t>how humans think. We need to get </a:t>
            </a:r>
            <a:r>
              <a:rPr lang="en-US" i="1" dirty="0"/>
              <a:t>inside </a:t>
            </a:r>
            <a:r>
              <a:rPr lang="en-US" dirty="0"/>
              <a:t>the actual workings of human minds.</a:t>
            </a:r>
          </a:p>
          <a:p>
            <a:r>
              <a:rPr lang="en-US" dirty="0"/>
              <a:t>There are three ways to do this: through </a:t>
            </a:r>
            <a:r>
              <a:rPr lang="en-US" b="1" dirty="0"/>
              <a:t>introspection</a:t>
            </a:r>
            <a:r>
              <a:rPr lang="en-US" dirty="0"/>
              <a:t>—trying to catch our own thoughts </a:t>
            </a:r>
            <a:r>
              <a:rPr lang="en-US" dirty="0" smtClean="0"/>
              <a:t>as they </a:t>
            </a:r>
            <a:r>
              <a:rPr lang="en-US" dirty="0"/>
              <a:t>go by; through </a:t>
            </a:r>
            <a:r>
              <a:rPr lang="en-US" b="1" dirty="0"/>
              <a:t>psychological experiments</a:t>
            </a:r>
            <a:r>
              <a:rPr lang="en-US" dirty="0"/>
              <a:t>—observing a person in action; and </a:t>
            </a:r>
            <a:r>
              <a:rPr lang="en-US" dirty="0" smtClean="0"/>
              <a:t>through </a:t>
            </a:r>
            <a:r>
              <a:rPr lang="en-US" b="1" dirty="0" smtClean="0"/>
              <a:t>brain imaging </a:t>
            </a:r>
            <a:r>
              <a:rPr lang="en-US" dirty="0" smtClean="0"/>
              <a:t>— observing </a:t>
            </a:r>
            <a:r>
              <a:rPr lang="en-US" dirty="0"/>
              <a:t>the brain in action</a:t>
            </a:r>
            <a:r>
              <a:rPr lang="en-US" dirty="0" smtClean="0"/>
              <a:t>.</a:t>
            </a:r>
          </a:p>
          <a:p>
            <a:r>
              <a:rPr lang="en-US" dirty="0"/>
              <a:t>The interdisciplinary field of </a:t>
            </a:r>
            <a:r>
              <a:rPr lang="en-US" b="1" dirty="0"/>
              <a:t>cognitive science </a:t>
            </a:r>
            <a:r>
              <a:rPr lang="en-US" dirty="0"/>
              <a:t>brings </a:t>
            </a:r>
            <a:r>
              <a:rPr lang="en-US" dirty="0" smtClean="0"/>
              <a:t>together computer </a:t>
            </a:r>
            <a:r>
              <a:rPr lang="en-US" dirty="0"/>
              <a:t>models from AI and experimental techniques from psychology to construct </a:t>
            </a:r>
            <a:r>
              <a:rPr lang="en-US" dirty="0" smtClean="0"/>
              <a:t>precise and </a:t>
            </a:r>
            <a:r>
              <a:rPr lang="en-US" dirty="0"/>
              <a:t>testable theories of the human mind.</a:t>
            </a:r>
            <a:endParaRPr lang="en-IN" dirty="0"/>
          </a:p>
        </p:txBody>
      </p:sp>
    </p:spTree>
    <p:extLst>
      <p:ext uri="{BB962C8B-B14F-4D97-AF65-F5344CB8AC3E}">
        <p14:creationId xmlns:p14="http://schemas.microsoft.com/office/powerpoint/2010/main" val="1353907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760640"/>
          </a:xfrm>
        </p:spPr>
        <p:txBody>
          <a:bodyPr>
            <a:noAutofit/>
          </a:bodyPr>
          <a:lstStyle/>
          <a:p>
            <a:pPr marL="0" indent="0">
              <a:buNone/>
            </a:pPr>
            <a:r>
              <a:rPr lang="en-US" sz="2800" b="1" dirty="0" smtClean="0">
                <a:latin typeface="Times New Roman" pitchFamily="18" charset="0"/>
                <a:cs typeface="Times New Roman" pitchFamily="18" charset="0"/>
              </a:rPr>
              <a:t>3. Thinking </a:t>
            </a:r>
            <a:r>
              <a:rPr lang="en-US" sz="2800" b="1" dirty="0">
                <a:latin typeface="Times New Roman" pitchFamily="18" charset="0"/>
                <a:cs typeface="Times New Roman" pitchFamily="18" charset="0"/>
              </a:rPr>
              <a:t>rationally: The “laws of thought” approach</a:t>
            </a:r>
          </a:p>
          <a:p>
            <a:r>
              <a:rPr lang="en-US" sz="2800" dirty="0">
                <a:latin typeface="Times New Roman" pitchFamily="18" charset="0"/>
                <a:cs typeface="Times New Roman" pitchFamily="18" charset="0"/>
              </a:rPr>
              <a:t>The Greek philosopher Aristotle was one of the first to attempt to codify “right thinking,” </a:t>
            </a:r>
            <a:r>
              <a:rPr lang="en-US" sz="2800" dirty="0" smtClean="0">
                <a:latin typeface="Times New Roman" pitchFamily="18" charset="0"/>
                <a:cs typeface="Times New Roman" pitchFamily="18" charset="0"/>
              </a:rPr>
              <a:t>that is</a:t>
            </a:r>
            <a:r>
              <a:rPr lang="en-US" sz="2800" dirty="0">
                <a:latin typeface="Times New Roman" pitchFamily="18" charset="0"/>
                <a:cs typeface="Times New Roman" pitchFamily="18" charset="0"/>
              </a:rPr>
              <a:t>, irrefutable reasoning processes. His </a:t>
            </a:r>
            <a:r>
              <a:rPr lang="en-US" sz="2800" b="1" dirty="0" smtClean="0">
                <a:latin typeface="Times New Roman" pitchFamily="18" charset="0"/>
                <a:cs typeface="Times New Roman" pitchFamily="18" charset="0"/>
              </a:rPr>
              <a:t>syllogisms </a:t>
            </a:r>
            <a:r>
              <a:rPr lang="en-US" sz="2800" dirty="0">
                <a:latin typeface="Times New Roman" pitchFamily="18" charset="0"/>
                <a:cs typeface="Times New Roman" pitchFamily="18" charset="0"/>
              </a:rPr>
              <a:t>provided patterns for argument </a:t>
            </a:r>
            <a:r>
              <a:rPr lang="en-US" sz="2800" dirty="0" smtClean="0">
                <a:latin typeface="Times New Roman" pitchFamily="18" charset="0"/>
                <a:cs typeface="Times New Roman" pitchFamily="18" charset="0"/>
              </a:rPr>
              <a:t>structures that </a:t>
            </a:r>
            <a:r>
              <a:rPr lang="en-US" sz="2800" dirty="0">
                <a:latin typeface="Times New Roman" pitchFamily="18" charset="0"/>
                <a:cs typeface="Times New Roman" pitchFamily="18" charset="0"/>
              </a:rPr>
              <a:t>always yielded correct conclusions when given correct </a:t>
            </a:r>
            <a:r>
              <a:rPr lang="en-US" sz="2800" dirty="0" smtClean="0">
                <a:latin typeface="Times New Roman" pitchFamily="18" charset="0"/>
                <a:cs typeface="Times New Roman" pitchFamily="18" charset="0"/>
              </a:rPr>
              <a:t>premises. </a:t>
            </a:r>
          </a:p>
          <a:p>
            <a:pPr marL="0" indent="0">
              <a:buNone/>
            </a:pPr>
            <a:r>
              <a:rPr lang="en-US" sz="2800" dirty="0" smtClean="0">
                <a:latin typeface="Times New Roman" pitchFamily="18" charset="0"/>
                <a:cs typeface="Times New Roman" pitchFamily="18" charset="0"/>
              </a:rPr>
              <a:t>Ex:  </a:t>
            </a:r>
            <a:r>
              <a:rPr lang="en-US" sz="2800" dirty="0">
                <a:latin typeface="Times New Roman" pitchFamily="18" charset="0"/>
                <a:cs typeface="Times New Roman" pitchFamily="18" charset="0"/>
              </a:rPr>
              <a:t>“</a:t>
            </a:r>
            <a:r>
              <a:rPr lang="en-US" sz="2800" dirty="0" smtClean="0">
                <a:latin typeface="Times New Roman" pitchFamily="18" charset="0"/>
                <a:cs typeface="Times New Roman" pitchFamily="18" charset="0"/>
              </a:rPr>
              <a:t>Socrates is </a:t>
            </a:r>
            <a:r>
              <a:rPr lang="en-US" sz="2800" dirty="0">
                <a:latin typeface="Times New Roman" pitchFamily="18" charset="0"/>
                <a:cs typeface="Times New Roman" pitchFamily="18" charset="0"/>
              </a:rPr>
              <a:t>a man; all men are mortal; therefore, Socrates is mortal.” These laws of thought </a:t>
            </a:r>
            <a:r>
              <a:rPr lang="en-US" sz="2800" dirty="0" smtClean="0">
                <a:latin typeface="Times New Roman" pitchFamily="18" charset="0"/>
                <a:cs typeface="Times New Roman" pitchFamily="18" charset="0"/>
              </a:rPr>
              <a:t>were supposed </a:t>
            </a:r>
            <a:r>
              <a:rPr lang="en-US" sz="2800" dirty="0">
                <a:latin typeface="Times New Roman" pitchFamily="18" charset="0"/>
                <a:cs typeface="Times New Roman" pitchFamily="18" charset="0"/>
              </a:rPr>
              <a:t>to govern the operation of the mind; their study initiated the field called </a:t>
            </a:r>
            <a:r>
              <a:rPr lang="en-US" sz="2800" b="1" dirty="0">
                <a:latin typeface="Times New Roman" pitchFamily="18" charset="0"/>
                <a:cs typeface="Times New Roman" pitchFamily="18" charset="0"/>
              </a:rPr>
              <a:t>logic</a:t>
            </a:r>
            <a:r>
              <a:rPr lang="en-US" sz="2800" dirty="0">
                <a:latin typeface="Times New Roman" pitchFamily="18" charset="0"/>
                <a:cs typeface="Times New Roman" pitchFamily="18" charset="0"/>
              </a:rPr>
              <a:t>.</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780339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fontScale="92500"/>
          </a:bodyPr>
          <a:lstStyle/>
          <a:p>
            <a:pPr marL="0" indent="0">
              <a:buNone/>
            </a:pPr>
            <a:r>
              <a:rPr lang="en-US" b="1" dirty="0" smtClean="0"/>
              <a:t>4. Acting </a:t>
            </a:r>
            <a:r>
              <a:rPr lang="en-US" b="1" dirty="0"/>
              <a:t>rationally: The rational agent approach</a:t>
            </a:r>
          </a:p>
          <a:p>
            <a:r>
              <a:rPr lang="en-US" dirty="0" smtClean="0"/>
              <a:t>An </a:t>
            </a:r>
            <a:r>
              <a:rPr lang="en-US" b="1" dirty="0"/>
              <a:t>agent </a:t>
            </a:r>
            <a:r>
              <a:rPr lang="en-US" dirty="0"/>
              <a:t>is just something that acts (</a:t>
            </a:r>
            <a:r>
              <a:rPr lang="en-US" i="1" dirty="0"/>
              <a:t>agent </a:t>
            </a:r>
            <a:r>
              <a:rPr lang="en-US" dirty="0"/>
              <a:t>comes from the Latin </a:t>
            </a:r>
            <a:r>
              <a:rPr lang="en-US" i="1" dirty="0" err="1"/>
              <a:t>agere</a:t>
            </a:r>
            <a:r>
              <a:rPr lang="en-US" dirty="0"/>
              <a:t>, to do). </a:t>
            </a:r>
            <a:r>
              <a:rPr lang="en-US" dirty="0" smtClean="0"/>
              <a:t>All </a:t>
            </a:r>
            <a:r>
              <a:rPr lang="en-US" dirty="0"/>
              <a:t>computer programs do something, but computer agents are expected to do more: </a:t>
            </a:r>
            <a:r>
              <a:rPr lang="en-US" dirty="0" smtClean="0"/>
              <a:t>operate autonomously</a:t>
            </a:r>
            <a:r>
              <a:rPr lang="en-US" dirty="0"/>
              <a:t>, perceive their environment, persist over a prolonged time period, adapt </a:t>
            </a:r>
            <a:r>
              <a:rPr lang="en-US" dirty="0" smtClean="0"/>
              <a:t>to </a:t>
            </a:r>
            <a:r>
              <a:rPr lang="en-US" dirty="0"/>
              <a:t>change, and create and pursue goals</a:t>
            </a:r>
            <a:r>
              <a:rPr lang="en-US" dirty="0" smtClean="0"/>
              <a:t>.</a:t>
            </a:r>
          </a:p>
          <a:p>
            <a:r>
              <a:rPr lang="en-US" dirty="0" smtClean="0"/>
              <a:t> </a:t>
            </a:r>
            <a:r>
              <a:rPr lang="en-US" dirty="0"/>
              <a:t>A </a:t>
            </a:r>
            <a:r>
              <a:rPr lang="en-US" b="1" dirty="0"/>
              <a:t>rational agent </a:t>
            </a:r>
            <a:r>
              <a:rPr lang="en-US" dirty="0"/>
              <a:t>is one that acts so as to achieve </a:t>
            </a:r>
            <a:r>
              <a:rPr lang="en-US" dirty="0" smtClean="0"/>
              <a:t>the best </a:t>
            </a:r>
            <a:r>
              <a:rPr lang="en-US" dirty="0"/>
              <a:t>outcome or, when there is uncertainty, the best expected outcome.</a:t>
            </a:r>
            <a:endParaRPr lang="en-IN" dirty="0"/>
          </a:p>
        </p:txBody>
      </p:sp>
    </p:spTree>
    <p:extLst>
      <p:ext uri="{BB962C8B-B14F-4D97-AF65-F5344CB8AC3E}">
        <p14:creationId xmlns:p14="http://schemas.microsoft.com/office/powerpoint/2010/main" val="2526663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xmlns="" id="{B174D9BB-4669-40BA-8F95-7DD9A6445D17}"/>
              </a:ext>
            </a:extLst>
          </p:cNvPr>
          <p:cNvSpPr>
            <a:spLocks noGrp="1" noChangeArrowheads="1"/>
          </p:cNvSpPr>
          <p:nvPr>
            <p:ph type="title"/>
          </p:nvPr>
        </p:nvSpPr>
        <p:spPr/>
        <p:txBody>
          <a:bodyPr/>
          <a:lstStyle/>
          <a:p>
            <a:r>
              <a:rPr lang="en-US" altLang="en-US" b="1"/>
              <a:t>Foundations of AI</a:t>
            </a:r>
          </a:p>
        </p:txBody>
      </p:sp>
      <p:sp>
        <p:nvSpPr>
          <p:cNvPr id="284675" name="Rectangle 3">
            <a:extLst>
              <a:ext uri="{FF2B5EF4-FFF2-40B4-BE49-F238E27FC236}">
                <a16:creationId xmlns:a16="http://schemas.microsoft.com/office/drawing/2014/main" xmlns="" id="{39339CE2-D9AF-40A4-80AA-F30FEEA10823}"/>
              </a:ext>
            </a:extLst>
          </p:cNvPr>
          <p:cNvSpPr>
            <a:spLocks noGrp="1" noChangeArrowheads="1"/>
          </p:cNvSpPr>
          <p:nvPr>
            <p:ph type="body" idx="1"/>
          </p:nvPr>
        </p:nvSpPr>
        <p:spPr/>
        <p:txBody>
          <a:bodyPr/>
          <a:lstStyle/>
          <a:p>
            <a:pPr lvl="2"/>
            <a:r>
              <a:rPr lang="en-US" altLang="en-US" sz="3600">
                <a:cs typeface="Times New Roman" panose="02020603050405020304" pitchFamily="18" charset="0"/>
              </a:rPr>
              <a:t>Foundation of AI is based on</a:t>
            </a:r>
          </a:p>
          <a:p>
            <a:pPr lvl="3"/>
            <a:r>
              <a:rPr lang="en-US" altLang="en-US" sz="2800">
                <a:cs typeface="Times New Roman" panose="02020603050405020304" pitchFamily="18" charset="0"/>
              </a:rPr>
              <a:t>Mathematics</a:t>
            </a:r>
          </a:p>
          <a:p>
            <a:pPr lvl="3"/>
            <a:r>
              <a:rPr lang="en-US" altLang="en-US" sz="2800">
                <a:cs typeface="Times New Roman" panose="02020603050405020304" pitchFamily="18" charset="0"/>
              </a:rPr>
              <a:t>Neuroscience</a:t>
            </a:r>
          </a:p>
          <a:p>
            <a:pPr lvl="3"/>
            <a:r>
              <a:rPr lang="en-US" altLang="en-US" sz="2800">
                <a:cs typeface="Times New Roman" panose="02020603050405020304" pitchFamily="18" charset="0"/>
              </a:rPr>
              <a:t>Control Theory</a:t>
            </a:r>
          </a:p>
          <a:p>
            <a:pPr lvl="3"/>
            <a:r>
              <a:rPr lang="en-US" altLang="en-US" sz="2800">
                <a:cs typeface="Times New Roman" panose="02020603050405020304" pitchFamily="18" charset="0"/>
              </a:rPr>
              <a:t>Linguistics</a:t>
            </a:r>
          </a:p>
          <a:p>
            <a:endParaRPr lang="en-US" altLang="en-US">
              <a:cs typeface="Times New Roman" panose="02020603050405020304" pitchFamily="18" charset="0"/>
            </a:endParaRPr>
          </a:p>
        </p:txBody>
      </p:sp>
      <p:sp>
        <p:nvSpPr>
          <p:cNvPr id="2" name="Date Placeholder 1">
            <a:extLst>
              <a:ext uri="{FF2B5EF4-FFF2-40B4-BE49-F238E27FC236}">
                <a16:creationId xmlns:a16="http://schemas.microsoft.com/office/drawing/2014/main" xmlns="" id="{6E4D21A8-95BF-4B11-BDAD-3F25C2763AB9}"/>
              </a:ext>
            </a:extLst>
          </p:cNvPr>
          <p:cNvSpPr>
            <a:spLocks noGrp="1"/>
          </p:cNvSpPr>
          <p:nvPr>
            <p:ph type="dt" sz="half" idx="10"/>
          </p:nvPr>
        </p:nvSpPr>
        <p:spPr/>
        <p:txBody>
          <a:bodyPr/>
          <a:lstStyle/>
          <a:p>
            <a:fld id="{36FABB46-9AD3-4813-9FDE-647186C0CD41}" type="datetime1">
              <a:rPr lang="en-US" smtClean="0"/>
              <a:t>1/30/2025</a:t>
            </a:fld>
            <a:endParaRPr lang="en-IN"/>
          </a:p>
        </p:txBody>
      </p:sp>
      <p:sp>
        <p:nvSpPr>
          <p:cNvPr id="3" name="Footer Placeholder 2">
            <a:extLst>
              <a:ext uri="{FF2B5EF4-FFF2-40B4-BE49-F238E27FC236}">
                <a16:creationId xmlns:a16="http://schemas.microsoft.com/office/drawing/2014/main" xmlns="" id="{83FDF580-2693-4AD4-A7E8-5DD2D770FB77}"/>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E895E4BE-1CE6-4339-BA22-CA1189459004}"/>
              </a:ext>
            </a:extLst>
          </p:cNvPr>
          <p:cNvSpPr>
            <a:spLocks noGrp="1"/>
          </p:cNvSpPr>
          <p:nvPr>
            <p:ph type="sldNum" sz="quarter" idx="12"/>
          </p:nvPr>
        </p:nvSpPr>
        <p:spPr/>
        <p:txBody>
          <a:bodyPr/>
          <a:lstStyle/>
          <a:p>
            <a:fld id="{68F3827D-0A5E-42DB-88B7-D3FF5E601C77}" type="slidenum">
              <a:rPr lang="en-IN" smtClean="0"/>
              <a:t>19</a:t>
            </a:fld>
            <a:endParaRPr lang="en-IN"/>
          </a:p>
        </p:txBody>
      </p:sp>
    </p:spTree>
    <p:extLst>
      <p:ext uri="{BB962C8B-B14F-4D97-AF65-F5344CB8AC3E}">
        <p14:creationId xmlns:p14="http://schemas.microsoft.com/office/powerpoint/2010/main" val="399304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xmlns="" id="{FAE1B4D4-4F24-4D4B-A3BA-9B267E1720FA}"/>
              </a:ext>
            </a:extLst>
          </p:cNvPr>
          <p:cNvSpPr>
            <a:spLocks noGrp="1" noChangeArrowheads="1"/>
          </p:cNvSpPr>
          <p:nvPr>
            <p:ph type="title"/>
          </p:nvPr>
        </p:nvSpPr>
        <p:spPr/>
        <p:txBody>
          <a:bodyPr/>
          <a:lstStyle/>
          <a:p>
            <a:r>
              <a:rPr lang="en-US" altLang="en-US" b="1"/>
              <a:t>Two Views of AI Goals</a:t>
            </a:r>
          </a:p>
        </p:txBody>
      </p:sp>
      <p:sp>
        <p:nvSpPr>
          <p:cNvPr id="139267" name="Rectangle 3">
            <a:extLst>
              <a:ext uri="{FF2B5EF4-FFF2-40B4-BE49-F238E27FC236}">
                <a16:creationId xmlns:a16="http://schemas.microsoft.com/office/drawing/2014/main" xmlns="" id="{C9E2F362-012D-4BFB-9158-316979660B22}"/>
              </a:ext>
            </a:extLst>
          </p:cNvPr>
          <p:cNvSpPr>
            <a:spLocks noGrp="1" noChangeArrowheads="1"/>
          </p:cNvSpPr>
          <p:nvPr>
            <p:ph type="body" idx="1"/>
          </p:nvPr>
        </p:nvSpPr>
        <p:spPr/>
        <p:txBody>
          <a:bodyPr/>
          <a:lstStyle/>
          <a:p>
            <a:r>
              <a:rPr lang="en-US" altLang="en-US" dirty="0"/>
              <a:t>AI is about duplicating what the (human) brain DOES</a:t>
            </a:r>
          </a:p>
          <a:p>
            <a:pPr lvl="1"/>
            <a:r>
              <a:rPr lang="en-US" altLang="en-US" dirty="0"/>
              <a:t>Cognitive Science</a:t>
            </a:r>
          </a:p>
          <a:p>
            <a:endParaRPr lang="en-US" altLang="en-US" dirty="0"/>
          </a:p>
          <a:p>
            <a:r>
              <a:rPr lang="en-US" altLang="en-US" dirty="0"/>
              <a:t>AI is about duplicating what the (human) brain SHOULD do</a:t>
            </a:r>
          </a:p>
          <a:p>
            <a:pPr lvl="1"/>
            <a:r>
              <a:rPr lang="en-US" altLang="en-US" dirty="0"/>
              <a:t>Rationality (doing things logically)</a:t>
            </a:r>
          </a:p>
        </p:txBody>
      </p:sp>
      <p:sp>
        <p:nvSpPr>
          <p:cNvPr id="2" name="Date Placeholder 1">
            <a:extLst>
              <a:ext uri="{FF2B5EF4-FFF2-40B4-BE49-F238E27FC236}">
                <a16:creationId xmlns:a16="http://schemas.microsoft.com/office/drawing/2014/main" xmlns="" id="{0601E9D0-5CB1-4EF6-A3A2-3D98396A9B66}"/>
              </a:ext>
            </a:extLst>
          </p:cNvPr>
          <p:cNvSpPr>
            <a:spLocks noGrp="1"/>
          </p:cNvSpPr>
          <p:nvPr>
            <p:ph type="dt" sz="half" idx="10"/>
          </p:nvPr>
        </p:nvSpPr>
        <p:spPr/>
        <p:txBody>
          <a:bodyPr/>
          <a:lstStyle/>
          <a:p>
            <a:fld id="{67738F59-EEFE-4904-A859-A610C13AD8D5}" type="datetime1">
              <a:rPr lang="en-US" smtClean="0"/>
              <a:t>1/30/2025</a:t>
            </a:fld>
            <a:endParaRPr lang="en-IN"/>
          </a:p>
        </p:txBody>
      </p:sp>
      <p:sp>
        <p:nvSpPr>
          <p:cNvPr id="3" name="Footer Placeholder 2">
            <a:extLst>
              <a:ext uri="{FF2B5EF4-FFF2-40B4-BE49-F238E27FC236}">
                <a16:creationId xmlns:a16="http://schemas.microsoft.com/office/drawing/2014/main" xmlns="" id="{EAF24F34-1E6E-4644-B365-036115A4DDC9}"/>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3140FB0C-4C3D-43CC-B9BE-65D2FA105C24}"/>
              </a:ext>
            </a:extLst>
          </p:cNvPr>
          <p:cNvSpPr>
            <a:spLocks noGrp="1"/>
          </p:cNvSpPr>
          <p:nvPr>
            <p:ph type="sldNum" sz="quarter" idx="12"/>
          </p:nvPr>
        </p:nvSpPr>
        <p:spPr/>
        <p:txBody>
          <a:bodyPr/>
          <a:lstStyle/>
          <a:p>
            <a:fld id="{68F3827D-0A5E-42DB-88B7-D3FF5E601C77}" type="slidenum">
              <a:rPr lang="en-IN" smtClean="0"/>
              <a:t>20</a:t>
            </a:fld>
            <a:endParaRPr lang="en-IN"/>
          </a:p>
        </p:txBody>
      </p:sp>
    </p:spTree>
    <p:extLst>
      <p:ext uri="{BB962C8B-B14F-4D97-AF65-F5344CB8AC3E}">
        <p14:creationId xmlns:p14="http://schemas.microsoft.com/office/powerpoint/2010/main" val="1698583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AC7942-B88C-48F8-8894-9B6ED9AE02D7}"/>
              </a:ext>
            </a:extLst>
          </p:cNvPr>
          <p:cNvSpPr>
            <a:spLocks noGrp="1"/>
          </p:cNvSpPr>
          <p:nvPr>
            <p:ph type="title"/>
          </p:nvPr>
        </p:nvSpPr>
        <p:spPr/>
        <p:txBody>
          <a:bodyPr/>
          <a:lstStyle/>
          <a:p>
            <a:r>
              <a:rPr lang="en-IN" dirty="0"/>
              <a:t>AI problems</a:t>
            </a:r>
          </a:p>
        </p:txBody>
      </p:sp>
      <p:sp>
        <p:nvSpPr>
          <p:cNvPr id="3" name="Content Placeholder 2">
            <a:extLst>
              <a:ext uri="{FF2B5EF4-FFF2-40B4-BE49-F238E27FC236}">
                <a16:creationId xmlns:a16="http://schemas.microsoft.com/office/drawing/2014/main" xmlns="" id="{ACB99800-134C-4161-B817-7DD7C3CD4C31}"/>
              </a:ext>
            </a:extLst>
          </p:cNvPr>
          <p:cNvSpPr>
            <a:spLocks noGrp="1"/>
          </p:cNvSpPr>
          <p:nvPr>
            <p:ph idx="1"/>
          </p:nvPr>
        </p:nvSpPr>
        <p:spPr>
          <a:xfrm>
            <a:off x="628650" y="1690688"/>
            <a:ext cx="7886700" cy="4351338"/>
          </a:xfrm>
        </p:spPr>
        <p:txBody>
          <a:bodyPr>
            <a:normAutofit fontScale="70000" lnSpcReduction="20000"/>
          </a:bodyPr>
          <a:lstStyle/>
          <a:p>
            <a:r>
              <a:rPr lang="en-US" altLang="en-US" dirty="0"/>
              <a:t>Game playing agents</a:t>
            </a:r>
          </a:p>
          <a:p>
            <a:r>
              <a:rPr lang="en-US" altLang="en-US" dirty="0"/>
              <a:t>Machine learning</a:t>
            </a:r>
          </a:p>
          <a:p>
            <a:r>
              <a:rPr lang="en-US" altLang="en-US" dirty="0"/>
              <a:t>Speech</a:t>
            </a:r>
          </a:p>
          <a:p>
            <a:r>
              <a:rPr lang="en-US" altLang="en-US" dirty="0"/>
              <a:t>Language</a:t>
            </a:r>
          </a:p>
          <a:p>
            <a:r>
              <a:rPr lang="en-US" altLang="en-US" dirty="0"/>
              <a:t>Vision</a:t>
            </a:r>
          </a:p>
          <a:p>
            <a:r>
              <a:rPr lang="en-US" altLang="en-US" dirty="0"/>
              <a:t>Data Mining</a:t>
            </a:r>
          </a:p>
          <a:p>
            <a:r>
              <a:rPr lang="en-US" altLang="en-US" dirty="0"/>
              <a:t>Web agents  …….</a:t>
            </a:r>
          </a:p>
          <a:p>
            <a:r>
              <a:rPr lang="en-US" altLang="en-US" dirty="0"/>
              <a:t>Medical Diagnosis</a:t>
            </a:r>
          </a:p>
          <a:p>
            <a:r>
              <a:rPr lang="en-US" altLang="en-US" dirty="0"/>
              <a:t>Fraud Detection</a:t>
            </a:r>
          </a:p>
          <a:p>
            <a:r>
              <a:rPr lang="en-US" altLang="en-US" dirty="0"/>
              <a:t>Object Identification</a:t>
            </a:r>
          </a:p>
          <a:p>
            <a:r>
              <a:rPr lang="en-US" altLang="en-US" dirty="0"/>
              <a:t>Space Shuttle Scheduling</a:t>
            </a:r>
          </a:p>
          <a:p>
            <a:r>
              <a:rPr lang="en-US" altLang="en-US" dirty="0"/>
              <a:t>Information Retrieval ….</a:t>
            </a:r>
          </a:p>
          <a:p>
            <a:endParaRPr lang="en-US" altLang="en-US" dirty="0"/>
          </a:p>
          <a:p>
            <a:endParaRPr lang="en-IN" dirty="0"/>
          </a:p>
        </p:txBody>
      </p:sp>
      <p:sp>
        <p:nvSpPr>
          <p:cNvPr id="4" name="Date Placeholder 3">
            <a:extLst>
              <a:ext uri="{FF2B5EF4-FFF2-40B4-BE49-F238E27FC236}">
                <a16:creationId xmlns:a16="http://schemas.microsoft.com/office/drawing/2014/main" xmlns="" id="{8C080249-6004-4053-9ECA-D9B0A2F3E22B}"/>
              </a:ext>
            </a:extLst>
          </p:cNvPr>
          <p:cNvSpPr>
            <a:spLocks noGrp="1"/>
          </p:cNvSpPr>
          <p:nvPr>
            <p:ph type="dt" sz="half" idx="10"/>
          </p:nvPr>
        </p:nvSpPr>
        <p:spPr/>
        <p:txBody>
          <a:bodyPr/>
          <a:lstStyle/>
          <a:p>
            <a:fld id="{402FCF9D-E97F-4E32-A60F-67EE7B8912B0}" type="datetime1">
              <a:rPr lang="en-US" smtClean="0"/>
              <a:t>1/30/2025</a:t>
            </a:fld>
            <a:endParaRPr lang="en-IN"/>
          </a:p>
        </p:txBody>
      </p:sp>
      <p:sp>
        <p:nvSpPr>
          <p:cNvPr id="5" name="Footer Placeholder 4">
            <a:extLst>
              <a:ext uri="{FF2B5EF4-FFF2-40B4-BE49-F238E27FC236}">
                <a16:creationId xmlns:a16="http://schemas.microsoft.com/office/drawing/2014/main" xmlns="" id="{30170067-3FA2-400E-AE77-B1BB1B5D5D97}"/>
              </a:ext>
            </a:extLst>
          </p:cNvPr>
          <p:cNvSpPr>
            <a:spLocks noGrp="1"/>
          </p:cNvSpPr>
          <p:nvPr>
            <p:ph type="ftr" sz="quarter" idx="11"/>
          </p:nvPr>
        </p:nvSpPr>
        <p:spPr/>
        <p:txBody>
          <a:bodyPr/>
          <a:lstStyle/>
          <a:p>
            <a:r>
              <a:rPr lang="en-IN"/>
              <a:t>Prof Saroj Kaushik</a:t>
            </a:r>
          </a:p>
        </p:txBody>
      </p:sp>
      <p:sp>
        <p:nvSpPr>
          <p:cNvPr id="6" name="Slide Number Placeholder 5">
            <a:extLst>
              <a:ext uri="{FF2B5EF4-FFF2-40B4-BE49-F238E27FC236}">
                <a16:creationId xmlns:a16="http://schemas.microsoft.com/office/drawing/2014/main" xmlns="" id="{131C527C-1BA3-4CD8-BF7E-5A7BC589AEE5}"/>
              </a:ext>
            </a:extLst>
          </p:cNvPr>
          <p:cNvSpPr>
            <a:spLocks noGrp="1"/>
          </p:cNvSpPr>
          <p:nvPr>
            <p:ph type="sldNum" sz="quarter" idx="12"/>
          </p:nvPr>
        </p:nvSpPr>
        <p:spPr/>
        <p:txBody>
          <a:bodyPr/>
          <a:lstStyle/>
          <a:p>
            <a:fld id="{68F3827D-0A5E-42DB-88B7-D3FF5E601C77}" type="slidenum">
              <a:rPr lang="en-IN" smtClean="0"/>
              <a:t>21</a:t>
            </a:fld>
            <a:endParaRPr lang="en-IN"/>
          </a:p>
        </p:txBody>
      </p:sp>
    </p:spTree>
    <p:extLst>
      <p:ext uri="{BB962C8B-B14F-4D97-AF65-F5344CB8AC3E}">
        <p14:creationId xmlns:p14="http://schemas.microsoft.com/office/powerpoint/2010/main" val="4043546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EAAF96-9102-40AC-B2B1-D05474DD32CB}"/>
              </a:ext>
            </a:extLst>
          </p:cNvPr>
          <p:cNvSpPr>
            <a:spLocks noGrp="1"/>
          </p:cNvSpPr>
          <p:nvPr>
            <p:ph type="title"/>
          </p:nvPr>
        </p:nvSpPr>
        <p:spPr/>
        <p:txBody>
          <a:bodyPr/>
          <a:lstStyle/>
          <a:p>
            <a:r>
              <a:rPr lang="en-IN" dirty="0"/>
              <a:t>AI Technique</a:t>
            </a:r>
          </a:p>
        </p:txBody>
      </p:sp>
      <p:sp>
        <p:nvSpPr>
          <p:cNvPr id="3" name="Content Placeholder 2">
            <a:extLst>
              <a:ext uri="{FF2B5EF4-FFF2-40B4-BE49-F238E27FC236}">
                <a16:creationId xmlns:a16="http://schemas.microsoft.com/office/drawing/2014/main" xmlns="" id="{221490C9-36F6-4CBE-BD1D-F296CAA14EAF}"/>
              </a:ext>
            </a:extLst>
          </p:cNvPr>
          <p:cNvSpPr>
            <a:spLocks noGrp="1"/>
          </p:cNvSpPr>
          <p:nvPr>
            <p:ph idx="1"/>
          </p:nvPr>
        </p:nvSpPr>
        <p:spPr/>
        <p:txBody>
          <a:bodyPr/>
          <a:lstStyle/>
          <a:p>
            <a:pPr lvl="1">
              <a:buClr>
                <a:schemeClr val="accent1"/>
              </a:buClr>
              <a:buSzPct val="65000"/>
              <a:buFont typeface="Wingdings" panose="05000000000000000000" pitchFamily="2" charset="2"/>
              <a:buChar char="n"/>
            </a:pPr>
            <a:r>
              <a:rPr lang="en-US" altLang="en-US" sz="3000" dirty="0"/>
              <a:t>Rule-based</a:t>
            </a:r>
          </a:p>
          <a:p>
            <a:pPr lvl="1">
              <a:buClr>
                <a:schemeClr val="accent1"/>
              </a:buClr>
              <a:buSzPct val="65000"/>
              <a:buFont typeface="Wingdings" panose="05000000000000000000" pitchFamily="2" charset="2"/>
              <a:buChar char="n"/>
            </a:pPr>
            <a:r>
              <a:rPr lang="en-US" altLang="en-US" sz="3000" dirty="0"/>
              <a:t>Fuzzy Logic</a:t>
            </a:r>
          </a:p>
          <a:p>
            <a:pPr lvl="1">
              <a:buClr>
                <a:schemeClr val="accent1"/>
              </a:buClr>
              <a:buSzPct val="65000"/>
              <a:buFont typeface="Wingdings" panose="05000000000000000000" pitchFamily="2" charset="2"/>
              <a:buChar char="n"/>
            </a:pPr>
            <a:r>
              <a:rPr lang="en-US" altLang="en-US" sz="3000" dirty="0"/>
              <a:t>Neural Networks</a:t>
            </a:r>
          </a:p>
          <a:p>
            <a:pPr lvl="1">
              <a:buClr>
                <a:schemeClr val="accent1"/>
              </a:buClr>
              <a:buSzPct val="65000"/>
              <a:buFont typeface="Wingdings" panose="05000000000000000000" pitchFamily="2" charset="2"/>
              <a:buChar char="n"/>
            </a:pPr>
            <a:r>
              <a:rPr lang="en-US" altLang="en-US" sz="3000" dirty="0"/>
              <a:t>Genetic Algorithms</a:t>
            </a:r>
          </a:p>
          <a:p>
            <a:endParaRPr lang="en-US" altLang="en-US" dirty="0"/>
          </a:p>
          <a:p>
            <a:endParaRPr lang="en-IN" dirty="0"/>
          </a:p>
        </p:txBody>
      </p:sp>
      <p:sp>
        <p:nvSpPr>
          <p:cNvPr id="4" name="Date Placeholder 3">
            <a:extLst>
              <a:ext uri="{FF2B5EF4-FFF2-40B4-BE49-F238E27FC236}">
                <a16:creationId xmlns:a16="http://schemas.microsoft.com/office/drawing/2014/main" xmlns="" id="{B50F08FB-86DA-4020-B1FD-174E7087AEDC}"/>
              </a:ext>
            </a:extLst>
          </p:cNvPr>
          <p:cNvSpPr>
            <a:spLocks noGrp="1"/>
          </p:cNvSpPr>
          <p:nvPr>
            <p:ph type="dt" sz="half" idx="10"/>
          </p:nvPr>
        </p:nvSpPr>
        <p:spPr/>
        <p:txBody>
          <a:bodyPr/>
          <a:lstStyle/>
          <a:p>
            <a:fld id="{7249CE68-16A2-4836-B8BC-CB4556330574}" type="datetime1">
              <a:rPr lang="en-US" smtClean="0"/>
              <a:t>1/30/2025</a:t>
            </a:fld>
            <a:endParaRPr lang="en-IN"/>
          </a:p>
        </p:txBody>
      </p:sp>
      <p:sp>
        <p:nvSpPr>
          <p:cNvPr id="5" name="Footer Placeholder 4">
            <a:extLst>
              <a:ext uri="{FF2B5EF4-FFF2-40B4-BE49-F238E27FC236}">
                <a16:creationId xmlns:a16="http://schemas.microsoft.com/office/drawing/2014/main" xmlns="" id="{8EEB295E-CC12-4E35-A10F-1229737A8FAF}"/>
              </a:ext>
            </a:extLst>
          </p:cNvPr>
          <p:cNvSpPr>
            <a:spLocks noGrp="1"/>
          </p:cNvSpPr>
          <p:nvPr>
            <p:ph type="ftr" sz="quarter" idx="11"/>
          </p:nvPr>
        </p:nvSpPr>
        <p:spPr/>
        <p:txBody>
          <a:bodyPr/>
          <a:lstStyle/>
          <a:p>
            <a:r>
              <a:rPr lang="en-IN"/>
              <a:t>Prof Saroj Kaushik</a:t>
            </a:r>
          </a:p>
        </p:txBody>
      </p:sp>
      <p:sp>
        <p:nvSpPr>
          <p:cNvPr id="6" name="Slide Number Placeholder 5">
            <a:extLst>
              <a:ext uri="{FF2B5EF4-FFF2-40B4-BE49-F238E27FC236}">
                <a16:creationId xmlns:a16="http://schemas.microsoft.com/office/drawing/2014/main" xmlns="" id="{0C0F059A-E6BB-4A00-BE3B-0D4FD9E63A6F}"/>
              </a:ext>
            </a:extLst>
          </p:cNvPr>
          <p:cNvSpPr>
            <a:spLocks noGrp="1"/>
          </p:cNvSpPr>
          <p:nvPr>
            <p:ph type="sldNum" sz="quarter" idx="12"/>
          </p:nvPr>
        </p:nvSpPr>
        <p:spPr/>
        <p:txBody>
          <a:bodyPr/>
          <a:lstStyle/>
          <a:p>
            <a:fld id="{68F3827D-0A5E-42DB-88B7-D3FF5E601C77}" type="slidenum">
              <a:rPr lang="en-IN" smtClean="0"/>
              <a:t>22</a:t>
            </a:fld>
            <a:endParaRPr lang="en-IN"/>
          </a:p>
        </p:txBody>
      </p:sp>
    </p:spTree>
    <p:extLst>
      <p:ext uri="{BB962C8B-B14F-4D97-AF65-F5344CB8AC3E}">
        <p14:creationId xmlns:p14="http://schemas.microsoft.com/office/powerpoint/2010/main" val="1733741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a:extLst>
              <a:ext uri="{FF2B5EF4-FFF2-40B4-BE49-F238E27FC236}">
                <a16:creationId xmlns:a16="http://schemas.microsoft.com/office/drawing/2014/main" xmlns="" id="{32DD0629-F0C7-44E5-9D10-F87E40C41C98}"/>
              </a:ext>
            </a:extLst>
          </p:cNvPr>
          <p:cNvSpPr>
            <a:spLocks noGrp="1" noChangeArrowheads="1"/>
          </p:cNvSpPr>
          <p:nvPr>
            <p:ph type="title"/>
          </p:nvPr>
        </p:nvSpPr>
        <p:spPr/>
        <p:txBody>
          <a:bodyPr>
            <a:normAutofit fontScale="90000"/>
          </a:bodyPr>
          <a:lstStyle/>
          <a:p>
            <a:r>
              <a:rPr lang="en-US" altLang="en-US" sz="3800" b="1"/>
              <a:t>Applications</a:t>
            </a:r>
            <a:br>
              <a:rPr lang="en-US" altLang="en-US" sz="3800" b="1"/>
            </a:br>
            <a:endParaRPr lang="en-US" altLang="en-US" sz="3800" b="1"/>
          </a:p>
        </p:txBody>
      </p:sp>
      <p:sp>
        <p:nvSpPr>
          <p:cNvPr id="314371" name="Rectangle 3">
            <a:extLst>
              <a:ext uri="{FF2B5EF4-FFF2-40B4-BE49-F238E27FC236}">
                <a16:creationId xmlns:a16="http://schemas.microsoft.com/office/drawing/2014/main" xmlns="" id="{95C0FF62-61C1-4E0D-A30A-55EFCE43F4D0}"/>
              </a:ext>
            </a:extLst>
          </p:cNvPr>
          <p:cNvSpPr>
            <a:spLocks noGrp="1" noChangeArrowheads="1"/>
          </p:cNvSpPr>
          <p:nvPr>
            <p:ph type="body" idx="1"/>
          </p:nvPr>
        </p:nvSpPr>
        <p:spPr>
          <a:xfrm>
            <a:off x="971600" y="1196753"/>
            <a:ext cx="7560840" cy="4824536"/>
          </a:xfrm>
        </p:spPr>
        <p:txBody>
          <a:bodyPr>
            <a:normAutofit fontScale="92500" lnSpcReduction="10000"/>
          </a:bodyPr>
          <a:lstStyle/>
          <a:p>
            <a:pPr>
              <a:lnSpc>
                <a:spcPct val="90000"/>
              </a:lnSpc>
            </a:pPr>
            <a:r>
              <a:rPr lang="en-US" altLang="en-US" dirty="0"/>
              <a:t>Some of the applications are given below:</a:t>
            </a:r>
          </a:p>
          <a:p>
            <a:pPr lvl="1" algn="just">
              <a:lnSpc>
                <a:spcPct val="90000"/>
              </a:lnSpc>
            </a:pPr>
            <a:r>
              <a:rPr lang="en-US" altLang="en-US" b="1" dirty="0"/>
              <a:t>Business  :</a:t>
            </a:r>
            <a:r>
              <a:rPr lang="en-US" altLang="en-US" dirty="0"/>
              <a:t> Financial strategies, give advice</a:t>
            </a:r>
          </a:p>
          <a:p>
            <a:pPr lvl="1" algn="just">
              <a:lnSpc>
                <a:spcPct val="90000"/>
              </a:lnSpc>
            </a:pPr>
            <a:r>
              <a:rPr lang="en-US" altLang="en-US" b="1" dirty="0"/>
              <a:t>Engineering:</a:t>
            </a:r>
            <a:r>
              <a:rPr lang="en-US" altLang="en-US" dirty="0"/>
              <a:t> check design, offer suggestions to create new product</a:t>
            </a:r>
          </a:p>
          <a:p>
            <a:pPr lvl="1" algn="just">
              <a:lnSpc>
                <a:spcPct val="90000"/>
              </a:lnSpc>
            </a:pPr>
            <a:r>
              <a:rPr lang="en-US" altLang="en-US" b="1" dirty="0"/>
              <a:t>Manufacturing:</a:t>
            </a:r>
            <a:r>
              <a:rPr lang="en-US" altLang="en-US" dirty="0"/>
              <a:t> Assembly, inspection &amp; maintenance</a:t>
            </a:r>
          </a:p>
          <a:p>
            <a:pPr lvl="1" algn="just">
              <a:lnSpc>
                <a:spcPct val="90000"/>
              </a:lnSpc>
            </a:pPr>
            <a:r>
              <a:rPr lang="en-US" altLang="en-US" b="1" dirty="0"/>
              <a:t>Mining:</a:t>
            </a:r>
            <a:r>
              <a:rPr lang="en-US" altLang="en-US" dirty="0"/>
              <a:t> used when conditions are dangerous</a:t>
            </a:r>
          </a:p>
          <a:p>
            <a:pPr lvl="1" algn="just">
              <a:lnSpc>
                <a:spcPct val="90000"/>
              </a:lnSpc>
            </a:pPr>
            <a:r>
              <a:rPr lang="en-US" altLang="en-US" b="1" dirty="0"/>
              <a:t>Hospital :</a:t>
            </a:r>
            <a:r>
              <a:rPr lang="en-US" altLang="en-US" dirty="0"/>
              <a:t> monitoring, diagnosing &amp; prescribing</a:t>
            </a:r>
          </a:p>
          <a:p>
            <a:pPr lvl="1" algn="just">
              <a:lnSpc>
                <a:spcPct val="90000"/>
              </a:lnSpc>
            </a:pPr>
            <a:r>
              <a:rPr lang="en-US" altLang="en-US" b="1" dirty="0"/>
              <a:t>Education :</a:t>
            </a:r>
            <a:r>
              <a:rPr lang="en-US" altLang="en-US" dirty="0"/>
              <a:t> In teaching</a:t>
            </a:r>
          </a:p>
          <a:p>
            <a:pPr lvl="1" algn="just">
              <a:lnSpc>
                <a:spcPct val="90000"/>
              </a:lnSpc>
            </a:pPr>
            <a:r>
              <a:rPr lang="en-US" altLang="en-US" b="1" dirty="0"/>
              <a:t>household :</a:t>
            </a:r>
            <a:r>
              <a:rPr lang="en-US" altLang="en-US" dirty="0"/>
              <a:t> Advice on cooking, shopping etc.</a:t>
            </a:r>
          </a:p>
          <a:p>
            <a:pPr lvl="1" algn="just">
              <a:lnSpc>
                <a:spcPct val="90000"/>
              </a:lnSpc>
            </a:pPr>
            <a:r>
              <a:rPr lang="en-US" altLang="en-US" b="1" dirty="0"/>
              <a:t>farming :</a:t>
            </a:r>
            <a:r>
              <a:rPr lang="en-US" altLang="en-US" dirty="0"/>
              <a:t> prune trees &amp; selectively harvest mixed crops.</a:t>
            </a:r>
          </a:p>
        </p:txBody>
      </p:sp>
      <p:sp>
        <p:nvSpPr>
          <p:cNvPr id="2" name="Date Placeholder 1">
            <a:extLst>
              <a:ext uri="{FF2B5EF4-FFF2-40B4-BE49-F238E27FC236}">
                <a16:creationId xmlns:a16="http://schemas.microsoft.com/office/drawing/2014/main" xmlns="" id="{2EEA53D6-167C-4A70-BF64-BCF266A92DEB}"/>
              </a:ext>
            </a:extLst>
          </p:cNvPr>
          <p:cNvSpPr>
            <a:spLocks noGrp="1"/>
          </p:cNvSpPr>
          <p:nvPr>
            <p:ph type="dt" sz="half" idx="10"/>
          </p:nvPr>
        </p:nvSpPr>
        <p:spPr/>
        <p:txBody>
          <a:bodyPr/>
          <a:lstStyle/>
          <a:p>
            <a:fld id="{96A237F7-C835-4333-8E0E-0190CA623DAC}" type="datetime1">
              <a:rPr lang="en-US" smtClean="0"/>
              <a:t>1/30/2025</a:t>
            </a:fld>
            <a:endParaRPr lang="en-IN"/>
          </a:p>
        </p:txBody>
      </p:sp>
      <p:sp>
        <p:nvSpPr>
          <p:cNvPr id="3" name="Footer Placeholder 2">
            <a:extLst>
              <a:ext uri="{FF2B5EF4-FFF2-40B4-BE49-F238E27FC236}">
                <a16:creationId xmlns:a16="http://schemas.microsoft.com/office/drawing/2014/main" xmlns="" id="{32A53496-76D2-45D1-A9BE-BFA1A1DC7DCF}"/>
              </a:ext>
            </a:extLst>
          </p:cNvPr>
          <p:cNvSpPr>
            <a:spLocks noGrp="1"/>
          </p:cNvSpPr>
          <p:nvPr>
            <p:ph type="ftr" sz="quarter" idx="11"/>
          </p:nvPr>
        </p:nvSpPr>
        <p:spPr/>
        <p:txBody>
          <a:bodyPr/>
          <a:lstStyle/>
          <a:p>
            <a:r>
              <a:rPr lang="en-IN"/>
              <a:t>Prof Saroj Kaushik</a:t>
            </a:r>
          </a:p>
        </p:txBody>
      </p:sp>
      <p:sp>
        <p:nvSpPr>
          <p:cNvPr id="4" name="Slide Number Placeholder 3">
            <a:extLst>
              <a:ext uri="{FF2B5EF4-FFF2-40B4-BE49-F238E27FC236}">
                <a16:creationId xmlns:a16="http://schemas.microsoft.com/office/drawing/2014/main" xmlns="" id="{3365117E-7C85-4DBE-8E5E-59788D832273}"/>
              </a:ext>
            </a:extLst>
          </p:cNvPr>
          <p:cNvSpPr>
            <a:spLocks noGrp="1"/>
          </p:cNvSpPr>
          <p:nvPr>
            <p:ph type="sldNum" sz="quarter" idx="12"/>
          </p:nvPr>
        </p:nvSpPr>
        <p:spPr/>
        <p:txBody>
          <a:bodyPr/>
          <a:lstStyle/>
          <a:p>
            <a:fld id="{68F3827D-0A5E-42DB-88B7-D3FF5E601C77}" type="slidenum">
              <a:rPr lang="en-IN" smtClean="0"/>
              <a:t>23</a:t>
            </a:fld>
            <a:endParaRPr lang="en-IN"/>
          </a:p>
        </p:txBody>
      </p:sp>
    </p:spTree>
    <p:extLst>
      <p:ext uri="{BB962C8B-B14F-4D97-AF65-F5344CB8AC3E}">
        <p14:creationId xmlns:p14="http://schemas.microsoft.com/office/powerpoint/2010/main" val="772077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12175" y="316727"/>
            <a:ext cx="2820035" cy="695960"/>
          </a:xfrm>
          <a:prstGeom prst="rect">
            <a:avLst/>
          </a:prstGeom>
        </p:spPr>
        <p:txBody>
          <a:bodyPr vert="horz" wrap="square" lIns="0" tIns="12700" rIns="0" bIns="0" rtlCol="0">
            <a:spAutoFit/>
          </a:bodyPr>
          <a:lstStyle/>
          <a:p>
            <a:pPr marL="12700">
              <a:lnSpc>
                <a:spcPct val="100000"/>
              </a:lnSpc>
              <a:spcBef>
                <a:spcPts val="100"/>
              </a:spcBef>
            </a:pPr>
            <a:r>
              <a:rPr spc="-15" dirty="0">
                <a:solidFill>
                  <a:srgbClr val="739BDC"/>
                </a:solidFill>
              </a:rPr>
              <a:t>History</a:t>
            </a:r>
            <a:r>
              <a:rPr spc="-50" dirty="0">
                <a:solidFill>
                  <a:srgbClr val="739BDC"/>
                </a:solidFill>
              </a:rPr>
              <a:t> </a:t>
            </a:r>
            <a:r>
              <a:rPr spc="-5" dirty="0">
                <a:solidFill>
                  <a:srgbClr val="739BDC"/>
                </a:solidFill>
              </a:rPr>
              <a:t>of</a:t>
            </a:r>
            <a:r>
              <a:rPr spc="-45" dirty="0">
                <a:solidFill>
                  <a:srgbClr val="739BDC"/>
                </a:solidFill>
              </a:rPr>
              <a:t> </a:t>
            </a:r>
            <a:r>
              <a:rPr spc="-5" dirty="0">
                <a:solidFill>
                  <a:srgbClr val="739BDC"/>
                </a:solidFill>
              </a:rPr>
              <a:t>AI</a:t>
            </a:r>
          </a:p>
        </p:txBody>
      </p:sp>
      <p:sp>
        <p:nvSpPr>
          <p:cNvPr id="3" name="object 3"/>
          <p:cNvSpPr txBox="1"/>
          <p:nvPr/>
        </p:nvSpPr>
        <p:spPr>
          <a:xfrm>
            <a:off x="8512175" y="6428804"/>
            <a:ext cx="1016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7</a:t>
            </a:r>
            <a:endParaRPr sz="1200">
              <a:latin typeface="Times New Roman"/>
              <a:cs typeface="Times New Roman"/>
            </a:endParaRPr>
          </a:p>
        </p:txBody>
      </p:sp>
      <p:graphicFrame>
        <p:nvGraphicFramePr>
          <p:cNvPr id="4" name="object 4"/>
          <p:cNvGraphicFramePr>
            <a:graphicFrameLocks noGrp="1"/>
          </p:cNvGraphicFramePr>
          <p:nvPr/>
        </p:nvGraphicFramePr>
        <p:xfrm>
          <a:off x="390517" y="976237"/>
          <a:ext cx="8353425" cy="5547816"/>
        </p:xfrm>
        <a:graphic>
          <a:graphicData uri="http://schemas.openxmlformats.org/drawingml/2006/table">
            <a:tbl>
              <a:tblPr firstRow="1" bandRow="1">
                <a:tableStyleId>{2D5ABB26-0587-4C30-8999-92F81FD0307C}</a:tableStyleId>
              </a:tblPr>
              <a:tblGrid>
                <a:gridCol w="733425"/>
                <a:gridCol w="7620000"/>
              </a:tblGrid>
              <a:tr h="479524">
                <a:tc>
                  <a:txBody>
                    <a:bodyPr/>
                    <a:lstStyle/>
                    <a:p>
                      <a:pPr algn="ctr">
                        <a:lnSpc>
                          <a:spcPct val="100000"/>
                        </a:lnSpc>
                        <a:spcBef>
                          <a:spcPts val="225"/>
                        </a:spcBef>
                      </a:pPr>
                      <a:r>
                        <a:rPr sz="1800" spc="-40" dirty="0">
                          <a:latin typeface="Calibri"/>
                          <a:cs typeface="Calibri"/>
                        </a:rPr>
                        <a:t>Year</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EEEEEE"/>
                    </a:solidFill>
                  </a:tcPr>
                </a:tc>
                <a:tc>
                  <a:txBody>
                    <a:bodyPr/>
                    <a:lstStyle/>
                    <a:p>
                      <a:pPr algn="ctr">
                        <a:lnSpc>
                          <a:spcPct val="100000"/>
                        </a:lnSpc>
                        <a:spcBef>
                          <a:spcPts val="225"/>
                        </a:spcBef>
                      </a:pPr>
                      <a:r>
                        <a:rPr sz="1800" spc="-10" dirty="0">
                          <a:latin typeface="Calibri"/>
                          <a:cs typeface="Calibri"/>
                        </a:rPr>
                        <a:t>Milestone</a:t>
                      </a:r>
                      <a:r>
                        <a:rPr sz="1800" spc="-30" dirty="0">
                          <a:latin typeface="Calibri"/>
                          <a:cs typeface="Calibri"/>
                        </a:rPr>
                        <a:t> </a:t>
                      </a:r>
                      <a:r>
                        <a:rPr sz="1800" dirty="0">
                          <a:latin typeface="Calibri"/>
                          <a:cs typeface="Calibri"/>
                        </a:rPr>
                        <a:t>/</a:t>
                      </a:r>
                      <a:r>
                        <a:rPr sz="1800" spc="-30" dirty="0">
                          <a:latin typeface="Calibri"/>
                          <a:cs typeface="Calibri"/>
                        </a:rPr>
                        <a:t> </a:t>
                      </a:r>
                      <a:r>
                        <a:rPr sz="1800" spc="-10" dirty="0">
                          <a:latin typeface="Calibri"/>
                          <a:cs typeface="Calibri"/>
                        </a:rPr>
                        <a:t>Innovation</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EEEEEE"/>
                    </a:solidFill>
                  </a:tcPr>
                </a:tc>
              </a:tr>
              <a:tr h="743049">
                <a:tc>
                  <a:txBody>
                    <a:bodyPr/>
                    <a:lstStyle/>
                    <a:p>
                      <a:pPr algn="ctr">
                        <a:lnSpc>
                          <a:spcPct val="100000"/>
                        </a:lnSpc>
                        <a:spcBef>
                          <a:spcPts val="225"/>
                        </a:spcBef>
                      </a:pPr>
                      <a:r>
                        <a:rPr sz="1800" spc="-5" dirty="0">
                          <a:latin typeface="Calibri"/>
                          <a:cs typeface="Calibri"/>
                        </a:rPr>
                        <a:t>1923</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14935">
                        <a:lnSpc>
                          <a:spcPct val="100000"/>
                        </a:lnSpc>
                        <a:spcBef>
                          <a:spcPts val="225"/>
                        </a:spcBef>
                      </a:pPr>
                      <a:r>
                        <a:rPr sz="1800" spc="-15" dirty="0">
                          <a:latin typeface="Calibri"/>
                          <a:cs typeface="Calibri"/>
                        </a:rPr>
                        <a:t>Karel</a:t>
                      </a:r>
                      <a:r>
                        <a:rPr sz="1800" spc="170" dirty="0">
                          <a:latin typeface="Calibri"/>
                          <a:cs typeface="Calibri"/>
                        </a:rPr>
                        <a:t> </a:t>
                      </a:r>
                      <a:r>
                        <a:rPr sz="1800" spc="-100" dirty="0">
                          <a:latin typeface="Arial MT"/>
                          <a:cs typeface="Arial MT"/>
                        </a:rPr>
                        <a:t>Č</a:t>
                      </a:r>
                      <a:r>
                        <a:rPr sz="1800" spc="-100" dirty="0">
                          <a:latin typeface="Calibri"/>
                          <a:cs typeface="Calibri"/>
                        </a:rPr>
                        <a:t>apek</a:t>
                      </a:r>
                      <a:r>
                        <a:rPr sz="1800" spc="170" dirty="0">
                          <a:latin typeface="Calibri"/>
                          <a:cs typeface="Calibri"/>
                        </a:rPr>
                        <a:t> </a:t>
                      </a:r>
                      <a:r>
                        <a:rPr sz="1800" spc="-15" dirty="0">
                          <a:latin typeface="Calibri"/>
                          <a:cs typeface="Calibri"/>
                        </a:rPr>
                        <a:t>play</a:t>
                      </a:r>
                      <a:r>
                        <a:rPr sz="1800" spc="165" dirty="0">
                          <a:latin typeface="Calibri"/>
                          <a:cs typeface="Calibri"/>
                        </a:rPr>
                        <a:t> </a:t>
                      </a:r>
                      <a:r>
                        <a:rPr sz="1800" spc="-5" dirty="0">
                          <a:latin typeface="Calibri"/>
                          <a:cs typeface="Calibri"/>
                        </a:rPr>
                        <a:t>named</a:t>
                      </a:r>
                      <a:r>
                        <a:rPr sz="1800" spc="170" dirty="0">
                          <a:latin typeface="Calibri"/>
                          <a:cs typeface="Calibri"/>
                        </a:rPr>
                        <a:t> </a:t>
                      </a:r>
                      <a:r>
                        <a:rPr sz="1800" spc="-10" dirty="0">
                          <a:latin typeface="Calibri"/>
                          <a:cs typeface="Calibri"/>
                        </a:rPr>
                        <a:t>“Rossum's</a:t>
                      </a:r>
                      <a:r>
                        <a:rPr sz="1800" spc="165" dirty="0">
                          <a:latin typeface="Calibri"/>
                          <a:cs typeface="Calibri"/>
                        </a:rPr>
                        <a:t> </a:t>
                      </a:r>
                      <a:r>
                        <a:rPr sz="1800" spc="-10" dirty="0">
                          <a:latin typeface="Calibri"/>
                          <a:cs typeface="Calibri"/>
                        </a:rPr>
                        <a:t>Universal</a:t>
                      </a:r>
                      <a:r>
                        <a:rPr sz="1800" spc="170" dirty="0">
                          <a:latin typeface="Calibri"/>
                          <a:cs typeface="Calibri"/>
                        </a:rPr>
                        <a:t> </a:t>
                      </a:r>
                      <a:r>
                        <a:rPr sz="1800" spc="-10" dirty="0">
                          <a:latin typeface="Calibri"/>
                          <a:cs typeface="Calibri"/>
                        </a:rPr>
                        <a:t>Robots”</a:t>
                      </a:r>
                      <a:r>
                        <a:rPr sz="1800" spc="165" dirty="0">
                          <a:latin typeface="Calibri"/>
                          <a:cs typeface="Calibri"/>
                        </a:rPr>
                        <a:t> </a:t>
                      </a:r>
                      <a:r>
                        <a:rPr sz="1800" spc="-5" dirty="0">
                          <a:latin typeface="Calibri"/>
                          <a:cs typeface="Calibri"/>
                        </a:rPr>
                        <a:t>(RUR)</a:t>
                      </a:r>
                      <a:r>
                        <a:rPr sz="1800" spc="170" dirty="0">
                          <a:latin typeface="Calibri"/>
                          <a:cs typeface="Calibri"/>
                        </a:rPr>
                        <a:t> </a:t>
                      </a:r>
                      <a:r>
                        <a:rPr sz="1800" spc="-5" dirty="0">
                          <a:latin typeface="Calibri"/>
                          <a:cs typeface="Calibri"/>
                        </a:rPr>
                        <a:t>opens</a:t>
                      </a:r>
                      <a:r>
                        <a:rPr sz="1800" spc="165" dirty="0">
                          <a:latin typeface="Calibri"/>
                          <a:cs typeface="Calibri"/>
                        </a:rPr>
                        <a:t> </a:t>
                      </a:r>
                      <a:r>
                        <a:rPr sz="1800" spc="-5" dirty="0">
                          <a:latin typeface="Calibri"/>
                          <a:cs typeface="Calibri"/>
                        </a:rPr>
                        <a:t>in</a:t>
                      </a:r>
                      <a:r>
                        <a:rPr sz="1800" spc="170" dirty="0">
                          <a:latin typeface="Calibri"/>
                          <a:cs typeface="Calibri"/>
                        </a:rPr>
                        <a:t> </a:t>
                      </a:r>
                      <a:r>
                        <a:rPr sz="1800" spc="-5" dirty="0">
                          <a:latin typeface="Calibri"/>
                          <a:cs typeface="Calibri"/>
                        </a:rPr>
                        <a:t>London, </a:t>
                      </a:r>
                      <a:r>
                        <a:rPr sz="1800" spc="-395" dirty="0">
                          <a:latin typeface="Calibri"/>
                          <a:cs typeface="Calibri"/>
                        </a:rPr>
                        <a:t> </a:t>
                      </a:r>
                      <a:r>
                        <a:rPr sz="1800" spc="-15" dirty="0">
                          <a:latin typeface="Calibri"/>
                          <a:cs typeface="Calibri"/>
                        </a:rPr>
                        <a:t>first</a:t>
                      </a:r>
                      <a:r>
                        <a:rPr sz="1800" spc="-10" dirty="0">
                          <a:latin typeface="Calibri"/>
                          <a:cs typeface="Calibri"/>
                        </a:rPr>
                        <a:t> </a:t>
                      </a:r>
                      <a:r>
                        <a:rPr sz="1800" spc="-5" dirty="0">
                          <a:latin typeface="Calibri"/>
                          <a:cs typeface="Calibri"/>
                        </a:rPr>
                        <a:t>use of the </a:t>
                      </a:r>
                      <a:r>
                        <a:rPr sz="1800" spc="-15" dirty="0">
                          <a:latin typeface="Calibri"/>
                          <a:cs typeface="Calibri"/>
                        </a:rPr>
                        <a:t>word</a:t>
                      </a:r>
                      <a:r>
                        <a:rPr sz="1800" spc="-5" dirty="0">
                          <a:latin typeface="Calibri"/>
                          <a:cs typeface="Calibri"/>
                        </a:rPr>
                        <a:t> </a:t>
                      </a:r>
                      <a:r>
                        <a:rPr sz="1800" spc="-10" dirty="0">
                          <a:latin typeface="Calibri"/>
                          <a:cs typeface="Calibri"/>
                        </a:rPr>
                        <a:t>"robot"</a:t>
                      </a:r>
                      <a:r>
                        <a:rPr sz="1800" spc="-5" dirty="0">
                          <a:latin typeface="Calibri"/>
                          <a:cs typeface="Calibri"/>
                        </a:rPr>
                        <a:t> in English.</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479149">
                <a:tc>
                  <a:txBody>
                    <a:bodyPr/>
                    <a:lstStyle/>
                    <a:p>
                      <a:pPr algn="ctr">
                        <a:lnSpc>
                          <a:spcPct val="100000"/>
                        </a:lnSpc>
                        <a:spcBef>
                          <a:spcPts val="225"/>
                        </a:spcBef>
                      </a:pPr>
                      <a:r>
                        <a:rPr sz="1800" spc="-5" dirty="0">
                          <a:latin typeface="Calibri"/>
                          <a:cs typeface="Calibri"/>
                        </a:rPr>
                        <a:t>1943</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a:lnSpc>
                          <a:spcPct val="100000"/>
                        </a:lnSpc>
                        <a:spcBef>
                          <a:spcPts val="225"/>
                        </a:spcBef>
                      </a:pPr>
                      <a:r>
                        <a:rPr sz="1800" spc="-10" dirty="0">
                          <a:latin typeface="Calibri"/>
                          <a:cs typeface="Calibri"/>
                        </a:rPr>
                        <a:t>Foundations</a:t>
                      </a:r>
                      <a:r>
                        <a:rPr sz="1800" spc="-20" dirty="0">
                          <a:latin typeface="Calibri"/>
                          <a:cs typeface="Calibri"/>
                        </a:rPr>
                        <a:t> </a:t>
                      </a:r>
                      <a:r>
                        <a:rPr sz="1800" spc="-15" dirty="0">
                          <a:latin typeface="Calibri"/>
                          <a:cs typeface="Calibri"/>
                        </a:rPr>
                        <a:t>for </a:t>
                      </a:r>
                      <a:r>
                        <a:rPr sz="1800" spc="-10" dirty="0">
                          <a:latin typeface="Calibri"/>
                          <a:cs typeface="Calibri"/>
                        </a:rPr>
                        <a:t>neural</a:t>
                      </a:r>
                      <a:r>
                        <a:rPr sz="1800" spc="-15" dirty="0">
                          <a:latin typeface="Calibri"/>
                          <a:cs typeface="Calibri"/>
                        </a:rPr>
                        <a:t> </a:t>
                      </a:r>
                      <a:r>
                        <a:rPr sz="1800" spc="-10" dirty="0">
                          <a:latin typeface="Calibri"/>
                          <a:cs typeface="Calibri"/>
                        </a:rPr>
                        <a:t>networks</a:t>
                      </a:r>
                      <a:r>
                        <a:rPr sz="1800" spc="-15" dirty="0">
                          <a:latin typeface="Calibri"/>
                          <a:cs typeface="Calibri"/>
                        </a:rPr>
                        <a:t> </a:t>
                      </a:r>
                      <a:r>
                        <a:rPr sz="1800" spc="-5" dirty="0">
                          <a:latin typeface="Calibri"/>
                          <a:cs typeface="Calibri"/>
                        </a:rPr>
                        <a:t>laid.</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478074">
                <a:tc>
                  <a:txBody>
                    <a:bodyPr/>
                    <a:lstStyle/>
                    <a:p>
                      <a:pPr algn="ctr">
                        <a:lnSpc>
                          <a:spcPct val="100000"/>
                        </a:lnSpc>
                        <a:spcBef>
                          <a:spcPts val="225"/>
                        </a:spcBef>
                      </a:pPr>
                      <a:r>
                        <a:rPr sz="1800" spc="-5" dirty="0">
                          <a:latin typeface="Calibri"/>
                          <a:cs typeface="Calibri"/>
                        </a:rPr>
                        <a:t>1945</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a:lnSpc>
                          <a:spcPct val="100000"/>
                        </a:lnSpc>
                        <a:spcBef>
                          <a:spcPts val="225"/>
                        </a:spcBef>
                      </a:pPr>
                      <a:r>
                        <a:rPr sz="1800" spc="-5" dirty="0">
                          <a:latin typeface="Calibri"/>
                          <a:cs typeface="Calibri"/>
                        </a:rPr>
                        <a:t>Isaac</a:t>
                      </a:r>
                      <a:r>
                        <a:rPr sz="1800" spc="-10" dirty="0">
                          <a:latin typeface="Calibri"/>
                          <a:cs typeface="Calibri"/>
                        </a:rPr>
                        <a:t> </a:t>
                      </a:r>
                      <a:r>
                        <a:rPr sz="1800" spc="-25" dirty="0">
                          <a:latin typeface="Calibri"/>
                          <a:cs typeface="Calibri"/>
                        </a:rPr>
                        <a:t>Asimov,</a:t>
                      </a:r>
                      <a:r>
                        <a:rPr sz="1800" spc="-5" dirty="0">
                          <a:latin typeface="Calibri"/>
                          <a:cs typeface="Calibri"/>
                        </a:rPr>
                        <a:t> </a:t>
                      </a:r>
                      <a:r>
                        <a:rPr sz="1800" dirty="0">
                          <a:latin typeface="Calibri"/>
                          <a:cs typeface="Calibri"/>
                        </a:rPr>
                        <a:t>a</a:t>
                      </a:r>
                      <a:r>
                        <a:rPr sz="1800" spc="-10" dirty="0">
                          <a:latin typeface="Calibri"/>
                          <a:cs typeface="Calibri"/>
                        </a:rPr>
                        <a:t> </a:t>
                      </a:r>
                      <a:r>
                        <a:rPr sz="1800" spc="-5" dirty="0">
                          <a:latin typeface="Calibri"/>
                          <a:cs typeface="Calibri"/>
                        </a:rPr>
                        <a:t>Columbia </a:t>
                      </a:r>
                      <a:r>
                        <a:rPr sz="1800" spc="-10" dirty="0">
                          <a:latin typeface="Calibri"/>
                          <a:cs typeface="Calibri"/>
                        </a:rPr>
                        <a:t>University</a:t>
                      </a:r>
                      <a:r>
                        <a:rPr sz="1800" spc="-5" dirty="0">
                          <a:latin typeface="Calibri"/>
                          <a:cs typeface="Calibri"/>
                        </a:rPr>
                        <a:t> </a:t>
                      </a:r>
                      <a:r>
                        <a:rPr sz="1800" dirty="0">
                          <a:latin typeface="Calibri"/>
                          <a:cs typeface="Calibri"/>
                        </a:rPr>
                        <a:t>alumni,</a:t>
                      </a:r>
                      <a:r>
                        <a:rPr sz="1800" spc="-10" dirty="0">
                          <a:latin typeface="Calibri"/>
                          <a:cs typeface="Calibri"/>
                        </a:rPr>
                        <a:t> coined</a:t>
                      </a:r>
                      <a:r>
                        <a:rPr sz="1800" spc="-5" dirty="0">
                          <a:latin typeface="Calibri"/>
                          <a:cs typeface="Calibri"/>
                        </a:rPr>
                        <a:t> the </a:t>
                      </a:r>
                      <a:r>
                        <a:rPr sz="1800" spc="-10" dirty="0">
                          <a:latin typeface="Calibri"/>
                          <a:cs typeface="Calibri"/>
                        </a:rPr>
                        <a:t>term</a:t>
                      </a:r>
                      <a:r>
                        <a:rPr sz="1800" spc="50" dirty="0">
                          <a:latin typeface="Calibri"/>
                          <a:cs typeface="Calibri"/>
                        </a:rPr>
                        <a:t> </a:t>
                      </a:r>
                      <a:r>
                        <a:rPr sz="1800" i="1" spc="-10" dirty="0">
                          <a:latin typeface="Calibri"/>
                          <a:cs typeface="Calibri"/>
                        </a:rPr>
                        <a:t>Robotics</a:t>
                      </a:r>
                      <a:r>
                        <a:rPr sz="1800" spc="-10" dirty="0">
                          <a:latin typeface="Calibri"/>
                          <a:cs typeface="Calibri"/>
                        </a:rPr>
                        <a:t>.</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1007999">
                <a:tc>
                  <a:txBody>
                    <a:bodyPr/>
                    <a:lstStyle/>
                    <a:p>
                      <a:pPr algn="ctr">
                        <a:lnSpc>
                          <a:spcPct val="100000"/>
                        </a:lnSpc>
                        <a:spcBef>
                          <a:spcPts val="225"/>
                        </a:spcBef>
                      </a:pPr>
                      <a:r>
                        <a:rPr sz="1800" spc="-5" dirty="0">
                          <a:latin typeface="Calibri"/>
                          <a:cs typeface="Calibri"/>
                        </a:rPr>
                        <a:t>1950</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20014" algn="just">
                        <a:lnSpc>
                          <a:spcPct val="100000"/>
                        </a:lnSpc>
                        <a:spcBef>
                          <a:spcPts val="225"/>
                        </a:spcBef>
                      </a:pPr>
                      <a:r>
                        <a:rPr sz="1800" spc="-5" dirty="0">
                          <a:solidFill>
                            <a:srgbClr val="FF0000"/>
                          </a:solidFill>
                          <a:latin typeface="Calibri"/>
                          <a:cs typeface="Calibri"/>
                        </a:rPr>
                        <a:t>Alan</a:t>
                      </a:r>
                      <a:r>
                        <a:rPr sz="1800" dirty="0">
                          <a:solidFill>
                            <a:srgbClr val="FF0000"/>
                          </a:solidFill>
                          <a:latin typeface="Calibri"/>
                          <a:cs typeface="Calibri"/>
                        </a:rPr>
                        <a:t> </a:t>
                      </a:r>
                      <a:r>
                        <a:rPr sz="1800" spc="-25" dirty="0">
                          <a:solidFill>
                            <a:srgbClr val="FF0000"/>
                          </a:solidFill>
                          <a:latin typeface="Calibri"/>
                          <a:cs typeface="Calibri"/>
                        </a:rPr>
                        <a:t>Turing</a:t>
                      </a:r>
                      <a:r>
                        <a:rPr sz="1800" spc="-20" dirty="0">
                          <a:solidFill>
                            <a:srgbClr val="FF0000"/>
                          </a:solidFill>
                          <a:latin typeface="Calibri"/>
                          <a:cs typeface="Calibri"/>
                        </a:rPr>
                        <a:t> </a:t>
                      </a:r>
                      <a:r>
                        <a:rPr sz="1800" spc="-10" dirty="0">
                          <a:solidFill>
                            <a:srgbClr val="FF0000"/>
                          </a:solidFill>
                          <a:latin typeface="Calibri"/>
                          <a:cs typeface="Calibri"/>
                        </a:rPr>
                        <a:t>introduced</a:t>
                      </a:r>
                      <a:r>
                        <a:rPr sz="1800" spc="390" dirty="0">
                          <a:solidFill>
                            <a:srgbClr val="FF0000"/>
                          </a:solidFill>
                          <a:latin typeface="Calibri"/>
                          <a:cs typeface="Calibri"/>
                        </a:rPr>
                        <a:t> </a:t>
                      </a:r>
                      <a:r>
                        <a:rPr sz="1800" spc="-25" dirty="0">
                          <a:solidFill>
                            <a:srgbClr val="FF0000"/>
                          </a:solidFill>
                          <a:latin typeface="Calibri"/>
                          <a:cs typeface="Calibri"/>
                        </a:rPr>
                        <a:t>Turing</a:t>
                      </a:r>
                      <a:r>
                        <a:rPr sz="1800" spc="360" dirty="0">
                          <a:solidFill>
                            <a:srgbClr val="FF0000"/>
                          </a:solidFill>
                          <a:latin typeface="Calibri"/>
                          <a:cs typeface="Calibri"/>
                        </a:rPr>
                        <a:t> </a:t>
                      </a:r>
                      <a:r>
                        <a:rPr sz="1800" spc="-50" dirty="0">
                          <a:solidFill>
                            <a:srgbClr val="FF0000"/>
                          </a:solidFill>
                          <a:latin typeface="Calibri"/>
                          <a:cs typeface="Calibri"/>
                        </a:rPr>
                        <a:t>Test</a:t>
                      </a:r>
                      <a:r>
                        <a:rPr sz="1800" spc="310" dirty="0">
                          <a:solidFill>
                            <a:srgbClr val="FF0000"/>
                          </a:solidFill>
                          <a:latin typeface="Calibri"/>
                          <a:cs typeface="Calibri"/>
                        </a:rPr>
                        <a:t> </a:t>
                      </a:r>
                      <a:r>
                        <a:rPr sz="1800" spc="-15" dirty="0">
                          <a:solidFill>
                            <a:srgbClr val="FF0000"/>
                          </a:solidFill>
                          <a:latin typeface="Calibri"/>
                          <a:cs typeface="Calibri"/>
                        </a:rPr>
                        <a:t>for</a:t>
                      </a:r>
                      <a:r>
                        <a:rPr sz="1800" spc="380" dirty="0">
                          <a:solidFill>
                            <a:srgbClr val="FF0000"/>
                          </a:solidFill>
                          <a:latin typeface="Calibri"/>
                          <a:cs typeface="Calibri"/>
                        </a:rPr>
                        <a:t> </a:t>
                      </a:r>
                      <a:r>
                        <a:rPr sz="1800" spc="-10" dirty="0">
                          <a:solidFill>
                            <a:srgbClr val="FF0000"/>
                          </a:solidFill>
                          <a:latin typeface="Calibri"/>
                          <a:cs typeface="Calibri"/>
                        </a:rPr>
                        <a:t>evaluation</a:t>
                      </a:r>
                      <a:r>
                        <a:rPr sz="1800" spc="390" dirty="0">
                          <a:solidFill>
                            <a:srgbClr val="FF0000"/>
                          </a:solidFill>
                          <a:latin typeface="Calibri"/>
                          <a:cs typeface="Calibri"/>
                        </a:rPr>
                        <a:t> </a:t>
                      </a:r>
                      <a:r>
                        <a:rPr sz="1800" spc="-5" dirty="0">
                          <a:solidFill>
                            <a:srgbClr val="FF0000"/>
                          </a:solidFill>
                          <a:latin typeface="Calibri"/>
                          <a:cs typeface="Calibri"/>
                        </a:rPr>
                        <a:t>of</a:t>
                      </a:r>
                      <a:r>
                        <a:rPr sz="1800" spc="400" dirty="0">
                          <a:solidFill>
                            <a:srgbClr val="FF0000"/>
                          </a:solidFill>
                          <a:latin typeface="Calibri"/>
                          <a:cs typeface="Calibri"/>
                        </a:rPr>
                        <a:t> </a:t>
                      </a:r>
                      <a:r>
                        <a:rPr sz="1800" spc="-10" dirty="0">
                          <a:solidFill>
                            <a:srgbClr val="FF0000"/>
                          </a:solidFill>
                          <a:latin typeface="Calibri"/>
                          <a:cs typeface="Calibri"/>
                        </a:rPr>
                        <a:t>intelligence</a:t>
                      </a:r>
                      <a:r>
                        <a:rPr sz="1800" spc="390" dirty="0">
                          <a:solidFill>
                            <a:srgbClr val="FF0000"/>
                          </a:solidFill>
                          <a:latin typeface="Calibri"/>
                          <a:cs typeface="Calibri"/>
                        </a:rPr>
                        <a:t> </a:t>
                      </a:r>
                      <a:r>
                        <a:rPr sz="1800" dirty="0">
                          <a:solidFill>
                            <a:srgbClr val="FF0000"/>
                          </a:solidFill>
                          <a:latin typeface="Calibri"/>
                          <a:cs typeface="Calibri"/>
                        </a:rPr>
                        <a:t>and </a:t>
                      </a:r>
                      <a:r>
                        <a:rPr sz="1800" spc="5" dirty="0">
                          <a:solidFill>
                            <a:srgbClr val="FF0000"/>
                          </a:solidFill>
                          <a:latin typeface="Calibri"/>
                          <a:cs typeface="Calibri"/>
                        </a:rPr>
                        <a:t> </a:t>
                      </a:r>
                      <a:r>
                        <a:rPr sz="1800" spc="-5" dirty="0">
                          <a:solidFill>
                            <a:srgbClr val="FF0000"/>
                          </a:solidFill>
                          <a:latin typeface="Calibri"/>
                          <a:cs typeface="Calibri"/>
                        </a:rPr>
                        <a:t>published </a:t>
                      </a:r>
                      <a:r>
                        <a:rPr sz="1800" i="1" spc="-5" dirty="0">
                          <a:solidFill>
                            <a:srgbClr val="FF0000"/>
                          </a:solidFill>
                          <a:latin typeface="Calibri"/>
                          <a:cs typeface="Calibri"/>
                        </a:rPr>
                        <a:t>Computing</a:t>
                      </a:r>
                      <a:r>
                        <a:rPr sz="1800" i="1" spc="800" dirty="0">
                          <a:solidFill>
                            <a:srgbClr val="FF0000"/>
                          </a:solidFill>
                          <a:latin typeface="Calibri"/>
                          <a:cs typeface="Calibri"/>
                        </a:rPr>
                        <a:t> </a:t>
                      </a:r>
                      <a:r>
                        <a:rPr sz="1800" i="1" spc="-5" dirty="0">
                          <a:solidFill>
                            <a:srgbClr val="FF0000"/>
                          </a:solidFill>
                          <a:latin typeface="Calibri"/>
                          <a:cs typeface="Calibri"/>
                        </a:rPr>
                        <a:t>Machinery</a:t>
                      </a:r>
                      <a:r>
                        <a:rPr sz="1800" i="1" spc="800" dirty="0">
                          <a:solidFill>
                            <a:srgbClr val="FF0000"/>
                          </a:solidFill>
                          <a:latin typeface="Calibri"/>
                          <a:cs typeface="Calibri"/>
                        </a:rPr>
                        <a:t> </a:t>
                      </a:r>
                      <a:r>
                        <a:rPr sz="1800" i="1" spc="-5" dirty="0">
                          <a:solidFill>
                            <a:srgbClr val="FF0000"/>
                          </a:solidFill>
                          <a:latin typeface="Calibri"/>
                          <a:cs typeface="Calibri"/>
                        </a:rPr>
                        <a:t>and</a:t>
                      </a:r>
                      <a:r>
                        <a:rPr sz="1800" i="1" spc="800" dirty="0">
                          <a:solidFill>
                            <a:srgbClr val="FF0000"/>
                          </a:solidFill>
                          <a:latin typeface="Calibri"/>
                          <a:cs typeface="Calibri"/>
                        </a:rPr>
                        <a:t> </a:t>
                      </a:r>
                      <a:r>
                        <a:rPr sz="1800" i="1" spc="-10" dirty="0">
                          <a:solidFill>
                            <a:srgbClr val="FF0000"/>
                          </a:solidFill>
                          <a:latin typeface="Calibri"/>
                          <a:cs typeface="Calibri"/>
                        </a:rPr>
                        <a:t>Intelligence. </a:t>
                      </a:r>
                      <a:r>
                        <a:rPr sz="1800" spc="-5" dirty="0">
                          <a:solidFill>
                            <a:srgbClr val="FF0000"/>
                          </a:solidFill>
                          <a:latin typeface="Calibri"/>
                          <a:cs typeface="Calibri"/>
                        </a:rPr>
                        <a:t>Claude</a:t>
                      </a:r>
                      <a:r>
                        <a:rPr sz="1800" spc="395" dirty="0">
                          <a:solidFill>
                            <a:srgbClr val="FF0000"/>
                          </a:solidFill>
                          <a:latin typeface="Calibri"/>
                          <a:cs typeface="Calibri"/>
                        </a:rPr>
                        <a:t> </a:t>
                      </a:r>
                      <a:r>
                        <a:rPr sz="1800" spc="400" dirty="0">
                          <a:solidFill>
                            <a:srgbClr val="FF0000"/>
                          </a:solidFill>
                          <a:latin typeface="Calibri"/>
                          <a:cs typeface="Calibri"/>
                        </a:rPr>
                        <a:t> </a:t>
                      </a:r>
                      <a:r>
                        <a:rPr sz="1800" spc="-5" dirty="0">
                          <a:solidFill>
                            <a:srgbClr val="FF0000"/>
                          </a:solidFill>
                          <a:latin typeface="Calibri"/>
                          <a:cs typeface="Calibri"/>
                        </a:rPr>
                        <a:t>Shannon </a:t>
                      </a:r>
                      <a:r>
                        <a:rPr sz="1800" dirty="0">
                          <a:solidFill>
                            <a:srgbClr val="FF0000"/>
                          </a:solidFill>
                          <a:latin typeface="Calibri"/>
                          <a:cs typeface="Calibri"/>
                        </a:rPr>
                        <a:t> </a:t>
                      </a:r>
                      <a:r>
                        <a:rPr sz="1800" spc="-5" dirty="0">
                          <a:solidFill>
                            <a:srgbClr val="FF0000"/>
                          </a:solidFill>
                          <a:latin typeface="Calibri"/>
                          <a:cs typeface="Calibri"/>
                        </a:rPr>
                        <a:t>published</a:t>
                      </a:r>
                      <a:r>
                        <a:rPr sz="1800" spc="5" dirty="0">
                          <a:solidFill>
                            <a:srgbClr val="FF0000"/>
                          </a:solidFill>
                          <a:latin typeface="Calibri"/>
                          <a:cs typeface="Calibri"/>
                        </a:rPr>
                        <a:t> </a:t>
                      </a:r>
                      <a:r>
                        <a:rPr sz="1800" i="1" spc="-10" dirty="0">
                          <a:solidFill>
                            <a:srgbClr val="FF0000"/>
                          </a:solidFill>
                          <a:latin typeface="Calibri"/>
                          <a:cs typeface="Calibri"/>
                        </a:rPr>
                        <a:t>Detailed</a:t>
                      </a:r>
                      <a:r>
                        <a:rPr sz="1800" i="1" spc="-5" dirty="0">
                          <a:solidFill>
                            <a:srgbClr val="FF0000"/>
                          </a:solidFill>
                          <a:latin typeface="Calibri"/>
                          <a:cs typeface="Calibri"/>
                        </a:rPr>
                        <a:t> Analysis of Chess Playing</a:t>
                      </a:r>
                      <a:r>
                        <a:rPr sz="1800" i="1" spc="30" dirty="0">
                          <a:solidFill>
                            <a:srgbClr val="FF0000"/>
                          </a:solidFill>
                          <a:latin typeface="Calibri"/>
                          <a:cs typeface="Calibri"/>
                        </a:rPr>
                        <a:t> </a:t>
                      </a:r>
                      <a:r>
                        <a:rPr sz="1800" dirty="0">
                          <a:solidFill>
                            <a:srgbClr val="FF0000"/>
                          </a:solidFill>
                          <a:latin typeface="Calibri"/>
                          <a:cs typeface="Calibri"/>
                        </a:rPr>
                        <a:t>as</a:t>
                      </a:r>
                      <a:r>
                        <a:rPr sz="1800" spc="-5" dirty="0">
                          <a:solidFill>
                            <a:srgbClr val="FF0000"/>
                          </a:solidFill>
                          <a:latin typeface="Calibri"/>
                          <a:cs typeface="Calibri"/>
                        </a:rPr>
                        <a:t> </a:t>
                      </a:r>
                      <a:r>
                        <a:rPr sz="1800" dirty="0">
                          <a:solidFill>
                            <a:srgbClr val="FF0000"/>
                          </a:solidFill>
                          <a:latin typeface="Calibri"/>
                          <a:cs typeface="Calibri"/>
                        </a:rPr>
                        <a:t>a</a:t>
                      </a:r>
                      <a:r>
                        <a:rPr sz="1800" spc="-5" dirty="0">
                          <a:solidFill>
                            <a:srgbClr val="FF0000"/>
                          </a:solidFill>
                          <a:latin typeface="Calibri"/>
                          <a:cs typeface="Calibri"/>
                        </a:rPr>
                        <a:t> </a:t>
                      </a:r>
                      <a:r>
                        <a:rPr sz="1800" spc="-10" dirty="0">
                          <a:solidFill>
                            <a:srgbClr val="FF0000"/>
                          </a:solidFill>
                          <a:latin typeface="Calibri"/>
                          <a:cs typeface="Calibri"/>
                        </a:rPr>
                        <a:t>search.</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743049">
                <a:tc>
                  <a:txBody>
                    <a:bodyPr/>
                    <a:lstStyle/>
                    <a:p>
                      <a:pPr algn="ctr">
                        <a:lnSpc>
                          <a:spcPct val="100000"/>
                        </a:lnSpc>
                        <a:spcBef>
                          <a:spcPts val="225"/>
                        </a:spcBef>
                      </a:pPr>
                      <a:r>
                        <a:rPr sz="1800" spc="-5" dirty="0">
                          <a:latin typeface="Calibri"/>
                          <a:cs typeface="Calibri"/>
                        </a:rPr>
                        <a:t>1956</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06045">
                        <a:lnSpc>
                          <a:spcPct val="100000"/>
                        </a:lnSpc>
                        <a:spcBef>
                          <a:spcPts val="225"/>
                        </a:spcBef>
                      </a:pPr>
                      <a:r>
                        <a:rPr sz="1800" spc="-5" dirty="0">
                          <a:solidFill>
                            <a:srgbClr val="FF0000"/>
                          </a:solidFill>
                          <a:latin typeface="Calibri"/>
                          <a:cs typeface="Calibri"/>
                        </a:rPr>
                        <a:t>John</a:t>
                      </a:r>
                      <a:r>
                        <a:rPr sz="1800" spc="35" dirty="0">
                          <a:solidFill>
                            <a:srgbClr val="FF0000"/>
                          </a:solidFill>
                          <a:latin typeface="Calibri"/>
                          <a:cs typeface="Calibri"/>
                        </a:rPr>
                        <a:t> </a:t>
                      </a:r>
                      <a:r>
                        <a:rPr sz="1800" spc="-10" dirty="0">
                          <a:solidFill>
                            <a:srgbClr val="FF0000"/>
                          </a:solidFill>
                          <a:latin typeface="Calibri"/>
                          <a:cs typeface="Calibri"/>
                        </a:rPr>
                        <a:t>McCarthy</a:t>
                      </a:r>
                      <a:r>
                        <a:rPr sz="1800" spc="40" dirty="0">
                          <a:solidFill>
                            <a:srgbClr val="FF0000"/>
                          </a:solidFill>
                          <a:latin typeface="Calibri"/>
                          <a:cs typeface="Calibri"/>
                        </a:rPr>
                        <a:t> </a:t>
                      </a:r>
                      <a:r>
                        <a:rPr sz="1800" spc="-10" dirty="0">
                          <a:solidFill>
                            <a:srgbClr val="FF0000"/>
                          </a:solidFill>
                          <a:latin typeface="Calibri"/>
                          <a:cs typeface="Calibri"/>
                        </a:rPr>
                        <a:t>coined</a:t>
                      </a:r>
                      <a:r>
                        <a:rPr sz="1800" spc="35" dirty="0">
                          <a:solidFill>
                            <a:srgbClr val="FF0000"/>
                          </a:solidFill>
                          <a:latin typeface="Calibri"/>
                          <a:cs typeface="Calibri"/>
                        </a:rPr>
                        <a:t> </a:t>
                      </a:r>
                      <a:r>
                        <a:rPr sz="1800" spc="-5" dirty="0">
                          <a:solidFill>
                            <a:srgbClr val="FF0000"/>
                          </a:solidFill>
                          <a:latin typeface="Calibri"/>
                          <a:cs typeface="Calibri"/>
                        </a:rPr>
                        <a:t>the</a:t>
                      </a:r>
                      <a:r>
                        <a:rPr sz="1800" spc="35" dirty="0">
                          <a:solidFill>
                            <a:srgbClr val="FF0000"/>
                          </a:solidFill>
                          <a:latin typeface="Calibri"/>
                          <a:cs typeface="Calibri"/>
                        </a:rPr>
                        <a:t> </a:t>
                      </a:r>
                      <a:r>
                        <a:rPr sz="1800" spc="-10" dirty="0">
                          <a:solidFill>
                            <a:srgbClr val="FF0000"/>
                          </a:solidFill>
                          <a:latin typeface="Calibri"/>
                          <a:cs typeface="Calibri"/>
                        </a:rPr>
                        <a:t>term</a:t>
                      </a:r>
                      <a:r>
                        <a:rPr sz="1800" spc="45" dirty="0">
                          <a:solidFill>
                            <a:srgbClr val="FF0000"/>
                          </a:solidFill>
                          <a:latin typeface="Calibri"/>
                          <a:cs typeface="Calibri"/>
                        </a:rPr>
                        <a:t> </a:t>
                      </a:r>
                      <a:r>
                        <a:rPr sz="1800" i="1" spc="-5" dirty="0">
                          <a:solidFill>
                            <a:srgbClr val="FF0000"/>
                          </a:solidFill>
                          <a:latin typeface="Calibri"/>
                          <a:cs typeface="Calibri"/>
                        </a:rPr>
                        <a:t>Artificial</a:t>
                      </a:r>
                      <a:r>
                        <a:rPr sz="1800" i="1" spc="35" dirty="0">
                          <a:solidFill>
                            <a:srgbClr val="FF0000"/>
                          </a:solidFill>
                          <a:latin typeface="Calibri"/>
                          <a:cs typeface="Calibri"/>
                        </a:rPr>
                        <a:t> </a:t>
                      </a:r>
                      <a:r>
                        <a:rPr sz="1800" i="1" spc="-5" dirty="0">
                          <a:solidFill>
                            <a:srgbClr val="FF0000"/>
                          </a:solidFill>
                          <a:latin typeface="Calibri"/>
                          <a:cs typeface="Calibri"/>
                        </a:rPr>
                        <a:t>Intelligence</a:t>
                      </a:r>
                      <a:r>
                        <a:rPr sz="1800" spc="-5" dirty="0">
                          <a:solidFill>
                            <a:srgbClr val="FF0000"/>
                          </a:solidFill>
                          <a:latin typeface="Calibri"/>
                          <a:cs typeface="Calibri"/>
                        </a:rPr>
                        <a:t>.</a:t>
                      </a:r>
                      <a:r>
                        <a:rPr sz="1800" spc="40" dirty="0">
                          <a:solidFill>
                            <a:srgbClr val="FF0000"/>
                          </a:solidFill>
                          <a:latin typeface="Calibri"/>
                          <a:cs typeface="Calibri"/>
                        </a:rPr>
                        <a:t> </a:t>
                      </a:r>
                      <a:r>
                        <a:rPr sz="1800" spc="-10" dirty="0">
                          <a:solidFill>
                            <a:srgbClr val="FF0000"/>
                          </a:solidFill>
                          <a:latin typeface="Calibri"/>
                          <a:cs typeface="Calibri"/>
                        </a:rPr>
                        <a:t>Demonstration</a:t>
                      </a:r>
                      <a:r>
                        <a:rPr sz="1800" spc="30" dirty="0">
                          <a:solidFill>
                            <a:srgbClr val="FF0000"/>
                          </a:solidFill>
                          <a:latin typeface="Calibri"/>
                          <a:cs typeface="Calibri"/>
                        </a:rPr>
                        <a:t> </a:t>
                      </a:r>
                      <a:r>
                        <a:rPr sz="1800" spc="-5" dirty="0">
                          <a:solidFill>
                            <a:srgbClr val="FF0000"/>
                          </a:solidFill>
                          <a:latin typeface="Calibri"/>
                          <a:cs typeface="Calibri"/>
                        </a:rPr>
                        <a:t>of</a:t>
                      </a:r>
                      <a:r>
                        <a:rPr sz="1800" spc="40" dirty="0">
                          <a:solidFill>
                            <a:srgbClr val="FF0000"/>
                          </a:solidFill>
                          <a:latin typeface="Calibri"/>
                          <a:cs typeface="Calibri"/>
                        </a:rPr>
                        <a:t> </a:t>
                      </a:r>
                      <a:r>
                        <a:rPr sz="1800" spc="-5" dirty="0">
                          <a:solidFill>
                            <a:srgbClr val="FF0000"/>
                          </a:solidFill>
                          <a:latin typeface="Calibri"/>
                          <a:cs typeface="Calibri"/>
                        </a:rPr>
                        <a:t>the</a:t>
                      </a:r>
                      <a:r>
                        <a:rPr sz="1800" spc="35" dirty="0">
                          <a:solidFill>
                            <a:srgbClr val="FF0000"/>
                          </a:solidFill>
                          <a:latin typeface="Calibri"/>
                          <a:cs typeface="Calibri"/>
                        </a:rPr>
                        <a:t> </a:t>
                      </a:r>
                      <a:r>
                        <a:rPr sz="1800" spc="-15" dirty="0">
                          <a:solidFill>
                            <a:srgbClr val="FF0000"/>
                          </a:solidFill>
                          <a:latin typeface="Calibri"/>
                          <a:cs typeface="Calibri"/>
                        </a:rPr>
                        <a:t>first </a:t>
                      </a:r>
                      <a:r>
                        <a:rPr sz="1800" spc="-395" dirty="0">
                          <a:solidFill>
                            <a:srgbClr val="FF0000"/>
                          </a:solidFill>
                          <a:latin typeface="Calibri"/>
                          <a:cs typeface="Calibri"/>
                        </a:rPr>
                        <a:t> </a:t>
                      </a:r>
                      <a:r>
                        <a:rPr sz="1800" spc="-5" dirty="0">
                          <a:solidFill>
                            <a:srgbClr val="FF0000"/>
                          </a:solidFill>
                          <a:latin typeface="Calibri"/>
                          <a:cs typeface="Calibri"/>
                        </a:rPr>
                        <a:t>running</a:t>
                      </a:r>
                      <a:r>
                        <a:rPr sz="1800" spc="-10" dirty="0">
                          <a:solidFill>
                            <a:srgbClr val="FF0000"/>
                          </a:solidFill>
                          <a:latin typeface="Calibri"/>
                          <a:cs typeface="Calibri"/>
                        </a:rPr>
                        <a:t> </a:t>
                      </a:r>
                      <a:r>
                        <a:rPr sz="1800" spc="-5" dirty="0">
                          <a:solidFill>
                            <a:srgbClr val="FF0000"/>
                          </a:solidFill>
                          <a:latin typeface="Calibri"/>
                          <a:cs typeface="Calibri"/>
                        </a:rPr>
                        <a:t>AI </a:t>
                      </a:r>
                      <a:r>
                        <a:rPr sz="1800" spc="-15" dirty="0">
                          <a:solidFill>
                            <a:srgbClr val="FF0000"/>
                          </a:solidFill>
                          <a:latin typeface="Calibri"/>
                          <a:cs typeface="Calibri"/>
                        </a:rPr>
                        <a:t>program</a:t>
                      </a:r>
                      <a:r>
                        <a:rPr sz="1800" spc="-5" dirty="0">
                          <a:solidFill>
                            <a:srgbClr val="FF0000"/>
                          </a:solidFill>
                          <a:latin typeface="Calibri"/>
                          <a:cs typeface="Calibri"/>
                        </a:rPr>
                        <a:t> </a:t>
                      </a:r>
                      <a:r>
                        <a:rPr sz="1800" spc="-10" dirty="0">
                          <a:solidFill>
                            <a:srgbClr val="FF0000"/>
                          </a:solidFill>
                          <a:latin typeface="Calibri"/>
                          <a:cs typeface="Calibri"/>
                        </a:rPr>
                        <a:t>at</a:t>
                      </a:r>
                      <a:r>
                        <a:rPr sz="1800" spc="-5" dirty="0">
                          <a:solidFill>
                            <a:srgbClr val="FF0000"/>
                          </a:solidFill>
                          <a:latin typeface="Calibri"/>
                          <a:cs typeface="Calibri"/>
                        </a:rPr>
                        <a:t> Carnegie Mellon </a:t>
                      </a:r>
                      <a:r>
                        <a:rPr sz="1800" spc="-20" dirty="0">
                          <a:solidFill>
                            <a:srgbClr val="FF0000"/>
                          </a:solidFill>
                          <a:latin typeface="Calibri"/>
                          <a:cs typeface="Calibri"/>
                        </a:rPr>
                        <a:t>University.</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477724">
                <a:tc>
                  <a:txBody>
                    <a:bodyPr/>
                    <a:lstStyle/>
                    <a:p>
                      <a:pPr algn="ctr">
                        <a:lnSpc>
                          <a:spcPct val="100000"/>
                        </a:lnSpc>
                        <a:spcBef>
                          <a:spcPts val="225"/>
                        </a:spcBef>
                      </a:pPr>
                      <a:r>
                        <a:rPr sz="1800" spc="-5" dirty="0">
                          <a:latin typeface="Calibri"/>
                          <a:cs typeface="Calibri"/>
                        </a:rPr>
                        <a:t>1958</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a:lnSpc>
                          <a:spcPct val="100000"/>
                        </a:lnSpc>
                        <a:spcBef>
                          <a:spcPts val="225"/>
                        </a:spcBef>
                      </a:pPr>
                      <a:r>
                        <a:rPr sz="1800" spc="-5" dirty="0">
                          <a:latin typeface="Calibri"/>
                          <a:cs typeface="Calibri"/>
                        </a:rPr>
                        <a:t>John </a:t>
                      </a:r>
                      <a:r>
                        <a:rPr sz="1800" spc="-10" dirty="0">
                          <a:latin typeface="Calibri"/>
                          <a:cs typeface="Calibri"/>
                        </a:rPr>
                        <a:t>McCarthy</a:t>
                      </a:r>
                      <a:r>
                        <a:rPr sz="1800" spc="-5" dirty="0">
                          <a:latin typeface="Calibri"/>
                          <a:cs typeface="Calibri"/>
                        </a:rPr>
                        <a:t> </a:t>
                      </a:r>
                      <a:r>
                        <a:rPr sz="1800" spc="-15" dirty="0">
                          <a:latin typeface="Calibri"/>
                          <a:cs typeface="Calibri"/>
                        </a:rPr>
                        <a:t>invents</a:t>
                      </a:r>
                      <a:r>
                        <a:rPr sz="1800" spc="-5" dirty="0">
                          <a:latin typeface="Calibri"/>
                          <a:cs typeface="Calibri"/>
                        </a:rPr>
                        <a:t> LISP </a:t>
                      </a:r>
                      <a:r>
                        <a:rPr sz="1800" spc="-10" dirty="0">
                          <a:latin typeface="Calibri"/>
                          <a:cs typeface="Calibri"/>
                        </a:rPr>
                        <a:t>programming</a:t>
                      </a:r>
                      <a:r>
                        <a:rPr sz="1800" spc="-5" dirty="0">
                          <a:latin typeface="Calibri"/>
                          <a:cs typeface="Calibri"/>
                        </a:rPr>
                        <a:t> </a:t>
                      </a:r>
                      <a:r>
                        <a:rPr sz="1800" spc="-10" dirty="0">
                          <a:latin typeface="Calibri"/>
                          <a:cs typeface="Calibri"/>
                        </a:rPr>
                        <a:t>language</a:t>
                      </a:r>
                      <a:r>
                        <a:rPr sz="1800" spc="-5" dirty="0">
                          <a:latin typeface="Calibri"/>
                          <a:cs typeface="Calibri"/>
                        </a:rPr>
                        <a:t> </a:t>
                      </a:r>
                      <a:r>
                        <a:rPr sz="1800" spc="-15" dirty="0">
                          <a:latin typeface="Calibri"/>
                          <a:cs typeface="Calibri"/>
                        </a:rPr>
                        <a:t>for</a:t>
                      </a:r>
                      <a:r>
                        <a:rPr sz="1800" spc="-5" dirty="0">
                          <a:latin typeface="Calibri"/>
                          <a:cs typeface="Calibri"/>
                        </a:rPr>
                        <a:t> AI.</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743049">
                <a:tc>
                  <a:txBody>
                    <a:bodyPr/>
                    <a:lstStyle/>
                    <a:p>
                      <a:pPr algn="ctr">
                        <a:lnSpc>
                          <a:spcPct val="100000"/>
                        </a:lnSpc>
                        <a:spcBef>
                          <a:spcPts val="225"/>
                        </a:spcBef>
                      </a:pPr>
                      <a:r>
                        <a:rPr sz="1800" spc="-5" dirty="0">
                          <a:latin typeface="Calibri"/>
                          <a:cs typeface="Calibri"/>
                        </a:rPr>
                        <a:t>1964</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18745">
                        <a:lnSpc>
                          <a:spcPct val="100000"/>
                        </a:lnSpc>
                        <a:spcBef>
                          <a:spcPts val="225"/>
                        </a:spcBef>
                      </a:pPr>
                      <a:r>
                        <a:rPr sz="1800" spc="-10" dirty="0">
                          <a:solidFill>
                            <a:srgbClr val="FF0000"/>
                          </a:solidFill>
                          <a:latin typeface="Calibri"/>
                          <a:cs typeface="Calibri"/>
                        </a:rPr>
                        <a:t>Danny</a:t>
                      </a:r>
                      <a:r>
                        <a:rPr sz="1800" spc="330" dirty="0">
                          <a:solidFill>
                            <a:srgbClr val="FF0000"/>
                          </a:solidFill>
                          <a:latin typeface="Calibri"/>
                          <a:cs typeface="Calibri"/>
                        </a:rPr>
                        <a:t> </a:t>
                      </a:r>
                      <a:r>
                        <a:rPr sz="1800" spc="-10" dirty="0">
                          <a:solidFill>
                            <a:srgbClr val="FF0000"/>
                          </a:solidFill>
                          <a:latin typeface="Calibri"/>
                          <a:cs typeface="Calibri"/>
                        </a:rPr>
                        <a:t>Bobrow's</a:t>
                      </a:r>
                      <a:r>
                        <a:rPr sz="1800" spc="330" dirty="0">
                          <a:solidFill>
                            <a:srgbClr val="FF0000"/>
                          </a:solidFill>
                          <a:latin typeface="Calibri"/>
                          <a:cs typeface="Calibri"/>
                        </a:rPr>
                        <a:t> </a:t>
                      </a:r>
                      <a:r>
                        <a:rPr sz="1800" spc="-10" dirty="0">
                          <a:solidFill>
                            <a:srgbClr val="FF0000"/>
                          </a:solidFill>
                          <a:latin typeface="Calibri"/>
                          <a:cs typeface="Calibri"/>
                        </a:rPr>
                        <a:t>dissertation</a:t>
                      </a:r>
                      <a:r>
                        <a:rPr sz="1800" spc="330" dirty="0">
                          <a:solidFill>
                            <a:srgbClr val="FF0000"/>
                          </a:solidFill>
                          <a:latin typeface="Calibri"/>
                          <a:cs typeface="Calibri"/>
                        </a:rPr>
                        <a:t> </a:t>
                      </a:r>
                      <a:r>
                        <a:rPr sz="1800" spc="-10" dirty="0">
                          <a:solidFill>
                            <a:srgbClr val="FF0000"/>
                          </a:solidFill>
                          <a:latin typeface="Calibri"/>
                          <a:cs typeface="Calibri"/>
                        </a:rPr>
                        <a:t>at</a:t>
                      </a:r>
                      <a:r>
                        <a:rPr sz="1800" spc="325" dirty="0">
                          <a:solidFill>
                            <a:srgbClr val="FF0000"/>
                          </a:solidFill>
                          <a:latin typeface="Calibri"/>
                          <a:cs typeface="Calibri"/>
                        </a:rPr>
                        <a:t> </a:t>
                      </a:r>
                      <a:r>
                        <a:rPr sz="1800" spc="-5" dirty="0">
                          <a:solidFill>
                            <a:srgbClr val="FF0000"/>
                          </a:solidFill>
                          <a:latin typeface="Calibri"/>
                          <a:cs typeface="Calibri"/>
                        </a:rPr>
                        <a:t>MIT</a:t>
                      </a:r>
                      <a:r>
                        <a:rPr sz="1800" spc="330" dirty="0">
                          <a:solidFill>
                            <a:srgbClr val="FF0000"/>
                          </a:solidFill>
                          <a:latin typeface="Calibri"/>
                          <a:cs typeface="Calibri"/>
                        </a:rPr>
                        <a:t> </a:t>
                      </a:r>
                      <a:r>
                        <a:rPr sz="1800" spc="-10" dirty="0">
                          <a:solidFill>
                            <a:srgbClr val="FF0000"/>
                          </a:solidFill>
                          <a:latin typeface="Calibri"/>
                          <a:cs typeface="Calibri"/>
                        </a:rPr>
                        <a:t>showed</a:t>
                      </a:r>
                      <a:r>
                        <a:rPr sz="1800" spc="335" dirty="0">
                          <a:solidFill>
                            <a:srgbClr val="FF0000"/>
                          </a:solidFill>
                          <a:latin typeface="Calibri"/>
                          <a:cs typeface="Calibri"/>
                        </a:rPr>
                        <a:t> </a:t>
                      </a:r>
                      <a:r>
                        <a:rPr sz="1800" spc="-10" dirty="0">
                          <a:solidFill>
                            <a:srgbClr val="FF0000"/>
                          </a:solidFill>
                          <a:latin typeface="Calibri"/>
                          <a:cs typeface="Calibri"/>
                        </a:rPr>
                        <a:t>that</a:t>
                      </a:r>
                      <a:r>
                        <a:rPr sz="1800" spc="325" dirty="0">
                          <a:solidFill>
                            <a:srgbClr val="FF0000"/>
                          </a:solidFill>
                          <a:latin typeface="Calibri"/>
                          <a:cs typeface="Calibri"/>
                        </a:rPr>
                        <a:t> </a:t>
                      </a:r>
                      <a:r>
                        <a:rPr sz="1800" spc="-15" dirty="0">
                          <a:solidFill>
                            <a:srgbClr val="FF0000"/>
                          </a:solidFill>
                          <a:latin typeface="Calibri"/>
                          <a:cs typeface="Calibri"/>
                        </a:rPr>
                        <a:t>computers</a:t>
                      </a:r>
                      <a:r>
                        <a:rPr sz="1800" spc="335" dirty="0">
                          <a:solidFill>
                            <a:srgbClr val="FF0000"/>
                          </a:solidFill>
                          <a:latin typeface="Calibri"/>
                          <a:cs typeface="Calibri"/>
                        </a:rPr>
                        <a:t> </a:t>
                      </a:r>
                      <a:r>
                        <a:rPr sz="1800" spc="-10" dirty="0">
                          <a:solidFill>
                            <a:srgbClr val="FF0000"/>
                          </a:solidFill>
                          <a:latin typeface="Calibri"/>
                          <a:cs typeface="Calibri"/>
                        </a:rPr>
                        <a:t>can</a:t>
                      </a:r>
                      <a:r>
                        <a:rPr sz="1800" spc="335" dirty="0">
                          <a:solidFill>
                            <a:srgbClr val="FF0000"/>
                          </a:solidFill>
                          <a:latin typeface="Calibri"/>
                          <a:cs typeface="Calibri"/>
                        </a:rPr>
                        <a:t> </a:t>
                      </a:r>
                      <a:r>
                        <a:rPr sz="1800" spc="-10" dirty="0">
                          <a:solidFill>
                            <a:srgbClr val="FF0000"/>
                          </a:solidFill>
                          <a:latin typeface="Calibri"/>
                          <a:cs typeface="Calibri"/>
                        </a:rPr>
                        <a:t>understand </a:t>
                      </a:r>
                      <a:r>
                        <a:rPr sz="1800" spc="-390" dirty="0">
                          <a:solidFill>
                            <a:srgbClr val="FF0000"/>
                          </a:solidFill>
                          <a:latin typeface="Calibri"/>
                          <a:cs typeface="Calibri"/>
                        </a:rPr>
                        <a:t> </a:t>
                      </a:r>
                      <a:r>
                        <a:rPr sz="1800" spc="-15" dirty="0">
                          <a:solidFill>
                            <a:srgbClr val="FF0000"/>
                          </a:solidFill>
                          <a:latin typeface="Calibri"/>
                          <a:cs typeface="Calibri"/>
                        </a:rPr>
                        <a:t>natural</a:t>
                      </a:r>
                      <a:r>
                        <a:rPr sz="1800" spc="-5" dirty="0">
                          <a:solidFill>
                            <a:srgbClr val="FF0000"/>
                          </a:solidFill>
                          <a:latin typeface="Calibri"/>
                          <a:cs typeface="Calibri"/>
                        </a:rPr>
                        <a:t> </a:t>
                      </a:r>
                      <a:r>
                        <a:rPr sz="1800" spc="-10" dirty="0">
                          <a:solidFill>
                            <a:srgbClr val="FF0000"/>
                          </a:solidFill>
                          <a:latin typeface="Calibri"/>
                          <a:cs typeface="Calibri"/>
                        </a:rPr>
                        <a:t>language</a:t>
                      </a:r>
                      <a:r>
                        <a:rPr sz="1800" spc="-5" dirty="0">
                          <a:solidFill>
                            <a:srgbClr val="FF0000"/>
                          </a:solidFill>
                          <a:latin typeface="Calibri"/>
                          <a:cs typeface="Calibri"/>
                        </a:rPr>
                        <a:t> </a:t>
                      </a:r>
                      <a:r>
                        <a:rPr sz="1800" spc="-10" dirty="0">
                          <a:solidFill>
                            <a:srgbClr val="FF0000"/>
                          </a:solidFill>
                          <a:latin typeface="Calibri"/>
                          <a:cs typeface="Calibri"/>
                        </a:rPr>
                        <a:t>well</a:t>
                      </a:r>
                      <a:r>
                        <a:rPr sz="1800" spc="-5" dirty="0">
                          <a:solidFill>
                            <a:srgbClr val="FF0000"/>
                          </a:solidFill>
                          <a:latin typeface="Calibri"/>
                          <a:cs typeface="Calibri"/>
                        </a:rPr>
                        <a:t> enough </a:t>
                      </a:r>
                      <a:r>
                        <a:rPr sz="1800" spc="-10" dirty="0">
                          <a:solidFill>
                            <a:srgbClr val="FF0000"/>
                          </a:solidFill>
                          <a:latin typeface="Calibri"/>
                          <a:cs typeface="Calibri"/>
                        </a:rPr>
                        <a:t>to</a:t>
                      </a:r>
                      <a:r>
                        <a:rPr sz="1800" dirty="0">
                          <a:solidFill>
                            <a:srgbClr val="FF0000"/>
                          </a:solidFill>
                          <a:latin typeface="Calibri"/>
                          <a:cs typeface="Calibri"/>
                        </a:rPr>
                        <a:t> </a:t>
                      </a:r>
                      <a:r>
                        <a:rPr sz="1800" spc="-10" dirty="0">
                          <a:solidFill>
                            <a:srgbClr val="FF0000"/>
                          </a:solidFill>
                          <a:latin typeface="Calibri"/>
                          <a:cs typeface="Calibri"/>
                        </a:rPr>
                        <a:t>solve</a:t>
                      </a:r>
                      <a:r>
                        <a:rPr sz="1800" spc="-5" dirty="0">
                          <a:solidFill>
                            <a:srgbClr val="FF0000"/>
                          </a:solidFill>
                          <a:latin typeface="Calibri"/>
                          <a:cs typeface="Calibri"/>
                        </a:rPr>
                        <a:t> </a:t>
                      </a:r>
                      <a:r>
                        <a:rPr sz="1800" spc="-10" dirty="0">
                          <a:solidFill>
                            <a:srgbClr val="FF0000"/>
                          </a:solidFill>
                          <a:latin typeface="Calibri"/>
                          <a:cs typeface="Calibri"/>
                        </a:rPr>
                        <a:t>algebra</a:t>
                      </a:r>
                      <a:r>
                        <a:rPr sz="1800" spc="-5" dirty="0">
                          <a:solidFill>
                            <a:srgbClr val="FF0000"/>
                          </a:solidFill>
                          <a:latin typeface="Calibri"/>
                          <a:cs typeface="Calibri"/>
                        </a:rPr>
                        <a:t> </a:t>
                      </a:r>
                      <a:r>
                        <a:rPr sz="1800" spc="-15" dirty="0">
                          <a:solidFill>
                            <a:srgbClr val="FF0000"/>
                          </a:solidFill>
                          <a:latin typeface="Calibri"/>
                          <a:cs typeface="Calibri"/>
                        </a:rPr>
                        <a:t>word</a:t>
                      </a:r>
                      <a:r>
                        <a:rPr sz="1800" spc="-5" dirty="0">
                          <a:solidFill>
                            <a:srgbClr val="FF0000"/>
                          </a:solidFill>
                          <a:latin typeface="Calibri"/>
                          <a:cs typeface="Calibri"/>
                        </a:rPr>
                        <a:t> </a:t>
                      </a:r>
                      <a:r>
                        <a:rPr sz="1800" spc="-10" dirty="0">
                          <a:solidFill>
                            <a:srgbClr val="FF0000"/>
                          </a:solidFill>
                          <a:latin typeface="Calibri"/>
                          <a:cs typeface="Calibri"/>
                        </a:rPr>
                        <a:t>problems</a:t>
                      </a:r>
                      <a:r>
                        <a:rPr sz="1800" dirty="0">
                          <a:solidFill>
                            <a:srgbClr val="FF0000"/>
                          </a:solidFill>
                          <a:latin typeface="Calibri"/>
                          <a:cs typeface="Calibri"/>
                        </a:rPr>
                        <a:t> </a:t>
                      </a:r>
                      <a:r>
                        <a:rPr sz="1800" spc="-20" dirty="0">
                          <a:solidFill>
                            <a:srgbClr val="FF0000"/>
                          </a:solidFill>
                          <a:latin typeface="Calibri"/>
                          <a:cs typeface="Calibri"/>
                        </a:rPr>
                        <a:t>correctly.</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396199">
                <a:tc>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DDDDDD"/>
                      </a:solidFill>
                      <a:prstDash val="solid"/>
                    </a:lnT>
                    <a:lnB w="9525">
                      <a:solidFill>
                        <a:srgbClr val="000000"/>
                      </a:solidFill>
                      <a:prstDash val="solid"/>
                    </a:lnB>
                  </a:tcPr>
                </a:tc>
                <a:tc>
                  <a:txBody>
                    <a:bodyPr/>
                    <a:lstStyle/>
                    <a:p>
                      <a:pPr>
                        <a:lnSpc>
                          <a:spcPct val="100000"/>
                        </a:lnSpc>
                      </a:pPr>
                      <a:endParaRPr sz="18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DDDDDD"/>
                      </a:solidFill>
                      <a:prstDash val="solid"/>
                    </a:lnT>
                    <a:lnB w="9525">
                      <a:solidFill>
                        <a:srgbClr val="000000"/>
                      </a:solidFill>
                      <a:prstDash val="solid"/>
                    </a:lnB>
                  </a:tcPr>
                </a:tc>
              </a:tr>
            </a:tbl>
          </a:graphicData>
        </a:graphic>
      </p:graphicFrame>
    </p:spTree>
    <p:extLst>
      <p:ext uri="{BB962C8B-B14F-4D97-AF65-F5344CB8AC3E}">
        <p14:creationId xmlns:p14="http://schemas.microsoft.com/office/powerpoint/2010/main" val="3453426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0775" y="475487"/>
            <a:ext cx="2820035" cy="695960"/>
          </a:xfrm>
          <a:prstGeom prst="rect">
            <a:avLst/>
          </a:prstGeom>
        </p:spPr>
        <p:txBody>
          <a:bodyPr vert="horz" wrap="square" lIns="0" tIns="12700" rIns="0" bIns="0" rtlCol="0">
            <a:spAutoFit/>
          </a:bodyPr>
          <a:lstStyle/>
          <a:p>
            <a:pPr marL="12700">
              <a:lnSpc>
                <a:spcPct val="100000"/>
              </a:lnSpc>
              <a:spcBef>
                <a:spcPts val="100"/>
              </a:spcBef>
            </a:pPr>
            <a:r>
              <a:rPr spc="-15" dirty="0"/>
              <a:t>History</a:t>
            </a:r>
            <a:r>
              <a:rPr spc="-50" dirty="0"/>
              <a:t> </a:t>
            </a:r>
            <a:r>
              <a:rPr spc="-5" dirty="0"/>
              <a:t>of</a:t>
            </a:r>
            <a:r>
              <a:rPr spc="-45" dirty="0"/>
              <a:t> </a:t>
            </a:r>
            <a:r>
              <a:rPr spc="-5" dirty="0"/>
              <a:t>AI</a:t>
            </a:r>
          </a:p>
        </p:txBody>
      </p:sp>
      <p:graphicFrame>
        <p:nvGraphicFramePr>
          <p:cNvPr id="3" name="object 3"/>
          <p:cNvGraphicFramePr>
            <a:graphicFrameLocks noGrp="1"/>
          </p:cNvGraphicFramePr>
          <p:nvPr/>
        </p:nvGraphicFramePr>
        <p:xfrm>
          <a:off x="606517" y="1770037"/>
          <a:ext cx="8282305" cy="4545944"/>
        </p:xfrm>
        <a:graphic>
          <a:graphicData uri="http://schemas.openxmlformats.org/drawingml/2006/table">
            <a:tbl>
              <a:tblPr firstRow="1" bandRow="1">
                <a:tableStyleId>{2D5ABB26-0587-4C30-8999-92F81FD0307C}</a:tableStyleId>
              </a:tblPr>
              <a:tblGrid>
                <a:gridCol w="1152525"/>
                <a:gridCol w="7129780"/>
              </a:tblGrid>
              <a:tr h="727199">
                <a:tc>
                  <a:txBody>
                    <a:bodyPr/>
                    <a:lstStyle/>
                    <a:p>
                      <a:pPr algn="ctr">
                        <a:lnSpc>
                          <a:spcPct val="100000"/>
                        </a:lnSpc>
                        <a:spcBef>
                          <a:spcPts val="225"/>
                        </a:spcBef>
                      </a:pPr>
                      <a:r>
                        <a:rPr sz="1800" spc="-5" dirty="0">
                          <a:latin typeface="Calibri"/>
                          <a:cs typeface="Calibri"/>
                        </a:rPr>
                        <a:t>1965</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09855">
                        <a:lnSpc>
                          <a:spcPct val="100000"/>
                        </a:lnSpc>
                        <a:spcBef>
                          <a:spcPts val="225"/>
                        </a:spcBef>
                      </a:pPr>
                      <a:r>
                        <a:rPr sz="1800" spc="-5" dirty="0">
                          <a:solidFill>
                            <a:srgbClr val="FF0000"/>
                          </a:solidFill>
                          <a:latin typeface="Calibri"/>
                          <a:cs typeface="Calibri"/>
                        </a:rPr>
                        <a:t>Joseph</a:t>
                      </a:r>
                      <a:r>
                        <a:rPr sz="1800" spc="25" dirty="0">
                          <a:solidFill>
                            <a:srgbClr val="FF0000"/>
                          </a:solidFill>
                          <a:latin typeface="Calibri"/>
                          <a:cs typeface="Calibri"/>
                        </a:rPr>
                        <a:t> </a:t>
                      </a:r>
                      <a:r>
                        <a:rPr sz="1800" spc="-15" dirty="0">
                          <a:solidFill>
                            <a:srgbClr val="FF0000"/>
                          </a:solidFill>
                          <a:latin typeface="Calibri"/>
                          <a:cs typeface="Calibri"/>
                        </a:rPr>
                        <a:t>Weizenbaum</a:t>
                      </a:r>
                      <a:r>
                        <a:rPr sz="1800" spc="30" dirty="0">
                          <a:solidFill>
                            <a:srgbClr val="FF0000"/>
                          </a:solidFill>
                          <a:latin typeface="Calibri"/>
                          <a:cs typeface="Calibri"/>
                        </a:rPr>
                        <a:t> </a:t>
                      </a:r>
                      <a:r>
                        <a:rPr sz="1800" spc="-10" dirty="0">
                          <a:solidFill>
                            <a:srgbClr val="FF0000"/>
                          </a:solidFill>
                          <a:latin typeface="Calibri"/>
                          <a:cs typeface="Calibri"/>
                        </a:rPr>
                        <a:t>at</a:t>
                      </a:r>
                      <a:r>
                        <a:rPr sz="1800" spc="25" dirty="0">
                          <a:solidFill>
                            <a:srgbClr val="FF0000"/>
                          </a:solidFill>
                          <a:latin typeface="Calibri"/>
                          <a:cs typeface="Calibri"/>
                        </a:rPr>
                        <a:t> </a:t>
                      </a:r>
                      <a:r>
                        <a:rPr sz="1800" spc="-5" dirty="0">
                          <a:solidFill>
                            <a:srgbClr val="FF0000"/>
                          </a:solidFill>
                          <a:latin typeface="Calibri"/>
                          <a:cs typeface="Calibri"/>
                        </a:rPr>
                        <a:t>MIT</a:t>
                      </a:r>
                      <a:r>
                        <a:rPr sz="1800" spc="25" dirty="0">
                          <a:solidFill>
                            <a:srgbClr val="FF0000"/>
                          </a:solidFill>
                          <a:latin typeface="Calibri"/>
                          <a:cs typeface="Calibri"/>
                        </a:rPr>
                        <a:t> </a:t>
                      </a:r>
                      <a:r>
                        <a:rPr sz="1800" spc="-5" dirty="0">
                          <a:solidFill>
                            <a:srgbClr val="FF0000"/>
                          </a:solidFill>
                          <a:latin typeface="Calibri"/>
                          <a:cs typeface="Calibri"/>
                        </a:rPr>
                        <a:t>built</a:t>
                      </a:r>
                      <a:r>
                        <a:rPr sz="1800" spc="50" dirty="0">
                          <a:solidFill>
                            <a:srgbClr val="FF0000"/>
                          </a:solidFill>
                          <a:latin typeface="Calibri"/>
                          <a:cs typeface="Calibri"/>
                        </a:rPr>
                        <a:t> </a:t>
                      </a:r>
                      <a:r>
                        <a:rPr sz="1800" i="1" spc="-5" dirty="0">
                          <a:solidFill>
                            <a:srgbClr val="FF0000"/>
                          </a:solidFill>
                          <a:latin typeface="Calibri"/>
                          <a:cs typeface="Calibri"/>
                        </a:rPr>
                        <a:t>ELIZA</a:t>
                      </a:r>
                      <a:r>
                        <a:rPr sz="1800" spc="-5" dirty="0">
                          <a:solidFill>
                            <a:srgbClr val="FF0000"/>
                          </a:solidFill>
                          <a:latin typeface="Calibri"/>
                          <a:cs typeface="Calibri"/>
                        </a:rPr>
                        <a:t>,</a:t>
                      </a:r>
                      <a:r>
                        <a:rPr sz="1800" spc="30" dirty="0">
                          <a:solidFill>
                            <a:srgbClr val="FF0000"/>
                          </a:solidFill>
                          <a:latin typeface="Calibri"/>
                          <a:cs typeface="Calibri"/>
                        </a:rPr>
                        <a:t> </a:t>
                      </a:r>
                      <a:r>
                        <a:rPr sz="1800" dirty="0">
                          <a:solidFill>
                            <a:srgbClr val="FF0000"/>
                          </a:solidFill>
                          <a:latin typeface="Calibri"/>
                          <a:cs typeface="Calibri"/>
                        </a:rPr>
                        <a:t>an</a:t>
                      </a:r>
                      <a:r>
                        <a:rPr sz="1800" spc="30" dirty="0">
                          <a:solidFill>
                            <a:srgbClr val="FF0000"/>
                          </a:solidFill>
                          <a:latin typeface="Calibri"/>
                          <a:cs typeface="Calibri"/>
                        </a:rPr>
                        <a:t> </a:t>
                      </a:r>
                      <a:r>
                        <a:rPr sz="1800" spc="-10" dirty="0">
                          <a:solidFill>
                            <a:srgbClr val="FF0000"/>
                          </a:solidFill>
                          <a:latin typeface="Calibri"/>
                          <a:cs typeface="Calibri"/>
                        </a:rPr>
                        <a:t>interactive</a:t>
                      </a:r>
                      <a:r>
                        <a:rPr sz="1800" spc="30" dirty="0">
                          <a:solidFill>
                            <a:srgbClr val="FF0000"/>
                          </a:solidFill>
                          <a:latin typeface="Calibri"/>
                          <a:cs typeface="Calibri"/>
                        </a:rPr>
                        <a:t> </a:t>
                      </a:r>
                      <a:r>
                        <a:rPr sz="1800" spc="-10" dirty="0">
                          <a:solidFill>
                            <a:srgbClr val="FF0000"/>
                          </a:solidFill>
                          <a:latin typeface="Calibri"/>
                          <a:cs typeface="Calibri"/>
                        </a:rPr>
                        <a:t>problem</a:t>
                      </a:r>
                      <a:r>
                        <a:rPr sz="1800" spc="35" dirty="0">
                          <a:solidFill>
                            <a:srgbClr val="FF0000"/>
                          </a:solidFill>
                          <a:latin typeface="Calibri"/>
                          <a:cs typeface="Calibri"/>
                        </a:rPr>
                        <a:t> </a:t>
                      </a:r>
                      <a:r>
                        <a:rPr sz="1800" spc="-10" dirty="0">
                          <a:solidFill>
                            <a:srgbClr val="FF0000"/>
                          </a:solidFill>
                          <a:latin typeface="Calibri"/>
                          <a:cs typeface="Calibri"/>
                        </a:rPr>
                        <a:t>that</a:t>
                      </a:r>
                      <a:r>
                        <a:rPr sz="1800" spc="25" dirty="0">
                          <a:solidFill>
                            <a:srgbClr val="FF0000"/>
                          </a:solidFill>
                          <a:latin typeface="Calibri"/>
                          <a:cs typeface="Calibri"/>
                        </a:rPr>
                        <a:t> </a:t>
                      </a:r>
                      <a:r>
                        <a:rPr sz="1800" spc="-5" dirty="0">
                          <a:solidFill>
                            <a:srgbClr val="FF0000"/>
                          </a:solidFill>
                          <a:latin typeface="Calibri"/>
                          <a:cs typeface="Calibri"/>
                        </a:rPr>
                        <a:t>carries </a:t>
                      </a:r>
                      <a:r>
                        <a:rPr sz="1800" spc="-395" dirty="0">
                          <a:solidFill>
                            <a:srgbClr val="FF0000"/>
                          </a:solidFill>
                          <a:latin typeface="Calibri"/>
                          <a:cs typeface="Calibri"/>
                        </a:rPr>
                        <a:t> </a:t>
                      </a:r>
                      <a:r>
                        <a:rPr sz="1800" spc="-5" dirty="0">
                          <a:solidFill>
                            <a:srgbClr val="FF0000"/>
                          </a:solidFill>
                          <a:latin typeface="Calibri"/>
                          <a:cs typeface="Calibri"/>
                        </a:rPr>
                        <a:t>on</a:t>
                      </a:r>
                      <a:r>
                        <a:rPr sz="1800" spc="-10" dirty="0">
                          <a:solidFill>
                            <a:srgbClr val="FF0000"/>
                          </a:solidFill>
                          <a:latin typeface="Calibri"/>
                          <a:cs typeface="Calibri"/>
                        </a:rPr>
                        <a:t> </a:t>
                      </a:r>
                      <a:r>
                        <a:rPr sz="1800" dirty="0">
                          <a:solidFill>
                            <a:srgbClr val="FF0000"/>
                          </a:solidFill>
                          <a:latin typeface="Calibri"/>
                          <a:cs typeface="Calibri"/>
                        </a:rPr>
                        <a:t>a</a:t>
                      </a:r>
                      <a:r>
                        <a:rPr sz="1800" spc="-5" dirty="0">
                          <a:solidFill>
                            <a:srgbClr val="FF0000"/>
                          </a:solidFill>
                          <a:latin typeface="Calibri"/>
                          <a:cs typeface="Calibri"/>
                        </a:rPr>
                        <a:t> dialogue in English.</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984249">
                <a:tc>
                  <a:txBody>
                    <a:bodyPr/>
                    <a:lstStyle/>
                    <a:p>
                      <a:pPr algn="ctr">
                        <a:lnSpc>
                          <a:spcPct val="100000"/>
                        </a:lnSpc>
                        <a:spcBef>
                          <a:spcPts val="225"/>
                        </a:spcBef>
                      </a:pPr>
                      <a:r>
                        <a:rPr sz="1800" spc="-5" dirty="0">
                          <a:latin typeface="Calibri"/>
                          <a:cs typeface="Calibri"/>
                        </a:rPr>
                        <a:t>1969</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62560">
                        <a:lnSpc>
                          <a:spcPct val="100000"/>
                        </a:lnSpc>
                        <a:spcBef>
                          <a:spcPts val="225"/>
                        </a:spcBef>
                        <a:tabLst>
                          <a:tab pos="1083945" algn="l"/>
                          <a:tab pos="1409700" algn="l"/>
                          <a:tab pos="2341245" algn="l"/>
                          <a:tab pos="3321685" algn="l"/>
                          <a:tab pos="4239895" algn="l"/>
                          <a:tab pos="6137275" algn="l"/>
                          <a:tab pos="6388735" algn="l"/>
                        </a:tabLst>
                      </a:pPr>
                      <a:r>
                        <a:rPr sz="1800" spc="-5" dirty="0">
                          <a:solidFill>
                            <a:srgbClr val="FF0000"/>
                          </a:solidFill>
                          <a:latin typeface="Calibri"/>
                          <a:cs typeface="Calibri"/>
                        </a:rPr>
                        <a:t>Scie</a:t>
                      </a:r>
                      <a:r>
                        <a:rPr sz="1800" spc="-20" dirty="0">
                          <a:solidFill>
                            <a:srgbClr val="FF0000"/>
                          </a:solidFill>
                          <a:latin typeface="Calibri"/>
                          <a:cs typeface="Calibri"/>
                        </a:rPr>
                        <a:t>n</a:t>
                      </a:r>
                      <a:r>
                        <a:rPr sz="1800" spc="-5" dirty="0">
                          <a:solidFill>
                            <a:srgbClr val="FF0000"/>
                          </a:solidFill>
                          <a:latin typeface="Calibri"/>
                          <a:cs typeface="Calibri"/>
                        </a:rPr>
                        <a:t>ti</a:t>
                      </a:r>
                      <a:r>
                        <a:rPr sz="1800" spc="-25" dirty="0">
                          <a:solidFill>
                            <a:srgbClr val="FF0000"/>
                          </a:solidFill>
                          <a:latin typeface="Calibri"/>
                          <a:cs typeface="Calibri"/>
                        </a:rPr>
                        <a:t>s</a:t>
                      </a:r>
                      <a:r>
                        <a:rPr sz="1800" spc="-5" dirty="0">
                          <a:solidFill>
                            <a:srgbClr val="FF0000"/>
                          </a:solidFill>
                          <a:latin typeface="Calibri"/>
                          <a:cs typeface="Calibri"/>
                        </a:rPr>
                        <a:t>t</a:t>
                      </a:r>
                      <a:r>
                        <a:rPr sz="1800" dirty="0">
                          <a:solidFill>
                            <a:srgbClr val="FF0000"/>
                          </a:solidFill>
                          <a:latin typeface="Calibri"/>
                          <a:cs typeface="Calibri"/>
                        </a:rPr>
                        <a:t>s	</a:t>
                      </a:r>
                      <a:r>
                        <a:rPr sz="1800" spc="-20" dirty="0">
                          <a:solidFill>
                            <a:srgbClr val="FF0000"/>
                          </a:solidFill>
                          <a:latin typeface="Calibri"/>
                          <a:cs typeface="Calibri"/>
                        </a:rPr>
                        <a:t>a</a:t>
                      </a:r>
                      <a:r>
                        <a:rPr sz="1800" dirty="0">
                          <a:solidFill>
                            <a:srgbClr val="FF0000"/>
                          </a:solidFill>
                          <a:latin typeface="Calibri"/>
                          <a:cs typeface="Calibri"/>
                        </a:rPr>
                        <a:t>t	</a:t>
                      </a:r>
                      <a:r>
                        <a:rPr sz="1800" spc="-5" dirty="0">
                          <a:solidFill>
                            <a:srgbClr val="FF0000"/>
                          </a:solidFill>
                          <a:latin typeface="Calibri"/>
                          <a:cs typeface="Calibri"/>
                        </a:rPr>
                        <a:t>S</a:t>
                      </a:r>
                      <a:r>
                        <a:rPr sz="1800" spc="-25" dirty="0">
                          <a:solidFill>
                            <a:srgbClr val="FF0000"/>
                          </a:solidFill>
                          <a:latin typeface="Calibri"/>
                          <a:cs typeface="Calibri"/>
                        </a:rPr>
                        <a:t>t</a:t>
                      </a:r>
                      <a:r>
                        <a:rPr sz="1800" dirty="0">
                          <a:solidFill>
                            <a:srgbClr val="FF0000"/>
                          </a:solidFill>
                          <a:latin typeface="Calibri"/>
                          <a:cs typeface="Calibri"/>
                        </a:rPr>
                        <a:t>a</a:t>
                      </a:r>
                      <a:r>
                        <a:rPr sz="1800" spc="-10" dirty="0">
                          <a:solidFill>
                            <a:srgbClr val="FF0000"/>
                          </a:solidFill>
                          <a:latin typeface="Calibri"/>
                          <a:cs typeface="Calibri"/>
                        </a:rPr>
                        <a:t>n</a:t>
                      </a:r>
                      <a:r>
                        <a:rPr sz="1800" spc="-40" dirty="0">
                          <a:solidFill>
                            <a:srgbClr val="FF0000"/>
                          </a:solidFill>
                          <a:latin typeface="Calibri"/>
                          <a:cs typeface="Calibri"/>
                        </a:rPr>
                        <a:t>f</a:t>
                      </a:r>
                      <a:r>
                        <a:rPr sz="1800" spc="-5" dirty="0">
                          <a:solidFill>
                            <a:srgbClr val="FF0000"/>
                          </a:solidFill>
                          <a:latin typeface="Calibri"/>
                          <a:cs typeface="Calibri"/>
                        </a:rPr>
                        <a:t>o</a:t>
                      </a:r>
                      <a:r>
                        <a:rPr sz="1800" spc="-25" dirty="0">
                          <a:solidFill>
                            <a:srgbClr val="FF0000"/>
                          </a:solidFill>
                          <a:latin typeface="Calibri"/>
                          <a:cs typeface="Calibri"/>
                        </a:rPr>
                        <a:t>r</a:t>
                      </a:r>
                      <a:r>
                        <a:rPr sz="1800" dirty="0">
                          <a:solidFill>
                            <a:srgbClr val="FF0000"/>
                          </a:solidFill>
                          <a:latin typeface="Calibri"/>
                          <a:cs typeface="Calibri"/>
                        </a:rPr>
                        <a:t>d	</a:t>
                      </a:r>
                      <a:r>
                        <a:rPr sz="1800" spc="-35" dirty="0">
                          <a:solidFill>
                            <a:srgbClr val="FF0000"/>
                          </a:solidFill>
                          <a:latin typeface="Calibri"/>
                          <a:cs typeface="Calibri"/>
                        </a:rPr>
                        <a:t>R</a:t>
                      </a:r>
                      <a:r>
                        <a:rPr sz="1800" spc="-5" dirty="0">
                          <a:solidFill>
                            <a:srgbClr val="FF0000"/>
                          </a:solidFill>
                          <a:latin typeface="Calibri"/>
                          <a:cs typeface="Calibri"/>
                        </a:rPr>
                        <a:t>esea</a:t>
                      </a:r>
                      <a:r>
                        <a:rPr sz="1800" spc="-30" dirty="0">
                          <a:solidFill>
                            <a:srgbClr val="FF0000"/>
                          </a:solidFill>
                          <a:latin typeface="Calibri"/>
                          <a:cs typeface="Calibri"/>
                        </a:rPr>
                        <a:t>r</a:t>
                      </a:r>
                      <a:r>
                        <a:rPr sz="1800" spc="-5" dirty="0">
                          <a:solidFill>
                            <a:srgbClr val="FF0000"/>
                          </a:solidFill>
                          <a:latin typeface="Calibri"/>
                          <a:cs typeface="Calibri"/>
                        </a:rPr>
                        <a:t>c</a:t>
                      </a:r>
                      <a:r>
                        <a:rPr sz="1800" dirty="0">
                          <a:solidFill>
                            <a:srgbClr val="FF0000"/>
                          </a:solidFill>
                          <a:latin typeface="Calibri"/>
                          <a:cs typeface="Calibri"/>
                        </a:rPr>
                        <a:t>h	</a:t>
                      </a:r>
                      <a:r>
                        <a:rPr sz="1800" spc="-5" dirty="0">
                          <a:solidFill>
                            <a:srgbClr val="FF0000"/>
                          </a:solidFill>
                          <a:latin typeface="Calibri"/>
                          <a:cs typeface="Calibri"/>
                        </a:rPr>
                        <a:t>In</a:t>
                      </a:r>
                      <a:r>
                        <a:rPr sz="1800" spc="-25" dirty="0">
                          <a:solidFill>
                            <a:srgbClr val="FF0000"/>
                          </a:solidFill>
                          <a:latin typeface="Calibri"/>
                          <a:cs typeface="Calibri"/>
                        </a:rPr>
                        <a:t>s</a:t>
                      </a:r>
                      <a:r>
                        <a:rPr sz="1800" spc="-5" dirty="0">
                          <a:solidFill>
                            <a:srgbClr val="FF0000"/>
                          </a:solidFill>
                          <a:latin typeface="Calibri"/>
                          <a:cs typeface="Calibri"/>
                        </a:rPr>
                        <a:t>titu</a:t>
                      </a:r>
                      <a:r>
                        <a:rPr sz="1800" spc="-20" dirty="0">
                          <a:solidFill>
                            <a:srgbClr val="FF0000"/>
                          </a:solidFill>
                          <a:latin typeface="Calibri"/>
                          <a:cs typeface="Calibri"/>
                        </a:rPr>
                        <a:t>t</a:t>
                      </a:r>
                      <a:r>
                        <a:rPr sz="1800" dirty="0">
                          <a:solidFill>
                            <a:srgbClr val="FF0000"/>
                          </a:solidFill>
                          <a:latin typeface="Calibri"/>
                          <a:cs typeface="Calibri"/>
                        </a:rPr>
                        <a:t>e	</a:t>
                      </a:r>
                      <a:r>
                        <a:rPr sz="1800" spc="-5" dirty="0">
                          <a:solidFill>
                            <a:srgbClr val="FF0000"/>
                          </a:solidFill>
                          <a:latin typeface="Calibri"/>
                          <a:cs typeface="Calibri"/>
                        </a:rPr>
                        <a:t>D</a:t>
                      </a:r>
                      <a:r>
                        <a:rPr sz="1800" spc="-10" dirty="0">
                          <a:solidFill>
                            <a:srgbClr val="FF0000"/>
                          </a:solidFill>
                          <a:latin typeface="Calibri"/>
                          <a:cs typeface="Calibri"/>
                        </a:rPr>
                        <a:t>e</a:t>
                      </a:r>
                      <a:r>
                        <a:rPr sz="1800" spc="-20" dirty="0">
                          <a:solidFill>
                            <a:srgbClr val="FF0000"/>
                          </a:solidFill>
                          <a:latin typeface="Calibri"/>
                          <a:cs typeface="Calibri"/>
                        </a:rPr>
                        <a:t>v</a:t>
                      </a:r>
                      <a:r>
                        <a:rPr sz="1800" spc="-5" dirty="0">
                          <a:solidFill>
                            <a:srgbClr val="FF0000"/>
                          </a:solidFill>
                          <a:latin typeface="Calibri"/>
                          <a:cs typeface="Calibri"/>
                        </a:rPr>
                        <a:t>elope</a:t>
                      </a:r>
                      <a:r>
                        <a:rPr sz="1800" dirty="0">
                          <a:solidFill>
                            <a:srgbClr val="FF0000"/>
                          </a:solidFill>
                          <a:latin typeface="Calibri"/>
                          <a:cs typeface="Calibri"/>
                        </a:rPr>
                        <a:t>d</a:t>
                      </a:r>
                      <a:r>
                        <a:rPr sz="1800" spc="60" dirty="0">
                          <a:solidFill>
                            <a:srgbClr val="FF0000"/>
                          </a:solidFill>
                          <a:latin typeface="Calibri"/>
                          <a:cs typeface="Calibri"/>
                        </a:rPr>
                        <a:t> </a:t>
                      </a:r>
                      <a:r>
                        <a:rPr sz="1800" i="1" spc="-5" dirty="0">
                          <a:solidFill>
                            <a:srgbClr val="FF0000"/>
                          </a:solidFill>
                          <a:latin typeface="Calibri"/>
                          <a:cs typeface="Calibri"/>
                        </a:rPr>
                        <a:t>Sha</a:t>
                      </a:r>
                      <a:r>
                        <a:rPr sz="1800" i="1" spc="-60" dirty="0">
                          <a:solidFill>
                            <a:srgbClr val="FF0000"/>
                          </a:solidFill>
                          <a:latin typeface="Calibri"/>
                          <a:cs typeface="Calibri"/>
                        </a:rPr>
                        <a:t>k</a:t>
                      </a:r>
                      <a:r>
                        <a:rPr sz="1800" i="1" spc="-15" dirty="0">
                          <a:solidFill>
                            <a:srgbClr val="FF0000"/>
                          </a:solidFill>
                          <a:latin typeface="Calibri"/>
                          <a:cs typeface="Calibri"/>
                        </a:rPr>
                        <a:t>e</a:t>
                      </a:r>
                      <a:r>
                        <a:rPr sz="1800" i="1" dirty="0">
                          <a:solidFill>
                            <a:srgbClr val="FF0000"/>
                          </a:solidFill>
                          <a:latin typeface="Calibri"/>
                          <a:cs typeface="Calibri"/>
                        </a:rPr>
                        <a:t>y</a:t>
                      </a:r>
                      <a:r>
                        <a:rPr sz="1800" dirty="0">
                          <a:solidFill>
                            <a:srgbClr val="FF0000"/>
                          </a:solidFill>
                          <a:latin typeface="Calibri"/>
                          <a:cs typeface="Calibri"/>
                        </a:rPr>
                        <a:t>,	a	</a:t>
                      </a:r>
                      <a:r>
                        <a:rPr sz="1800" spc="-30" dirty="0">
                          <a:solidFill>
                            <a:srgbClr val="FF0000"/>
                          </a:solidFill>
                          <a:latin typeface="Calibri"/>
                          <a:cs typeface="Calibri"/>
                        </a:rPr>
                        <a:t>r</a:t>
                      </a:r>
                      <a:r>
                        <a:rPr sz="1800" spc="-5" dirty="0">
                          <a:solidFill>
                            <a:srgbClr val="FF0000"/>
                          </a:solidFill>
                          <a:latin typeface="Calibri"/>
                          <a:cs typeface="Calibri"/>
                        </a:rPr>
                        <a:t>obot,  equipped with </a:t>
                      </a:r>
                      <a:r>
                        <a:rPr sz="1800" spc="-10" dirty="0">
                          <a:solidFill>
                            <a:srgbClr val="FF0000"/>
                          </a:solidFill>
                          <a:latin typeface="Calibri"/>
                          <a:cs typeface="Calibri"/>
                        </a:rPr>
                        <a:t>locomotion,</a:t>
                      </a:r>
                      <a:r>
                        <a:rPr sz="1800" spc="-5" dirty="0">
                          <a:solidFill>
                            <a:srgbClr val="FF0000"/>
                          </a:solidFill>
                          <a:latin typeface="Calibri"/>
                          <a:cs typeface="Calibri"/>
                        </a:rPr>
                        <a:t> </a:t>
                      </a:r>
                      <a:r>
                        <a:rPr sz="1800" spc="-10" dirty="0">
                          <a:solidFill>
                            <a:srgbClr val="FF0000"/>
                          </a:solidFill>
                          <a:latin typeface="Calibri"/>
                          <a:cs typeface="Calibri"/>
                        </a:rPr>
                        <a:t>perception,</a:t>
                      </a:r>
                      <a:r>
                        <a:rPr sz="1800" spc="-5" dirty="0">
                          <a:solidFill>
                            <a:srgbClr val="FF0000"/>
                          </a:solidFill>
                          <a:latin typeface="Calibri"/>
                          <a:cs typeface="Calibri"/>
                        </a:rPr>
                        <a:t> </a:t>
                      </a:r>
                      <a:r>
                        <a:rPr sz="1800" dirty="0">
                          <a:solidFill>
                            <a:srgbClr val="FF0000"/>
                          </a:solidFill>
                          <a:latin typeface="Calibri"/>
                          <a:cs typeface="Calibri"/>
                        </a:rPr>
                        <a:t>and</a:t>
                      </a:r>
                      <a:r>
                        <a:rPr sz="1800" spc="-5" dirty="0">
                          <a:solidFill>
                            <a:srgbClr val="FF0000"/>
                          </a:solidFill>
                          <a:latin typeface="Calibri"/>
                          <a:cs typeface="Calibri"/>
                        </a:rPr>
                        <a:t> </a:t>
                      </a:r>
                      <a:r>
                        <a:rPr sz="1800" spc="-10" dirty="0">
                          <a:solidFill>
                            <a:srgbClr val="FF0000"/>
                          </a:solidFill>
                          <a:latin typeface="Calibri"/>
                          <a:cs typeface="Calibri"/>
                        </a:rPr>
                        <a:t>problem</a:t>
                      </a:r>
                      <a:r>
                        <a:rPr sz="1800" spc="-5" dirty="0">
                          <a:solidFill>
                            <a:srgbClr val="FF0000"/>
                          </a:solidFill>
                          <a:latin typeface="Calibri"/>
                          <a:cs typeface="Calibri"/>
                        </a:rPr>
                        <a:t> solving.</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984249">
                <a:tc>
                  <a:txBody>
                    <a:bodyPr/>
                    <a:lstStyle/>
                    <a:p>
                      <a:pPr algn="ctr">
                        <a:lnSpc>
                          <a:spcPct val="100000"/>
                        </a:lnSpc>
                        <a:spcBef>
                          <a:spcPts val="225"/>
                        </a:spcBef>
                      </a:pPr>
                      <a:r>
                        <a:rPr sz="1800" spc="-5" dirty="0">
                          <a:latin typeface="Calibri"/>
                          <a:cs typeface="Calibri"/>
                        </a:rPr>
                        <a:t>1973</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02870" algn="just">
                        <a:lnSpc>
                          <a:spcPct val="100000"/>
                        </a:lnSpc>
                        <a:spcBef>
                          <a:spcPts val="225"/>
                        </a:spcBef>
                      </a:pPr>
                      <a:r>
                        <a:rPr sz="1800" spc="-5" dirty="0">
                          <a:latin typeface="Calibri"/>
                          <a:cs typeface="Calibri"/>
                        </a:rPr>
                        <a:t>The</a:t>
                      </a:r>
                      <a:r>
                        <a:rPr sz="1800" dirty="0">
                          <a:latin typeface="Calibri"/>
                          <a:cs typeface="Calibri"/>
                        </a:rPr>
                        <a:t> </a:t>
                      </a:r>
                      <a:r>
                        <a:rPr sz="1800" spc="-5" dirty="0">
                          <a:latin typeface="Calibri"/>
                          <a:cs typeface="Calibri"/>
                        </a:rPr>
                        <a:t>Assembly</a:t>
                      </a:r>
                      <a:r>
                        <a:rPr sz="1800" dirty="0">
                          <a:latin typeface="Calibri"/>
                          <a:cs typeface="Calibri"/>
                        </a:rPr>
                        <a:t> </a:t>
                      </a:r>
                      <a:r>
                        <a:rPr sz="1800" spc="-10" dirty="0">
                          <a:latin typeface="Calibri"/>
                          <a:cs typeface="Calibri"/>
                        </a:rPr>
                        <a:t>Robotics</a:t>
                      </a:r>
                      <a:r>
                        <a:rPr sz="1800" spc="-5" dirty="0">
                          <a:latin typeface="Calibri"/>
                          <a:cs typeface="Calibri"/>
                        </a:rPr>
                        <a:t> </a:t>
                      </a:r>
                      <a:r>
                        <a:rPr sz="1800" spc="-10" dirty="0">
                          <a:latin typeface="Calibri"/>
                          <a:cs typeface="Calibri"/>
                        </a:rPr>
                        <a:t>group</a:t>
                      </a:r>
                      <a:r>
                        <a:rPr sz="1800" spc="-5" dirty="0">
                          <a:latin typeface="Calibri"/>
                          <a:cs typeface="Calibri"/>
                        </a:rPr>
                        <a:t> </a:t>
                      </a:r>
                      <a:r>
                        <a:rPr sz="1800" spc="-10" dirty="0">
                          <a:latin typeface="Calibri"/>
                          <a:cs typeface="Calibri"/>
                        </a:rPr>
                        <a:t>at</a:t>
                      </a:r>
                      <a:r>
                        <a:rPr sz="1800" spc="-5" dirty="0">
                          <a:latin typeface="Calibri"/>
                          <a:cs typeface="Calibri"/>
                        </a:rPr>
                        <a:t> </a:t>
                      </a:r>
                      <a:r>
                        <a:rPr sz="1800" spc="-10" dirty="0">
                          <a:latin typeface="Calibri"/>
                          <a:cs typeface="Calibri"/>
                        </a:rPr>
                        <a:t>Edinburgh</a:t>
                      </a:r>
                      <a:r>
                        <a:rPr sz="1800" spc="-5" dirty="0">
                          <a:latin typeface="Calibri"/>
                          <a:cs typeface="Calibri"/>
                        </a:rPr>
                        <a:t> </a:t>
                      </a:r>
                      <a:r>
                        <a:rPr sz="1800" spc="-10" dirty="0">
                          <a:latin typeface="Calibri"/>
                          <a:cs typeface="Calibri"/>
                        </a:rPr>
                        <a:t>University</a:t>
                      </a:r>
                      <a:r>
                        <a:rPr sz="1800" spc="-5" dirty="0">
                          <a:latin typeface="Calibri"/>
                          <a:cs typeface="Calibri"/>
                        </a:rPr>
                        <a:t> built </a:t>
                      </a:r>
                      <a:r>
                        <a:rPr sz="1800" i="1" spc="-10" dirty="0">
                          <a:latin typeface="Calibri"/>
                          <a:cs typeface="Calibri"/>
                        </a:rPr>
                        <a:t>Freddy</a:t>
                      </a:r>
                      <a:r>
                        <a:rPr sz="1800" spc="-10" dirty="0">
                          <a:latin typeface="Calibri"/>
                          <a:cs typeface="Calibri"/>
                        </a:rPr>
                        <a:t>,</a:t>
                      </a:r>
                      <a:r>
                        <a:rPr sz="1800" spc="-5" dirty="0">
                          <a:latin typeface="Calibri"/>
                          <a:cs typeface="Calibri"/>
                        </a:rPr>
                        <a:t> the </a:t>
                      </a:r>
                      <a:r>
                        <a:rPr sz="1800" dirty="0">
                          <a:latin typeface="Calibri"/>
                          <a:cs typeface="Calibri"/>
                        </a:rPr>
                        <a:t> </a:t>
                      </a:r>
                      <a:r>
                        <a:rPr sz="1800" spc="-10" dirty="0">
                          <a:latin typeface="Calibri"/>
                          <a:cs typeface="Calibri"/>
                        </a:rPr>
                        <a:t>Famous Scottish Robot, </a:t>
                      </a:r>
                      <a:r>
                        <a:rPr sz="1800" spc="-5" dirty="0">
                          <a:latin typeface="Calibri"/>
                          <a:cs typeface="Calibri"/>
                        </a:rPr>
                        <a:t>capable of using vision </a:t>
                      </a:r>
                      <a:r>
                        <a:rPr sz="1800" spc="-10" dirty="0">
                          <a:latin typeface="Calibri"/>
                          <a:cs typeface="Calibri"/>
                        </a:rPr>
                        <a:t>to </a:t>
                      </a:r>
                      <a:r>
                        <a:rPr sz="1800" spc="-15" dirty="0">
                          <a:latin typeface="Calibri"/>
                          <a:cs typeface="Calibri"/>
                        </a:rPr>
                        <a:t>locate </a:t>
                      </a:r>
                      <a:r>
                        <a:rPr sz="1800" dirty="0">
                          <a:latin typeface="Calibri"/>
                          <a:cs typeface="Calibri"/>
                        </a:rPr>
                        <a:t>and assemble </a:t>
                      </a:r>
                      <a:r>
                        <a:rPr sz="1800" spc="5" dirty="0">
                          <a:latin typeface="Calibri"/>
                          <a:cs typeface="Calibri"/>
                        </a:rPr>
                        <a:t> </a:t>
                      </a:r>
                      <a:r>
                        <a:rPr sz="1800" spc="-5" dirty="0">
                          <a:latin typeface="Calibri"/>
                          <a:cs typeface="Calibri"/>
                        </a:rPr>
                        <a:t>models.</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726849">
                <a:tc>
                  <a:txBody>
                    <a:bodyPr/>
                    <a:lstStyle/>
                    <a:p>
                      <a:pPr algn="ctr">
                        <a:lnSpc>
                          <a:spcPct val="100000"/>
                        </a:lnSpc>
                        <a:spcBef>
                          <a:spcPts val="225"/>
                        </a:spcBef>
                      </a:pPr>
                      <a:r>
                        <a:rPr sz="1800" spc="-5" dirty="0">
                          <a:latin typeface="Calibri"/>
                          <a:cs typeface="Calibri"/>
                        </a:rPr>
                        <a:t>1979</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20014">
                        <a:lnSpc>
                          <a:spcPct val="100000"/>
                        </a:lnSpc>
                        <a:spcBef>
                          <a:spcPts val="225"/>
                        </a:spcBef>
                      </a:pPr>
                      <a:r>
                        <a:rPr sz="1800" spc="-5" dirty="0">
                          <a:solidFill>
                            <a:srgbClr val="FF0000"/>
                          </a:solidFill>
                          <a:latin typeface="Calibri"/>
                          <a:cs typeface="Calibri"/>
                        </a:rPr>
                        <a:t>The</a:t>
                      </a:r>
                      <a:r>
                        <a:rPr sz="1800" spc="80" dirty="0">
                          <a:solidFill>
                            <a:srgbClr val="FF0000"/>
                          </a:solidFill>
                          <a:latin typeface="Calibri"/>
                          <a:cs typeface="Calibri"/>
                        </a:rPr>
                        <a:t> </a:t>
                      </a:r>
                      <a:r>
                        <a:rPr sz="1800" spc="-15" dirty="0">
                          <a:solidFill>
                            <a:srgbClr val="FF0000"/>
                          </a:solidFill>
                          <a:latin typeface="Calibri"/>
                          <a:cs typeface="Calibri"/>
                        </a:rPr>
                        <a:t>first</a:t>
                      </a:r>
                      <a:r>
                        <a:rPr sz="1800" spc="85" dirty="0">
                          <a:solidFill>
                            <a:srgbClr val="FF0000"/>
                          </a:solidFill>
                          <a:latin typeface="Calibri"/>
                          <a:cs typeface="Calibri"/>
                        </a:rPr>
                        <a:t> </a:t>
                      </a:r>
                      <a:r>
                        <a:rPr sz="1800" spc="-15" dirty="0">
                          <a:solidFill>
                            <a:srgbClr val="FF0000"/>
                          </a:solidFill>
                          <a:latin typeface="Calibri"/>
                          <a:cs typeface="Calibri"/>
                        </a:rPr>
                        <a:t>computer-controlled</a:t>
                      </a:r>
                      <a:r>
                        <a:rPr sz="1800" spc="85" dirty="0">
                          <a:solidFill>
                            <a:srgbClr val="FF0000"/>
                          </a:solidFill>
                          <a:latin typeface="Calibri"/>
                          <a:cs typeface="Calibri"/>
                        </a:rPr>
                        <a:t> </a:t>
                      </a:r>
                      <a:r>
                        <a:rPr sz="1800" spc="-5" dirty="0">
                          <a:solidFill>
                            <a:srgbClr val="FF0000"/>
                          </a:solidFill>
                          <a:latin typeface="Calibri"/>
                          <a:cs typeface="Calibri"/>
                        </a:rPr>
                        <a:t>autonomous</a:t>
                      </a:r>
                      <a:r>
                        <a:rPr sz="1800" spc="85" dirty="0">
                          <a:solidFill>
                            <a:srgbClr val="FF0000"/>
                          </a:solidFill>
                          <a:latin typeface="Calibri"/>
                          <a:cs typeface="Calibri"/>
                        </a:rPr>
                        <a:t> </a:t>
                      </a:r>
                      <a:r>
                        <a:rPr sz="1800" spc="-10" dirty="0">
                          <a:solidFill>
                            <a:srgbClr val="FF0000"/>
                          </a:solidFill>
                          <a:latin typeface="Calibri"/>
                          <a:cs typeface="Calibri"/>
                        </a:rPr>
                        <a:t>vehicle,</a:t>
                      </a:r>
                      <a:r>
                        <a:rPr sz="1800" spc="85" dirty="0">
                          <a:solidFill>
                            <a:srgbClr val="FF0000"/>
                          </a:solidFill>
                          <a:latin typeface="Calibri"/>
                          <a:cs typeface="Calibri"/>
                        </a:rPr>
                        <a:t> </a:t>
                      </a:r>
                      <a:r>
                        <a:rPr sz="1800" spc="-15" dirty="0">
                          <a:solidFill>
                            <a:srgbClr val="FF0000"/>
                          </a:solidFill>
                          <a:latin typeface="Calibri"/>
                          <a:cs typeface="Calibri"/>
                        </a:rPr>
                        <a:t>Stanford</a:t>
                      </a:r>
                      <a:r>
                        <a:rPr sz="1800" spc="85" dirty="0">
                          <a:solidFill>
                            <a:srgbClr val="FF0000"/>
                          </a:solidFill>
                          <a:latin typeface="Calibri"/>
                          <a:cs typeface="Calibri"/>
                        </a:rPr>
                        <a:t> </a:t>
                      </a:r>
                      <a:r>
                        <a:rPr sz="1800" spc="-5" dirty="0">
                          <a:solidFill>
                            <a:srgbClr val="FF0000"/>
                          </a:solidFill>
                          <a:latin typeface="Calibri"/>
                          <a:cs typeface="Calibri"/>
                        </a:rPr>
                        <a:t>Cart(Stanely), </a:t>
                      </a:r>
                      <a:r>
                        <a:rPr sz="1800" spc="-390" dirty="0">
                          <a:solidFill>
                            <a:srgbClr val="FF0000"/>
                          </a:solidFill>
                          <a:latin typeface="Calibri"/>
                          <a:cs typeface="Calibri"/>
                        </a:rPr>
                        <a:t> </a:t>
                      </a:r>
                      <a:r>
                        <a:rPr sz="1800" spc="-10" dirty="0">
                          <a:solidFill>
                            <a:srgbClr val="FF0000"/>
                          </a:solidFill>
                          <a:latin typeface="Calibri"/>
                          <a:cs typeface="Calibri"/>
                        </a:rPr>
                        <a:t>was </a:t>
                      </a:r>
                      <a:r>
                        <a:rPr sz="1800" spc="-5" dirty="0">
                          <a:solidFill>
                            <a:srgbClr val="FF0000"/>
                          </a:solidFill>
                          <a:latin typeface="Calibri"/>
                          <a:cs typeface="Calibri"/>
                        </a:rPr>
                        <a:t>built.</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727199">
                <a:tc>
                  <a:txBody>
                    <a:bodyPr/>
                    <a:lstStyle/>
                    <a:p>
                      <a:pPr algn="ctr">
                        <a:lnSpc>
                          <a:spcPct val="100000"/>
                        </a:lnSpc>
                        <a:spcBef>
                          <a:spcPts val="225"/>
                        </a:spcBef>
                      </a:pPr>
                      <a:r>
                        <a:rPr sz="1800" spc="-5" dirty="0">
                          <a:latin typeface="Calibri"/>
                          <a:cs typeface="Calibri"/>
                        </a:rPr>
                        <a:t>1985</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a:lnSpc>
                          <a:spcPct val="100000"/>
                        </a:lnSpc>
                        <a:spcBef>
                          <a:spcPts val="225"/>
                        </a:spcBef>
                      </a:pPr>
                      <a:r>
                        <a:rPr sz="1800" spc="-10" dirty="0">
                          <a:latin typeface="Calibri"/>
                          <a:cs typeface="Calibri"/>
                        </a:rPr>
                        <a:t>Harold</a:t>
                      </a:r>
                      <a:r>
                        <a:rPr sz="1800" dirty="0">
                          <a:latin typeface="Calibri"/>
                          <a:cs typeface="Calibri"/>
                        </a:rPr>
                        <a:t> </a:t>
                      </a:r>
                      <a:r>
                        <a:rPr sz="1800" spc="-5" dirty="0">
                          <a:latin typeface="Calibri"/>
                          <a:cs typeface="Calibri"/>
                        </a:rPr>
                        <a:t>Cohen</a:t>
                      </a:r>
                      <a:r>
                        <a:rPr sz="1800" dirty="0">
                          <a:latin typeface="Calibri"/>
                          <a:cs typeface="Calibri"/>
                        </a:rPr>
                        <a:t> </a:t>
                      </a:r>
                      <a:r>
                        <a:rPr sz="1800" spc="-15" dirty="0">
                          <a:latin typeface="Calibri"/>
                          <a:cs typeface="Calibri"/>
                        </a:rPr>
                        <a:t>created</a:t>
                      </a:r>
                      <a:r>
                        <a:rPr sz="1800" dirty="0">
                          <a:latin typeface="Calibri"/>
                          <a:cs typeface="Calibri"/>
                        </a:rPr>
                        <a:t> and </a:t>
                      </a:r>
                      <a:r>
                        <a:rPr sz="1800" spc="-15" dirty="0">
                          <a:latin typeface="Calibri"/>
                          <a:cs typeface="Calibri"/>
                        </a:rPr>
                        <a:t>demonstrated</a:t>
                      </a:r>
                      <a:r>
                        <a:rPr sz="1800" spc="5" dirty="0">
                          <a:latin typeface="Calibri"/>
                          <a:cs typeface="Calibri"/>
                        </a:rPr>
                        <a:t> </a:t>
                      </a:r>
                      <a:r>
                        <a:rPr sz="1800" spc="-5" dirty="0">
                          <a:latin typeface="Calibri"/>
                          <a:cs typeface="Calibri"/>
                        </a:rPr>
                        <a:t>the</a:t>
                      </a:r>
                      <a:r>
                        <a:rPr sz="1800" dirty="0">
                          <a:latin typeface="Calibri"/>
                          <a:cs typeface="Calibri"/>
                        </a:rPr>
                        <a:t> </a:t>
                      </a:r>
                      <a:r>
                        <a:rPr sz="1800" spc="-15" dirty="0">
                          <a:latin typeface="Calibri"/>
                          <a:cs typeface="Calibri"/>
                        </a:rPr>
                        <a:t>drawing</a:t>
                      </a:r>
                      <a:r>
                        <a:rPr sz="1800" dirty="0">
                          <a:latin typeface="Calibri"/>
                          <a:cs typeface="Calibri"/>
                        </a:rPr>
                        <a:t> </a:t>
                      </a:r>
                      <a:r>
                        <a:rPr sz="1800" spc="-15" dirty="0">
                          <a:latin typeface="Calibri"/>
                          <a:cs typeface="Calibri"/>
                        </a:rPr>
                        <a:t>program,</a:t>
                      </a:r>
                      <a:r>
                        <a:rPr sz="1800" spc="60" dirty="0">
                          <a:latin typeface="Calibri"/>
                          <a:cs typeface="Calibri"/>
                        </a:rPr>
                        <a:t> </a:t>
                      </a:r>
                      <a:r>
                        <a:rPr sz="1800" i="1" spc="-5" dirty="0">
                          <a:latin typeface="Calibri"/>
                          <a:cs typeface="Calibri"/>
                        </a:rPr>
                        <a:t>Aaron</a:t>
                      </a:r>
                      <a:r>
                        <a:rPr sz="1800" spc="-5" dirty="0">
                          <a:latin typeface="Calibri"/>
                          <a:cs typeface="Calibri"/>
                        </a:rPr>
                        <a:t>.</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396199">
                <a:tc>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DDDDDD"/>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DDDDDD"/>
                      </a:solidFill>
                      <a:prstDash val="solid"/>
                    </a:lnT>
                    <a:lnB w="9525">
                      <a:solidFill>
                        <a:srgbClr val="000000"/>
                      </a:solidFill>
                      <a:prstDash val="solid"/>
                    </a:lnB>
                  </a:tcPr>
                </a:tc>
              </a:tr>
            </a:tbl>
          </a:graphicData>
        </a:graphic>
      </p:graphicFrame>
    </p:spTree>
    <p:extLst>
      <p:ext uri="{BB962C8B-B14F-4D97-AF65-F5344CB8AC3E}">
        <p14:creationId xmlns:p14="http://schemas.microsoft.com/office/powerpoint/2010/main" val="3273890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0775" y="475487"/>
            <a:ext cx="2820035" cy="695960"/>
          </a:xfrm>
          <a:prstGeom prst="rect">
            <a:avLst/>
          </a:prstGeom>
        </p:spPr>
        <p:txBody>
          <a:bodyPr vert="horz" wrap="square" lIns="0" tIns="12700" rIns="0" bIns="0" rtlCol="0">
            <a:spAutoFit/>
          </a:bodyPr>
          <a:lstStyle/>
          <a:p>
            <a:pPr marL="12700">
              <a:lnSpc>
                <a:spcPct val="100000"/>
              </a:lnSpc>
              <a:spcBef>
                <a:spcPts val="100"/>
              </a:spcBef>
            </a:pPr>
            <a:r>
              <a:rPr spc="-15" dirty="0"/>
              <a:t>History</a:t>
            </a:r>
            <a:r>
              <a:rPr spc="-50" dirty="0"/>
              <a:t> </a:t>
            </a:r>
            <a:r>
              <a:rPr spc="-5" dirty="0"/>
              <a:t>of</a:t>
            </a:r>
            <a:r>
              <a:rPr spc="-45" dirty="0"/>
              <a:t> </a:t>
            </a:r>
            <a:r>
              <a:rPr spc="-5" dirty="0"/>
              <a:t>AI</a:t>
            </a:r>
          </a:p>
        </p:txBody>
      </p:sp>
      <p:graphicFrame>
        <p:nvGraphicFramePr>
          <p:cNvPr id="3" name="object 3"/>
          <p:cNvGraphicFramePr>
            <a:graphicFrameLocks noGrp="1"/>
          </p:cNvGraphicFramePr>
          <p:nvPr/>
        </p:nvGraphicFramePr>
        <p:xfrm>
          <a:off x="534877" y="1336597"/>
          <a:ext cx="8208645" cy="5060872"/>
        </p:xfrm>
        <a:graphic>
          <a:graphicData uri="http://schemas.openxmlformats.org/drawingml/2006/table">
            <a:tbl>
              <a:tblPr firstRow="1" bandRow="1">
                <a:tableStyleId>{2D5ABB26-0587-4C30-8999-92F81FD0307C}</a:tableStyleId>
              </a:tblPr>
              <a:tblGrid>
                <a:gridCol w="1152525"/>
                <a:gridCol w="7056120"/>
              </a:tblGrid>
              <a:tr h="2847949">
                <a:tc>
                  <a:txBody>
                    <a:bodyPr/>
                    <a:lstStyle/>
                    <a:p>
                      <a:pPr algn="ctr">
                        <a:lnSpc>
                          <a:spcPct val="100000"/>
                        </a:lnSpc>
                        <a:spcBef>
                          <a:spcPts val="225"/>
                        </a:spcBef>
                      </a:pPr>
                      <a:r>
                        <a:rPr sz="1800" spc="-5" dirty="0">
                          <a:latin typeface="Calibri"/>
                          <a:cs typeface="Calibri"/>
                        </a:rPr>
                        <a:t>1990</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a:lnSpc>
                          <a:spcPct val="100000"/>
                        </a:lnSpc>
                        <a:spcBef>
                          <a:spcPts val="225"/>
                        </a:spcBef>
                      </a:pPr>
                      <a:r>
                        <a:rPr sz="1800" spc="-5" dirty="0">
                          <a:latin typeface="Calibri"/>
                          <a:cs typeface="Calibri"/>
                        </a:rPr>
                        <a:t>Major</a:t>
                      </a:r>
                      <a:r>
                        <a:rPr sz="1800" spc="-15" dirty="0">
                          <a:latin typeface="Calibri"/>
                          <a:cs typeface="Calibri"/>
                        </a:rPr>
                        <a:t> </a:t>
                      </a:r>
                      <a:r>
                        <a:rPr sz="1800" spc="-5" dirty="0">
                          <a:latin typeface="Calibri"/>
                          <a:cs typeface="Calibri"/>
                        </a:rPr>
                        <a:t>advances</a:t>
                      </a:r>
                      <a:r>
                        <a:rPr sz="1800" spc="-10" dirty="0">
                          <a:latin typeface="Calibri"/>
                          <a:cs typeface="Calibri"/>
                        </a:rPr>
                        <a:t> </a:t>
                      </a:r>
                      <a:r>
                        <a:rPr sz="1800" spc="-5" dirty="0">
                          <a:latin typeface="Calibri"/>
                          <a:cs typeface="Calibri"/>
                        </a:rPr>
                        <a:t>in</a:t>
                      </a:r>
                      <a:r>
                        <a:rPr sz="1800" spc="-10" dirty="0">
                          <a:latin typeface="Calibri"/>
                          <a:cs typeface="Calibri"/>
                        </a:rPr>
                        <a:t> </a:t>
                      </a:r>
                      <a:r>
                        <a:rPr sz="1800" dirty="0">
                          <a:latin typeface="Calibri"/>
                          <a:cs typeface="Calibri"/>
                        </a:rPr>
                        <a:t>all</a:t>
                      </a:r>
                      <a:r>
                        <a:rPr sz="1800" spc="-15" dirty="0">
                          <a:latin typeface="Calibri"/>
                          <a:cs typeface="Calibri"/>
                        </a:rPr>
                        <a:t> </a:t>
                      </a:r>
                      <a:r>
                        <a:rPr sz="1800" spc="-10" dirty="0">
                          <a:latin typeface="Calibri"/>
                          <a:cs typeface="Calibri"/>
                        </a:rPr>
                        <a:t>areas </a:t>
                      </a:r>
                      <a:r>
                        <a:rPr sz="1800" spc="-5" dirty="0">
                          <a:latin typeface="Calibri"/>
                          <a:cs typeface="Calibri"/>
                        </a:rPr>
                        <a:t>of</a:t>
                      </a:r>
                      <a:r>
                        <a:rPr sz="1800" spc="-10" dirty="0">
                          <a:latin typeface="Calibri"/>
                          <a:cs typeface="Calibri"/>
                        </a:rPr>
                        <a:t> </a:t>
                      </a:r>
                      <a:r>
                        <a:rPr sz="1800" spc="-5" dirty="0">
                          <a:latin typeface="Calibri"/>
                          <a:cs typeface="Calibri"/>
                        </a:rPr>
                        <a:t>AI</a:t>
                      </a:r>
                      <a:r>
                        <a:rPr sz="1800" spc="25" dirty="0">
                          <a:latin typeface="Calibri"/>
                          <a:cs typeface="Calibri"/>
                        </a:rPr>
                        <a:t> </a:t>
                      </a:r>
                      <a:r>
                        <a:rPr sz="1800" spc="-750" dirty="0">
                          <a:latin typeface="Arial MT"/>
                          <a:cs typeface="Arial MT"/>
                        </a:rPr>
                        <a:t>−</a:t>
                      </a:r>
                      <a:endParaRPr sz="1800">
                        <a:latin typeface="Arial MT"/>
                        <a:cs typeface="Arial MT"/>
                      </a:endParaRPr>
                    </a:p>
                    <a:p>
                      <a:pPr marL="76835" indent="-81280">
                        <a:lnSpc>
                          <a:spcPct val="100000"/>
                        </a:lnSpc>
                        <a:buSzPct val="94444"/>
                        <a:buFont typeface="Arial MT"/>
                        <a:buChar char="•"/>
                        <a:tabLst>
                          <a:tab pos="76835" algn="l"/>
                        </a:tabLst>
                      </a:pPr>
                      <a:r>
                        <a:rPr sz="1800" spc="-10" dirty="0">
                          <a:latin typeface="Calibri"/>
                          <a:cs typeface="Calibri"/>
                        </a:rPr>
                        <a:t>Significant</a:t>
                      </a:r>
                      <a:r>
                        <a:rPr sz="1800" spc="-15" dirty="0">
                          <a:latin typeface="Calibri"/>
                          <a:cs typeface="Calibri"/>
                        </a:rPr>
                        <a:t> </a:t>
                      </a:r>
                      <a:r>
                        <a:rPr sz="1800" spc="-10" dirty="0">
                          <a:latin typeface="Calibri"/>
                          <a:cs typeface="Calibri"/>
                        </a:rPr>
                        <a:t>demonstrations</a:t>
                      </a:r>
                      <a:r>
                        <a:rPr sz="1800" spc="-15" dirty="0">
                          <a:latin typeface="Calibri"/>
                          <a:cs typeface="Calibri"/>
                        </a:rPr>
                        <a:t> </a:t>
                      </a:r>
                      <a:r>
                        <a:rPr sz="1800" spc="-5" dirty="0">
                          <a:latin typeface="Calibri"/>
                          <a:cs typeface="Calibri"/>
                        </a:rPr>
                        <a:t>in</a:t>
                      </a:r>
                      <a:r>
                        <a:rPr sz="1800" spc="-15" dirty="0">
                          <a:latin typeface="Calibri"/>
                          <a:cs typeface="Calibri"/>
                        </a:rPr>
                        <a:t> </a:t>
                      </a:r>
                      <a:r>
                        <a:rPr sz="1800" spc="-5" dirty="0">
                          <a:latin typeface="Calibri"/>
                          <a:cs typeface="Calibri"/>
                        </a:rPr>
                        <a:t>machine</a:t>
                      </a:r>
                      <a:r>
                        <a:rPr sz="1800" spc="-15" dirty="0">
                          <a:latin typeface="Calibri"/>
                          <a:cs typeface="Calibri"/>
                        </a:rPr>
                        <a:t> </a:t>
                      </a:r>
                      <a:r>
                        <a:rPr sz="1800" spc="-5" dirty="0">
                          <a:latin typeface="Calibri"/>
                          <a:cs typeface="Calibri"/>
                        </a:rPr>
                        <a:t>learning</a:t>
                      </a:r>
                      <a:endParaRPr sz="1800">
                        <a:latin typeface="Calibri"/>
                        <a:cs typeface="Calibri"/>
                      </a:endParaRPr>
                    </a:p>
                    <a:p>
                      <a:pPr marL="76835" indent="-81280">
                        <a:lnSpc>
                          <a:spcPct val="100000"/>
                        </a:lnSpc>
                        <a:buSzPct val="94444"/>
                        <a:buFont typeface="Arial MT"/>
                        <a:buChar char="•"/>
                        <a:tabLst>
                          <a:tab pos="76835" algn="l"/>
                        </a:tabLst>
                      </a:pPr>
                      <a:r>
                        <a:rPr sz="1800" spc="-5" dirty="0">
                          <a:latin typeface="Calibri"/>
                          <a:cs typeface="Calibri"/>
                        </a:rPr>
                        <a:t>Case-based</a:t>
                      </a:r>
                      <a:r>
                        <a:rPr sz="1800" spc="-35" dirty="0">
                          <a:latin typeface="Calibri"/>
                          <a:cs typeface="Calibri"/>
                        </a:rPr>
                        <a:t> </a:t>
                      </a:r>
                      <a:r>
                        <a:rPr sz="1800" spc="-10" dirty="0">
                          <a:latin typeface="Calibri"/>
                          <a:cs typeface="Calibri"/>
                        </a:rPr>
                        <a:t>reasoning</a:t>
                      </a:r>
                      <a:endParaRPr sz="1800">
                        <a:latin typeface="Calibri"/>
                        <a:cs typeface="Calibri"/>
                      </a:endParaRPr>
                    </a:p>
                    <a:p>
                      <a:pPr marL="76835" indent="-81280">
                        <a:lnSpc>
                          <a:spcPct val="100000"/>
                        </a:lnSpc>
                        <a:buSzPct val="94444"/>
                        <a:buFont typeface="Arial MT"/>
                        <a:buChar char="•"/>
                        <a:tabLst>
                          <a:tab pos="76835" algn="l"/>
                        </a:tabLst>
                      </a:pPr>
                      <a:r>
                        <a:rPr sz="1800" spc="-10" dirty="0">
                          <a:latin typeface="Calibri"/>
                          <a:cs typeface="Calibri"/>
                        </a:rPr>
                        <a:t>Multi-agent</a:t>
                      </a:r>
                      <a:r>
                        <a:rPr sz="1800" spc="-35" dirty="0">
                          <a:latin typeface="Calibri"/>
                          <a:cs typeface="Calibri"/>
                        </a:rPr>
                        <a:t> </a:t>
                      </a:r>
                      <a:r>
                        <a:rPr sz="1800" spc="-5" dirty="0">
                          <a:latin typeface="Calibri"/>
                          <a:cs typeface="Calibri"/>
                        </a:rPr>
                        <a:t>planning</a:t>
                      </a:r>
                      <a:endParaRPr sz="1800">
                        <a:latin typeface="Calibri"/>
                        <a:cs typeface="Calibri"/>
                      </a:endParaRPr>
                    </a:p>
                    <a:p>
                      <a:pPr marL="76835" indent="-81280">
                        <a:lnSpc>
                          <a:spcPct val="100000"/>
                        </a:lnSpc>
                        <a:buSzPct val="94444"/>
                        <a:buFont typeface="Arial MT"/>
                        <a:buChar char="•"/>
                        <a:tabLst>
                          <a:tab pos="76835" algn="l"/>
                        </a:tabLst>
                      </a:pPr>
                      <a:r>
                        <a:rPr sz="1800" spc="-5" dirty="0">
                          <a:latin typeface="Calibri"/>
                          <a:cs typeface="Calibri"/>
                        </a:rPr>
                        <a:t>Scheduling</a:t>
                      </a:r>
                      <a:endParaRPr sz="1800">
                        <a:latin typeface="Calibri"/>
                        <a:cs typeface="Calibri"/>
                      </a:endParaRPr>
                    </a:p>
                    <a:p>
                      <a:pPr marL="76835" indent="-81280">
                        <a:lnSpc>
                          <a:spcPct val="100000"/>
                        </a:lnSpc>
                        <a:buSzPct val="94444"/>
                        <a:buFont typeface="Arial MT"/>
                        <a:buChar char="•"/>
                        <a:tabLst>
                          <a:tab pos="76835" algn="l"/>
                        </a:tabLst>
                      </a:pPr>
                      <a:r>
                        <a:rPr sz="1800" spc="-15" dirty="0">
                          <a:latin typeface="Calibri"/>
                          <a:cs typeface="Calibri"/>
                        </a:rPr>
                        <a:t>Data </a:t>
                      </a:r>
                      <a:r>
                        <a:rPr sz="1800" spc="-5" dirty="0">
                          <a:latin typeface="Calibri"/>
                          <a:cs typeface="Calibri"/>
                        </a:rPr>
                        <a:t>mining,</a:t>
                      </a:r>
                      <a:r>
                        <a:rPr sz="1800" spc="-15" dirty="0">
                          <a:latin typeface="Calibri"/>
                          <a:cs typeface="Calibri"/>
                        </a:rPr>
                        <a:t> </a:t>
                      </a:r>
                      <a:r>
                        <a:rPr sz="1800" spc="-25" dirty="0">
                          <a:latin typeface="Calibri"/>
                          <a:cs typeface="Calibri"/>
                        </a:rPr>
                        <a:t>Web</a:t>
                      </a:r>
                      <a:r>
                        <a:rPr sz="1800" spc="-15" dirty="0">
                          <a:latin typeface="Calibri"/>
                          <a:cs typeface="Calibri"/>
                        </a:rPr>
                        <a:t> Crawler</a:t>
                      </a:r>
                      <a:endParaRPr sz="1800">
                        <a:latin typeface="Calibri"/>
                        <a:cs typeface="Calibri"/>
                      </a:endParaRPr>
                    </a:p>
                    <a:p>
                      <a:pPr marL="76835" indent="-81280">
                        <a:lnSpc>
                          <a:spcPct val="100000"/>
                        </a:lnSpc>
                        <a:buSzPct val="94444"/>
                        <a:buFont typeface="Arial MT"/>
                        <a:buChar char="•"/>
                        <a:tabLst>
                          <a:tab pos="76835" algn="l"/>
                        </a:tabLst>
                      </a:pPr>
                      <a:r>
                        <a:rPr sz="1800" spc="-15" dirty="0">
                          <a:latin typeface="Calibri"/>
                          <a:cs typeface="Calibri"/>
                        </a:rPr>
                        <a:t>natural</a:t>
                      </a:r>
                      <a:r>
                        <a:rPr sz="1800" spc="-5" dirty="0">
                          <a:latin typeface="Calibri"/>
                          <a:cs typeface="Calibri"/>
                        </a:rPr>
                        <a:t> </a:t>
                      </a:r>
                      <a:r>
                        <a:rPr sz="1800" spc="-10" dirty="0">
                          <a:latin typeface="Calibri"/>
                          <a:cs typeface="Calibri"/>
                        </a:rPr>
                        <a:t>language</a:t>
                      </a:r>
                      <a:r>
                        <a:rPr sz="1800" dirty="0">
                          <a:latin typeface="Calibri"/>
                          <a:cs typeface="Calibri"/>
                        </a:rPr>
                        <a:t> </a:t>
                      </a:r>
                      <a:r>
                        <a:rPr sz="1800" spc="-10" dirty="0">
                          <a:latin typeface="Calibri"/>
                          <a:cs typeface="Calibri"/>
                        </a:rPr>
                        <a:t>understanding</a:t>
                      </a:r>
                      <a:r>
                        <a:rPr sz="1800" spc="-5" dirty="0">
                          <a:latin typeface="Calibri"/>
                          <a:cs typeface="Calibri"/>
                        </a:rPr>
                        <a:t> </a:t>
                      </a:r>
                      <a:r>
                        <a:rPr sz="1800" dirty="0">
                          <a:latin typeface="Calibri"/>
                          <a:cs typeface="Calibri"/>
                        </a:rPr>
                        <a:t>and </a:t>
                      </a:r>
                      <a:r>
                        <a:rPr sz="1800" spc="-10" dirty="0">
                          <a:latin typeface="Calibri"/>
                          <a:cs typeface="Calibri"/>
                        </a:rPr>
                        <a:t>translation</a:t>
                      </a:r>
                      <a:endParaRPr sz="1800">
                        <a:latin typeface="Calibri"/>
                        <a:cs typeface="Calibri"/>
                      </a:endParaRPr>
                    </a:p>
                    <a:p>
                      <a:pPr marL="76835" indent="-81280">
                        <a:lnSpc>
                          <a:spcPct val="100000"/>
                        </a:lnSpc>
                        <a:buSzPct val="94444"/>
                        <a:buFont typeface="Arial MT"/>
                        <a:buChar char="•"/>
                        <a:tabLst>
                          <a:tab pos="76835" algn="l"/>
                        </a:tabLst>
                      </a:pPr>
                      <a:r>
                        <a:rPr sz="1800" spc="-5" dirty="0">
                          <a:latin typeface="Calibri"/>
                          <a:cs typeface="Calibri"/>
                        </a:rPr>
                        <a:t>Vision,</a:t>
                      </a:r>
                      <a:r>
                        <a:rPr sz="1800" spc="-30" dirty="0">
                          <a:latin typeface="Calibri"/>
                          <a:cs typeface="Calibri"/>
                        </a:rPr>
                        <a:t> </a:t>
                      </a:r>
                      <a:r>
                        <a:rPr sz="1800" spc="-5" dirty="0">
                          <a:latin typeface="Calibri"/>
                          <a:cs typeface="Calibri"/>
                        </a:rPr>
                        <a:t>Virtual</a:t>
                      </a:r>
                      <a:r>
                        <a:rPr sz="1800" spc="-30" dirty="0">
                          <a:latin typeface="Calibri"/>
                          <a:cs typeface="Calibri"/>
                        </a:rPr>
                        <a:t> </a:t>
                      </a:r>
                      <a:r>
                        <a:rPr sz="1800" spc="-10" dirty="0">
                          <a:latin typeface="Calibri"/>
                          <a:cs typeface="Calibri"/>
                        </a:rPr>
                        <a:t>Reality</a:t>
                      </a:r>
                      <a:endParaRPr sz="1800">
                        <a:latin typeface="Calibri"/>
                        <a:cs typeface="Calibri"/>
                      </a:endParaRPr>
                    </a:p>
                    <a:p>
                      <a:pPr marL="76835" indent="-81280">
                        <a:lnSpc>
                          <a:spcPct val="100000"/>
                        </a:lnSpc>
                        <a:buSzPct val="94444"/>
                        <a:buFont typeface="Arial MT"/>
                        <a:buChar char="•"/>
                        <a:tabLst>
                          <a:tab pos="76835" algn="l"/>
                        </a:tabLst>
                      </a:pPr>
                      <a:r>
                        <a:rPr sz="1800" spc="-5" dirty="0">
                          <a:latin typeface="Calibri"/>
                          <a:cs typeface="Calibri"/>
                        </a:rPr>
                        <a:t>Games</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901799">
                <a:tc>
                  <a:txBody>
                    <a:bodyPr/>
                    <a:lstStyle/>
                    <a:p>
                      <a:pPr algn="ctr">
                        <a:lnSpc>
                          <a:spcPct val="100000"/>
                        </a:lnSpc>
                        <a:spcBef>
                          <a:spcPts val="225"/>
                        </a:spcBef>
                      </a:pPr>
                      <a:r>
                        <a:rPr sz="1800" spc="-5" dirty="0">
                          <a:latin typeface="Calibri"/>
                          <a:cs typeface="Calibri"/>
                        </a:rPr>
                        <a:t>1997</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95885">
                        <a:lnSpc>
                          <a:spcPct val="100000"/>
                        </a:lnSpc>
                        <a:spcBef>
                          <a:spcPts val="225"/>
                        </a:spcBef>
                      </a:pPr>
                      <a:r>
                        <a:rPr sz="1800" spc="-5" dirty="0">
                          <a:solidFill>
                            <a:srgbClr val="FF0000"/>
                          </a:solidFill>
                          <a:latin typeface="Calibri"/>
                          <a:cs typeface="Calibri"/>
                        </a:rPr>
                        <a:t>The</a:t>
                      </a:r>
                      <a:r>
                        <a:rPr sz="1800" spc="15" dirty="0">
                          <a:solidFill>
                            <a:srgbClr val="FF0000"/>
                          </a:solidFill>
                          <a:latin typeface="Calibri"/>
                          <a:cs typeface="Calibri"/>
                        </a:rPr>
                        <a:t> </a:t>
                      </a:r>
                      <a:r>
                        <a:rPr sz="1800" spc="-5" dirty="0">
                          <a:solidFill>
                            <a:srgbClr val="FF0000"/>
                          </a:solidFill>
                          <a:latin typeface="Calibri"/>
                          <a:cs typeface="Calibri"/>
                        </a:rPr>
                        <a:t>Deep</a:t>
                      </a:r>
                      <a:r>
                        <a:rPr sz="1800" spc="15" dirty="0">
                          <a:solidFill>
                            <a:srgbClr val="FF0000"/>
                          </a:solidFill>
                          <a:latin typeface="Calibri"/>
                          <a:cs typeface="Calibri"/>
                        </a:rPr>
                        <a:t> </a:t>
                      </a:r>
                      <a:r>
                        <a:rPr sz="1800" spc="-5" dirty="0">
                          <a:solidFill>
                            <a:srgbClr val="FF0000"/>
                          </a:solidFill>
                          <a:latin typeface="Calibri"/>
                          <a:cs typeface="Calibri"/>
                        </a:rPr>
                        <a:t>Blue</a:t>
                      </a:r>
                      <a:r>
                        <a:rPr sz="1800" spc="15" dirty="0">
                          <a:solidFill>
                            <a:srgbClr val="FF0000"/>
                          </a:solidFill>
                          <a:latin typeface="Calibri"/>
                          <a:cs typeface="Calibri"/>
                        </a:rPr>
                        <a:t> </a:t>
                      </a:r>
                      <a:r>
                        <a:rPr sz="1800" spc="-5" dirty="0">
                          <a:solidFill>
                            <a:srgbClr val="FF0000"/>
                          </a:solidFill>
                          <a:latin typeface="Calibri"/>
                          <a:cs typeface="Calibri"/>
                        </a:rPr>
                        <a:t>Chess</a:t>
                      </a:r>
                      <a:r>
                        <a:rPr sz="1800" spc="15" dirty="0">
                          <a:solidFill>
                            <a:srgbClr val="FF0000"/>
                          </a:solidFill>
                          <a:latin typeface="Calibri"/>
                          <a:cs typeface="Calibri"/>
                        </a:rPr>
                        <a:t> </a:t>
                      </a:r>
                      <a:r>
                        <a:rPr sz="1800" spc="-15" dirty="0">
                          <a:solidFill>
                            <a:srgbClr val="FF0000"/>
                          </a:solidFill>
                          <a:latin typeface="Calibri"/>
                          <a:cs typeface="Calibri"/>
                        </a:rPr>
                        <a:t>Program</a:t>
                      </a:r>
                      <a:r>
                        <a:rPr sz="1800" spc="25" dirty="0">
                          <a:solidFill>
                            <a:srgbClr val="FF0000"/>
                          </a:solidFill>
                          <a:latin typeface="Calibri"/>
                          <a:cs typeface="Calibri"/>
                        </a:rPr>
                        <a:t> </a:t>
                      </a:r>
                      <a:r>
                        <a:rPr sz="1800" spc="-10" dirty="0">
                          <a:solidFill>
                            <a:srgbClr val="FF0000"/>
                          </a:solidFill>
                          <a:latin typeface="Calibri"/>
                          <a:cs typeface="Calibri"/>
                        </a:rPr>
                        <a:t>beats</a:t>
                      </a:r>
                      <a:r>
                        <a:rPr sz="1800" spc="20" dirty="0">
                          <a:solidFill>
                            <a:srgbClr val="FF0000"/>
                          </a:solidFill>
                          <a:latin typeface="Calibri"/>
                          <a:cs typeface="Calibri"/>
                        </a:rPr>
                        <a:t> </a:t>
                      </a:r>
                      <a:r>
                        <a:rPr sz="1800" spc="-5" dirty="0">
                          <a:solidFill>
                            <a:srgbClr val="FF0000"/>
                          </a:solidFill>
                          <a:latin typeface="Calibri"/>
                          <a:cs typeface="Calibri"/>
                        </a:rPr>
                        <a:t>the</a:t>
                      </a:r>
                      <a:r>
                        <a:rPr sz="1800" spc="15" dirty="0">
                          <a:solidFill>
                            <a:srgbClr val="FF0000"/>
                          </a:solidFill>
                          <a:latin typeface="Calibri"/>
                          <a:cs typeface="Calibri"/>
                        </a:rPr>
                        <a:t> </a:t>
                      </a:r>
                      <a:r>
                        <a:rPr sz="1800" spc="-5" dirty="0">
                          <a:solidFill>
                            <a:srgbClr val="FF0000"/>
                          </a:solidFill>
                          <a:latin typeface="Calibri"/>
                          <a:cs typeface="Calibri"/>
                        </a:rPr>
                        <a:t>then</a:t>
                      </a:r>
                      <a:r>
                        <a:rPr sz="1800" spc="15" dirty="0">
                          <a:solidFill>
                            <a:srgbClr val="FF0000"/>
                          </a:solidFill>
                          <a:latin typeface="Calibri"/>
                          <a:cs typeface="Calibri"/>
                        </a:rPr>
                        <a:t> </a:t>
                      </a:r>
                      <a:r>
                        <a:rPr sz="1800" spc="-10" dirty="0">
                          <a:solidFill>
                            <a:srgbClr val="FF0000"/>
                          </a:solidFill>
                          <a:latin typeface="Calibri"/>
                          <a:cs typeface="Calibri"/>
                        </a:rPr>
                        <a:t>world</a:t>
                      </a:r>
                      <a:r>
                        <a:rPr sz="1800" spc="20" dirty="0">
                          <a:solidFill>
                            <a:srgbClr val="FF0000"/>
                          </a:solidFill>
                          <a:latin typeface="Calibri"/>
                          <a:cs typeface="Calibri"/>
                        </a:rPr>
                        <a:t> </a:t>
                      </a:r>
                      <a:r>
                        <a:rPr sz="1800" spc="-5" dirty="0">
                          <a:solidFill>
                            <a:srgbClr val="FF0000"/>
                          </a:solidFill>
                          <a:latin typeface="Calibri"/>
                          <a:cs typeface="Calibri"/>
                        </a:rPr>
                        <a:t>chess</a:t>
                      </a:r>
                      <a:r>
                        <a:rPr sz="1800" spc="415" dirty="0">
                          <a:solidFill>
                            <a:srgbClr val="FF0000"/>
                          </a:solidFill>
                          <a:latin typeface="Calibri"/>
                          <a:cs typeface="Calibri"/>
                        </a:rPr>
                        <a:t> </a:t>
                      </a:r>
                      <a:r>
                        <a:rPr sz="1800" spc="-5" dirty="0">
                          <a:solidFill>
                            <a:srgbClr val="FF0000"/>
                          </a:solidFill>
                          <a:latin typeface="Calibri"/>
                          <a:cs typeface="Calibri"/>
                        </a:rPr>
                        <a:t>champion, </a:t>
                      </a:r>
                      <a:r>
                        <a:rPr sz="1800" spc="-395" dirty="0">
                          <a:solidFill>
                            <a:srgbClr val="FF0000"/>
                          </a:solidFill>
                          <a:latin typeface="Calibri"/>
                          <a:cs typeface="Calibri"/>
                        </a:rPr>
                        <a:t> </a:t>
                      </a:r>
                      <a:r>
                        <a:rPr sz="1800" spc="-5" dirty="0">
                          <a:solidFill>
                            <a:srgbClr val="FF0000"/>
                          </a:solidFill>
                          <a:latin typeface="Calibri"/>
                          <a:cs typeface="Calibri"/>
                        </a:rPr>
                        <a:t>Garry</a:t>
                      </a:r>
                      <a:r>
                        <a:rPr sz="1800" spc="-10" dirty="0">
                          <a:solidFill>
                            <a:srgbClr val="FF0000"/>
                          </a:solidFill>
                          <a:latin typeface="Calibri"/>
                          <a:cs typeface="Calibri"/>
                        </a:rPr>
                        <a:t> </a:t>
                      </a:r>
                      <a:r>
                        <a:rPr sz="1800" spc="-25" dirty="0">
                          <a:solidFill>
                            <a:srgbClr val="FF0000"/>
                          </a:solidFill>
                          <a:latin typeface="Calibri"/>
                          <a:cs typeface="Calibri"/>
                        </a:rPr>
                        <a:t>Kasparov.</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1311124">
                <a:tc>
                  <a:txBody>
                    <a:bodyPr/>
                    <a:lstStyle/>
                    <a:p>
                      <a:pPr algn="ctr">
                        <a:lnSpc>
                          <a:spcPct val="100000"/>
                        </a:lnSpc>
                        <a:spcBef>
                          <a:spcPts val="225"/>
                        </a:spcBef>
                      </a:pPr>
                      <a:r>
                        <a:rPr sz="1800" spc="-5" dirty="0">
                          <a:latin typeface="Calibri"/>
                          <a:cs typeface="Calibri"/>
                        </a:rPr>
                        <a:t>2000</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200" marR="107314">
                        <a:lnSpc>
                          <a:spcPct val="100000"/>
                        </a:lnSpc>
                        <a:spcBef>
                          <a:spcPts val="225"/>
                        </a:spcBef>
                        <a:tabLst>
                          <a:tab pos="1355090" algn="l"/>
                          <a:tab pos="1682114" algn="l"/>
                          <a:tab pos="1933575" algn="l"/>
                          <a:tab pos="2160270" algn="l"/>
                          <a:tab pos="2357755" algn="l"/>
                          <a:tab pos="2588260" algn="l"/>
                          <a:tab pos="2849245" algn="l"/>
                          <a:tab pos="3140710" algn="l"/>
                          <a:tab pos="3241675" algn="l"/>
                          <a:tab pos="3392170" algn="l"/>
                          <a:tab pos="3885565" algn="l"/>
                          <a:tab pos="3919220" algn="l"/>
                          <a:tab pos="4123690" algn="l"/>
                          <a:tab pos="4440555" algn="l"/>
                          <a:tab pos="4516755" algn="l"/>
                          <a:tab pos="5412740" algn="l"/>
                          <a:tab pos="5482590" algn="l"/>
                          <a:tab pos="5658485" algn="l"/>
                          <a:tab pos="6211570" algn="l"/>
                          <a:tab pos="6555740" algn="l"/>
                          <a:tab pos="6577965" algn="l"/>
                        </a:tabLst>
                      </a:pPr>
                      <a:r>
                        <a:rPr sz="1800" spc="-5" dirty="0">
                          <a:latin typeface="Calibri"/>
                          <a:cs typeface="Calibri"/>
                        </a:rPr>
                        <a:t>I</a:t>
                      </a:r>
                      <a:r>
                        <a:rPr sz="1800" spc="-20" dirty="0">
                          <a:latin typeface="Calibri"/>
                          <a:cs typeface="Calibri"/>
                        </a:rPr>
                        <a:t>nt</a:t>
                      </a:r>
                      <a:r>
                        <a:rPr sz="1800" spc="-5" dirty="0">
                          <a:latin typeface="Calibri"/>
                          <a:cs typeface="Calibri"/>
                        </a:rPr>
                        <a:t>e</a:t>
                      </a:r>
                      <a:r>
                        <a:rPr sz="1800" spc="-40" dirty="0">
                          <a:latin typeface="Calibri"/>
                          <a:cs typeface="Calibri"/>
                        </a:rPr>
                        <a:t>r</a:t>
                      </a:r>
                      <a:r>
                        <a:rPr sz="1800" dirty="0">
                          <a:latin typeface="Calibri"/>
                          <a:cs typeface="Calibri"/>
                        </a:rPr>
                        <a:t>acti</a:t>
                      </a:r>
                      <a:r>
                        <a:rPr sz="1800" spc="-20" dirty="0">
                          <a:latin typeface="Calibri"/>
                          <a:cs typeface="Calibri"/>
                        </a:rPr>
                        <a:t>v</a:t>
                      </a:r>
                      <a:r>
                        <a:rPr sz="1800" dirty="0">
                          <a:latin typeface="Calibri"/>
                          <a:cs typeface="Calibri"/>
                        </a:rPr>
                        <a:t>e	</a:t>
                      </a:r>
                      <a:r>
                        <a:rPr sz="1800" spc="-30" dirty="0">
                          <a:latin typeface="Calibri"/>
                          <a:cs typeface="Calibri"/>
                        </a:rPr>
                        <a:t>r</a:t>
                      </a:r>
                      <a:r>
                        <a:rPr sz="1800" spc="-5" dirty="0">
                          <a:latin typeface="Calibri"/>
                          <a:cs typeface="Calibri"/>
                        </a:rPr>
                        <a:t>obo</a:t>
                      </a:r>
                      <a:r>
                        <a:rPr sz="1800" dirty="0">
                          <a:latin typeface="Calibri"/>
                          <a:cs typeface="Calibri"/>
                        </a:rPr>
                        <a:t>t		</a:t>
                      </a:r>
                      <a:r>
                        <a:rPr sz="1800" spc="-5" dirty="0">
                          <a:latin typeface="Calibri"/>
                          <a:cs typeface="Calibri"/>
                        </a:rPr>
                        <a:t>p</a:t>
                      </a:r>
                      <a:r>
                        <a:rPr sz="1800" spc="-10" dirty="0">
                          <a:latin typeface="Calibri"/>
                          <a:cs typeface="Calibri"/>
                        </a:rPr>
                        <a:t>e</a:t>
                      </a:r>
                      <a:r>
                        <a:rPr sz="1800" spc="-5" dirty="0">
                          <a:latin typeface="Calibri"/>
                          <a:cs typeface="Calibri"/>
                        </a:rPr>
                        <a:t>t</a:t>
                      </a:r>
                      <a:r>
                        <a:rPr sz="1800" dirty="0">
                          <a:latin typeface="Calibri"/>
                          <a:cs typeface="Calibri"/>
                        </a:rPr>
                        <a:t>s		</a:t>
                      </a:r>
                      <a:r>
                        <a:rPr sz="1800" spc="-5" dirty="0">
                          <a:latin typeface="Calibri"/>
                          <a:cs typeface="Calibri"/>
                        </a:rPr>
                        <a:t>be</a:t>
                      </a:r>
                      <a:r>
                        <a:rPr sz="1800" spc="-20" dirty="0">
                          <a:latin typeface="Calibri"/>
                          <a:cs typeface="Calibri"/>
                        </a:rPr>
                        <a:t>c</a:t>
                      </a:r>
                      <a:r>
                        <a:rPr sz="1800" spc="-5" dirty="0">
                          <a:latin typeface="Calibri"/>
                          <a:cs typeface="Calibri"/>
                        </a:rPr>
                        <a:t>om</a:t>
                      </a:r>
                      <a:r>
                        <a:rPr sz="1800" dirty="0">
                          <a:latin typeface="Calibri"/>
                          <a:cs typeface="Calibri"/>
                        </a:rPr>
                        <a:t>e	</a:t>
                      </a:r>
                      <a:r>
                        <a:rPr sz="1800" spc="-20" dirty="0">
                          <a:latin typeface="Calibri"/>
                          <a:cs typeface="Calibri"/>
                        </a:rPr>
                        <a:t>c</a:t>
                      </a:r>
                      <a:r>
                        <a:rPr sz="1800" spc="-5" dirty="0">
                          <a:latin typeface="Calibri"/>
                          <a:cs typeface="Calibri"/>
                        </a:rPr>
                        <a:t>omme</a:t>
                      </a:r>
                      <a:r>
                        <a:rPr sz="1800" spc="-30" dirty="0">
                          <a:latin typeface="Calibri"/>
                          <a:cs typeface="Calibri"/>
                        </a:rPr>
                        <a:t>r</a:t>
                      </a:r>
                      <a:r>
                        <a:rPr sz="1800" spc="-5" dirty="0">
                          <a:latin typeface="Calibri"/>
                          <a:cs typeface="Calibri"/>
                        </a:rPr>
                        <a:t>ciall</a:t>
                      </a:r>
                      <a:r>
                        <a:rPr sz="1800" dirty="0">
                          <a:latin typeface="Calibri"/>
                          <a:cs typeface="Calibri"/>
                        </a:rPr>
                        <a:t>y	</a:t>
                      </a:r>
                      <a:r>
                        <a:rPr sz="1800" spc="-30" dirty="0">
                          <a:latin typeface="Calibri"/>
                          <a:cs typeface="Calibri"/>
                        </a:rPr>
                        <a:t>av</a:t>
                      </a:r>
                      <a:r>
                        <a:rPr sz="1800" dirty="0">
                          <a:latin typeface="Calibri"/>
                          <a:cs typeface="Calibri"/>
                        </a:rPr>
                        <a:t>ailable.		</a:t>
                      </a:r>
                      <a:r>
                        <a:rPr sz="1800" spc="-5" dirty="0">
                          <a:latin typeface="Calibri"/>
                          <a:cs typeface="Calibri"/>
                        </a:rPr>
                        <a:t>MIT  </a:t>
                      </a:r>
                      <a:r>
                        <a:rPr sz="1800" spc="-10" dirty="0">
                          <a:latin typeface="Calibri"/>
                          <a:cs typeface="Calibri"/>
                        </a:rPr>
                        <a:t>displays</a:t>
                      </a:r>
                      <a:r>
                        <a:rPr sz="1800" dirty="0">
                          <a:latin typeface="Calibri"/>
                          <a:cs typeface="Calibri"/>
                        </a:rPr>
                        <a:t> </a:t>
                      </a:r>
                      <a:r>
                        <a:rPr sz="1800" i="1" spc="-5" dirty="0">
                          <a:latin typeface="Calibri"/>
                          <a:cs typeface="Calibri"/>
                        </a:rPr>
                        <a:t>Kismet</a:t>
                      </a:r>
                      <a:r>
                        <a:rPr sz="1800" spc="-5" dirty="0">
                          <a:latin typeface="Calibri"/>
                          <a:cs typeface="Calibri"/>
                        </a:rPr>
                        <a:t>,	</a:t>
                      </a:r>
                      <a:r>
                        <a:rPr sz="1800" dirty="0">
                          <a:latin typeface="Calibri"/>
                          <a:cs typeface="Calibri"/>
                        </a:rPr>
                        <a:t>a	</a:t>
                      </a:r>
                      <a:r>
                        <a:rPr sz="1800" spc="-10" dirty="0">
                          <a:latin typeface="Calibri"/>
                          <a:cs typeface="Calibri"/>
                        </a:rPr>
                        <a:t>robot	</a:t>
                      </a:r>
                      <a:r>
                        <a:rPr sz="1800" spc="-5" dirty="0">
                          <a:latin typeface="Calibri"/>
                          <a:cs typeface="Calibri"/>
                        </a:rPr>
                        <a:t>with	</a:t>
                      </a:r>
                      <a:r>
                        <a:rPr sz="1800" dirty="0">
                          <a:latin typeface="Calibri"/>
                          <a:cs typeface="Calibri"/>
                        </a:rPr>
                        <a:t>a	</a:t>
                      </a:r>
                      <a:r>
                        <a:rPr sz="1800" spc="-10" dirty="0">
                          <a:latin typeface="Calibri"/>
                          <a:cs typeface="Calibri"/>
                        </a:rPr>
                        <a:t>face		that	expresses		</a:t>
                      </a:r>
                      <a:r>
                        <a:rPr sz="1800" spc="-5" dirty="0">
                          <a:latin typeface="Calibri"/>
                          <a:cs typeface="Calibri"/>
                        </a:rPr>
                        <a:t>emotions.	The </a:t>
                      </a:r>
                      <a:r>
                        <a:rPr sz="1800" spc="-395" dirty="0">
                          <a:latin typeface="Calibri"/>
                          <a:cs typeface="Calibri"/>
                        </a:rPr>
                        <a:t> </a:t>
                      </a:r>
                      <a:r>
                        <a:rPr sz="1800" spc="-10" dirty="0">
                          <a:latin typeface="Calibri"/>
                          <a:cs typeface="Calibri"/>
                        </a:rPr>
                        <a:t>robot</a:t>
                      </a:r>
                      <a:r>
                        <a:rPr sz="1800" dirty="0">
                          <a:latin typeface="Calibri"/>
                          <a:cs typeface="Calibri"/>
                        </a:rPr>
                        <a:t> </a:t>
                      </a:r>
                      <a:r>
                        <a:rPr sz="1800" i="1" spc="-5" dirty="0">
                          <a:latin typeface="Calibri"/>
                          <a:cs typeface="Calibri"/>
                        </a:rPr>
                        <a:t>Nomad</a:t>
                      </a:r>
                      <a:r>
                        <a:rPr sz="1800" i="1" spc="5" dirty="0">
                          <a:latin typeface="Calibri"/>
                          <a:cs typeface="Calibri"/>
                        </a:rPr>
                        <a:t> </a:t>
                      </a:r>
                      <a:r>
                        <a:rPr sz="1800" spc="-10" dirty="0">
                          <a:latin typeface="Calibri"/>
                          <a:cs typeface="Calibri"/>
                        </a:rPr>
                        <a:t>explores		remote		regions	</a:t>
                      </a:r>
                      <a:r>
                        <a:rPr sz="1800" spc="-5" dirty="0">
                          <a:latin typeface="Calibri"/>
                          <a:cs typeface="Calibri"/>
                        </a:rPr>
                        <a:t>of		</a:t>
                      </a:r>
                      <a:r>
                        <a:rPr sz="1800" spc="-15" dirty="0">
                          <a:latin typeface="Calibri"/>
                          <a:cs typeface="Calibri"/>
                        </a:rPr>
                        <a:t>Antarctica		</a:t>
                      </a:r>
                      <a:r>
                        <a:rPr sz="1800" dirty="0">
                          <a:latin typeface="Calibri"/>
                          <a:cs typeface="Calibri"/>
                        </a:rPr>
                        <a:t>and	</a:t>
                      </a:r>
                      <a:r>
                        <a:rPr sz="1800" spc="-15" dirty="0">
                          <a:latin typeface="Calibri"/>
                          <a:cs typeface="Calibri"/>
                        </a:rPr>
                        <a:t>locates </a:t>
                      </a:r>
                      <a:r>
                        <a:rPr sz="1800" spc="-10" dirty="0">
                          <a:latin typeface="Calibri"/>
                          <a:cs typeface="Calibri"/>
                        </a:rPr>
                        <a:t> meteorites.</a:t>
                      </a:r>
                      <a:endParaRPr sz="1800">
                        <a:latin typeface="Calibri"/>
                        <a:cs typeface="Calibri"/>
                      </a:endParaRPr>
                    </a:p>
                  </a:txBody>
                  <a:tcPr marL="0" marR="0" marT="285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bl>
          </a:graphicData>
        </a:graphic>
      </p:graphicFrame>
    </p:spTree>
    <p:extLst>
      <p:ext uri="{BB962C8B-B14F-4D97-AF65-F5344CB8AC3E}">
        <p14:creationId xmlns:p14="http://schemas.microsoft.com/office/powerpoint/2010/main" val="270548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8280" y="404640"/>
            <a:ext cx="7777079" cy="5616719"/>
          </a:xfrm>
          <a:prstGeom prst="rect">
            <a:avLst/>
          </a:prstGeom>
        </p:spPr>
      </p:pic>
    </p:spTree>
    <p:extLst>
      <p:ext uri="{BB962C8B-B14F-4D97-AF65-F5344CB8AC3E}">
        <p14:creationId xmlns:p14="http://schemas.microsoft.com/office/powerpoint/2010/main" val="2825860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6978" y="2494727"/>
            <a:ext cx="3985260" cy="695960"/>
          </a:xfrm>
          <a:prstGeom prst="rect">
            <a:avLst/>
          </a:prstGeom>
        </p:spPr>
        <p:txBody>
          <a:bodyPr vert="horz" wrap="square" lIns="0" tIns="12700" rIns="0" bIns="0" rtlCol="0">
            <a:spAutoFit/>
          </a:bodyPr>
          <a:lstStyle/>
          <a:p>
            <a:pPr marL="12700">
              <a:lnSpc>
                <a:spcPct val="100000"/>
              </a:lnSpc>
              <a:spcBef>
                <a:spcPts val="100"/>
              </a:spcBef>
            </a:pPr>
            <a:r>
              <a:rPr spc="-20" dirty="0"/>
              <a:t>Intelligent</a:t>
            </a:r>
            <a:r>
              <a:rPr spc="-80" dirty="0"/>
              <a:t> </a:t>
            </a:r>
            <a:r>
              <a:rPr spc="-20" dirty="0"/>
              <a:t>Agents</a:t>
            </a:r>
          </a:p>
        </p:txBody>
      </p:sp>
    </p:spTree>
    <p:extLst>
      <p:ext uri="{BB962C8B-B14F-4D97-AF65-F5344CB8AC3E}">
        <p14:creationId xmlns:p14="http://schemas.microsoft.com/office/powerpoint/2010/main" val="3688152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2493" y="475487"/>
            <a:ext cx="1577340" cy="695960"/>
          </a:xfrm>
          <a:prstGeom prst="rect">
            <a:avLst/>
          </a:prstGeom>
        </p:spPr>
        <p:txBody>
          <a:bodyPr vert="horz" wrap="square" lIns="0" tIns="12700" rIns="0" bIns="0" rtlCol="0">
            <a:spAutoFit/>
          </a:bodyPr>
          <a:lstStyle/>
          <a:p>
            <a:pPr marL="12700">
              <a:lnSpc>
                <a:spcPct val="100000"/>
              </a:lnSpc>
              <a:spcBef>
                <a:spcPts val="100"/>
              </a:spcBef>
            </a:pPr>
            <a:r>
              <a:rPr spc="-5" dirty="0"/>
              <a:t>A</a:t>
            </a:r>
            <a:r>
              <a:rPr spc="-40" dirty="0"/>
              <a:t>g</a:t>
            </a:r>
            <a:r>
              <a:rPr spc="-5" dirty="0"/>
              <a:t>e</a:t>
            </a:r>
            <a:r>
              <a:rPr spc="-45" dirty="0"/>
              <a:t>n</a:t>
            </a:r>
            <a:r>
              <a:rPr spc="-5" dirty="0"/>
              <a:t>ts</a:t>
            </a:r>
          </a:p>
        </p:txBody>
      </p:sp>
      <p:sp>
        <p:nvSpPr>
          <p:cNvPr id="3" name="object 3"/>
          <p:cNvSpPr txBox="1"/>
          <p:nvPr/>
        </p:nvSpPr>
        <p:spPr>
          <a:xfrm>
            <a:off x="591180" y="1549603"/>
            <a:ext cx="7980045" cy="4383405"/>
          </a:xfrm>
          <a:prstGeom prst="rect">
            <a:avLst/>
          </a:prstGeom>
        </p:spPr>
        <p:txBody>
          <a:bodyPr vert="horz" wrap="square" lIns="0" tIns="88900" rIns="0" bIns="0" rtlCol="0">
            <a:spAutoFit/>
          </a:bodyPr>
          <a:lstStyle/>
          <a:p>
            <a:pPr marL="294005" marR="5080" indent="-259079" algn="just">
              <a:lnSpc>
                <a:spcPts val="4750"/>
              </a:lnSpc>
              <a:spcBef>
                <a:spcPts val="700"/>
              </a:spcBef>
              <a:buFont typeface="Arial MT"/>
              <a:buChar char="•"/>
              <a:tabLst>
                <a:tab pos="294640" algn="l"/>
              </a:tabLst>
            </a:pPr>
            <a:r>
              <a:rPr sz="4400" spc="-5" dirty="0">
                <a:latin typeface="Calibri"/>
                <a:cs typeface="Calibri"/>
              </a:rPr>
              <a:t>An </a:t>
            </a:r>
            <a:r>
              <a:rPr sz="4400" spc="-20" dirty="0">
                <a:solidFill>
                  <a:srgbClr val="FF0000"/>
                </a:solidFill>
                <a:latin typeface="Calibri"/>
                <a:cs typeface="Calibri"/>
              </a:rPr>
              <a:t>agent </a:t>
            </a:r>
            <a:r>
              <a:rPr sz="4400" spc="-5" dirty="0">
                <a:latin typeface="Calibri"/>
                <a:cs typeface="Calibri"/>
              </a:rPr>
              <a:t>is </a:t>
            </a:r>
            <a:r>
              <a:rPr sz="4400" spc="-15" dirty="0">
                <a:latin typeface="Calibri"/>
                <a:cs typeface="Calibri"/>
              </a:rPr>
              <a:t>anything that can </a:t>
            </a:r>
            <a:r>
              <a:rPr sz="4400" spc="-5" dirty="0">
                <a:latin typeface="Calibri"/>
                <a:cs typeface="Calibri"/>
              </a:rPr>
              <a:t>be </a:t>
            </a:r>
            <a:r>
              <a:rPr sz="4400" dirty="0">
                <a:latin typeface="Calibri"/>
                <a:cs typeface="Calibri"/>
              </a:rPr>
              <a:t> </a:t>
            </a:r>
            <a:r>
              <a:rPr sz="4400" spc="-15" dirty="0">
                <a:latin typeface="Calibri"/>
                <a:cs typeface="Calibri"/>
              </a:rPr>
              <a:t>viewed</a:t>
            </a:r>
            <a:r>
              <a:rPr sz="4400" spc="-10" dirty="0">
                <a:latin typeface="Calibri"/>
                <a:cs typeface="Calibri"/>
              </a:rPr>
              <a:t> </a:t>
            </a:r>
            <a:r>
              <a:rPr sz="4400" dirty="0">
                <a:latin typeface="Calibri"/>
                <a:cs typeface="Calibri"/>
              </a:rPr>
              <a:t>as</a:t>
            </a:r>
            <a:r>
              <a:rPr sz="4400" spc="5" dirty="0">
                <a:latin typeface="Calibri"/>
                <a:cs typeface="Calibri"/>
              </a:rPr>
              <a:t> </a:t>
            </a:r>
            <a:r>
              <a:rPr sz="4400" spc="-15" dirty="0">
                <a:solidFill>
                  <a:srgbClr val="FF0000"/>
                </a:solidFill>
                <a:latin typeface="Calibri"/>
                <a:cs typeface="Calibri"/>
              </a:rPr>
              <a:t>perceiving</a:t>
            </a:r>
            <a:r>
              <a:rPr sz="4400" spc="-10" dirty="0">
                <a:solidFill>
                  <a:srgbClr val="FF0000"/>
                </a:solidFill>
                <a:latin typeface="Calibri"/>
                <a:cs typeface="Calibri"/>
              </a:rPr>
              <a:t> </a:t>
            </a:r>
            <a:r>
              <a:rPr sz="4400" spc="-5" dirty="0">
                <a:latin typeface="Calibri"/>
                <a:cs typeface="Calibri"/>
              </a:rPr>
              <a:t>its </a:t>
            </a:r>
            <a:r>
              <a:rPr sz="4400" dirty="0">
                <a:latin typeface="Calibri"/>
                <a:cs typeface="Calibri"/>
              </a:rPr>
              <a:t> </a:t>
            </a:r>
            <a:r>
              <a:rPr sz="4400" spc="-25" dirty="0">
                <a:solidFill>
                  <a:srgbClr val="FF0000"/>
                </a:solidFill>
                <a:latin typeface="Calibri"/>
                <a:cs typeface="Calibri"/>
              </a:rPr>
              <a:t>environment </a:t>
            </a:r>
            <a:r>
              <a:rPr sz="4400" spc="-15" dirty="0">
                <a:latin typeface="Calibri"/>
                <a:cs typeface="Calibri"/>
              </a:rPr>
              <a:t>through </a:t>
            </a:r>
            <a:r>
              <a:rPr sz="4400" spc="-15" dirty="0">
                <a:solidFill>
                  <a:srgbClr val="FF0000"/>
                </a:solidFill>
                <a:latin typeface="Calibri"/>
                <a:cs typeface="Calibri"/>
              </a:rPr>
              <a:t>sensors </a:t>
            </a:r>
            <a:r>
              <a:rPr sz="4400" dirty="0">
                <a:latin typeface="Calibri"/>
                <a:cs typeface="Calibri"/>
              </a:rPr>
              <a:t>and </a:t>
            </a:r>
            <a:r>
              <a:rPr sz="4400" spc="-980" dirty="0">
                <a:latin typeface="Calibri"/>
                <a:cs typeface="Calibri"/>
              </a:rPr>
              <a:t> </a:t>
            </a:r>
            <a:r>
              <a:rPr sz="4400" dirty="0">
                <a:solidFill>
                  <a:srgbClr val="FF0000"/>
                </a:solidFill>
                <a:latin typeface="Calibri"/>
                <a:cs typeface="Calibri"/>
              </a:rPr>
              <a:t>acting</a:t>
            </a:r>
            <a:r>
              <a:rPr sz="4400" spc="5" dirty="0">
                <a:solidFill>
                  <a:srgbClr val="FF0000"/>
                </a:solidFill>
                <a:latin typeface="Calibri"/>
                <a:cs typeface="Calibri"/>
              </a:rPr>
              <a:t> </a:t>
            </a:r>
            <a:r>
              <a:rPr sz="4400" spc="-5" dirty="0">
                <a:latin typeface="Calibri"/>
                <a:cs typeface="Calibri"/>
              </a:rPr>
              <a:t>upon</a:t>
            </a:r>
            <a:r>
              <a:rPr sz="4400" dirty="0">
                <a:latin typeface="Calibri"/>
                <a:cs typeface="Calibri"/>
              </a:rPr>
              <a:t> </a:t>
            </a:r>
            <a:r>
              <a:rPr sz="4400" spc="-15" dirty="0">
                <a:latin typeface="Calibri"/>
                <a:cs typeface="Calibri"/>
              </a:rPr>
              <a:t>that</a:t>
            </a:r>
            <a:r>
              <a:rPr sz="4400" spc="-10" dirty="0">
                <a:latin typeface="Calibri"/>
                <a:cs typeface="Calibri"/>
              </a:rPr>
              <a:t> </a:t>
            </a:r>
            <a:r>
              <a:rPr sz="4400" spc="-25" dirty="0">
                <a:latin typeface="Calibri"/>
                <a:cs typeface="Calibri"/>
              </a:rPr>
              <a:t>environment </a:t>
            </a:r>
            <a:r>
              <a:rPr sz="4400" spc="-20" dirty="0">
                <a:latin typeface="Calibri"/>
                <a:cs typeface="Calibri"/>
              </a:rPr>
              <a:t> </a:t>
            </a:r>
            <a:r>
              <a:rPr sz="4400" spc="-15" dirty="0">
                <a:latin typeface="Calibri"/>
                <a:cs typeface="Calibri"/>
              </a:rPr>
              <a:t>through</a:t>
            </a:r>
            <a:r>
              <a:rPr sz="4400" spc="10" dirty="0">
                <a:latin typeface="Calibri"/>
                <a:cs typeface="Calibri"/>
              </a:rPr>
              <a:t> </a:t>
            </a:r>
            <a:r>
              <a:rPr sz="4400" spc="-20" dirty="0">
                <a:solidFill>
                  <a:srgbClr val="FF0000"/>
                </a:solidFill>
                <a:latin typeface="Calibri"/>
                <a:cs typeface="Calibri"/>
              </a:rPr>
              <a:t>actuators</a:t>
            </a:r>
            <a:endParaRPr sz="4400" dirty="0">
              <a:latin typeface="Calibri"/>
              <a:cs typeface="Calibri"/>
            </a:endParaRPr>
          </a:p>
          <a:p>
            <a:pPr>
              <a:lnSpc>
                <a:spcPct val="100000"/>
              </a:lnSpc>
              <a:spcBef>
                <a:spcPts val="15"/>
              </a:spcBef>
            </a:pPr>
            <a:endParaRPr sz="5000" dirty="0">
              <a:latin typeface="Calibri"/>
              <a:cs typeface="Calibri"/>
            </a:endParaRPr>
          </a:p>
          <a:p>
            <a:pPr marL="12700">
              <a:lnSpc>
                <a:spcPct val="100000"/>
              </a:lnSpc>
            </a:pPr>
            <a:r>
              <a:rPr sz="3200" dirty="0">
                <a:latin typeface="Arial MT"/>
                <a:cs typeface="Arial MT"/>
              </a:rPr>
              <a:t>•</a:t>
            </a:r>
          </a:p>
        </p:txBody>
      </p:sp>
    </p:spTree>
    <p:extLst>
      <p:ext uri="{BB962C8B-B14F-4D97-AF65-F5344CB8AC3E}">
        <p14:creationId xmlns:p14="http://schemas.microsoft.com/office/powerpoint/2010/main" val="1815753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3805" y="475487"/>
            <a:ext cx="3272790" cy="695960"/>
          </a:xfrm>
          <a:prstGeom prst="rect">
            <a:avLst/>
          </a:prstGeom>
        </p:spPr>
        <p:txBody>
          <a:bodyPr vert="horz" wrap="square" lIns="0" tIns="12700" rIns="0" bIns="0" rtlCol="0">
            <a:spAutoFit/>
          </a:bodyPr>
          <a:lstStyle/>
          <a:p>
            <a:pPr marL="12700">
              <a:lnSpc>
                <a:spcPct val="100000"/>
              </a:lnSpc>
              <a:spcBef>
                <a:spcPts val="100"/>
              </a:spcBef>
            </a:pPr>
            <a:r>
              <a:rPr spc="-20" dirty="0"/>
              <a:t>Agents</a:t>
            </a:r>
            <a:r>
              <a:rPr spc="-75" dirty="0"/>
              <a:t> </a:t>
            </a:r>
            <a:r>
              <a:rPr spc="-25" dirty="0"/>
              <a:t>contd..</a:t>
            </a:r>
          </a:p>
        </p:txBody>
      </p:sp>
      <p:sp>
        <p:nvSpPr>
          <p:cNvPr id="3" name="object 3"/>
          <p:cNvSpPr txBox="1"/>
          <p:nvPr/>
        </p:nvSpPr>
        <p:spPr>
          <a:xfrm>
            <a:off x="591180" y="1570329"/>
            <a:ext cx="8006715" cy="3349625"/>
          </a:xfrm>
          <a:prstGeom prst="rect">
            <a:avLst/>
          </a:prstGeom>
        </p:spPr>
        <p:txBody>
          <a:bodyPr vert="horz" wrap="square" lIns="0" tIns="67310" rIns="0" bIns="0" rtlCol="0">
            <a:spAutoFit/>
          </a:bodyPr>
          <a:lstStyle/>
          <a:p>
            <a:pPr marL="294005" marR="5080" indent="-281940" algn="just">
              <a:lnSpc>
                <a:spcPts val="3460"/>
              </a:lnSpc>
              <a:spcBef>
                <a:spcPts val="530"/>
              </a:spcBef>
              <a:buFont typeface="Arial MT"/>
              <a:buChar char="•"/>
              <a:tabLst>
                <a:tab pos="294640" algn="l"/>
              </a:tabLst>
            </a:pPr>
            <a:r>
              <a:rPr sz="3200" spc="-5" dirty="0">
                <a:latin typeface="Calibri"/>
                <a:cs typeface="Calibri"/>
              </a:rPr>
              <a:t>Human </a:t>
            </a:r>
            <a:r>
              <a:rPr sz="3200" spc="-15" dirty="0">
                <a:latin typeface="Calibri"/>
                <a:cs typeface="Calibri"/>
              </a:rPr>
              <a:t>agent: </a:t>
            </a:r>
            <a:r>
              <a:rPr sz="3200" spc="-20" dirty="0">
                <a:latin typeface="Calibri"/>
                <a:cs typeface="Calibri"/>
              </a:rPr>
              <a:t>eyes, </a:t>
            </a:r>
            <a:r>
              <a:rPr sz="3200" spc="-15" dirty="0">
                <a:latin typeface="Calibri"/>
                <a:cs typeface="Calibri"/>
              </a:rPr>
              <a:t>ears, </a:t>
            </a:r>
            <a:r>
              <a:rPr sz="3200" dirty="0">
                <a:latin typeface="Calibri"/>
                <a:cs typeface="Calibri"/>
              </a:rPr>
              <a:t>and </a:t>
            </a:r>
            <a:r>
              <a:rPr sz="3200" spc="-5" dirty="0">
                <a:latin typeface="Calibri"/>
                <a:cs typeface="Calibri"/>
              </a:rPr>
              <a:t>other </a:t>
            </a:r>
            <a:r>
              <a:rPr sz="3200" spc="-20" dirty="0">
                <a:latin typeface="Calibri"/>
                <a:cs typeface="Calibri"/>
              </a:rPr>
              <a:t>organs </a:t>
            </a:r>
            <a:r>
              <a:rPr sz="3200" spc="-25" dirty="0">
                <a:latin typeface="Calibri"/>
                <a:cs typeface="Calibri"/>
              </a:rPr>
              <a:t>for </a:t>
            </a:r>
            <a:r>
              <a:rPr sz="3200" spc="-20" dirty="0">
                <a:latin typeface="Calibri"/>
                <a:cs typeface="Calibri"/>
              </a:rPr>
              <a:t> </a:t>
            </a:r>
            <a:r>
              <a:rPr sz="3200" spc="-15" dirty="0">
                <a:latin typeface="Calibri"/>
                <a:cs typeface="Calibri"/>
              </a:rPr>
              <a:t>sensors</a:t>
            </a:r>
            <a:r>
              <a:rPr sz="3200" spc="-10" dirty="0">
                <a:latin typeface="Calibri"/>
                <a:cs typeface="Calibri"/>
              </a:rPr>
              <a:t> </a:t>
            </a:r>
            <a:r>
              <a:rPr sz="3200" spc="-5" dirty="0">
                <a:latin typeface="Calibri"/>
                <a:cs typeface="Calibri"/>
              </a:rPr>
              <a:t>hands,legs,</a:t>
            </a:r>
            <a:r>
              <a:rPr sz="3200" dirty="0">
                <a:latin typeface="Calibri"/>
                <a:cs typeface="Calibri"/>
              </a:rPr>
              <a:t> </a:t>
            </a:r>
            <a:r>
              <a:rPr sz="3200" spc="-10" dirty="0">
                <a:latin typeface="Calibri"/>
                <a:cs typeface="Calibri"/>
              </a:rPr>
              <a:t>mouth,</a:t>
            </a:r>
            <a:r>
              <a:rPr sz="3200" spc="-5" dirty="0">
                <a:latin typeface="Calibri"/>
                <a:cs typeface="Calibri"/>
              </a:rPr>
              <a:t> </a:t>
            </a:r>
            <a:r>
              <a:rPr sz="3200" dirty="0">
                <a:latin typeface="Calibri"/>
                <a:cs typeface="Calibri"/>
              </a:rPr>
              <a:t>and</a:t>
            </a:r>
            <a:r>
              <a:rPr sz="3200" spc="5" dirty="0">
                <a:latin typeface="Calibri"/>
                <a:cs typeface="Calibri"/>
              </a:rPr>
              <a:t> </a:t>
            </a:r>
            <a:r>
              <a:rPr sz="3200" spc="-5" dirty="0">
                <a:latin typeface="Calibri"/>
                <a:cs typeface="Calibri"/>
              </a:rPr>
              <a:t>other</a:t>
            </a:r>
            <a:r>
              <a:rPr sz="3200" dirty="0">
                <a:latin typeface="Calibri"/>
                <a:cs typeface="Calibri"/>
              </a:rPr>
              <a:t> </a:t>
            </a:r>
            <a:r>
              <a:rPr sz="3200" spc="-5" dirty="0">
                <a:latin typeface="Calibri"/>
                <a:cs typeface="Calibri"/>
              </a:rPr>
              <a:t>body </a:t>
            </a:r>
            <a:r>
              <a:rPr sz="3200" dirty="0">
                <a:latin typeface="Calibri"/>
                <a:cs typeface="Calibri"/>
              </a:rPr>
              <a:t> </a:t>
            </a:r>
            <a:r>
              <a:rPr sz="3200" spc="-5" dirty="0">
                <a:latin typeface="Calibri"/>
                <a:cs typeface="Calibri"/>
              </a:rPr>
              <a:t>parts</a:t>
            </a:r>
            <a:r>
              <a:rPr sz="3200" spc="-10" dirty="0">
                <a:latin typeface="Calibri"/>
                <a:cs typeface="Calibri"/>
              </a:rPr>
              <a:t> </a:t>
            </a:r>
            <a:r>
              <a:rPr sz="3200" spc="-25" dirty="0">
                <a:latin typeface="Calibri"/>
                <a:cs typeface="Calibri"/>
              </a:rPr>
              <a:t>for</a:t>
            </a:r>
            <a:r>
              <a:rPr sz="3200" spc="-5" dirty="0">
                <a:latin typeface="Calibri"/>
                <a:cs typeface="Calibri"/>
              </a:rPr>
              <a:t> </a:t>
            </a:r>
            <a:r>
              <a:rPr sz="3200" spc="-15" dirty="0">
                <a:latin typeface="Calibri"/>
                <a:cs typeface="Calibri"/>
              </a:rPr>
              <a:t>actuators.</a:t>
            </a:r>
            <a:endParaRPr sz="3200" dirty="0">
              <a:latin typeface="Calibri"/>
              <a:cs typeface="Calibri"/>
            </a:endParaRPr>
          </a:p>
          <a:p>
            <a:pPr>
              <a:lnSpc>
                <a:spcPct val="100000"/>
              </a:lnSpc>
              <a:spcBef>
                <a:spcPts val="35"/>
              </a:spcBef>
              <a:buFont typeface="Arial MT"/>
              <a:buChar char="•"/>
            </a:pPr>
            <a:endParaRPr sz="4100" dirty="0">
              <a:latin typeface="Calibri"/>
              <a:cs typeface="Calibri"/>
            </a:endParaRPr>
          </a:p>
          <a:p>
            <a:pPr marL="294005" marR="39370" indent="-281940" algn="just">
              <a:lnSpc>
                <a:spcPts val="3460"/>
              </a:lnSpc>
              <a:spcBef>
                <a:spcPts val="5"/>
              </a:spcBef>
              <a:buFont typeface="Arial MT"/>
              <a:buChar char="•"/>
              <a:tabLst>
                <a:tab pos="294640" algn="l"/>
              </a:tabLst>
            </a:pPr>
            <a:r>
              <a:rPr sz="3200" spc="-15" dirty="0">
                <a:latin typeface="Calibri"/>
                <a:cs typeface="Calibri"/>
              </a:rPr>
              <a:t>Robotic</a:t>
            </a:r>
            <a:r>
              <a:rPr sz="3200" spc="-10" dirty="0">
                <a:latin typeface="Calibri"/>
                <a:cs typeface="Calibri"/>
              </a:rPr>
              <a:t> </a:t>
            </a:r>
            <a:r>
              <a:rPr sz="3200" spc="-15" dirty="0">
                <a:latin typeface="Calibri"/>
                <a:cs typeface="Calibri"/>
              </a:rPr>
              <a:t>agent:</a:t>
            </a:r>
            <a:r>
              <a:rPr sz="3200" spc="-10" dirty="0">
                <a:latin typeface="Calibri"/>
                <a:cs typeface="Calibri"/>
              </a:rPr>
              <a:t> </a:t>
            </a:r>
            <a:r>
              <a:rPr sz="3200" spc="-15" dirty="0">
                <a:latin typeface="Calibri"/>
                <a:cs typeface="Calibri"/>
              </a:rPr>
              <a:t>cameras</a:t>
            </a:r>
            <a:r>
              <a:rPr sz="3200" spc="-10" dirty="0">
                <a:latin typeface="Calibri"/>
                <a:cs typeface="Calibri"/>
              </a:rPr>
              <a:t> </a:t>
            </a:r>
            <a:r>
              <a:rPr sz="3200" dirty="0">
                <a:latin typeface="Calibri"/>
                <a:cs typeface="Calibri"/>
              </a:rPr>
              <a:t>and</a:t>
            </a:r>
            <a:r>
              <a:rPr sz="3200" spc="5" dirty="0">
                <a:latin typeface="Calibri"/>
                <a:cs typeface="Calibri"/>
              </a:rPr>
              <a:t> </a:t>
            </a:r>
            <a:r>
              <a:rPr sz="3200" spc="-20" dirty="0">
                <a:latin typeface="Calibri"/>
                <a:cs typeface="Calibri"/>
              </a:rPr>
              <a:t>infrared</a:t>
            </a:r>
            <a:r>
              <a:rPr sz="3200" spc="-15" dirty="0">
                <a:latin typeface="Calibri"/>
                <a:cs typeface="Calibri"/>
              </a:rPr>
              <a:t> </a:t>
            </a:r>
            <a:r>
              <a:rPr sz="3200" spc="-20" dirty="0">
                <a:latin typeface="Calibri"/>
                <a:cs typeface="Calibri"/>
              </a:rPr>
              <a:t>range </a:t>
            </a:r>
            <a:r>
              <a:rPr sz="3200" spc="-15" dirty="0">
                <a:latin typeface="Calibri"/>
                <a:cs typeface="Calibri"/>
              </a:rPr>
              <a:t> finders</a:t>
            </a:r>
            <a:r>
              <a:rPr sz="3200" spc="-10" dirty="0">
                <a:latin typeface="Calibri"/>
                <a:cs typeface="Calibri"/>
              </a:rPr>
              <a:t> </a:t>
            </a:r>
            <a:r>
              <a:rPr sz="3200" spc="-25" dirty="0">
                <a:latin typeface="Calibri"/>
                <a:cs typeface="Calibri"/>
              </a:rPr>
              <a:t>for</a:t>
            </a:r>
            <a:r>
              <a:rPr sz="3200" spc="-20" dirty="0">
                <a:latin typeface="Calibri"/>
                <a:cs typeface="Calibri"/>
              </a:rPr>
              <a:t> </a:t>
            </a:r>
            <a:r>
              <a:rPr sz="3200" spc="-15" dirty="0">
                <a:latin typeface="Calibri"/>
                <a:cs typeface="Calibri"/>
              </a:rPr>
              <a:t>sensors</a:t>
            </a:r>
            <a:r>
              <a:rPr sz="3200" spc="-10" dirty="0">
                <a:latin typeface="Calibri"/>
                <a:cs typeface="Calibri"/>
              </a:rPr>
              <a:t> various</a:t>
            </a:r>
            <a:r>
              <a:rPr sz="3200" spc="-5" dirty="0">
                <a:latin typeface="Calibri"/>
                <a:cs typeface="Calibri"/>
              </a:rPr>
              <a:t> </a:t>
            </a:r>
            <a:r>
              <a:rPr sz="3200" spc="-20" dirty="0">
                <a:latin typeface="Calibri"/>
                <a:cs typeface="Calibri"/>
              </a:rPr>
              <a:t>motors</a:t>
            </a:r>
            <a:r>
              <a:rPr sz="3200" spc="-15" dirty="0">
                <a:latin typeface="Calibri"/>
                <a:cs typeface="Calibri"/>
              </a:rPr>
              <a:t> </a:t>
            </a:r>
            <a:r>
              <a:rPr sz="3200" spc="-25" dirty="0">
                <a:latin typeface="Calibri"/>
                <a:cs typeface="Calibri"/>
              </a:rPr>
              <a:t>for </a:t>
            </a:r>
            <a:r>
              <a:rPr sz="3200" spc="-20" dirty="0">
                <a:latin typeface="Calibri"/>
                <a:cs typeface="Calibri"/>
              </a:rPr>
              <a:t> </a:t>
            </a:r>
            <a:r>
              <a:rPr sz="3200" spc="-15" dirty="0">
                <a:latin typeface="Calibri"/>
                <a:cs typeface="Calibri"/>
              </a:rPr>
              <a:t>actuators.</a:t>
            </a:r>
            <a:endParaRPr sz="3200" dirty="0">
              <a:latin typeface="Calibri"/>
              <a:cs typeface="Calibri"/>
            </a:endParaRPr>
          </a:p>
        </p:txBody>
      </p:sp>
    </p:spTree>
    <p:extLst>
      <p:ext uri="{BB962C8B-B14F-4D97-AF65-F5344CB8AC3E}">
        <p14:creationId xmlns:p14="http://schemas.microsoft.com/office/powerpoint/2010/main" val="4025904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1315" y="262008"/>
            <a:ext cx="5815965" cy="695960"/>
          </a:xfrm>
          <a:prstGeom prst="rect">
            <a:avLst/>
          </a:prstGeom>
        </p:spPr>
        <p:txBody>
          <a:bodyPr vert="horz" wrap="square" lIns="0" tIns="12700" rIns="0" bIns="0" rtlCol="0">
            <a:spAutoFit/>
          </a:bodyPr>
          <a:lstStyle/>
          <a:p>
            <a:pPr marL="12700">
              <a:lnSpc>
                <a:spcPct val="100000"/>
              </a:lnSpc>
              <a:spcBef>
                <a:spcPts val="100"/>
              </a:spcBef>
            </a:pPr>
            <a:r>
              <a:rPr spc="-20" dirty="0"/>
              <a:t>Agents</a:t>
            </a:r>
            <a:r>
              <a:rPr spc="-50" dirty="0"/>
              <a:t> </a:t>
            </a:r>
            <a:r>
              <a:rPr dirty="0"/>
              <a:t>and</a:t>
            </a:r>
            <a:r>
              <a:rPr spc="-45" dirty="0"/>
              <a:t> </a:t>
            </a:r>
            <a:r>
              <a:rPr spc="-20" dirty="0"/>
              <a:t>environments</a:t>
            </a:r>
          </a:p>
        </p:txBody>
      </p:sp>
      <p:sp>
        <p:nvSpPr>
          <p:cNvPr id="3" name="object 3"/>
          <p:cNvSpPr txBox="1"/>
          <p:nvPr/>
        </p:nvSpPr>
        <p:spPr>
          <a:xfrm>
            <a:off x="583547" y="2763773"/>
            <a:ext cx="7849234" cy="2851785"/>
          </a:xfrm>
          <a:prstGeom prst="rect">
            <a:avLst/>
          </a:prstGeom>
        </p:spPr>
        <p:txBody>
          <a:bodyPr vert="horz" wrap="square" lIns="0" tIns="12700" rIns="0" bIns="0" rtlCol="0">
            <a:spAutoFit/>
          </a:bodyPr>
          <a:lstStyle/>
          <a:p>
            <a:pPr marL="301625" marR="299720" indent="-289560">
              <a:lnSpc>
                <a:spcPct val="100000"/>
              </a:lnSpc>
              <a:spcBef>
                <a:spcPts val="100"/>
              </a:spcBef>
              <a:buFont typeface="Arial MT"/>
              <a:buChar char="•"/>
              <a:tabLst>
                <a:tab pos="301625" algn="l"/>
                <a:tab pos="302260" algn="l"/>
              </a:tabLst>
            </a:pPr>
            <a:r>
              <a:rPr sz="2800" spc="-5" dirty="0">
                <a:latin typeface="Calibri"/>
                <a:cs typeface="Calibri"/>
              </a:rPr>
              <a:t>The</a:t>
            </a:r>
            <a:r>
              <a:rPr sz="2800" dirty="0">
                <a:latin typeface="Calibri"/>
                <a:cs typeface="Calibri"/>
              </a:rPr>
              <a:t> </a:t>
            </a:r>
            <a:r>
              <a:rPr sz="2800" spc="-15" dirty="0">
                <a:solidFill>
                  <a:srgbClr val="FF0000"/>
                </a:solidFill>
                <a:latin typeface="Calibri"/>
                <a:cs typeface="Calibri"/>
              </a:rPr>
              <a:t>agent</a:t>
            </a:r>
            <a:r>
              <a:rPr sz="2800" dirty="0">
                <a:solidFill>
                  <a:srgbClr val="FF0000"/>
                </a:solidFill>
                <a:latin typeface="Calibri"/>
                <a:cs typeface="Calibri"/>
              </a:rPr>
              <a:t> </a:t>
            </a:r>
            <a:r>
              <a:rPr sz="2800" spc="-5" dirty="0">
                <a:solidFill>
                  <a:srgbClr val="FF0000"/>
                </a:solidFill>
                <a:latin typeface="Calibri"/>
                <a:cs typeface="Calibri"/>
              </a:rPr>
              <a:t>function</a:t>
            </a:r>
            <a:r>
              <a:rPr sz="2800" dirty="0">
                <a:solidFill>
                  <a:srgbClr val="FF0000"/>
                </a:solidFill>
                <a:latin typeface="Calibri"/>
                <a:cs typeface="Calibri"/>
              </a:rPr>
              <a:t> </a:t>
            </a:r>
            <a:r>
              <a:rPr sz="2800" spc="-10" dirty="0">
                <a:latin typeface="Calibri"/>
                <a:cs typeface="Calibri"/>
              </a:rPr>
              <a:t>maps</a:t>
            </a:r>
            <a:r>
              <a:rPr sz="2800" spc="-5" dirty="0">
                <a:latin typeface="Calibri"/>
                <a:cs typeface="Calibri"/>
              </a:rPr>
              <a:t> </a:t>
            </a:r>
            <a:r>
              <a:rPr sz="2800" spc="-15" dirty="0">
                <a:latin typeface="Calibri"/>
                <a:cs typeface="Calibri"/>
              </a:rPr>
              <a:t>from</a:t>
            </a:r>
            <a:r>
              <a:rPr sz="2800" spc="-5" dirty="0">
                <a:latin typeface="Calibri"/>
                <a:cs typeface="Calibri"/>
              </a:rPr>
              <a:t> </a:t>
            </a:r>
            <a:r>
              <a:rPr sz="2800" spc="-15" dirty="0">
                <a:latin typeface="Calibri"/>
                <a:cs typeface="Calibri"/>
              </a:rPr>
              <a:t>percept</a:t>
            </a:r>
            <a:r>
              <a:rPr sz="2800" spc="-10" dirty="0">
                <a:latin typeface="Calibri"/>
                <a:cs typeface="Calibri"/>
              </a:rPr>
              <a:t> </a:t>
            </a:r>
            <a:r>
              <a:rPr sz="2800" spc="-15" dirty="0">
                <a:latin typeface="Calibri"/>
                <a:cs typeface="Calibri"/>
              </a:rPr>
              <a:t>histories</a:t>
            </a:r>
            <a:r>
              <a:rPr sz="2800" spc="-5" dirty="0">
                <a:latin typeface="Calibri"/>
                <a:cs typeface="Calibri"/>
              </a:rPr>
              <a:t> </a:t>
            </a:r>
            <a:r>
              <a:rPr sz="2800" spc="-15" dirty="0">
                <a:latin typeface="Calibri"/>
                <a:cs typeface="Calibri"/>
              </a:rPr>
              <a:t>to </a:t>
            </a:r>
            <a:r>
              <a:rPr sz="2800" spc="-615" dirty="0">
                <a:latin typeface="Calibri"/>
                <a:cs typeface="Calibri"/>
              </a:rPr>
              <a:t> </a:t>
            </a:r>
            <a:r>
              <a:rPr sz="2800" dirty="0">
                <a:latin typeface="Calibri"/>
                <a:cs typeface="Calibri"/>
              </a:rPr>
              <a:t>actions:</a:t>
            </a:r>
          </a:p>
          <a:p>
            <a:pPr>
              <a:lnSpc>
                <a:spcPct val="100000"/>
              </a:lnSpc>
              <a:spcBef>
                <a:spcPts val="50"/>
              </a:spcBef>
              <a:buFont typeface="Arial MT"/>
              <a:buChar char="•"/>
            </a:pPr>
            <a:endParaRPr sz="3850" dirty="0">
              <a:latin typeface="Calibri"/>
              <a:cs typeface="Calibri"/>
            </a:endParaRPr>
          </a:p>
          <a:p>
            <a:pPr marL="301625" marR="5080" indent="-289560">
              <a:lnSpc>
                <a:spcPct val="100000"/>
              </a:lnSpc>
              <a:spcBef>
                <a:spcPts val="5"/>
              </a:spcBef>
              <a:buFont typeface="Arial MT"/>
              <a:buChar char="•"/>
              <a:tabLst>
                <a:tab pos="301625" algn="l"/>
                <a:tab pos="302260" algn="l"/>
              </a:tabLst>
            </a:pPr>
            <a:r>
              <a:rPr sz="2800" spc="-5" dirty="0">
                <a:latin typeface="Calibri"/>
                <a:cs typeface="Calibri"/>
              </a:rPr>
              <a:t>The</a:t>
            </a:r>
            <a:r>
              <a:rPr sz="2800" dirty="0">
                <a:latin typeface="Calibri"/>
                <a:cs typeface="Calibri"/>
              </a:rPr>
              <a:t> </a:t>
            </a:r>
            <a:r>
              <a:rPr sz="2800" spc="-15" dirty="0">
                <a:solidFill>
                  <a:srgbClr val="FF0000"/>
                </a:solidFill>
                <a:latin typeface="Calibri"/>
                <a:cs typeface="Calibri"/>
              </a:rPr>
              <a:t>agent</a:t>
            </a:r>
            <a:r>
              <a:rPr sz="2800" spc="5" dirty="0">
                <a:solidFill>
                  <a:srgbClr val="FF0000"/>
                </a:solidFill>
                <a:latin typeface="Calibri"/>
                <a:cs typeface="Calibri"/>
              </a:rPr>
              <a:t> </a:t>
            </a:r>
            <a:r>
              <a:rPr sz="2800" spc="-20" dirty="0">
                <a:solidFill>
                  <a:srgbClr val="FF0000"/>
                </a:solidFill>
                <a:latin typeface="Calibri"/>
                <a:cs typeface="Calibri"/>
              </a:rPr>
              <a:t>program</a:t>
            </a:r>
            <a:r>
              <a:rPr sz="2800" dirty="0">
                <a:solidFill>
                  <a:srgbClr val="FF0000"/>
                </a:solidFill>
                <a:latin typeface="Calibri"/>
                <a:cs typeface="Calibri"/>
              </a:rPr>
              <a:t> </a:t>
            </a:r>
            <a:r>
              <a:rPr sz="2800" spc="-5" dirty="0">
                <a:latin typeface="Calibri"/>
                <a:cs typeface="Calibri"/>
              </a:rPr>
              <a:t>runs</a:t>
            </a:r>
            <a:r>
              <a:rPr sz="2800" dirty="0">
                <a:latin typeface="Calibri"/>
                <a:cs typeface="Calibri"/>
              </a:rPr>
              <a:t> </a:t>
            </a:r>
            <a:r>
              <a:rPr sz="2800" spc="-5" dirty="0">
                <a:latin typeface="Calibri"/>
                <a:cs typeface="Calibri"/>
              </a:rPr>
              <a:t>on </a:t>
            </a:r>
            <a:r>
              <a:rPr sz="2800" spc="-10" dirty="0">
                <a:latin typeface="Calibri"/>
                <a:cs typeface="Calibri"/>
              </a:rPr>
              <a:t>the</a:t>
            </a:r>
            <a:r>
              <a:rPr sz="2800" spc="-5" dirty="0">
                <a:latin typeface="Calibri"/>
                <a:cs typeface="Calibri"/>
              </a:rPr>
              <a:t> </a:t>
            </a:r>
            <a:r>
              <a:rPr sz="2800" spc="-20" dirty="0">
                <a:latin typeface="Calibri"/>
                <a:cs typeface="Calibri"/>
              </a:rPr>
              <a:t>physical</a:t>
            </a:r>
            <a:r>
              <a:rPr sz="2800" spc="30" dirty="0">
                <a:latin typeface="Calibri"/>
                <a:cs typeface="Calibri"/>
              </a:rPr>
              <a:t> </a:t>
            </a:r>
            <a:r>
              <a:rPr sz="2800" spc="-15" dirty="0">
                <a:solidFill>
                  <a:srgbClr val="FF0000"/>
                </a:solidFill>
                <a:latin typeface="Calibri"/>
                <a:cs typeface="Calibri"/>
              </a:rPr>
              <a:t>architecture </a:t>
            </a:r>
            <a:r>
              <a:rPr sz="2800" spc="-615" dirty="0">
                <a:solidFill>
                  <a:srgbClr val="FF0000"/>
                </a:solidFill>
                <a:latin typeface="Calibri"/>
                <a:cs typeface="Calibri"/>
              </a:rPr>
              <a:t> </a:t>
            </a:r>
            <a:r>
              <a:rPr sz="2800" spc="-15" dirty="0">
                <a:latin typeface="Calibri"/>
                <a:cs typeface="Calibri"/>
              </a:rPr>
              <a:t>to</a:t>
            </a:r>
            <a:r>
              <a:rPr sz="2800" spc="-10" dirty="0">
                <a:latin typeface="Calibri"/>
                <a:cs typeface="Calibri"/>
              </a:rPr>
              <a:t> </a:t>
            </a:r>
            <a:r>
              <a:rPr sz="2800" spc="-15" dirty="0">
                <a:latin typeface="Calibri"/>
                <a:cs typeface="Calibri"/>
              </a:rPr>
              <a:t>produce</a:t>
            </a:r>
            <a:r>
              <a:rPr sz="2800" spc="10" dirty="0">
                <a:latin typeface="Calibri"/>
                <a:cs typeface="Calibri"/>
              </a:rPr>
              <a:t> </a:t>
            </a:r>
            <a:r>
              <a:rPr sz="2800" i="1" dirty="0">
                <a:latin typeface="Calibri"/>
                <a:cs typeface="Calibri"/>
              </a:rPr>
              <a:t>f</a:t>
            </a:r>
            <a:endParaRPr sz="2800" dirty="0">
              <a:latin typeface="Calibri"/>
              <a:cs typeface="Calibri"/>
            </a:endParaRPr>
          </a:p>
          <a:p>
            <a:pPr marL="301625" indent="-289560">
              <a:lnSpc>
                <a:spcPct val="100000"/>
              </a:lnSpc>
              <a:spcBef>
                <a:spcPts val="695"/>
              </a:spcBef>
              <a:buFont typeface="Arial MT"/>
              <a:buChar char="•"/>
              <a:tabLst>
                <a:tab pos="301625" algn="l"/>
                <a:tab pos="302260" algn="l"/>
              </a:tabLst>
            </a:pPr>
            <a:r>
              <a:rPr sz="2800" spc="-15" dirty="0">
                <a:latin typeface="Calibri"/>
                <a:cs typeface="Calibri"/>
              </a:rPr>
              <a:t>agent</a:t>
            </a:r>
            <a:r>
              <a:rPr sz="2800" spc="-20" dirty="0">
                <a:latin typeface="Calibri"/>
                <a:cs typeface="Calibri"/>
              </a:rPr>
              <a:t> </a:t>
            </a:r>
            <a:r>
              <a:rPr sz="2800" dirty="0">
                <a:latin typeface="Calibri"/>
                <a:cs typeface="Calibri"/>
              </a:rPr>
              <a:t>=</a:t>
            </a:r>
            <a:r>
              <a:rPr sz="2800" spc="-10" dirty="0">
                <a:latin typeface="Calibri"/>
                <a:cs typeface="Calibri"/>
              </a:rPr>
              <a:t> </a:t>
            </a:r>
            <a:r>
              <a:rPr sz="2800" spc="-15" dirty="0">
                <a:latin typeface="Calibri"/>
                <a:cs typeface="Calibri"/>
              </a:rPr>
              <a:t>architecture </a:t>
            </a:r>
            <a:r>
              <a:rPr sz="2800" dirty="0">
                <a:latin typeface="Calibri"/>
                <a:cs typeface="Calibri"/>
              </a:rPr>
              <a:t>+</a:t>
            </a:r>
            <a:r>
              <a:rPr sz="2800" spc="-10" dirty="0">
                <a:latin typeface="Calibri"/>
                <a:cs typeface="Calibri"/>
              </a:rPr>
              <a:t> </a:t>
            </a:r>
            <a:r>
              <a:rPr sz="2800" spc="-20" dirty="0">
                <a:latin typeface="Calibri"/>
                <a:cs typeface="Calibri"/>
              </a:rPr>
              <a:t>program</a:t>
            </a:r>
            <a:endParaRPr sz="2800" dirty="0">
              <a:latin typeface="Calibri"/>
              <a:cs typeface="Calibri"/>
            </a:endParaRPr>
          </a:p>
        </p:txBody>
      </p:sp>
      <p:pic>
        <p:nvPicPr>
          <p:cNvPr id="4" name="object 4"/>
          <p:cNvPicPr/>
          <p:nvPr/>
        </p:nvPicPr>
        <p:blipFill>
          <a:blip r:embed="rId2" cstate="print"/>
          <a:stretch>
            <a:fillRect/>
          </a:stretch>
        </p:blipFill>
        <p:spPr>
          <a:xfrm>
            <a:off x="2666880" y="990720"/>
            <a:ext cx="3733919" cy="1674861"/>
          </a:xfrm>
          <a:prstGeom prst="rect">
            <a:avLst/>
          </a:prstGeom>
        </p:spPr>
      </p:pic>
    </p:spTree>
    <p:extLst>
      <p:ext uri="{BB962C8B-B14F-4D97-AF65-F5344CB8AC3E}">
        <p14:creationId xmlns:p14="http://schemas.microsoft.com/office/powerpoint/2010/main" val="1862558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8184" y="475487"/>
            <a:ext cx="5127625" cy="695960"/>
          </a:xfrm>
          <a:prstGeom prst="rect">
            <a:avLst/>
          </a:prstGeom>
        </p:spPr>
        <p:txBody>
          <a:bodyPr vert="horz" wrap="square" lIns="0" tIns="12700" rIns="0" bIns="0" rtlCol="0">
            <a:spAutoFit/>
          </a:bodyPr>
          <a:lstStyle/>
          <a:p>
            <a:pPr marL="12700">
              <a:lnSpc>
                <a:spcPct val="100000"/>
              </a:lnSpc>
              <a:spcBef>
                <a:spcPts val="100"/>
              </a:spcBef>
            </a:pPr>
            <a:r>
              <a:rPr spc="-20" dirty="0"/>
              <a:t>Vacuum-cleaner</a:t>
            </a:r>
            <a:r>
              <a:rPr spc="-55" dirty="0"/>
              <a:t> </a:t>
            </a:r>
            <a:r>
              <a:rPr spc="-15" dirty="0"/>
              <a:t>world</a:t>
            </a:r>
          </a:p>
        </p:txBody>
      </p:sp>
      <p:sp>
        <p:nvSpPr>
          <p:cNvPr id="3" name="object 3"/>
          <p:cNvSpPr txBox="1"/>
          <p:nvPr/>
        </p:nvSpPr>
        <p:spPr>
          <a:xfrm>
            <a:off x="591180" y="3965955"/>
            <a:ext cx="7858125" cy="1691639"/>
          </a:xfrm>
          <a:prstGeom prst="rect">
            <a:avLst/>
          </a:prstGeom>
        </p:spPr>
        <p:txBody>
          <a:bodyPr vert="horz" wrap="square" lIns="0" tIns="12700" rIns="0" bIns="0" rtlCol="0">
            <a:spAutoFit/>
          </a:bodyPr>
          <a:lstStyle/>
          <a:p>
            <a:pPr marL="294005" indent="-281940">
              <a:lnSpc>
                <a:spcPct val="100000"/>
              </a:lnSpc>
              <a:spcBef>
                <a:spcPts val="100"/>
              </a:spcBef>
              <a:buFont typeface="Arial MT"/>
              <a:buChar char="•"/>
              <a:tabLst>
                <a:tab pos="294640" algn="l"/>
              </a:tabLst>
            </a:pPr>
            <a:r>
              <a:rPr sz="3200" spc="-20" dirty="0">
                <a:latin typeface="Calibri"/>
                <a:cs typeface="Calibri"/>
              </a:rPr>
              <a:t>Percepts:</a:t>
            </a:r>
            <a:r>
              <a:rPr sz="3200" spc="-15" dirty="0">
                <a:latin typeface="Calibri"/>
                <a:cs typeface="Calibri"/>
              </a:rPr>
              <a:t> location </a:t>
            </a:r>
            <a:r>
              <a:rPr sz="3200" dirty="0">
                <a:latin typeface="Calibri"/>
                <a:cs typeface="Calibri"/>
              </a:rPr>
              <a:t>and</a:t>
            </a:r>
            <a:r>
              <a:rPr sz="3200" spc="-10" dirty="0">
                <a:latin typeface="Calibri"/>
                <a:cs typeface="Calibri"/>
              </a:rPr>
              <a:t> </a:t>
            </a:r>
            <a:r>
              <a:rPr sz="3200" spc="-20" dirty="0">
                <a:latin typeface="Calibri"/>
                <a:cs typeface="Calibri"/>
              </a:rPr>
              <a:t>contents,</a:t>
            </a:r>
            <a:r>
              <a:rPr sz="3200" spc="-10" dirty="0">
                <a:latin typeface="Calibri"/>
                <a:cs typeface="Calibri"/>
              </a:rPr>
              <a:t> </a:t>
            </a:r>
            <a:r>
              <a:rPr sz="3200" dirty="0">
                <a:latin typeface="Calibri"/>
                <a:cs typeface="Calibri"/>
              </a:rPr>
              <a:t>e.g.,</a:t>
            </a:r>
            <a:r>
              <a:rPr sz="3200" spc="-10" dirty="0">
                <a:latin typeface="Calibri"/>
                <a:cs typeface="Calibri"/>
              </a:rPr>
              <a:t> </a:t>
            </a:r>
            <a:r>
              <a:rPr sz="3200" spc="-5" dirty="0">
                <a:latin typeface="Calibri"/>
                <a:cs typeface="Calibri"/>
              </a:rPr>
              <a:t>[A,Dirty]</a:t>
            </a:r>
            <a:endParaRPr sz="3200">
              <a:latin typeface="Calibri"/>
              <a:cs typeface="Calibri"/>
            </a:endParaRPr>
          </a:p>
          <a:p>
            <a:pPr>
              <a:lnSpc>
                <a:spcPct val="100000"/>
              </a:lnSpc>
              <a:spcBef>
                <a:spcPts val="5"/>
              </a:spcBef>
              <a:buFont typeface="Arial MT"/>
              <a:buChar char="•"/>
            </a:pPr>
            <a:endParaRPr sz="4450">
              <a:latin typeface="Calibri"/>
              <a:cs typeface="Calibri"/>
            </a:endParaRPr>
          </a:p>
          <a:p>
            <a:pPr marL="294005" indent="-281940">
              <a:lnSpc>
                <a:spcPct val="100000"/>
              </a:lnSpc>
              <a:buFont typeface="Arial MT"/>
              <a:buChar char="•"/>
              <a:tabLst>
                <a:tab pos="294640" algn="l"/>
              </a:tabLst>
            </a:pPr>
            <a:r>
              <a:rPr sz="3200" spc="-5" dirty="0">
                <a:latin typeface="Calibri"/>
                <a:cs typeface="Calibri"/>
              </a:rPr>
              <a:t>Actions:</a:t>
            </a:r>
            <a:r>
              <a:rPr sz="3200" spc="5" dirty="0">
                <a:latin typeface="Calibri"/>
                <a:cs typeface="Calibri"/>
              </a:rPr>
              <a:t> </a:t>
            </a:r>
            <a:r>
              <a:rPr sz="3200" i="1" spc="-5" dirty="0">
                <a:latin typeface="Calibri"/>
                <a:cs typeface="Calibri"/>
              </a:rPr>
              <a:t>Left</a:t>
            </a:r>
            <a:r>
              <a:rPr sz="3200" spc="-5" dirty="0">
                <a:latin typeface="Calibri"/>
                <a:cs typeface="Calibri"/>
              </a:rPr>
              <a:t>,</a:t>
            </a:r>
            <a:r>
              <a:rPr sz="3200" spc="-15" dirty="0">
                <a:latin typeface="Calibri"/>
                <a:cs typeface="Calibri"/>
              </a:rPr>
              <a:t> </a:t>
            </a:r>
            <a:r>
              <a:rPr sz="3200" i="1" spc="-10" dirty="0">
                <a:latin typeface="Calibri"/>
                <a:cs typeface="Calibri"/>
              </a:rPr>
              <a:t>Right</a:t>
            </a:r>
            <a:r>
              <a:rPr sz="3200" spc="-10" dirty="0">
                <a:latin typeface="Calibri"/>
                <a:cs typeface="Calibri"/>
              </a:rPr>
              <a:t>,</a:t>
            </a:r>
            <a:r>
              <a:rPr sz="3200" spc="-20" dirty="0">
                <a:latin typeface="Calibri"/>
                <a:cs typeface="Calibri"/>
              </a:rPr>
              <a:t> </a:t>
            </a:r>
            <a:r>
              <a:rPr sz="3200" i="1" spc="-5" dirty="0">
                <a:latin typeface="Calibri"/>
                <a:cs typeface="Calibri"/>
              </a:rPr>
              <a:t>Suck</a:t>
            </a:r>
            <a:r>
              <a:rPr sz="3200" spc="-5" dirty="0">
                <a:latin typeface="Calibri"/>
                <a:cs typeface="Calibri"/>
              </a:rPr>
              <a:t>,</a:t>
            </a:r>
            <a:r>
              <a:rPr sz="3200" spc="-15" dirty="0">
                <a:latin typeface="Calibri"/>
                <a:cs typeface="Calibri"/>
              </a:rPr>
              <a:t> </a:t>
            </a:r>
            <a:r>
              <a:rPr sz="3200" i="1" spc="-5" dirty="0">
                <a:latin typeface="Calibri"/>
                <a:cs typeface="Calibri"/>
              </a:rPr>
              <a:t>NoOp</a:t>
            </a:r>
            <a:endParaRPr sz="3200">
              <a:latin typeface="Calibri"/>
              <a:cs typeface="Calibri"/>
            </a:endParaRPr>
          </a:p>
        </p:txBody>
      </p:sp>
      <p:pic>
        <p:nvPicPr>
          <p:cNvPr id="4" name="object 4"/>
          <p:cNvPicPr/>
          <p:nvPr/>
        </p:nvPicPr>
        <p:blipFill>
          <a:blip r:embed="rId2" cstate="print"/>
          <a:stretch>
            <a:fillRect/>
          </a:stretch>
        </p:blipFill>
        <p:spPr>
          <a:xfrm>
            <a:off x="3429000" y="2133720"/>
            <a:ext cx="2457359" cy="1257119"/>
          </a:xfrm>
          <a:prstGeom prst="rect">
            <a:avLst/>
          </a:prstGeom>
        </p:spPr>
      </p:pic>
    </p:spTree>
    <p:extLst>
      <p:ext uri="{BB962C8B-B14F-4D97-AF65-F5344CB8AC3E}">
        <p14:creationId xmlns:p14="http://schemas.microsoft.com/office/powerpoint/2010/main" val="1016165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4589" y="475487"/>
            <a:ext cx="3507104" cy="695960"/>
          </a:xfrm>
          <a:prstGeom prst="rect">
            <a:avLst/>
          </a:prstGeom>
        </p:spPr>
        <p:txBody>
          <a:bodyPr vert="horz" wrap="square" lIns="0" tIns="12700" rIns="0" bIns="0" rtlCol="0">
            <a:spAutoFit/>
          </a:bodyPr>
          <a:lstStyle/>
          <a:p>
            <a:pPr marL="12700">
              <a:lnSpc>
                <a:spcPct val="100000"/>
              </a:lnSpc>
              <a:spcBef>
                <a:spcPts val="100"/>
              </a:spcBef>
            </a:pPr>
            <a:r>
              <a:rPr spc="-15" dirty="0"/>
              <a:t>Rational</a:t>
            </a:r>
            <a:r>
              <a:rPr spc="-65" dirty="0"/>
              <a:t> </a:t>
            </a:r>
            <a:r>
              <a:rPr spc="-20" dirty="0"/>
              <a:t>agents</a:t>
            </a:r>
          </a:p>
        </p:txBody>
      </p:sp>
      <p:sp>
        <p:nvSpPr>
          <p:cNvPr id="3" name="object 3"/>
          <p:cNvSpPr txBox="1"/>
          <p:nvPr/>
        </p:nvSpPr>
        <p:spPr>
          <a:xfrm>
            <a:off x="583547" y="1577238"/>
            <a:ext cx="8011159" cy="4085590"/>
          </a:xfrm>
          <a:prstGeom prst="rect">
            <a:avLst/>
          </a:prstGeom>
        </p:spPr>
        <p:txBody>
          <a:bodyPr vert="horz" wrap="square" lIns="0" tIns="60960" rIns="0" bIns="0" rtlCol="0">
            <a:spAutoFit/>
          </a:bodyPr>
          <a:lstStyle/>
          <a:p>
            <a:pPr marL="301625" marR="11430" indent="-289560" algn="just">
              <a:lnSpc>
                <a:spcPts val="3020"/>
              </a:lnSpc>
              <a:spcBef>
                <a:spcPts val="480"/>
              </a:spcBef>
              <a:buFont typeface="Arial MT"/>
              <a:buChar char="•"/>
              <a:tabLst>
                <a:tab pos="302260" algn="l"/>
              </a:tabLst>
            </a:pPr>
            <a:r>
              <a:rPr sz="2800" spc="-5" dirty="0">
                <a:latin typeface="Calibri"/>
                <a:cs typeface="Calibri"/>
              </a:rPr>
              <a:t>An </a:t>
            </a:r>
            <a:r>
              <a:rPr sz="2800" spc="-15" dirty="0">
                <a:latin typeface="Calibri"/>
                <a:cs typeface="Calibri"/>
              </a:rPr>
              <a:t>agent </a:t>
            </a:r>
            <a:r>
              <a:rPr sz="2800" spc="-5" dirty="0">
                <a:latin typeface="Calibri"/>
                <a:cs typeface="Calibri"/>
              </a:rPr>
              <a:t>should </a:t>
            </a:r>
            <a:r>
              <a:rPr sz="2800" spc="-15" dirty="0">
                <a:latin typeface="Calibri"/>
                <a:cs typeface="Calibri"/>
              </a:rPr>
              <a:t>strive to </a:t>
            </a:r>
            <a:r>
              <a:rPr sz="2800" spc="-5" dirty="0">
                <a:latin typeface="Calibri"/>
                <a:cs typeface="Calibri"/>
              </a:rPr>
              <a:t>"do </a:t>
            </a:r>
            <a:r>
              <a:rPr sz="2800" spc="-10" dirty="0">
                <a:latin typeface="Calibri"/>
                <a:cs typeface="Calibri"/>
              </a:rPr>
              <a:t>the right thing", </a:t>
            </a:r>
            <a:r>
              <a:rPr sz="2800" spc="-5" dirty="0">
                <a:latin typeface="Calibri"/>
                <a:cs typeface="Calibri"/>
              </a:rPr>
              <a:t>based </a:t>
            </a:r>
            <a:r>
              <a:rPr sz="2800" dirty="0">
                <a:latin typeface="Calibri"/>
                <a:cs typeface="Calibri"/>
              </a:rPr>
              <a:t> </a:t>
            </a:r>
            <a:r>
              <a:rPr sz="2800" spc="-5" dirty="0">
                <a:latin typeface="Calibri"/>
                <a:cs typeface="Calibri"/>
              </a:rPr>
              <a:t>on</a:t>
            </a:r>
            <a:r>
              <a:rPr sz="2800" dirty="0">
                <a:latin typeface="Calibri"/>
                <a:cs typeface="Calibri"/>
              </a:rPr>
              <a:t> </a:t>
            </a:r>
            <a:r>
              <a:rPr sz="2800" spc="-10" dirty="0">
                <a:latin typeface="Calibri"/>
                <a:cs typeface="Calibri"/>
              </a:rPr>
              <a:t>what</a:t>
            </a:r>
            <a:r>
              <a:rPr sz="2800" spc="-5" dirty="0">
                <a:latin typeface="Calibri"/>
                <a:cs typeface="Calibri"/>
              </a:rPr>
              <a:t> it</a:t>
            </a:r>
            <a:r>
              <a:rPr sz="2800" dirty="0">
                <a:latin typeface="Calibri"/>
                <a:cs typeface="Calibri"/>
              </a:rPr>
              <a:t> </a:t>
            </a:r>
            <a:r>
              <a:rPr sz="2800" spc="-10" dirty="0">
                <a:latin typeface="Calibri"/>
                <a:cs typeface="Calibri"/>
              </a:rPr>
              <a:t>can</a:t>
            </a:r>
            <a:r>
              <a:rPr sz="2800" spc="-5" dirty="0">
                <a:latin typeface="Calibri"/>
                <a:cs typeface="Calibri"/>
              </a:rPr>
              <a:t> </a:t>
            </a:r>
            <a:r>
              <a:rPr sz="2800" spc="-15" dirty="0">
                <a:latin typeface="Calibri"/>
                <a:cs typeface="Calibri"/>
              </a:rPr>
              <a:t>perceive</a:t>
            </a:r>
            <a:r>
              <a:rPr sz="2800" spc="-10" dirty="0">
                <a:latin typeface="Calibri"/>
                <a:cs typeface="Calibri"/>
              </a:rPr>
              <a:t> </a:t>
            </a:r>
            <a:r>
              <a:rPr sz="2800" dirty="0">
                <a:latin typeface="Calibri"/>
                <a:cs typeface="Calibri"/>
              </a:rPr>
              <a:t>and</a:t>
            </a:r>
            <a:r>
              <a:rPr sz="2800" spc="5" dirty="0">
                <a:latin typeface="Calibri"/>
                <a:cs typeface="Calibri"/>
              </a:rPr>
              <a:t> </a:t>
            </a:r>
            <a:r>
              <a:rPr sz="2800" spc="-10" dirty="0">
                <a:latin typeface="Calibri"/>
                <a:cs typeface="Calibri"/>
              </a:rPr>
              <a:t>the</a:t>
            </a:r>
            <a:r>
              <a:rPr sz="2800" spc="-5" dirty="0">
                <a:latin typeface="Calibri"/>
                <a:cs typeface="Calibri"/>
              </a:rPr>
              <a:t> </a:t>
            </a:r>
            <a:r>
              <a:rPr sz="2800" dirty="0">
                <a:latin typeface="Calibri"/>
                <a:cs typeface="Calibri"/>
              </a:rPr>
              <a:t>actions</a:t>
            </a:r>
            <a:r>
              <a:rPr sz="2800" spc="5" dirty="0">
                <a:latin typeface="Calibri"/>
                <a:cs typeface="Calibri"/>
              </a:rPr>
              <a:t> </a:t>
            </a:r>
            <a:r>
              <a:rPr sz="2800" spc="-5" dirty="0">
                <a:latin typeface="Calibri"/>
                <a:cs typeface="Calibri"/>
              </a:rPr>
              <a:t>it</a:t>
            </a:r>
            <a:r>
              <a:rPr sz="2800" dirty="0">
                <a:latin typeface="Calibri"/>
                <a:cs typeface="Calibri"/>
              </a:rPr>
              <a:t> </a:t>
            </a:r>
            <a:r>
              <a:rPr sz="2800" spc="-10" dirty="0">
                <a:latin typeface="Calibri"/>
                <a:cs typeface="Calibri"/>
              </a:rPr>
              <a:t>can </a:t>
            </a:r>
            <a:r>
              <a:rPr sz="2800" spc="-5" dirty="0">
                <a:latin typeface="Calibri"/>
                <a:cs typeface="Calibri"/>
              </a:rPr>
              <a:t> </a:t>
            </a:r>
            <a:r>
              <a:rPr sz="2800" spc="-15" dirty="0">
                <a:latin typeface="Calibri"/>
                <a:cs typeface="Calibri"/>
              </a:rPr>
              <a:t>perform. </a:t>
            </a:r>
            <a:r>
              <a:rPr sz="2800" spc="-5" dirty="0">
                <a:latin typeface="Calibri"/>
                <a:cs typeface="Calibri"/>
              </a:rPr>
              <a:t>The </a:t>
            </a:r>
            <a:r>
              <a:rPr sz="2800" spc="-10" dirty="0">
                <a:latin typeface="Calibri"/>
                <a:cs typeface="Calibri"/>
              </a:rPr>
              <a:t>right </a:t>
            </a:r>
            <a:r>
              <a:rPr sz="2800" dirty="0">
                <a:latin typeface="Calibri"/>
                <a:cs typeface="Calibri"/>
              </a:rPr>
              <a:t>action </a:t>
            </a:r>
            <a:r>
              <a:rPr sz="2800" spc="-5" dirty="0">
                <a:latin typeface="Calibri"/>
                <a:cs typeface="Calibri"/>
              </a:rPr>
              <a:t>is </a:t>
            </a:r>
            <a:r>
              <a:rPr sz="2800" spc="-10" dirty="0">
                <a:latin typeface="Calibri"/>
                <a:cs typeface="Calibri"/>
              </a:rPr>
              <a:t>the </a:t>
            </a:r>
            <a:r>
              <a:rPr sz="2800" spc="-5" dirty="0">
                <a:latin typeface="Calibri"/>
                <a:cs typeface="Calibri"/>
              </a:rPr>
              <a:t>one </a:t>
            </a:r>
            <a:r>
              <a:rPr sz="2800" spc="-10" dirty="0">
                <a:latin typeface="Calibri"/>
                <a:cs typeface="Calibri"/>
              </a:rPr>
              <a:t>that </a:t>
            </a:r>
            <a:r>
              <a:rPr sz="2800" spc="-5" dirty="0">
                <a:latin typeface="Calibri"/>
                <a:cs typeface="Calibri"/>
              </a:rPr>
              <a:t>will cause </a:t>
            </a:r>
            <a:r>
              <a:rPr sz="2800" dirty="0">
                <a:latin typeface="Calibri"/>
                <a:cs typeface="Calibri"/>
              </a:rPr>
              <a:t> </a:t>
            </a:r>
            <a:r>
              <a:rPr sz="2800" spc="-10" dirty="0">
                <a:latin typeface="Calibri"/>
                <a:cs typeface="Calibri"/>
              </a:rPr>
              <a:t>the</a:t>
            </a:r>
            <a:r>
              <a:rPr sz="2800" spc="-15" dirty="0">
                <a:latin typeface="Calibri"/>
                <a:cs typeface="Calibri"/>
              </a:rPr>
              <a:t> agent</a:t>
            </a:r>
            <a:r>
              <a:rPr sz="2800" spc="-10" dirty="0">
                <a:latin typeface="Calibri"/>
                <a:cs typeface="Calibri"/>
              </a:rPr>
              <a:t> </a:t>
            </a:r>
            <a:r>
              <a:rPr sz="2800" spc="-15" dirty="0">
                <a:latin typeface="Calibri"/>
                <a:cs typeface="Calibri"/>
              </a:rPr>
              <a:t>to</a:t>
            </a:r>
            <a:r>
              <a:rPr sz="2800" spc="-5" dirty="0">
                <a:latin typeface="Calibri"/>
                <a:cs typeface="Calibri"/>
              </a:rPr>
              <a:t> be </a:t>
            </a:r>
            <a:r>
              <a:rPr sz="2800" spc="-15" dirty="0">
                <a:latin typeface="Calibri"/>
                <a:cs typeface="Calibri"/>
              </a:rPr>
              <a:t>most</a:t>
            </a:r>
            <a:r>
              <a:rPr sz="2800" spc="-10" dirty="0">
                <a:latin typeface="Calibri"/>
                <a:cs typeface="Calibri"/>
              </a:rPr>
              <a:t> successful</a:t>
            </a:r>
            <a:endParaRPr sz="2800">
              <a:latin typeface="Calibri"/>
              <a:cs typeface="Calibri"/>
            </a:endParaRPr>
          </a:p>
          <a:p>
            <a:pPr marL="301625" marR="28575" indent="-289560" algn="just">
              <a:lnSpc>
                <a:spcPts val="3020"/>
              </a:lnSpc>
              <a:spcBef>
                <a:spcPts val="715"/>
              </a:spcBef>
              <a:buFont typeface="Arial MT"/>
              <a:buChar char="•"/>
              <a:tabLst>
                <a:tab pos="302260" algn="l"/>
              </a:tabLst>
            </a:pPr>
            <a:r>
              <a:rPr sz="2800" spc="-15" dirty="0">
                <a:latin typeface="Calibri"/>
                <a:cs typeface="Calibri"/>
              </a:rPr>
              <a:t>Performance</a:t>
            </a:r>
            <a:r>
              <a:rPr sz="2800" spc="-10" dirty="0">
                <a:latin typeface="Calibri"/>
                <a:cs typeface="Calibri"/>
              </a:rPr>
              <a:t> measure:</a:t>
            </a:r>
            <a:r>
              <a:rPr sz="2800" spc="-5" dirty="0">
                <a:latin typeface="Calibri"/>
                <a:cs typeface="Calibri"/>
              </a:rPr>
              <a:t> An</a:t>
            </a:r>
            <a:r>
              <a:rPr sz="2800" dirty="0">
                <a:latin typeface="Calibri"/>
                <a:cs typeface="Calibri"/>
              </a:rPr>
              <a:t> </a:t>
            </a:r>
            <a:r>
              <a:rPr sz="2800" spc="-10" dirty="0">
                <a:latin typeface="Calibri"/>
                <a:cs typeface="Calibri"/>
              </a:rPr>
              <a:t>objective</a:t>
            </a:r>
            <a:r>
              <a:rPr sz="2800" spc="-5" dirty="0">
                <a:latin typeface="Calibri"/>
                <a:cs typeface="Calibri"/>
              </a:rPr>
              <a:t> </a:t>
            </a:r>
            <a:r>
              <a:rPr sz="2800" spc="-10" dirty="0">
                <a:latin typeface="Calibri"/>
                <a:cs typeface="Calibri"/>
              </a:rPr>
              <a:t>criterion</a:t>
            </a:r>
            <a:r>
              <a:rPr sz="2800" spc="-5" dirty="0">
                <a:latin typeface="Calibri"/>
                <a:cs typeface="Calibri"/>
              </a:rPr>
              <a:t> </a:t>
            </a:r>
            <a:r>
              <a:rPr sz="2800" spc="-25" dirty="0">
                <a:latin typeface="Calibri"/>
                <a:cs typeface="Calibri"/>
              </a:rPr>
              <a:t>for </a:t>
            </a:r>
            <a:r>
              <a:rPr sz="2800" spc="-20" dirty="0">
                <a:latin typeface="Calibri"/>
                <a:cs typeface="Calibri"/>
              </a:rPr>
              <a:t> </a:t>
            </a:r>
            <a:r>
              <a:rPr sz="2800" spc="-5" dirty="0">
                <a:latin typeface="Calibri"/>
                <a:cs typeface="Calibri"/>
              </a:rPr>
              <a:t>success</a:t>
            </a:r>
            <a:r>
              <a:rPr sz="2800" spc="-10" dirty="0">
                <a:latin typeface="Calibri"/>
                <a:cs typeface="Calibri"/>
              </a:rPr>
              <a:t> </a:t>
            </a:r>
            <a:r>
              <a:rPr sz="2800" spc="-5" dirty="0">
                <a:latin typeface="Calibri"/>
                <a:cs typeface="Calibri"/>
              </a:rPr>
              <a:t>of </a:t>
            </a:r>
            <a:r>
              <a:rPr sz="2800" dirty="0">
                <a:latin typeface="Calibri"/>
                <a:cs typeface="Calibri"/>
              </a:rPr>
              <a:t>an</a:t>
            </a:r>
            <a:r>
              <a:rPr sz="2800" spc="-5" dirty="0">
                <a:latin typeface="Calibri"/>
                <a:cs typeface="Calibri"/>
              </a:rPr>
              <a:t> </a:t>
            </a:r>
            <a:r>
              <a:rPr sz="2800" spc="-15" dirty="0">
                <a:latin typeface="Calibri"/>
                <a:cs typeface="Calibri"/>
              </a:rPr>
              <a:t>agent's</a:t>
            </a:r>
            <a:r>
              <a:rPr sz="2800" spc="-10" dirty="0">
                <a:latin typeface="Calibri"/>
                <a:cs typeface="Calibri"/>
              </a:rPr>
              <a:t> </a:t>
            </a:r>
            <a:r>
              <a:rPr sz="2800" spc="-45" dirty="0">
                <a:latin typeface="Calibri"/>
                <a:cs typeface="Calibri"/>
              </a:rPr>
              <a:t>behavior.</a:t>
            </a:r>
            <a:endParaRPr sz="2800">
              <a:latin typeface="Calibri"/>
              <a:cs typeface="Calibri"/>
            </a:endParaRPr>
          </a:p>
          <a:p>
            <a:pPr marL="301625" marR="5080" indent="-289560" algn="just">
              <a:lnSpc>
                <a:spcPts val="3020"/>
              </a:lnSpc>
              <a:spcBef>
                <a:spcPts val="705"/>
              </a:spcBef>
              <a:buFont typeface="Arial MT"/>
              <a:buChar char="•"/>
              <a:tabLst>
                <a:tab pos="302260" algn="l"/>
              </a:tabLst>
            </a:pPr>
            <a:r>
              <a:rPr sz="2800" dirty="0">
                <a:latin typeface="Calibri"/>
                <a:cs typeface="Calibri"/>
              </a:rPr>
              <a:t>E.g.,</a:t>
            </a:r>
            <a:r>
              <a:rPr sz="2800" spc="595" dirty="0">
                <a:latin typeface="Calibri"/>
                <a:cs typeface="Calibri"/>
              </a:rPr>
              <a:t> </a:t>
            </a:r>
            <a:r>
              <a:rPr sz="2800" spc="-10" dirty="0">
                <a:latin typeface="Calibri"/>
                <a:cs typeface="Calibri"/>
              </a:rPr>
              <a:t>performance</a:t>
            </a:r>
            <a:r>
              <a:rPr sz="2800" spc="610" dirty="0">
                <a:latin typeface="Calibri"/>
                <a:cs typeface="Calibri"/>
              </a:rPr>
              <a:t> </a:t>
            </a:r>
            <a:r>
              <a:rPr sz="2800" spc="-10" dirty="0">
                <a:latin typeface="Calibri"/>
                <a:cs typeface="Calibri"/>
              </a:rPr>
              <a:t>measure</a:t>
            </a:r>
            <a:r>
              <a:rPr sz="2800" spc="605" dirty="0">
                <a:latin typeface="Calibri"/>
                <a:cs typeface="Calibri"/>
              </a:rPr>
              <a:t> </a:t>
            </a:r>
            <a:r>
              <a:rPr sz="2800" spc="-5" dirty="0">
                <a:latin typeface="Calibri"/>
                <a:cs typeface="Calibri"/>
              </a:rPr>
              <a:t>of</a:t>
            </a:r>
            <a:r>
              <a:rPr sz="2800" spc="605" dirty="0">
                <a:latin typeface="Calibri"/>
                <a:cs typeface="Calibri"/>
              </a:rPr>
              <a:t> </a:t>
            </a:r>
            <a:r>
              <a:rPr sz="2800" dirty="0">
                <a:latin typeface="Calibri"/>
                <a:cs typeface="Calibri"/>
              </a:rPr>
              <a:t>a</a:t>
            </a:r>
            <a:r>
              <a:rPr sz="2800" spc="600" dirty="0">
                <a:latin typeface="Calibri"/>
                <a:cs typeface="Calibri"/>
              </a:rPr>
              <a:t> </a:t>
            </a:r>
            <a:r>
              <a:rPr sz="2800" spc="-5" dirty="0">
                <a:latin typeface="Calibri"/>
                <a:cs typeface="Calibri"/>
              </a:rPr>
              <a:t>vacuum-cleaner </a:t>
            </a:r>
            <a:r>
              <a:rPr sz="2800" spc="-625" dirty="0">
                <a:latin typeface="Calibri"/>
                <a:cs typeface="Calibri"/>
              </a:rPr>
              <a:t> </a:t>
            </a:r>
            <a:r>
              <a:rPr sz="2800" spc="-15" dirty="0">
                <a:latin typeface="Calibri"/>
                <a:cs typeface="Calibri"/>
              </a:rPr>
              <a:t>agent </a:t>
            </a:r>
            <a:r>
              <a:rPr sz="2800" spc="-10" dirty="0">
                <a:latin typeface="Calibri"/>
                <a:cs typeface="Calibri"/>
              </a:rPr>
              <a:t>could </a:t>
            </a:r>
            <a:r>
              <a:rPr sz="2800" spc="-5" dirty="0">
                <a:latin typeface="Calibri"/>
                <a:cs typeface="Calibri"/>
              </a:rPr>
              <a:t>be amount of dirt cleaned up, amount of </a:t>
            </a:r>
            <a:r>
              <a:rPr sz="2800" spc="-620" dirty="0">
                <a:latin typeface="Calibri"/>
                <a:cs typeface="Calibri"/>
              </a:rPr>
              <a:t> </a:t>
            </a:r>
            <a:r>
              <a:rPr sz="2800" spc="-10" dirty="0">
                <a:latin typeface="Calibri"/>
                <a:cs typeface="Calibri"/>
              </a:rPr>
              <a:t>time </a:t>
            </a:r>
            <a:r>
              <a:rPr sz="2800" spc="-25" dirty="0">
                <a:latin typeface="Calibri"/>
                <a:cs typeface="Calibri"/>
              </a:rPr>
              <a:t>taken, </a:t>
            </a:r>
            <a:r>
              <a:rPr sz="2800" spc="-5" dirty="0">
                <a:latin typeface="Calibri"/>
                <a:cs typeface="Calibri"/>
              </a:rPr>
              <a:t>amount of electricity </a:t>
            </a:r>
            <a:r>
              <a:rPr sz="2800" spc="-10" dirty="0">
                <a:latin typeface="Calibri"/>
                <a:cs typeface="Calibri"/>
              </a:rPr>
              <a:t>consumed, </a:t>
            </a:r>
            <a:r>
              <a:rPr sz="2800" spc="-5" dirty="0">
                <a:latin typeface="Calibri"/>
                <a:cs typeface="Calibri"/>
              </a:rPr>
              <a:t>amount </a:t>
            </a:r>
            <a:r>
              <a:rPr sz="280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noise </a:t>
            </a:r>
            <a:r>
              <a:rPr sz="2800" spc="-20" dirty="0">
                <a:latin typeface="Calibri"/>
                <a:cs typeface="Calibri"/>
              </a:rPr>
              <a:t>generated,</a:t>
            </a:r>
            <a:r>
              <a:rPr sz="2800" spc="-5" dirty="0">
                <a:latin typeface="Calibri"/>
                <a:cs typeface="Calibri"/>
              </a:rPr>
              <a:t> </a:t>
            </a:r>
            <a:r>
              <a:rPr sz="2800" spc="-20" dirty="0">
                <a:latin typeface="Calibri"/>
                <a:cs typeface="Calibri"/>
              </a:rPr>
              <a:t>etc.</a:t>
            </a:r>
            <a:endParaRPr sz="2800">
              <a:latin typeface="Calibri"/>
              <a:cs typeface="Calibri"/>
            </a:endParaRPr>
          </a:p>
        </p:txBody>
      </p:sp>
    </p:spTree>
    <p:extLst>
      <p:ext uri="{BB962C8B-B14F-4D97-AF65-F5344CB8AC3E}">
        <p14:creationId xmlns:p14="http://schemas.microsoft.com/office/powerpoint/2010/main" val="3462029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4589" y="475487"/>
            <a:ext cx="3507104" cy="695960"/>
          </a:xfrm>
          <a:prstGeom prst="rect">
            <a:avLst/>
          </a:prstGeom>
        </p:spPr>
        <p:txBody>
          <a:bodyPr vert="horz" wrap="square" lIns="0" tIns="12700" rIns="0" bIns="0" rtlCol="0">
            <a:spAutoFit/>
          </a:bodyPr>
          <a:lstStyle/>
          <a:p>
            <a:pPr marL="12700">
              <a:lnSpc>
                <a:spcPct val="100000"/>
              </a:lnSpc>
              <a:spcBef>
                <a:spcPts val="100"/>
              </a:spcBef>
            </a:pPr>
            <a:r>
              <a:rPr spc="-15" dirty="0"/>
              <a:t>Rational</a:t>
            </a:r>
            <a:r>
              <a:rPr spc="-65" dirty="0"/>
              <a:t> </a:t>
            </a:r>
            <a:r>
              <a:rPr spc="-20" dirty="0"/>
              <a:t>agents</a:t>
            </a:r>
          </a:p>
        </p:txBody>
      </p:sp>
      <p:sp>
        <p:nvSpPr>
          <p:cNvPr id="3" name="object 3"/>
          <p:cNvSpPr txBox="1"/>
          <p:nvPr/>
        </p:nvSpPr>
        <p:spPr>
          <a:xfrm>
            <a:off x="530225" y="1609344"/>
            <a:ext cx="7875905" cy="4130040"/>
          </a:xfrm>
          <a:prstGeom prst="rect">
            <a:avLst/>
          </a:prstGeom>
        </p:spPr>
        <p:txBody>
          <a:bodyPr vert="horz" wrap="square" lIns="0" tIns="12700" rIns="0" bIns="0" rtlCol="0">
            <a:spAutoFit/>
          </a:bodyPr>
          <a:lstStyle/>
          <a:p>
            <a:pPr marL="354965" indent="-282575">
              <a:lnSpc>
                <a:spcPct val="100000"/>
              </a:lnSpc>
              <a:spcBef>
                <a:spcPts val="100"/>
              </a:spcBef>
              <a:buFont typeface="Arial MT"/>
              <a:buChar char="•"/>
              <a:tabLst>
                <a:tab pos="355600" algn="l"/>
              </a:tabLst>
            </a:pPr>
            <a:r>
              <a:rPr sz="3200" spc="-10" dirty="0">
                <a:solidFill>
                  <a:srgbClr val="FF0000"/>
                </a:solidFill>
                <a:latin typeface="Calibri"/>
                <a:cs typeface="Calibri"/>
              </a:rPr>
              <a:t>Rational</a:t>
            </a:r>
            <a:r>
              <a:rPr sz="3200" spc="-15" dirty="0">
                <a:solidFill>
                  <a:srgbClr val="FF0000"/>
                </a:solidFill>
                <a:latin typeface="Calibri"/>
                <a:cs typeface="Calibri"/>
              </a:rPr>
              <a:t> Agent</a:t>
            </a:r>
            <a:r>
              <a:rPr sz="3200" spc="-15" dirty="0">
                <a:latin typeface="Calibri"/>
                <a:cs typeface="Calibri"/>
              </a:rPr>
              <a:t>:</a:t>
            </a:r>
            <a:endParaRPr sz="3200">
              <a:latin typeface="Calibri"/>
              <a:cs typeface="Calibri"/>
            </a:endParaRPr>
          </a:p>
          <a:p>
            <a:pPr>
              <a:lnSpc>
                <a:spcPct val="100000"/>
              </a:lnSpc>
              <a:spcBef>
                <a:spcPts val="5"/>
              </a:spcBef>
            </a:pPr>
            <a:endParaRPr sz="4450">
              <a:latin typeface="Calibri"/>
              <a:cs typeface="Calibri"/>
            </a:endParaRPr>
          </a:p>
          <a:p>
            <a:pPr marL="354965" marR="5080" indent="-342900">
              <a:lnSpc>
                <a:spcPct val="100000"/>
              </a:lnSpc>
            </a:pPr>
            <a:r>
              <a:rPr sz="3200" spc="-20" dirty="0">
                <a:latin typeface="Calibri"/>
                <a:cs typeface="Calibri"/>
              </a:rPr>
              <a:t>For </a:t>
            </a:r>
            <a:r>
              <a:rPr sz="3200" spc="-5" dirty="0">
                <a:latin typeface="Calibri"/>
                <a:cs typeface="Calibri"/>
              </a:rPr>
              <a:t>each possible </a:t>
            </a:r>
            <a:r>
              <a:rPr sz="3200" spc="-15" dirty="0">
                <a:latin typeface="Calibri"/>
                <a:cs typeface="Calibri"/>
              </a:rPr>
              <a:t>percept </a:t>
            </a:r>
            <a:r>
              <a:rPr sz="3200" spc="-5" dirty="0">
                <a:latin typeface="Calibri"/>
                <a:cs typeface="Calibri"/>
              </a:rPr>
              <a:t>sequence, </a:t>
            </a:r>
            <a:r>
              <a:rPr sz="3200" dirty="0">
                <a:latin typeface="Calibri"/>
                <a:cs typeface="Calibri"/>
              </a:rPr>
              <a:t>a </a:t>
            </a:r>
            <a:r>
              <a:rPr sz="3200" spc="-20" dirty="0">
                <a:latin typeface="Calibri"/>
                <a:cs typeface="Calibri"/>
              </a:rPr>
              <a:t>rational </a:t>
            </a:r>
            <a:r>
              <a:rPr sz="3200" spc="-15" dirty="0">
                <a:latin typeface="Calibri"/>
                <a:cs typeface="Calibri"/>
              </a:rPr>
              <a:t> agent </a:t>
            </a:r>
            <a:r>
              <a:rPr sz="3200" spc="-5" dirty="0">
                <a:latin typeface="Calibri"/>
                <a:cs typeface="Calibri"/>
              </a:rPr>
              <a:t>should select </a:t>
            </a:r>
            <a:r>
              <a:rPr sz="3200" dirty="0">
                <a:latin typeface="Calibri"/>
                <a:cs typeface="Calibri"/>
              </a:rPr>
              <a:t>an action </a:t>
            </a:r>
            <a:r>
              <a:rPr sz="3200" spc="-15" dirty="0">
                <a:latin typeface="Calibri"/>
                <a:cs typeface="Calibri"/>
              </a:rPr>
              <a:t>that </a:t>
            </a:r>
            <a:r>
              <a:rPr sz="3200" spc="-5" dirty="0">
                <a:latin typeface="Calibri"/>
                <a:cs typeface="Calibri"/>
              </a:rPr>
              <a:t>is </a:t>
            </a:r>
            <a:r>
              <a:rPr sz="3200" spc="-15" dirty="0">
                <a:latin typeface="Calibri"/>
                <a:cs typeface="Calibri"/>
              </a:rPr>
              <a:t>expected </a:t>
            </a:r>
            <a:r>
              <a:rPr sz="3200" spc="-710" dirty="0">
                <a:latin typeface="Calibri"/>
                <a:cs typeface="Calibri"/>
              </a:rPr>
              <a:t> </a:t>
            </a:r>
            <a:r>
              <a:rPr sz="3200" spc="-20" dirty="0">
                <a:latin typeface="Calibri"/>
                <a:cs typeface="Calibri"/>
              </a:rPr>
              <a:t>to</a:t>
            </a:r>
            <a:r>
              <a:rPr sz="3200" spc="-5" dirty="0">
                <a:latin typeface="Calibri"/>
                <a:cs typeface="Calibri"/>
              </a:rPr>
              <a:t> </a:t>
            </a:r>
            <a:r>
              <a:rPr sz="3200" spc="-20" dirty="0">
                <a:latin typeface="Calibri"/>
                <a:cs typeface="Calibri"/>
              </a:rPr>
              <a:t>maximize</a:t>
            </a:r>
            <a:r>
              <a:rPr sz="3200" spc="-5" dirty="0">
                <a:latin typeface="Calibri"/>
                <a:cs typeface="Calibri"/>
              </a:rPr>
              <a:t> its </a:t>
            </a:r>
            <a:r>
              <a:rPr sz="3200" spc="-15" dirty="0">
                <a:latin typeface="Calibri"/>
                <a:cs typeface="Calibri"/>
              </a:rPr>
              <a:t>performance</a:t>
            </a:r>
            <a:r>
              <a:rPr sz="3200" dirty="0">
                <a:latin typeface="Calibri"/>
                <a:cs typeface="Calibri"/>
              </a:rPr>
              <a:t> </a:t>
            </a:r>
            <a:r>
              <a:rPr sz="3200" spc="-10" dirty="0">
                <a:latin typeface="Calibri"/>
                <a:cs typeface="Calibri"/>
              </a:rPr>
              <a:t>measure,</a:t>
            </a:r>
            <a:r>
              <a:rPr sz="3200" spc="-5" dirty="0">
                <a:latin typeface="Calibri"/>
                <a:cs typeface="Calibri"/>
              </a:rPr>
              <a:t> </a:t>
            </a:r>
            <a:r>
              <a:rPr sz="3200" spc="-15" dirty="0">
                <a:latin typeface="Calibri"/>
                <a:cs typeface="Calibri"/>
              </a:rPr>
              <a:t>given </a:t>
            </a:r>
            <a:r>
              <a:rPr sz="3200" spc="-10" dirty="0">
                <a:latin typeface="Calibri"/>
                <a:cs typeface="Calibri"/>
              </a:rPr>
              <a:t> the evidence</a:t>
            </a:r>
            <a:r>
              <a:rPr sz="3200" spc="-5" dirty="0">
                <a:latin typeface="Calibri"/>
                <a:cs typeface="Calibri"/>
              </a:rPr>
              <a:t> </a:t>
            </a:r>
            <a:r>
              <a:rPr sz="3200" spc="-15" dirty="0">
                <a:latin typeface="Calibri"/>
                <a:cs typeface="Calibri"/>
              </a:rPr>
              <a:t>provided</a:t>
            </a:r>
            <a:r>
              <a:rPr sz="3200" spc="-5" dirty="0">
                <a:latin typeface="Calibri"/>
                <a:cs typeface="Calibri"/>
              </a:rPr>
              <a:t> </a:t>
            </a:r>
            <a:r>
              <a:rPr sz="3200" spc="-10" dirty="0">
                <a:latin typeface="Calibri"/>
                <a:cs typeface="Calibri"/>
              </a:rPr>
              <a:t>by</a:t>
            </a:r>
            <a:r>
              <a:rPr sz="3200" spc="-5" dirty="0">
                <a:latin typeface="Calibri"/>
                <a:cs typeface="Calibri"/>
              </a:rPr>
              <a:t> </a:t>
            </a:r>
            <a:r>
              <a:rPr sz="3200" spc="-10" dirty="0">
                <a:latin typeface="Calibri"/>
                <a:cs typeface="Calibri"/>
              </a:rPr>
              <a:t>the </a:t>
            </a:r>
            <a:r>
              <a:rPr sz="3200" spc="-15" dirty="0">
                <a:latin typeface="Calibri"/>
                <a:cs typeface="Calibri"/>
              </a:rPr>
              <a:t>percept </a:t>
            </a:r>
            <a:r>
              <a:rPr sz="3200" spc="-10" dirty="0">
                <a:latin typeface="Calibri"/>
                <a:cs typeface="Calibri"/>
              </a:rPr>
              <a:t> </a:t>
            </a:r>
            <a:r>
              <a:rPr sz="3200" spc="-5" dirty="0">
                <a:latin typeface="Calibri"/>
                <a:cs typeface="Calibri"/>
              </a:rPr>
              <a:t>sequence</a:t>
            </a:r>
            <a:r>
              <a:rPr sz="3200" spc="-10" dirty="0">
                <a:latin typeface="Calibri"/>
                <a:cs typeface="Calibri"/>
              </a:rPr>
              <a:t> </a:t>
            </a:r>
            <a:r>
              <a:rPr sz="3200" dirty="0">
                <a:latin typeface="Calibri"/>
                <a:cs typeface="Calibri"/>
              </a:rPr>
              <a:t>and</a:t>
            </a:r>
            <a:r>
              <a:rPr sz="3200" spc="-10" dirty="0">
                <a:latin typeface="Calibri"/>
                <a:cs typeface="Calibri"/>
              </a:rPr>
              <a:t> </a:t>
            </a:r>
            <a:r>
              <a:rPr sz="3200" spc="-20" dirty="0">
                <a:latin typeface="Calibri"/>
                <a:cs typeface="Calibri"/>
              </a:rPr>
              <a:t>whatever</a:t>
            </a:r>
            <a:r>
              <a:rPr sz="3200" spc="-10" dirty="0">
                <a:latin typeface="Calibri"/>
                <a:cs typeface="Calibri"/>
              </a:rPr>
              <a:t> </a:t>
            </a:r>
            <a:r>
              <a:rPr sz="3200" spc="-20" dirty="0">
                <a:latin typeface="Calibri"/>
                <a:cs typeface="Calibri"/>
              </a:rPr>
              <a:t>built-in</a:t>
            </a:r>
            <a:r>
              <a:rPr sz="3200" spc="-5" dirty="0">
                <a:latin typeface="Calibri"/>
                <a:cs typeface="Calibri"/>
              </a:rPr>
              <a:t> </a:t>
            </a:r>
            <a:r>
              <a:rPr sz="3200" spc="-10" dirty="0">
                <a:latin typeface="Calibri"/>
                <a:cs typeface="Calibri"/>
              </a:rPr>
              <a:t>knowledge </a:t>
            </a:r>
            <a:r>
              <a:rPr sz="3200" spc="-5" dirty="0">
                <a:latin typeface="Calibri"/>
                <a:cs typeface="Calibri"/>
              </a:rPr>
              <a:t> </a:t>
            </a:r>
            <a:r>
              <a:rPr sz="3200" spc="-10" dirty="0">
                <a:latin typeface="Calibri"/>
                <a:cs typeface="Calibri"/>
              </a:rPr>
              <a:t>the</a:t>
            </a:r>
            <a:r>
              <a:rPr sz="3200" spc="-15" dirty="0">
                <a:latin typeface="Calibri"/>
                <a:cs typeface="Calibri"/>
              </a:rPr>
              <a:t> agent</a:t>
            </a:r>
            <a:r>
              <a:rPr sz="3200" spc="-10" dirty="0">
                <a:latin typeface="Calibri"/>
                <a:cs typeface="Calibri"/>
              </a:rPr>
              <a:t> </a:t>
            </a:r>
            <a:r>
              <a:rPr sz="3200" spc="-5" dirty="0">
                <a:latin typeface="Calibri"/>
                <a:cs typeface="Calibri"/>
              </a:rPr>
              <a:t>has.</a:t>
            </a:r>
            <a:endParaRPr sz="3200">
              <a:latin typeface="Calibri"/>
              <a:cs typeface="Calibri"/>
            </a:endParaRPr>
          </a:p>
        </p:txBody>
      </p:sp>
    </p:spTree>
    <p:extLst>
      <p:ext uri="{BB962C8B-B14F-4D97-AF65-F5344CB8AC3E}">
        <p14:creationId xmlns:p14="http://schemas.microsoft.com/office/powerpoint/2010/main" val="3360199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4589" y="475487"/>
            <a:ext cx="3507104" cy="695960"/>
          </a:xfrm>
          <a:prstGeom prst="rect">
            <a:avLst/>
          </a:prstGeom>
        </p:spPr>
        <p:txBody>
          <a:bodyPr vert="horz" wrap="square" lIns="0" tIns="12700" rIns="0" bIns="0" rtlCol="0">
            <a:spAutoFit/>
          </a:bodyPr>
          <a:lstStyle/>
          <a:p>
            <a:pPr marL="12700">
              <a:lnSpc>
                <a:spcPct val="100000"/>
              </a:lnSpc>
              <a:spcBef>
                <a:spcPts val="100"/>
              </a:spcBef>
            </a:pPr>
            <a:r>
              <a:rPr spc="-15" dirty="0"/>
              <a:t>Rational</a:t>
            </a:r>
            <a:r>
              <a:rPr spc="-65" dirty="0"/>
              <a:t> </a:t>
            </a:r>
            <a:r>
              <a:rPr spc="-20" dirty="0"/>
              <a:t>agents</a:t>
            </a:r>
          </a:p>
        </p:txBody>
      </p:sp>
      <p:sp>
        <p:nvSpPr>
          <p:cNvPr id="3" name="object 3"/>
          <p:cNvSpPr txBox="1"/>
          <p:nvPr/>
        </p:nvSpPr>
        <p:spPr>
          <a:xfrm>
            <a:off x="591180" y="1570329"/>
            <a:ext cx="7964805" cy="4227830"/>
          </a:xfrm>
          <a:prstGeom prst="rect">
            <a:avLst/>
          </a:prstGeom>
        </p:spPr>
        <p:txBody>
          <a:bodyPr vert="horz" wrap="square" lIns="0" tIns="67310" rIns="0" bIns="0" rtlCol="0">
            <a:spAutoFit/>
          </a:bodyPr>
          <a:lstStyle/>
          <a:p>
            <a:pPr marL="294005" marR="1219200" indent="-281940">
              <a:lnSpc>
                <a:spcPts val="3460"/>
              </a:lnSpc>
              <a:spcBef>
                <a:spcPts val="530"/>
              </a:spcBef>
              <a:buFont typeface="Arial MT"/>
              <a:buChar char="•"/>
              <a:tabLst>
                <a:tab pos="294640" algn="l"/>
              </a:tabLst>
            </a:pPr>
            <a:r>
              <a:rPr sz="3200" spc="-15" dirty="0">
                <a:latin typeface="Calibri"/>
                <a:cs typeface="Calibri"/>
              </a:rPr>
              <a:t>Rationality </a:t>
            </a:r>
            <a:r>
              <a:rPr sz="3200" spc="-5" dirty="0">
                <a:latin typeface="Calibri"/>
                <a:cs typeface="Calibri"/>
              </a:rPr>
              <a:t>is </a:t>
            </a:r>
            <a:r>
              <a:rPr sz="3200" spc="-15" dirty="0">
                <a:latin typeface="Calibri"/>
                <a:cs typeface="Calibri"/>
              </a:rPr>
              <a:t>distinct</a:t>
            </a:r>
            <a:r>
              <a:rPr sz="3200" spc="-10" dirty="0">
                <a:latin typeface="Calibri"/>
                <a:cs typeface="Calibri"/>
              </a:rPr>
              <a:t> </a:t>
            </a:r>
            <a:r>
              <a:rPr sz="3200" spc="-20" dirty="0">
                <a:latin typeface="Calibri"/>
                <a:cs typeface="Calibri"/>
              </a:rPr>
              <a:t>from</a:t>
            </a:r>
            <a:r>
              <a:rPr sz="3200" spc="-5" dirty="0">
                <a:latin typeface="Calibri"/>
                <a:cs typeface="Calibri"/>
              </a:rPr>
              <a:t> omniscience </a:t>
            </a:r>
            <a:r>
              <a:rPr sz="3200" spc="-710" dirty="0">
                <a:latin typeface="Calibri"/>
                <a:cs typeface="Calibri"/>
              </a:rPr>
              <a:t> </a:t>
            </a:r>
            <a:r>
              <a:rPr sz="3200" spc="-10" dirty="0">
                <a:latin typeface="Calibri"/>
                <a:cs typeface="Calibri"/>
              </a:rPr>
              <a:t>(all-knowing</a:t>
            </a:r>
            <a:r>
              <a:rPr sz="3200" spc="-20" dirty="0">
                <a:latin typeface="Calibri"/>
                <a:cs typeface="Calibri"/>
              </a:rPr>
              <a:t> </a:t>
            </a:r>
            <a:r>
              <a:rPr sz="3200" spc="-10" dirty="0">
                <a:latin typeface="Calibri"/>
                <a:cs typeface="Calibri"/>
              </a:rPr>
              <a:t>with</a:t>
            </a:r>
            <a:r>
              <a:rPr sz="3200" spc="-15" dirty="0">
                <a:latin typeface="Calibri"/>
                <a:cs typeface="Calibri"/>
              </a:rPr>
              <a:t> </a:t>
            </a:r>
            <a:r>
              <a:rPr sz="3200" spc="-10" dirty="0">
                <a:latin typeface="Calibri"/>
                <a:cs typeface="Calibri"/>
              </a:rPr>
              <a:t>infinite knowledge)</a:t>
            </a:r>
            <a:endParaRPr sz="3200">
              <a:latin typeface="Calibri"/>
              <a:cs typeface="Calibri"/>
            </a:endParaRPr>
          </a:p>
          <a:p>
            <a:pPr marL="294005" marR="67310" indent="-281940">
              <a:lnSpc>
                <a:spcPts val="3460"/>
              </a:lnSpc>
              <a:spcBef>
                <a:spcPts val="790"/>
              </a:spcBef>
              <a:buFont typeface="Arial MT"/>
              <a:buChar char="•"/>
              <a:tabLst>
                <a:tab pos="294640" algn="l"/>
              </a:tabLst>
            </a:pPr>
            <a:r>
              <a:rPr sz="3200" spc="-15" dirty="0">
                <a:latin typeface="Calibri"/>
                <a:cs typeface="Calibri"/>
              </a:rPr>
              <a:t>Agents</a:t>
            </a:r>
            <a:r>
              <a:rPr sz="3200" spc="-20" dirty="0">
                <a:latin typeface="Calibri"/>
                <a:cs typeface="Calibri"/>
              </a:rPr>
              <a:t> </a:t>
            </a:r>
            <a:r>
              <a:rPr sz="3200" spc="-10" dirty="0">
                <a:latin typeface="Calibri"/>
                <a:cs typeface="Calibri"/>
              </a:rPr>
              <a:t>can </a:t>
            </a:r>
            <a:r>
              <a:rPr sz="3200" spc="-15" dirty="0">
                <a:latin typeface="Calibri"/>
                <a:cs typeface="Calibri"/>
              </a:rPr>
              <a:t>perform</a:t>
            </a:r>
            <a:r>
              <a:rPr sz="3200" spc="-10" dirty="0">
                <a:latin typeface="Calibri"/>
                <a:cs typeface="Calibri"/>
              </a:rPr>
              <a:t> </a:t>
            </a:r>
            <a:r>
              <a:rPr sz="3200" dirty="0">
                <a:latin typeface="Calibri"/>
                <a:cs typeface="Calibri"/>
              </a:rPr>
              <a:t>actions</a:t>
            </a:r>
            <a:r>
              <a:rPr sz="3200" spc="-10" dirty="0">
                <a:latin typeface="Calibri"/>
                <a:cs typeface="Calibri"/>
              </a:rPr>
              <a:t> </a:t>
            </a:r>
            <a:r>
              <a:rPr sz="3200" spc="-5" dirty="0">
                <a:latin typeface="Calibri"/>
                <a:cs typeface="Calibri"/>
              </a:rPr>
              <a:t>in</a:t>
            </a:r>
            <a:r>
              <a:rPr sz="3200" spc="-10" dirty="0">
                <a:latin typeface="Calibri"/>
                <a:cs typeface="Calibri"/>
              </a:rPr>
              <a:t> </a:t>
            </a:r>
            <a:r>
              <a:rPr sz="3200" spc="-15" dirty="0">
                <a:latin typeface="Calibri"/>
                <a:cs typeface="Calibri"/>
              </a:rPr>
              <a:t>order</a:t>
            </a:r>
            <a:r>
              <a:rPr sz="3200" spc="-10" dirty="0">
                <a:latin typeface="Calibri"/>
                <a:cs typeface="Calibri"/>
              </a:rPr>
              <a:t> </a:t>
            </a:r>
            <a:r>
              <a:rPr sz="3200" spc="-20" dirty="0">
                <a:latin typeface="Calibri"/>
                <a:cs typeface="Calibri"/>
              </a:rPr>
              <a:t>to</a:t>
            </a:r>
            <a:r>
              <a:rPr sz="3200" spc="-10" dirty="0">
                <a:latin typeface="Calibri"/>
                <a:cs typeface="Calibri"/>
              </a:rPr>
              <a:t> </a:t>
            </a:r>
            <a:r>
              <a:rPr sz="3200" spc="-5" dirty="0">
                <a:latin typeface="Calibri"/>
                <a:cs typeface="Calibri"/>
              </a:rPr>
              <a:t>modify </a:t>
            </a:r>
            <a:r>
              <a:rPr sz="3200" spc="-710" dirty="0">
                <a:latin typeface="Calibri"/>
                <a:cs typeface="Calibri"/>
              </a:rPr>
              <a:t> </a:t>
            </a:r>
            <a:r>
              <a:rPr sz="3200" spc="-15" dirty="0">
                <a:latin typeface="Calibri"/>
                <a:cs typeface="Calibri"/>
              </a:rPr>
              <a:t>future</a:t>
            </a:r>
            <a:r>
              <a:rPr sz="3200" spc="-10" dirty="0">
                <a:latin typeface="Calibri"/>
                <a:cs typeface="Calibri"/>
              </a:rPr>
              <a:t> </a:t>
            </a:r>
            <a:r>
              <a:rPr sz="3200" spc="-15" dirty="0">
                <a:latin typeface="Calibri"/>
                <a:cs typeface="Calibri"/>
              </a:rPr>
              <a:t>percepts</a:t>
            </a:r>
            <a:r>
              <a:rPr sz="3200" spc="-10" dirty="0">
                <a:latin typeface="Calibri"/>
                <a:cs typeface="Calibri"/>
              </a:rPr>
              <a:t> </a:t>
            </a:r>
            <a:r>
              <a:rPr sz="3200" spc="-5" dirty="0">
                <a:latin typeface="Calibri"/>
                <a:cs typeface="Calibri"/>
              </a:rPr>
              <a:t>so </a:t>
            </a:r>
            <a:r>
              <a:rPr sz="3200" dirty="0">
                <a:latin typeface="Calibri"/>
                <a:cs typeface="Calibri"/>
              </a:rPr>
              <a:t>as</a:t>
            </a:r>
            <a:r>
              <a:rPr sz="3200" spc="-5" dirty="0">
                <a:latin typeface="Calibri"/>
                <a:cs typeface="Calibri"/>
              </a:rPr>
              <a:t> </a:t>
            </a:r>
            <a:r>
              <a:rPr sz="3200" spc="-20" dirty="0">
                <a:latin typeface="Calibri"/>
                <a:cs typeface="Calibri"/>
              </a:rPr>
              <a:t>to</a:t>
            </a:r>
            <a:r>
              <a:rPr sz="3200" spc="-5" dirty="0">
                <a:latin typeface="Calibri"/>
                <a:cs typeface="Calibri"/>
              </a:rPr>
              <a:t> </a:t>
            </a:r>
            <a:r>
              <a:rPr sz="3200" spc="-15" dirty="0">
                <a:latin typeface="Calibri"/>
                <a:cs typeface="Calibri"/>
              </a:rPr>
              <a:t>obtain</a:t>
            </a:r>
            <a:r>
              <a:rPr sz="3200" spc="-5" dirty="0">
                <a:latin typeface="Calibri"/>
                <a:cs typeface="Calibri"/>
              </a:rPr>
              <a:t> </a:t>
            </a:r>
            <a:r>
              <a:rPr sz="3200" spc="-10" dirty="0">
                <a:latin typeface="Calibri"/>
                <a:cs typeface="Calibri"/>
              </a:rPr>
              <a:t>useful </a:t>
            </a:r>
            <a:r>
              <a:rPr sz="3200" spc="-5" dirty="0">
                <a:latin typeface="Calibri"/>
                <a:cs typeface="Calibri"/>
              </a:rPr>
              <a:t> </a:t>
            </a:r>
            <a:r>
              <a:rPr sz="3200" spc="-15" dirty="0">
                <a:latin typeface="Calibri"/>
                <a:cs typeface="Calibri"/>
              </a:rPr>
              <a:t>information (information </a:t>
            </a:r>
            <a:r>
              <a:rPr sz="3200" spc="-10" dirty="0">
                <a:latin typeface="Calibri"/>
                <a:cs typeface="Calibri"/>
              </a:rPr>
              <a:t>gathering, </a:t>
            </a:r>
            <a:r>
              <a:rPr sz="3200" spc="-5" dirty="0">
                <a:latin typeface="Calibri"/>
                <a:cs typeface="Calibri"/>
              </a:rPr>
              <a:t> </a:t>
            </a:r>
            <a:r>
              <a:rPr sz="3200" spc="-20" dirty="0">
                <a:latin typeface="Calibri"/>
                <a:cs typeface="Calibri"/>
              </a:rPr>
              <a:t>exploration)</a:t>
            </a:r>
            <a:endParaRPr sz="3200">
              <a:latin typeface="Calibri"/>
              <a:cs typeface="Calibri"/>
            </a:endParaRPr>
          </a:p>
          <a:p>
            <a:pPr marL="294005" marR="5080" indent="-281940">
              <a:lnSpc>
                <a:spcPts val="3460"/>
              </a:lnSpc>
              <a:spcBef>
                <a:spcPts val="785"/>
              </a:spcBef>
              <a:buFont typeface="Arial MT"/>
              <a:buChar char="•"/>
              <a:tabLst>
                <a:tab pos="294640" algn="l"/>
              </a:tabLst>
            </a:pPr>
            <a:r>
              <a:rPr sz="3200" spc="-5" dirty="0">
                <a:latin typeface="Calibri"/>
                <a:cs typeface="Calibri"/>
              </a:rPr>
              <a:t>An </a:t>
            </a:r>
            <a:r>
              <a:rPr sz="3200" spc="-15" dirty="0">
                <a:latin typeface="Calibri"/>
                <a:cs typeface="Calibri"/>
              </a:rPr>
              <a:t>agent</a:t>
            </a:r>
            <a:r>
              <a:rPr sz="3200" spc="-10" dirty="0">
                <a:latin typeface="Calibri"/>
                <a:cs typeface="Calibri"/>
              </a:rPr>
              <a:t> </a:t>
            </a:r>
            <a:r>
              <a:rPr sz="3200" spc="-5" dirty="0">
                <a:latin typeface="Calibri"/>
                <a:cs typeface="Calibri"/>
              </a:rPr>
              <a:t>is</a:t>
            </a:r>
            <a:r>
              <a:rPr sz="3200" spc="15" dirty="0">
                <a:latin typeface="Calibri"/>
                <a:cs typeface="Calibri"/>
              </a:rPr>
              <a:t> </a:t>
            </a:r>
            <a:r>
              <a:rPr sz="3200" spc="-10" dirty="0">
                <a:solidFill>
                  <a:srgbClr val="FF0000"/>
                </a:solidFill>
                <a:latin typeface="Calibri"/>
                <a:cs typeface="Calibri"/>
              </a:rPr>
              <a:t>autonomous</a:t>
            </a:r>
            <a:r>
              <a:rPr sz="3200" spc="-5" dirty="0">
                <a:solidFill>
                  <a:srgbClr val="FF0000"/>
                </a:solidFill>
                <a:latin typeface="Calibri"/>
                <a:cs typeface="Calibri"/>
              </a:rPr>
              <a:t> </a:t>
            </a:r>
            <a:r>
              <a:rPr sz="3200" spc="-5" dirty="0">
                <a:latin typeface="Calibri"/>
                <a:cs typeface="Calibri"/>
              </a:rPr>
              <a:t>if its </a:t>
            </a:r>
            <a:r>
              <a:rPr sz="3200" spc="-15" dirty="0">
                <a:latin typeface="Calibri"/>
                <a:cs typeface="Calibri"/>
              </a:rPr>
              <a:t>behavior</a:t>
            </a:r>
            <a:r>
              <a:rPr sz="3200" spc="-5" dirty="0">
                <a:latin typeface="Calibri"/>
                <a:cs typeface="Calibri"/>
              </a:rPr>
              <a:t> is </a:t>
            </a:r>
            <a:r>
              <a:rPr sz="3200" dirty="0">
                <a:latin typeface="Calibri"/>
                <a:cs typeface="Calibri"/>
              </a:rPr>
              <a:t> </a:t>
            </a:r>
            <a:r>
              <a:rPr sz="3200" spc="-10" dirty="0">
                <a:latin typeface="Calibri"/>
                <a:cs typeface="Calibri"/>
              </a:rPr>
              <a:t>determined by </a:t>
            </a:r>
            <a:r>
              <a:rPr sz="3200" spc="-5" dirty="0">
                <a:latin typeface="Calibri"/>
                <a:cs typeface="Calibri"/>
              </a:rPr>
              <a:t>its </a:t>
            </a:r>
            <a:r>
              <a:rPr sz="3200" spc="-10" dirty="0">
                <a:latin typeface="Calibri"/>
                <a:cs typeface="Calibri"/>
              </a:rPr>
              <a:t>own experience </a:t>
            </a:r>
            <a:r>
              <a:rPr sz="3200" spc="-5" dirty="0">
                <a:latin typeface="Calibri"/>
                <a:cs typeface="Calibri"/>
              </a:rPr>
              <a:t>(with </a:t>
            </a:r>
            <a:r>
              <a:rPr sz="3200" dirty="0">
                <a:latin typeface="Calibri"/>
                <a:cs typeface="Calibri"/>
              </a:rPr>
              <a:t>ability </a:t>
            </a:r>
            <a:r>
              <a:rPr sz="3200" spc="-710" dirty="0">
                <a:latin typeface="Calibri"/>
                <a:cs typeface="Calibri"/>
              </a:rPr>
              <a:t> </a:t>
            </a:r>
            <a:r>
              <a:rPr sz="3200" spc="-20" dirty="0">
                <a:latin typeface="Calibri"/>
                <a:cs typeface="Calibri"/>
              </a:rPr>
              <a:t>to</a:t>
            </a:r>
            <a:r>
              <a:rPr sz="3200" spc="-10" dirty="0">
                <a:latin typeface="Calibri"/>
                <a:cs typeface="Calibri"/>
              </a:rPr>
              <a:t> </a:t>
            </a:r>
            <a:r>
              <a:rPr sz="3200" spc="-5" dirty="0">
                <a:latin typeface="Calibri"/>
                <a:cs typeface="Calibri"/>
              </a:rPr>
              <a:t>learn </a:t>
            </a:r>
            <a:r>
              <a:rPr sz="3200" dirty="0">
                <a:latin typeface="Calibri"/>
                <a:cs typeface="Calibri"/>
              </a:rPr>
              <a:t>and</a:t>
            </a:r>
            <a:r>
              <a:rPr sz="3200" spc="-5" dirty="0">
                <a:latin typeface="Calibri"/>
                <a:cs typeface="Calibri"/>
              </a:rPr>
              <a:t> adapt)</a:t>
            </a:r>
            <a:endParaRPr sz="3200">
              <a:latin typeface="Calibri"/>
              <a:cs typeface="Calibri"/>
            </a:endParaRPr>
          </a:p>
        </p:txBody>
      </p:sp>
    </p:spTree>
    <p:extLst>
      <p:ext uri="{BB962C8B-B14F-4D97-AF65-F5344CB8AC3E}">
        <p14:creationId xmlns:p14="http://schemas.microsoft.com/office/powerpoint/2010/main" val="3276625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8929" y="237051"/>
            <a:ext cx="1417955" cy="848360"/>
          </a:xfrm>
          <a:prstGeom prst="rect">
            <a:avLst/>
          </a:prstGeom>
        </p:spPr>
        <p:txBody>
          <a:bodyPr vert="horz" wrap="square" lIns="0" tIns="12700" rIns="0" bIns="0" rtlCol="0">
            <a:spAutoFit/>
          </a:bodyPr>
          <a:lstStyle/>
          <a:p>
            <a:pPr marL="12700">
              <a:lnSpc>
                <a:spcPct val="100000"/>
              </a:lnSpc>
              <a:spcBef>
                <a:spcPts val="100"/>
              </a:spcBef>
            </a:pPr>
            <a:r>
              <a:rPr sz="5400" spc="-5" dirty="0"/>
              <a:t>P</a:t>
            </a:r>
            <a:r>
              <a:rPr sz="5400" spc="-60" dirty="0"/>
              <a:t>E</a:t>
            </a:r>
            <a:r>
              <a:rPr sz="5400" spc="-5" dirty="0"/>
              <a:t>AS</a:t>
            </a:r>
            <a:endParaRPr sz="5400"/>
          </a:p>
        </p:txBody>
      </p:sp>
      <p:sp>
        <p:nvSpPr>
          <p:cNvPr id="3" name="object 3"/>
          <p:cNvSpPr txBox="1"/>
          <p:nvPr/>
        </p:nvSpPr>
        <p:spPr>
          <a:xfrm>
            <a:off x="530944" y="1196358"/>
            <a:ext cx="7555230" cy="2458085"/>
          </a:xfrm>
          <a:prstGeom prst="rect">
            <a:avLst/>
          </a:prstGeom>
        </p:spPr>
        <p:txBody>
          <a:bodyPr vert="horz" wrap="square" lIns="0" tIns="60960" rIns="0" bIns="0" rtlCol="0">
            <a:spAutoFit/>
          </a:bodyPr>
          <a:lstStyle/>
          <a:p>
            <a:pPr marL="354330" marR="5080" indent="-342265">
              <a:lnSpc>
                <a:spcPts val="3020"/>
              </a:lnSpc>
              <a:spcBef>
                <a:spcPts val="480"/>
              </a:spcBef>
              <a:buChar char="•"/>
              <a:tabLst>
                <a:tab pos="354330" algn="l"/>
                <a:tab pos="354965" algn="l"/>
              </a:tabLst>
            </a:pPr>
            <a:r>
              <a:rPr sz="2800" spc="-35" dirty="0">
                <a:latin typeface="Calibri"/>
                <a:cs typeface="Calibri"/>
              </a:rPr>
              <a:t>Consider,</a:t>
            </a:r>
            <a:r>
              <a:rPr sz="2800" spc="-10" dirty="0">
                <a:latin typeface="Calibri"/>
                <a:cs typeface="Calibri"/>
              </a:rPr>
              <a:t> </a:t>
            </a:r>
            <a:r>
              <a:rPr sz="2800" dirty="0">
                <a:latin typeface="Calibri"/>
                <a:cs typeface="Calibri"/>
              </a:rPr>
              <a:t>e.g.,</a:t>
            </a:r>
            <a:r>
              <a:rPr sz="2800" spc="-5" dirty="0">
                <a:latin typeface="Calibri"/>
                <a:cs typeface="Calibri"/>
              </a:rPr>
              <a:t> </a:t>
            </a:r>
            <a:r>
              <a:rPr sz="2800" spc="-10" dirty="0">
                <a:latin typeface="Calibri"/>
                <a:cs typeface="Calibri"/>
              </a:rPr>
              <a:t>the task </a:t>
            </a:r>
            <a:r>
              <a:rPr sz="2800" spc="-5" dirty="0">
                <a:latin typeface="Calibri"/>
                <a:cs typeface="Calibri"/>
              </a:rPr>
              <a:t>of designing </a:t>
            </a:r>
            <a:r>
              <a:rPr sz="2800" dirty="0">
                <a:latin typeface="Calibri"/>
                <a:cs typeface="Calibri"/>
              </a:rPr>
              <a:t>an</a:t>
            </a:r>
            <a:r>
              <a:rPr sz="2800" spc="-5" dirty="0">
                <a:latin typeface="Calibri"/>
                <a:cs typeface="Calibri"/>
              </a:rPr>
              <a:t> </a:t>
            </a:r>
            <a:r>
              <a:rPr sz="2800" spc="-15" dirty="0">
                <a:latin typeface="Calibri"/>
                <a:cs typeface="Calibri"/>
              </a:rPr>
              <a:t>automated </a:t>
            </a:r>
            <a:r>
              <a:rPr sz="2800" spc="-620" dirty="0">
                <a:latin typeface="Calibri"/>
                <a:cs typeface="Calibri"/>
              </a:rPr>
              <a:t> </a:t>
            </a:r>
            <a:r>
              <a:rPr sz="2800" spc="-20" dirty="0">
                <a:latin typeface="Calibri"/>
                <a:cs typeface="Calibri"/>
              </a:rPr>
              <a:t>taxi</a:t>
            </a:r>
            <a:r>
              <a:rPr sz="2800" spc="-10" dirty="0">
                <a:latin typeface="Calibri"/>
                <a:cs typeface="Calibri"/>
              </a:rPr>
              <a:t> driver:</a:t>
            </a:r>
            <a:endParaRPr sz="2800">
              <a:latin typeface="Calibri"/>
              <a:cs typeface="Calibri"/>
            </a:endParaRPr>
          </a:p>
          <a:p>
            <a:pPr marL="754380" lvl="1" indent="-285750">
              <a:lnSpc>
                <a:spcPct val="100000"/>
              </a:lnSpc>
              <a:spcBef>
                <a:spcPts val="280"/>
              </a:spcBef>
              <a:buChar char="–"/>
              <a:tabLst>
                <a:tab pos="754380" algn="l"/>
                <a:tab pos="755015" algn="l"/>
              </a:tabLst>
            </a:pPr>
            <a:r>
              <a:rPr sz="2400" spc="-15" dirty="0">
                <a:latin typeface="Calibri"/>
                <a:cs typeface="Calibri"/>
              </a:rPr>
              <a:t>Performance</a:t>
            </a:r>
            <a:r>
              <a:rPr sz="2400" spc="-35" dirty="0">
                <a:latin typeface="Calibri"/>
                <a:cs typeface="Calibri"/>
              </a:rPr>
              <a:t> </a:t>
            </a:r>
            <a:r>
              <a:rPr sz="2400" spc="-10" dirty="0">
                <a:latin typeface="Calibri"/>
                <a:cs typeface="Calibri"/>
              </a:rPr>
              <a:t>measure</a:t>
            </a:r>
            <a:endParaRPr sz="2400">
              <a:latin typeface="Calibri"/>
              <a:cs typeface="Calibri"/>
            </a:endParaRPr>
          </a:p>
          <a:p>
            <a:pPr marL="754380" lvl="1" indent="-285750">
              <a:lnSpc>
                <a:spcPct val="100000"/>
              </a:lnSpc>
              <a:spcBef>
                <a:spcPts val="310"/>
              </a:spcBef>
              <a:buChar char="–"/>
              <a:tabLst>
                <a:tab pos="754380" algn="l"/>
                <a:tab pos="755015" algn="l"/>
              </a:tabLst>
            </a:pPr>
            <a:r>
              <a:rPr sz="2400" spc="-15" dirty="0">
                <a:latin typeface="Calibri"/>
                <a:cs typeface="Calibri"/>
              </a:rPr>
              <a:t>Environment</a:t>
            </a:r>
            <a:endParaRPr sz="2400">
              <a:latin typeface="Calibri"/>
              <a:cs typeface="Calibri"/>
            </a:endParaRPr>
          </a:p>
          <a:p>
            <a:pPr marL="754380" lvl="1" indent="-285750">
              <a:lnSpc>
                <a:spcPct val="100000"/>
              </a:lnSpc>
              <a:spcBef>
                <a:spcPts val="310"/>
              </a:spcBef>
              <a:buChar char="–"/>
              <a:tabLst>
                <a:tab pos="754380" algn="l"/>
                <a:tab pos="755015" algn="l"/>
              </a:tabLst>
            </a:pPr>
            <a:r>
              <a:rPr sz="2400" spc="-15" dirty="0">
                <a:latin typeface="Calibri"/>
                <a:cs typeface="Calibri"/>
              </a:rPr>
              <a:t>Actuators</a:t>
            </a:r>
            <a:endParaRPr sz="2400">
              <a:latin typeface="Calibri"/>
              <a:cs typeface="Calibri"/>
            </a:endParaRPr>
          </a:p>
          <a:p>
            <a:pPr marL="754380" lvl="1" indent="-285750">
              <a:lnSpc>
                <a:spcPct val="100000"/>
              </a:lnSpc>
              <a:spcBef>
                <a:spcPts val="310"/>
              </a:spcBef>
              <a:buChar char="–"/>
              <a:tabLst>
                <a:tab pos="754380" algn="l"/>
                <a:tab pos="755015" algn="l"/>
              </a:tabLst>
            </a:pPr>
            <a:r>
              <a:rPr sz="2400" spc="-10" dirty="0">
                <a:latin typeface="Calibri"/>
                <a:cs typeface="Calibri"/>
              </a:rPr>
              <a:t>Sensors</a:t>
            </a:r>
            <a:endParaRPr sz="2400">
              <a:latin typeface="Calibri"/>
              <a:cs typeface="Calibri"/>
            </a:endParaRPr>
          </a:p>
        </p:txBody>
      </p:sp>
    </p:spTree>
    <p:extLst>
      <p:ext uri="{BB962C8B-B14F-4D97-AF65-F5344CB8AC3E}">
        <p14:creationId xmlns:p14="http://schemas.microsoft.com/office/powerpoint/2010/main" val="16367049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7370" y="94127"/>
            <a:ext cx="5387975" cy="1366520"/>
          </a:xfrm>
          <a:prstGeom prst="rect">
            <a:avLst/>
          </a:prstGeom>
        </p:spPr>
        <p:txBody>
          <a:bodyPr vert="horz" wrap="square" lIns="0" tIns="12700" rIns="0" bIns="0" rtlCol="0">
            <a:spAutoFit/>
          </a:bodyPr>
          <a:lstStyle/>
          <a:p>
            <a:pPr marL="184150" marR="5080" indent="-172085">
              <a:lnSpc>
                <a:spcPct val="100000"/>
              </a:lnSpc>
              <a:spcBef>
                <a:spcPts val="100"/>
              </a:spcBef>
            </a:pPr>
            <a:r>
              <a:rPr spc="-10" dirty="0"/>
              <a:t>the</a:t>
            </a:r>
            <a:r>
              <a:rPr spc="-30" dirty="0"/>
              <a:t> </a:t>
            </a:r>
            <a:r>
              <a:rPr spc="-15" dirty="0"/>
              <a:t>task</a:t>
            </a:r>
            <a:r>
              <a:rPr spc="-25" dirty="0"/>
              <a:t> </a:t>
            </a:r>
            <a:r>
              <a:rPr spc="-5" dirty="0"/>
              <a:t>of</a:t>
            </a:r>
            <a:r>
              <a:rPr spc="-25" dirty="0"/>
              <a:t> </a:t>
            </a:r>
            <a:r>
              <a:rPr spc="-5" dirty="0"/>
              <a:t>designing</a:t>
            </a:r>
            <a:r>
              <a:rPr spc="-25" dirty="0"/>
              <a:t> </a:t>
            </a:r>
            <a:r>
              <a:rPr dirty="0"/>
              <a:t>an </a:t>
            </a:r>
            <a:r>
              <a:rPr spc="-980" dirty="0"/>
              <a:t> </a:t>
            </a:r>
            <a:r>
              <a:rPr spc="-20" dirty="0"/>
              <a:t>automated </a:t>
            </a:r>
            <a:r>
              <a:rPr spc="-30" dirty="0"/>
              <a:t>taxi</a:t>
            </a:r>
            <a:r>
              <a:rPr spc="-15" dirty="0"/>
              <a:t> driver</a:t>
            </a:r>
          </a:p>
        </p:txBody>
      </p:sp>
      <p:sp>
        <p:nvSpPr>
          <p:cNvPr id="3" name="object 3"/>
          <p:cNvSpPr txBox="1"/>
          <p:nvPr/>
        </p:nvSpPr>
        <p:spPr>
          <a:xfrm>
            <a:off x="970309" y="2020976"/>
            <a:ext cx="7437755" cy="3187700"/>
          </a:xfrm>
          <a:prstGeom prst="rect">
            <a:avLst/>
          </a:prstGeom>
        </p:spPr>
        <p:txBody>
          <a:bodyPr vert="horz" wrap="square" lIns="0" tIns="85725" rIns="0" bIns="0" rtlCol="0">
            <a:spAutoFit/>
          </a:bodyPr>
          <a:lstStyle/>
          <a:p>
            <a:pPr marL="314960" marR="161925" indent="-302895">
              <a:lnSpc>
                <a:spcPct val="80000"/>
              </a:lnSpc>
              <a:spcBef>
                <a:spcPts val="675"/>
              </a:spcBef>
              <a:buFont typeface="Arial MT"/>
              <a:buChar char="–"/>
              <a:tabLst>
                <a:tab pos="314960" algn="l"/>
                <a:tab pos="315595" algn="l"/>
              </a:tabLst>
            </a:pPr>
            <a:r>
              <a:rPr sz="2400" spc="-15" dirty="0">
                <a:latin typeface="Calibri"/>
                <a:cs typeface="Calibri"/>
              </a:rPr>
              <a:t>Performance</a:t>
            </a:r>
            <a:r>
              <a:rPr sz="2400" spc="-5" dirty="0">
                <a:latin typeface="Calibri"/>
                <a:cs typeface="Calibri"/>
              </a:rPr>
              <a:t> </a:t>
            </a:r>
            <a:r>
              <a:rPr sz="2400" spc="-10" dirty="0">
                <a:latin typeface="Calibri"/>
                <a:cs typeface="Calibri"/>
              </a:rPr>
              <a:t>measure:</a:t>
            </a:r>
            <a:r>
              <a:rPr sz="2400" spc="-5" dirty="0">
                <a:latin typeface="Calibri"/>
                <a:cs typeface="Calibri"/>
              </a:rPr>
              <a:t> </a:t>
            </a:r>
            <a:r>
              <a:rPr sz="2400" spc="-20" dirty="0">
                <a:latin typeface="Calibri"/>
                <a:cs typeface="Calibri"/>
              </a:rPr>
              <a:t>Safe,</a:t>
            </a:r>
            <a:r>
              <a:rPr sz="2400" spc="-5" dirty="0">
                <a:latin typeface="Calibri"/>
                <a:cs typeface="Calibri"/>
              </a:rPr>
              <a:t> </a:t>
            </a:r>
            <a:r>
              <a:rPr sz="2400" spc="-20" dirty="0">
                <a:latin typeface="Calibri"/>
                <a:cs typeface="Calibri"/>
              </a:rPr>
              <a:t>fast,</a:t>
            </a:r>
            <a:r>
              <a:rPr sz="2400" spc="-5" dirty="0">
                <a:latin typeface="Calibri"/>
                <a:cs typeface="Calibri"/>
              </a:rPr>
              <a:t> </a:t>
            </a:r>
            <a:r>
              <a:rPr sz="2400" spc="-10" dirty="0">
                <a:latin typeface="Calibri"/>
                <a:cs typeface="Calibri"/>
              </a:rPr>
              <a:t>legal,</a:t>
            </a:r>
            <a:r>
              <a:rPr sz="2400" spc="-5" dirty="0">
                <a:latin typeface="Calibri"/>
                <a:cs typeface="Calibri"/>
              </a:rPr>
              <a:t> </a:t>
            </a:r>
            <a:r>
              <a:rPr sz="2400" spc="-15" dirty="0">
                <a:latin typeface="Calibri"/>
                <a:cs typeface="Calibri"/>
              </a:rPr>
              <a:t>comfortable</a:t>
            </a:r>
            <a:r>
              <a:rPr sz="2400" spc="-5" dirty="0">
                <a:latin typeface="Calibri"/>
                <a:cs typeface="Calibri"/>
              </a:rPr>
              <a:t> trip, </a:t>
            </a:r>
            <a:r>
              <a:rPr sz="2400" spc="-525" dirty="0">
                <a:latin typeface="Calibri"/>
                <a:cs typeface="Calibri"/>
              </a:rPr>
              <a:t> </a:t>
            </a:r>
            <a:r>
              <a:rPr sz="2400" spc="-15" dirty="0">
                <a:latin typeface="Calibri"/>
                <a:cs typeface="Calibri"/>
              </a:rPr>
              <a:t>maximize</a:t>
            </a:r>
            <a:r>
              <a:rPr sz="2400" spc="-10" dirty="0">
                <a:latin typeface="Calibri"/>
                <a:cs typeface="Calibri"/>
              </a:rPr>
              <a:t> profits</a:t>
            </a:r>
            <a:endParaRPr sz="2400">
              <a:latin typeface="Calibri"/>
              <a:cs typeface="Calibri"/>
            </a:endParaRPr>
          </a:p>
          <a:p>
            <a:pPr>
              <a:lnSpc>
                <a:spcPct val="100000"/>
              </a:lnSpc>
              <a:spcBef>
                <a:spcPts val="55"/>
              </a:spcBef>
              <a:buFont typeface="Arial MT"/>
              <a:buChar char="–"/>
            </a:pPr>
            <a:endParaRPr sz="2350">
              <a:latin typeface="Calibri"/>
              <a:cs typeface="Calibri"/>
            </a:endParaRPr>
          </a:p>
          <a:p>
            <a:pPr marL="314960" indent="-302895">
              <a:lnSpc>
                <a:spcPct val="100000"/>
              </a:lnSpc>
              <a:buFont typeface="Arial MT"/>
              <a:buChar char="–"/>
              <a:tabLst>
                <a:tab pos="314960" algn="l"/>
                <a:tab pos="315595" algn="l"/>
              </a:tabLst>
            </a:pPr>
            <a:r>
              <a:rPr sz="2400" spc="-15" dirty="0">
                <a:latin typeface="Calibri"/>
                <a:cs typeface="Calibri"/>
              </a:rPr>
              <a:t>Environment:</a:t>
            </a:r>
            <a:r>
              <a:rPr sz="2400" spc="-5" dirty="0">
                <a:latin typeface="Calibri"/>
                <a:cs typeface="Calibri"/>
              </a:rPr>
              <a:t> </a:t>
            </a:r>
            <a:r>
              <a:rPr sz="2400" spc="-15" dirty="0">
                <a:latin typeface="Calibri"/>
                <a:cs typeface="Calibri"/>
              </a:rPr>
              <a:t>Roads,</a:t>
            </a:r>
            <a:r>
              <a:rPr sz="2400" spc="-5" dirty="0">
                <a:latin typeface="Calibri"/>
                <a:cs typeface="Calibri"/>
              </a:rPr>
              <a:t> other</a:t>
            </a:r>
            <a:r>
              <a:rPr sz="2400" dirty="0">
                <a:latin typeface="Calibri"/>
                <a:cs typeface="Calibri"/>
              </a:rPr>
              <a:t> </a:t>
            </a:r>
            <a:r>
              <a:rPr sz="2400" spc="-15" dirty="0">
                <a:latin typeface="Calibri"/>
                <a:cs typeface="Calibri"/>
              </a:rPr>
              <a:t>traffic,</a:t>
            </a:r>
            <a:r>
              <a:rPr sz="2400" spc="-5" dirty="0">
                <a:latin typeface="Calibri"/>
                <a:cs typeface="Calibri"/>
              </a:rPr>
              <a:t> </a:t>
            </a:r>
            <a:r>
              <a:rPr sz="2400" spc="-10" dirty="0">
                <a:latin typeface="Calibri"/>
                <a:cs typeface="Calibri"/>
              </a:rPr>
              <a:t>pedestrians,</a:t>
            </a:r>
            <a:r>
              <a:rPr sz="2400" spc="-5" dirty="0">
                <a:latin typeface="Calibri"/>
                <a:cs typeface="Calibri"/>
              </a:rPr>
              <a:t> </a:t>
            </a:r>
            <a:r>
              <a:rPr sz="2400" spc="-15" dirty="0">
                <a:latin typeface="Calibri"/>
                <a:cs typeface="Calibri"/>
              </a:rPr>
              <a:t>customers</a:t>
            </a:r>
            <a:endParaRPr sz="2400">
              <a:latin typeface="Calibri"/>
              <a:cs typeface="Calibri"/>
            </a:endParaRPr>
          </a:p>
          <a:p>
            <a:pPr>
              <a:lnSpc>
                <a:spcPct val="100000"/>
              </a:lnSpc>
              <a:spcBef>
                <a:spcPts val="55"/>
              </a:spcBef>
              <a:buFont typeface="Arial MT"/>
              <a:buChar char="–"/>
            </a:pPr>
            <a:endParaRPr sz="2350">
              <a:latin typeface="Calibri"/>
              <a:cs typeface="Calibri"/>
            </a:endParaRPr>
          </a:p>
          <a:p>
            <a:pPr marL="314960" indent="-302895">
              <a:lnSpc>
                <a:spcPct val="100000"/>
              </a:lnSpc>
              <a:buFont typeface="Arial MT"/>
              <a:buChar char="–"/>
              <a:tabLst>
                <a:tab pos="314960" algn="l"/>
                <a:tab pos="315595" algn="l"/>
              </a:tabLst>
            </a:pPr>
            <a:r>
              <a:rPr sz="2400" spc="-15" dirty="0">
                <a:latin typeface="Calibri"/>
                <a:cs typeface="Calibri"/>
              </a:rPr>
              <a:t>Actuators:</a:t>
            </a:r>
            <a:r>
              <a:rPr sz="2400" spc="-5" dirty="0">
                <a:latin typeface="Calibri"/>
                <a:cs typeface="Calibri"/>
              </a:rPr>
              <a:t> </a:t>
            </a:r>
            <a:r>
              <a:rPr sz="2400" spc="-10" dirty="0">
                <a:latin typeface="Calibri"/>
                <a:cs typeface="Calibri"/>
              </a:rPr>
              <a:t>Steering</a:t>
            </a:r>
            <a:r>
              <a:rPr sz="2400" spc="-5" dirty="0">
                <a:latin typeface="Calibri"/>
                <a:cs typeface="Calibri"/>
              </a:rPr>
              <a:t> wheel,</a:t>
            </a:r>
            <a:r>
              <a:rPr sz="2400" dirty="0">
                <a:latin typeface="Calibri"/>
                <a:cs typeface="Calibri"/>
              </a:rPr>
              <a:t> </a:t>
            </a:r>
            <a:r>
              <a:rPr sz="2400" spc="-30" dirty="0">
                <a:latin typeface="Calibri"/>
                <a:cs typeface="Calibri"/>
              </a:rPr>
              <a:t>accelerator,</a:t>
            </a:r>
            <a:r>
              <a:rPr sz="2400" spc="-5" dirty="0">
                <a:latin typeface="Calibri"/>
                <a:cs typeface="Calibri"/>
              </a:rPr>
              <a:t> </a:t>
            </a:r>
            <a:r>
              <a:rPr sz="2400" spc="-25" dirty="0">
                <a:latin typeface="Calibri"/>
                <a:cs typeface="Calibri"/>
              </a:rPr>
              <a:t>brake,</a:t>
            </a:r>
            <a:r>
              <a:rPr sz="2400" dirty="0">
                <a:latin typeface="Calibri"/>
                <a:cs typeface="Calibri"/>
              </a:rPr>
              <a:t> </a:t>
            </a:r>
            <a:r>
              <a:rPr sz="2400" spc="-5" dirty="0">
                <a:latin typeface="Calibri"/>
                <a:cs typeface="Calibri"/>
              </a:rPr>
              <a:t>signal, horn</a:t>
            </a:r>
            <a:endParaRPr sz="2400">
              <a:latin typeface="Calibri"/>
              <a:cs typeface="Calibri"/>
            </a:endParaRPr>
          </a:p>
          <a:p>
            <a:pPr>
              <a:lnSpc>
                <a:spcPct val="100000"/>
              </a:lnSpc>
              <a:spcBef>
                <a:spcPts val="20"/>
              </a:spcBef>
              <a:buFont typeface="Arial MT"/>
              <a:buChar char="–"/>
            </a:pPr>
            <a:endParaRPr sz="2850">
              <a:latin typeface="Calibri"/>
              <a:cs typeface="Calibri"/>
            </a:endParaRPr>
          </a:p>
          <a:p>
            <a:pPr marL="314960" marR="302260" indent="-302895">
              <a:lnSpc>
                <a:spcPct val="80000"/>
              </a:lnSpc>
              <a:buFont typeface="Arial MT"/>
              <a:buChar char="–"/>
              <a:tabLst>
                <a:tab pos="314960" algn="l"/>
                <a:tab pos="315595" algn="l"/>
              </a:tabLst>
            </a:pPr>
            <a:r>
              <a:rPr sz="2400" spc="-10" dirty="0">
                <a:latin typeface="Calibri"/>
                <a:cs typeface="Calibri"/>
              </a:rPr>
              <a:t>Sensors: Cameras, </a:t>
            </a:r>
            <a:r>
              <a:rPr sz="2400" spc="-40" dirty="0">
                <a:latin typeface="Calibri"/>
                <a:cs typeface="Calibri"/>
              </a:rPr>
              <a:t>sonar,</a:t>
            </a:r>
            <a:r>
              <a:rPr sz="2400" spc="-10" dirty="0">
                <a:latin typeface="Calibri"/>
                <a:cs typeface="Calibri"/>
              </a:rPr>
              <a:t> </a:t>
            </a:r>
            <a:r>
              <a:rPr sz="2400" spc="-25" dirty="0">
                <a:latin typeface="Calibri"/>
                <a:cs typeface="Calibri"/>
              </a:rPr>
              <a:t>speedometer,</a:t>
            </a:r>
            <a:r>
              <a:rPr sz="2400" spc="-10" dirty="0">
                <a:latin typeface="Calibri"/>
                <a:cs typeface="Calibri"/>
              </a:rPr>
              <a:t> </a:t>
            </a:r>
            <a:r>
              <a:rPr sz="2400" spc="-5" dirty="0">
                <a:latin typeface="Calibri"/>
                <a:cs typeface="Calibri"/>
              </a:rPr>
              <a:t>GPS,</a:t>
            </a:r>
            <a:r>
              <a:rPr sz="2400" spc="-10" dirty="0">
                <a:latin typeface="Calibri"/>
                <a:cs typeface="Calibri"/>
              </a:rPr>
              <a:t> </a:t>
            </a:r>
            <a:r>
              <a:rPr sz="2400" spc="-35" dirty="0">
                <a:latin typeface="Calibri"/>
                <a:cs typeface="Calibri"/>
              </a:rPr>
              <a:t>odometer, </a:t>
            </a:r>
            <a:r>
              <a:rPr sz="2400" spc="-530" dirty="0">
                <a:latin typeface="Calibri"/>
                <a:cs typeface="Calibri"/>
              </a:rPr>
              <a:t> </a:t>
            </a:r>
            <a:r>
              <a:rPr sz="2400" spc="-5" dirty="0">
                <a:latin typeface="Calibri"/>
                <a:cs typeface="Calibri"/>
              </a:rPr>
              <a:t>engine</a:t>
            </a:r>
            <a:r>
              <a:rPr sz="2400" spc="-10" dirty="0">
                <a:latin typeface="Calibri"/>
                <a:cs typeface="Calibri"/>
              </a:rPr>
              <a:t> sensors,</a:t>
            </a:r>
            <a:r>
              <a:rPr sz="2400" spc="-5" dirty="0">
                <a:latin typeface="Calibri"/>
                <a:cs typeface="Calibri"/>
              </a:rPr>
              <a:t> </a:t>
            </a:r>
            <a:r>
              <a:rPr sz="2400" spc="-20" dirty="0">
                <a:latin typeface="Calibri"/>
                <a:cs typeface="Calibri"/>
              </a:rPr>
              <a:t>keyboard</a:t>
            </a:r>
            <a:endParaRPr sz="2400">
              <a:latin typeface="Calibri"/>
              <a:cs typeface="Calibri"/>
            </a:endParaRPr>
          </a:p>
        </p:txBody>
      </p:sp>
    </p:spTree>
    <p:extLst>
      <p:ext uri="{BB962C8B-B14F-4D97-AF65-F5344CB8AC3E}">
        <p14:creationId xmlns:p14="http://schemas.microsoft.com/office/powerpoint/2010/main" val="748983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7768" y="1603247"/>
            <a:ext cx="7623175" cy="695960"/>
          </a:xfrm>
          <a:prstGeom prst="rect">
            <a:avLst/>
          </a:prstGeom>
        </p:spPr>
        <p:txBody>
          <a:bodyPr vert="horz" wrap="square" lIns="0" tIns="12700" rIns="0" bIns="0" rtlCol="0">
            <a:spAutoFit/>
          </a:bodyPr>
          <a:lstStyle/>
          <a:p>
            <a:pPr marL="271145" indent="-259079">
              <a:lnSpc>
                <a:spcPct val="100000"/>
              </a:lnSpc>
              <a:spcBef>
                <a:spcPts val="100"/>
              </a:spcBef>
              <a:buFont typeface="Arial MT"/>
              <a:buChar char="•"/>
              <a:tabLst>
                <a:tab pos="271780" algn="l"/>
              </a:tabLst>
            </a:pPr>
            <a:r>
              <a:rPr sz="4400" spc="-20" dirty="0">
                <a:latin typeface="Calibri"/>
                <a:cs typeface="Calibri"/>
              </a:rPr>
              <a:t>Agent:</a:t>
            </a:r>
            <a:r>
              <a:rPr sz="4400" spc="-35" dirty="0">
                <a:latin typeface="Calibri"/>
                <a:cs typeface="Calibri"/>
              </a:rPr>
              <a:t> </a:t>
            </a:r>
            <a:r>
              <a:rPr sz="4400" spc="-10" dirty="0">
                <a:latin typeface="Calibri"/>
                <a:cs typeface="Calibri"/>
              </a:rPr>
              <a:t>Medical</a:t>
            </a:r>
            <a:r>
              <a:rPr sz="4400" spc="-25" dirty="0">
                <a:latin typeface="Calibri"/>
                <a:cs typeface="Calibri"/>
              </a:rPr>
              <a:t> </a:t>
            </a:r>
            <a:r>
              <a:rPr sz="4400" spc="-5" dirty="0">
                <a:latin typeface="Calibri"/>
                <a:cs typeface="Calibri"/>
              </a:rPr>
              <a:t>diagnosis</a:t>
            </a:r>
            <a:r>
              <a:rPr sz="4400" spc="-25" dirty="0">
                <a:latin typeface="Calibri"/>
                <a:cs typeface="Calibri"/>
              </a:rPr>
              <a:t> </a:t>
            </a:r>
            <a:r>
              <a:rPr sz="4400" spc="-40" dirty="0">
                <a:latin typeface="Calibri"/>
                <a:cs typeface="Calibri"/>
              </a:rPr>
              <a:t>system</a:t>
            </a:r>
            <a:endParaRPr sz="4400">
              <a:latin typeface="Calibri"/>
              <a:cs typeface="Calibri"/>
            </a:endParaRPr>
          </a:p>
        </p:txBody>
      </p:sp>
    </p:spTree>
    <p:extLst>
      <p:ext uri="{BB962C8B-B14F-4D97-AF65-F5344CB8AC3E}">
        <p14:creationId xmlns:p14="http://schemas.microsoft.com/office/powerpoint/2010/main" val="2915961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3927" y="475487"/>
            <a:ext cx="7364095" cy="695960"/>
          </a:xfrm>
          <a:prstGeom prst="rect">
            <a:avLst/>
          </a:prstGeom>
        </p:spPr>
        <p:txBody>
          <a:bodyPr vert="horz" wrap="square" lIns="0" tIns="12700" rIns="0" bIns="0" rtlCol="0">
            <a:spAutoFit/>
          </a:bodyPr>
          <a:lstStyle/>
          <a:p>
            <a:pPr marL="12700">
              <a:lnSpc>
                <a:spcPct val="100000"/>
              </a:lnSpc>
              <a:spcBef>
                <a:spcPts val="100"/>
              </a:spcBef>
            </a:pPr>
            <a:r>
              <a:rPr spc="-20" dirty="0"/>
              <a:t>Agent:</a:t>
            </a:r>
            <a:r>
              <a:rPr spc="-35" dirty="0"/>
              <a:t> </a:t>
            </a:r>
            <a:r>
              <a:rPr spc="-10" dirty="0"/>
              <a:t>Medical</a:t>
            </a:r>
            <a:r>
              <a:rPr spc="-25" dirty="0"/>
              <a:t> </a:t>
            </a:r>
            <a:r>
              <a:rPr spc="-5" dirty="0"/>
              <a:t>diagnosis</a:t>
            </a:r>
            <a:r>
              <a:rPr spc="-25" dirty="0"/>
              <a:t> </a:t>
            </a:r>
            <a:r>
              <a:rPr spc="-40" dirty="0"/>
              <a:t>system</a:t>
            </a:r>
          </a:p>
        </p:txBody>
      </p:sp>
      <p:sp>
        <p:nvSpPr>
          <p:cNvPr id="3" name="object 3"/>
          <p:cNvSpPr txBox="1"/>
          <p:nvPr/>
        </p:nvSpPr>
        <p:spPr>
          <a:xfrm>
            <a:off x="591180" y="1228104"/>
            <a:ext cx="7324725" cy="5511165"/>
          </a:xfrm>
          <a:prstGeom prst="rect">
            <a:avLst/>
          </a:prstGeom>
        </p:spPr>
        <p:txBody>
          <a:bodyPr vert="horz" wrap="square" lIns="0" tIns="12700" rIns="0" bIns="0" rtlCol="0">
            <a:spAutoFit/>
          </a:bodyPr>
          <a:lstStyle/>
          <a:p>
            <a:pPr marL="294005" marR="537210" indent="-281940">
              <a:lnSpc>
                <a:spcPct val="100000"/>
              </a:lnSpc>
              <a:spcBef>
                <a:spcPts val="100"/>
              </a:spcBef>
              <a:buFont typeface="Arial MT"/>
              <a:buChar char="•"/>
              <a:tabLst>
                <a:tab pos="294640" algn="l"/>
              </a:tabLst>
            </a:pPr>
            <a:r>
              <a:rPr sz="3200" spc="-20" dirty="0">
                <a:latin typeface="Calibri"/>
                <a:cs typeface="Calibri"/>
              </a:rPr>
              <a:t>Performance</a:t>
            </a:r>
            <a:r>
              <a:rPr sz="3200" spc="-15" dirty="0">
                <a:latin typeface="Calibri"/>
                <a:cs typeface="Calibri"/>
              </a:rPr>
              <a:t> </a:t>
            </a:r>
            <a:r>
              <a:rPr sz="3200" spc="-10" dirty="0">
                <a:latin typeface="Calibri"/>
                <a:cs typeface="Calibri"/>
              </a:rPr>
              <a:t>measure: </a:t>
            </a:r>
            <a:r>
              <a:rPr sz="3200" spc="-15" dirty="0">
                <a:latin typeface="Calibri"/>
                <a:cs typeface="Calibri"/>
              </a:rPr>
              <a:t>Healthy</a:t>
            </a:r>
            <a:r>
              <a:rPr sz="3200" spc="-10" dirty="0">
                <a:latin typeface="Calibri"/>
                <a:cs typeface="Calibri"/>
              </a:rPr>
              <a:t> </a:t>
            </a:r>
            <a:r>
              <a:rPr sz="3200" spc="-15" dirty="0">
                <a:latin typeface="Calibri"/>
                <a:cs typeface="Calibri"/>
              </a:rPr>
              <a:t>patient, </a:t>
            </a:r>
            <a:r>
              <a:rPr sz="3200" spc="-710" dirty="0">
                <a:latin typeface="Calibri"/>
                <a:cs typeface="Calibri"/>
              </a:rPr>
              <a:t> </a:t>
            </a:r>
            <a:r>
              <a:rPr sz="3200" spc="-15" dirty="0">
                <a:latin typeface="Calibri"/>
                <a:cs typeface="Calibri"/>
              </a:rPr>
              <a:t>minimize</a:t>
            </a:r>
            <a:r>
              <a:rPr sz="3200" spc="-10" dirty="0">
                <a:latin typeface="Calibri"/>
                <a:cs typeface="Calibri"/>
              </a:rPr>
              <a:t> </a:t>
            </a:r>
            <a:r>
              <a:rPr sz="3200" spc="-20" dirty="0">
                <a:latin typeface="Calibri"/>
                <a:cs typeface="Calibri"/>
              </a:rPr>
              <a:t>costs,</a:t>
            </a:r>
            <a:r>
              <a:rPr sz="3200" spc="-10" dirty="0">
                <a:latin typeface="Calibri"/>
                <a:cs typeface="Calibri"/>
              </a:rPr>
              <a:t> </a:t>
            </a:r>
            <a:r>
              <a:rPr sz="3200" spc="-15" dirty="0">
                <a:latin typeface="Calibri"/>
                <a:cs typeface="Calibri"/>
              </a:rPr>
              <a:t>lawsuits</a:t>
            </a:r>
            <a:endParaRPr sz="3200">
              <a:latin typeface="Calibri"/>
              <a:cs typeface="Calibri"/>
            </a:endParaRPr>
          </a:p>
          <a:p>
            <a:pPr>
              <a:lnSpc>
                <a:spcPct val="100000"/>
              </a:lnSpc>
              <a:spcBef>
                <a:spcPts val="5"/>
              </a:spcBef>
              <a:buFont typeface="Arial MT"/>
              <a:buChar char="•"/>
            </a:pPr>
            <a:endParaRPr sz="4450">
              <a:latin typeface="Calibri"/>
              <a:cs typeface="Calibri"/>
            </a:endParaRPr>
          </a:p>
          <a:p>
            <a:pPr marL="294005" indent="-281940">
              <a:lnSpc>
                <a:spcPct val="100000"/>
              </a:lnSpc>
              <a:buFont typeface="Arial MT"/>
              <a:buChar char="•"/>
              <a:tabLst>
                <a:tab pos="294640" algn="l"/>
              </a:tabLst>
            </a:pPr>
            <a:r>
              <a:rPr sz="3200" spc="-20" dirty="0">
                <a:latin typeface="Calibri"/>
                <a:cs typeface="Calibri"/>
              </a:rPr>
              <a:t>Environment:</a:t>
            </a:r>
            <a:r>
              <a:rPr sz="3200" spc="-15" dirty="0">
                <a:latin typeface="Calibri"/>
                <a:cs typeface="Calibri"/>
              </a:rPr>
              <a:t> </a:t>
            </a:r>
            <a:r>
              <a:rPr sz="3200" spc="-20" dirty="0">
                <a:latin typeface="Calibri"/>
                <a:cs typeface="Calibri"/>
              </a:rPr>
              <a:t>Patient,</a:t>
            </a:r>
            <a:r>
              <a:rPr sz="3200" spc="-10" dirty="0">
                <a:latin typeface="Calibri"/>
                <a:cs typeface="Calibri"/>
              </a:rPr>
              <a:t> hospital,</a:t>
            </a:r>
            <a:r>
              <a:rPr sz="3200" spc="-5" dirty="0">
                <a:latin typeface="Calibri"/>
                <a:cs typeface="Calibri"/>
              </a:rPr>
              <a:t> </a:t>
            </a:r>
            <a:r>
              <a:rPr sz="3200" spc="-30" dirty="0">
                <a:latin typeface="Calibri"/>
                <a:cs typeface="Calibri"/>
              </a:rPr>
              <a:t>staff</a:t>
            </a:r>
            <a:endParaRPr sz="3200">
              <a:latin typeface="Calibri"/>
              <a:cs typeface="Calibri"/>
            </a:endParaRPr>
          </a:p>
          <a:p>
            <a:pPr>
              <a:lnSpc>
                <a:spcPct val="100000"/>
              </a:lnSpc>
              <a:spcBef>
                <a:spcPts val="5"/>
              </a:spcBef>
              <a:buFont typeface="Arial MT"/>
              <a:buChar char="•"/>
            </a:pPr>
            <a:endParaRPr sz="4450">
              <a:latin typeface="Calibri"/>
              <a:cs typeface="Calibri"/>
            </a:endParaRPr>
          </a:p>
          <a:p>
            <a:pPr marL="294005" marR="5080" indent="-281940">
              <a:lnSpc>
                <a:spcPct val="100000"/>
              </a:lnSpc>
              <a:buFont typeface="Arial MT"/>
              <a:buChar char="•"/>
              <a:tabLst>
                <a:tab pos="294640" algn="l"/>
              </a:tabLst>
            </a:pPr>
            <a:r>
              <a:rPr sz="3200" spc="-20" dirty="0">
                <a:latin typeface="Calibri"/>
                <a:cs typeface="Calibri"/>
              </a:rPr>
              <a:t>Actuators:</a:t>
            </a:r>
            <a:r>
              <a:rPr sz="3200" spc="-10" dirty="0">
                <a:latin typeface="Calibri"/>
                <a:cs typeface="Calibri"/>
              </a:rPr>
              <a:t> </a:t>
            </a:r>
            <a:r>
              <a:rPr sz="3200" spc="-15" dirty="0">
                <a:latin typeface="Calibri"/>
                <a:cs typeface="Calibri"/>
              </a:rPr>
              <a:t>Screen</a:t>
            </a:r>
            <a:r>
              <a:rPr sz="3200" spc="-5" dirty="0">
                <a:latin typeface="Calibri"/>
                <a:cs typeface="Calibri"/>
              </a:rPr>
              <a:t> </a:t>
            </a:r>
            <a:r>
              <a:rPr sz="3200" spc="-15" dirty="0">
                <a:latin typeface="Calibri"/>
                <a:cs typeface="Calibri"/>
              </a:rPr>
              <a:t>display</a:t>
            </a:r>
            <a:r>
              <a:rPr sz="3200" spc="-10" dirty="0">
                <a:latin typeface="Calibri"/>
                <a:cs typeface="Calibri"/>
              </a:rPr>
              <a:t> (questions, </a:t>
            </a:r>
            <a:r>
              <a:rPr sz="3200" spc="-20" dirty="0">
                <a:latin typeface="Calibri"/>
                <a:cs typeface="Calibri"/>
              </a:rPr>
              <a:t>tests, </a:t>
            </a:r>
            <a:r>
              <a:rPr sz="3200" spc="-710" dirty="0">
                <a:latin typeface="Calibri"/>
                <a:cs typeface="Calibri"/>
              </a:rPr>
              <a:t> </a:t>
            </a:r>
            <a:r>
              <a:rPr sz="3200" spc="-5" dirty="0">
                <a:latin typeface="Calibri"/>
                <a:cs typeface="Calibri"/>
              </a:rPr>
              <a:t>diagnoses,</a:t>
            </a:r>
            <a:r>
              <a:rPr sz="3200" spc="-10" dirty="0">
                <a:latin typeface="Calibri"/>
                <a:cs typeface="Calibri"/>
              </a:rPr>
              <a:t> </a:t>
            </a:r>
            <a:r>
              <a:rPr sz="3200" spc="-15" dirty="0">
                <a:latin typeface="Calibri"/>
                <a:cs typeface="Calibri"/>
              </a:rPr>
              <a:t>treatments, </a:t>
            </a:r>
            <a:r>
              <a:rPr sz="3200" spc="-25" dirty="0">
                <a:latin typeface="Calibri"/>
                <a:cs typeface="Calibri"/>
              </a:rPr>
              <a:t>referrals)</a:t>
            </a:r>
            <a:endParaRPr sz="3200">
              <a:latin typeface="Calibri"/>
              <a:cs typeface="Calibri"/>
            </a:endParaRPr>
          </a:p>
          <a:p>
            <a:pPr>
              <a:lnSpc>
                <a:spcPct val="100000"/>
              </a:lnSpc>
              <a:spcBef>
                <a:spcPts val="5"/>
              </a:spcBef>
              <a:buFont typeface="Arial MT"/>
              <a:buChar char="•"/>
            </a:pPr>
            <a:endParaRPr sz="4450">
              <a:latin typeface="Calibri"/>
              <a:cs typeface="Calibri"/>
            </a:endParaRPr>
          </a:p>
          <a:p>
            <a:pPr marL="294005" marR="582930" indent="-281940">
              <a:lnSpc>
                <a:spcPct val="100000"/>
              </a:lnSpc>
              <a:buFont typeface="Arial MT"/>
              <a:buChar char="•"/>
              <a:tabLst>
                <a:tab pos="294640" algn="l"/>
              </a:tabLst>
            </a:pPr>
            <a:r>
              <a:rPr sz="3200" spc="-15" dirty="0">
                <a:latin typeface="Calibri"/>
                <a:cs typeface="Calibri"/>
              </a:rPr>
              <a:t>Sensors:</a:t>
            </a:r>
            <a:r>
              <a:rPr sz="3200" spc="-5" dirty="0">
                <a:latin typeface="Calibri"/>
                <a:cs typeface="Calibri"/>
              </a:rPr>
              <a:t> </a:t>
            </a:r>
            <a:r>
              <a:rPr sz="3200" spc="-20" dirty="0">
                <a:latin typeface="Calibri"/>
                <a:cs typeface="Calibri"/>
              </a:rPr>
              <a:t>Keyboard</a:t>
            </a:r>
            <a:r>
              <a:rPr sz="3200" spc="-5" dirty="0">
                <a:latin typeface="Calibri"/>
                <a:cs typeface="Calibri"/>
              </a:rPr>
              <a:t> </a:t>
            </a:r>
            <a:r>
              <a:rPr sz="3200" spc="-10" dirty="0">
                <a:latin typeface="Calibri"/>
                <a:cs typeface="Calibri"/>
              </a:rPr>
              <a:t>(entry</a:t>
            </a:r>
            <a:r>
              <a:rPr sz="3200" spc="-5" dirty="0">
                <a:latin typeface="Calibri"/>
                <a:cs typeface="Calibri"/>
              </a:rPr>
              <a:t> of </a:t>
            </a:r>
            <a:r>
              <a:rPr sz="3200" spc="-20" dirty="0">
                <a:latin typeface="Calibri"/>
                <a:cs typeface="Calibri"/>
              </a:rPr>
              <a:t>symptoms, </a:t>
            </a:r>
            <a:r>
              <a:rPr sz="3200" spc="-705" dirty="0">
                <a:latin typeface="Calibri"/>
                <a:cs typeface="Calibri"/>
              </a:rPr>
              <a:t> </a:t>
            </a:r>
            <a:r>
              <a:rPr sz="3200" spc="-5" dirty="0">
                <a:latin typeface="Calibri"/>
                <a:cs typeface="Calibri"/>
              </a:rPr>
              <a:t>findings,</a:t>
            </a:r>
            <a:r>
              <a:rPr sz="3200" spc="-10" dirty="0">
                <a:latin typeface="Calibri"/>
                <a:cs typeface="Calibri"/>
              </a:rPr>
              <a:t> </a:t>
            </a:r>
            <a:r>
              <a:rPr sz="3200" spc="-15" dirty="0">
                <a:latin typeface="Calibri"/>
                <a:cs typeface="Calibri"/>
              </a:rPr>
              <a:t>patient's answers)</a:t>
            </a:r>
            <a:endParaRPr sz="3200">
              <a:latin typeface="Calibri"/>
              <a:cs typeface="Calibri"/>
            </a:endParaRPr>
          </a:p>
        </p:txBody>
      </p:sp>
    </p:spTree>
    <p:extLst>
      <p:ext uri="{BB962C8B-B14F-4D97-AF65-F5344CB8AC3E}">
        <p14:creationId xmlns:p14="http://schemas.microsoft.com/office/powerpoint/2010/main" val="364784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1038" y="2745888"/>
            <a:ext cx="7306309" cy="695960"/>
          </a:xfrm>
          <a:prstGeom prst="rect">
            <a:avLst/>
          </a:prstGeom>
        </p:spPr>
        <p:txBody>
          <a:bodyPr vert="horz" wrap="square" lIns="0" tIns="12700" rIns="0" bIns="0" rtlCol="0">
            <a:spAutoFit/>
          </a:bodyPr>
          <a:lstStyle/>
          <a:p>
            <a:pPr marL="271145" indent="-259079">
              <a:lnSpc>
                <a:spcPct val="100000"/>
              </a:lnSpc>
              <a:spcBef>
                <a:spcPts val="100"/>
              </a:spcBef>
              <a:buFont typeface="Arial MT"/>
              <a:buChar char="•"/>
              <a:tabLst>
                <a:tab pos="271780" algn="l"/>
              </a:tabLst>
            </a:pPr>
            <a:r>
              <a:rPr sz="4400" spc="-20" dirty="0">
                <a:latin typeface="Calibri"/>
                <a:cs typeface="Calibri"/>
              </a:rPr>
              <a:t>Agent:</a:t>
            </a:r>
            <a:r>
              <a:rPr sz="4400" spc="-25" dirty="0">
                <a:latin typeface="Calibri"/>
                <a:cs typeface="Calibri"/>
              </a:rPr>
              <a:t> Interactive</a:t>
            </a:r>
            <a:r>
              <a:rPr sz="4400" spc="-20" dirty="0">
                <a:latin typeface="Calibri"/>
                <a:cs typeface="Calibri"/>
              </a:rPr>
              <a:t> </a:t>
            </a:r>
            <a:r>
              <a:rPr sz="4400" spc="-5" dirty="0">
                <a:latin typeface="Calibri"/>
                <a:cs typeface="Calibri"/>
              </a:rPr>
              <a:t>English</a:t>
            </a:r>
            <a:r>
              <a:rPr sz="4400" spc="-15" dirty="0">
                <a:latin typeface="Calibri"/>
                <a:cs typeface="Calibri"/>
              </a:rPr>
              <a:t> tutor</a:t>
            </a:r>
            <a:endParaRPr sz="4400">
              <a:latin typeface="Calibri"/>
              <a:cs typeface="Calibri"/>
            </a:endParaRPr>
          </a:p>
        </p:txBody>
      </p:sp>
    </p:spTree>
    <p:extLst>
      <p:ext uri="{BB962C8B-B14F-4D97-AF65-F5344CB8AC3E}">
        <p14:creationId xmlns:p14="http://schemas.microsoft.com/office/powerpoint/2010/main" val="2495432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4918" y="475487"/>
            <a:ext cx="7047230" cy="695960"/>
          </a:xfrm>
          <a:prstGeom prst="rect">
            <a:avLst/>
          </a:prstGeom>
        </p:spPr>
        <p:txBody>
          <a:bodyPr vert="horz" wrap="square" lIns="0" tIns="12700" rIns="0" bIns="0" rtlCol="0">
            <a:spAutoFit/>
          </a:bodyPr>
          <a:lstStyle/>
          <a:p>
            <a:pPr marL="12700">
              <a:lnSpc>
                <a:spcPct val="100000"/>
              </a:lnSpc>
              <a:spcBef>
                <a:spcPts val="100"/>
              </a:spcBef>
            </a:pPr>
            <a:r>
              <a:rPr spc="-20" dirty="0"/>
              <a:t>Agent:</a:t>
            </a:r>
            <a:r>
              <a:rPr spc="-25" dirty="0"/>
              <a:t> Interactive</a:t>
            </a:r>
            <a:r>
              <a:rPr spc="-20" dirty="0"/>
              <a:t> </a:t>
            </a:r>
            <a:r>
              <a:rPr spc="-5" dirty="0"/>
              <a:t>English</a:t>
            </a:r>
            <a:r>
              <a:rPr spc="-15" dirty="0"/>
              <a:t> tutor</a:t>
            </a:r>
          </a:p>
        </p:txBody>
      </p:sp>
      <p:sp>
        <p:nvSpPr>
          <p:cNvPr id="3" name="object 3"/>
          <p:cNvSpPr txBox="1"/>
          <p:nvPr/>
        </p:nvSpPr>
        <p:spPr>
          <a:xfrm>
            <a:off x="591180" y="1609344"/>
            <a:ext cx="7331075" cy="3256279"/>
          </a:xfrm>
          <a:prstGeom prst="rect">
            <a:avLst/>
          </a:prstGeom>
        </p:spPr>
        <p:txBody>
          <a:bodyPr vert="horz" wrap="square" lIns="0" tIns="12700" rIns="0" bIns="0" rtlCol="0">
            <a:spAutoFit/>
          </a:bodyPr>
          <a:lstStyle/>
          <a:p>
            <a:pPr marL="294005" marR="5080" indent="-281940">
              <a:lnSpc>
                <a:spcPct val="100000"/>
              </a:lnSpc>
              <a:spcBef>
                <a:spcPts val="100"/>
              </a:spcBef>
              <a:buFont typeface="Arial MT"/>
              <a:buChar char="•"/>
              <a:tabLst>
                <a:tab pos="294640" algn="l"/>
              </a:tabLst>
            </a:pPr>
            <a:r>
              <a:rPr sz="3200" spc="-20" dirty="0">
                <a:latin typeface="Calibri"/>
                <a:cs typeface="Calibri"/>
              </a:rPr>
              <a:t>Performance</a:t>
            </a:r>
            <a:r>
              <a:rPr sz="3200" spc="-15" dirty="0">
                <a:latin typeface="Calibri"/>
                <a:cs typeface="Calibri"/>
              </a:rPr>
              <a:t> </a:t>
            </a:r>
            <a:r>
              <a:rPr sz="3200" spc="-10" dirty="0">
                <a:latin typeface="Calibri"/>
                <a:cs typeface="Calibri"/>
              </a:rPr>
              <a:t>measure: </a:t>
            </a:r>
            <a:r>
              <a:rPr sz="3200" spc="-20" dirty="0">
                <a:latin typeface="Calibri"/>
                <a:cs typeface="Calibri"/>
              </a:rPr>
              <a:t>Maximize</a:t>
            </a:r>
            <a:r>
              <a:rPr sz="3200" spc="-10" dirty="0">
                <a:latin typeface="Calibri"/>
                <a:cs typeface="Calibri"/>
              </a:rPr>
              <a:t> </a:t>
            </a:r>
            <a:r>
              <a:rPr sz="3200" spc="-15" dirty="0">
                <a:latin typeface="Calibri"/>
                <a:cs typeface="Calibri"/>
              </a:rPr>
              <a:t>student's </a:t>
            </a:r>
            <a:r>
              <a:rPr sz="3200" spc="-710" dirty="0">
                <a:latin typeface="Calibri"/>
                <a:cs typeface="Calibri"/>
              </a:rPr>
              <a:t> </a:t>
            </a:r>
            <a:r>
              <a:rPr sz="3200" spc="-20" dirty="0">
                <a:latin typeface="Calibri"/>
                <a:cs typeface="Calibri"/>
              </a:rPr>
              <a:t>score</a:t>
            </a:r>
            <a:r>
              <a:rPr sz="3200" spc="-10" dirty="0">
                <a:latin typeface="Calibri"/>
                <a:cs typeface="Calibri"/>
              </a:rPr>
              <a:t> </a:t>
            </a:r>
            <a:r>
              <a:rPr sz="3200" spc="-5" dirty="0">
                <a:latin typeface="Calibri"/>
                <a:cs typeface="Calibri"/>
              </a:rPr>
              <a:t>on </a:t>
            </a:r>
            <a:r>
              <a:rPr sz="3200" spc="-25" dirty="0">
                <a:latin typeface="Calibri"/>
                <a:cs typeface="Calibri"/>
              </a:rPr>
              <a:t>test</a:t>
            </a:r>
            <a:endParaRPr sz="3200">
              <a:latin typeface="Calibri"/>
              <a:cs typeface="Calibri"/>
            </a:endParaRPr>
          </a:p>
          <a:p>
            <a:pPr marL="294005" indent="-281940">
              <a:lnSpc>
                <a:spcPct val="100000"/>
              </a:lnSpc>
              <a:spcBef>
                <a:spcPts val="800"/>
              </a:spcBef>
              <a:buFont typeface="Arial MT"/>
              <a:buChar char="•"/>
              <a:tabLst>
                <a:tab pos="294640" algn="l"/>
              </a:tabLst>
            </a:pPr>
            <a:r>
              <a:rPr sz="3200" spc="-20" dirty="0">
                <a:latin typeface="Calibri"/>
                <a:cs typeface="Calibri"/>
              </a:rPr>
              <a:t>Environment:</a:t>
            </a:r>
            <a:r>
              <a:rPr sz="3200" spc="-15" dirty="0">
                <a:latin typeface="Calibri"/>
                <a:cs typeface="Calibri"/>
              </a:rPr>
              <a:t> </a:t>
            </a:r>
            <a:r>
              <a:rPr sz="3200" spc="-10" dirty="0">
                <a:latin typeface="Calibri"/>
                <a:cs typeface="Calibri"/>
              </a:rPr>
              <a:t>Set</a:t>
            </a:r>
            <a:r>
              <a:rPr sz="3200" spc="-15" dirty="0">
                <a:latin typeface="Calibri"/>
                <a:cs typeface="Calibri"/>
              </a:rPr>
              <a:t> </a:t>
            </a:r>
            <a:r>
              <a:rPr sz="3200" spc="-5" dirty="0">
                <a:latin typeface="Calibri"/>
                <a:cs typeface="Calibri"/>
              </a:rPr>
              <a:t>of</a:t>
            </a:r>
            <a:r>
              <a:rPr sz="3200" spc="-10" dirty="0">
                <a:latin typeface="Calibri"/>
                <a:cs typeface="Calibri"/>
              </a:rPr>
              <a:t> </a:t>
            </a:r>
            <a:r>
              <a:rPr sz="3200" spc="-15" dirty="0">
                <a:latin typeface="Calibri"/>
                <a:cs typeface="Calibri"/>
              </a:rPr>
              <a:t>students</a:t>
            </a:r>
            <a:endParaRPr sz="3200">
              <a:latin typeface="Calibri"/>
              <a:cs typeface="Calibri"/>
            </a:endParaRPr>
          </a:p>
          <a:p>
            <a:pPr marL="294005" marR="1099820" indent="-281940">
              <a:lnSpc>
                <a:spcPct val="100000"/>
              </a:lnSpc>
              <a:spcBef>
                <a:spcPts val="795"/>
              </a:spcBef>
              <a:buFont typeface="Arial MT"/>
              <a:buChar char="•"/>
              <a:tabLst>
                <a:tab pos="294640" algn="l"/>
              </a:tabLst>
            </a:pPr>
            <a:r>
              <a:rPr sz="3200" spc="-20" dirty="0">
                <a:latin typeface="Calibri"/>
                <a:cs typeface="Calibri"/>
              </a:rPr>
              <a:t>Actuators:</a:t>
            </a:r>
            <a:r>
              <a:rPr sz="3200" spc="-5" dirty="0">
                <a:latin typeface="Calibri"/>
                <a:cs typeface="Calibri"/>
              </a:rPr>
              <a:t> </a:t>
            </a:r>
            <a:r>
              <a:rPr sz="3200" spc="-15" dirty="0">
                <a:latin typeface="Calibri"/>
                <a:cs typeface="Calibri"/>
              </a:rPr>
              <a:t>Screen</a:t>
            </a:r>
            <a:r>
              <a:rPr sz="3200" spc="-5" dirty="0">
                <a:latin typeface="Calibri"/>
                <a:cs typeface="Calibri"/>
              </a:rPr>
              <a:t> </a:t>
            </a:r>
            <a:r>
              <a:rPr sz="3200" spc="-15" dirty="0">
                <a:latin typeface="Calibri"/>
                <a:cs typeface="Calibri"/>
              </a:rPr>
              <a:t>display</a:t>
            </a:r>
            <a:r>
              <a:rPr sz="3200" spc="-5" dirty="0">
                <a:latin typeface="Calibri"/>
                <a:cs typeface="Calibri"/>
              </a:rPr>
              <a:t> </a:t>
            </a:r>
            <a:r>
              <a:rPr sz="3200" spc="-25" dirty="0">
                <a:latin typeface="Calibri"/>
                <a:cs typeface="Calibri"/>
              </a:rPr>
              <a:t>(exercises, </a:t>
            </a:r>
            <a:r>
              <a:rPr sz="3200" spc="-705" dirty="0">
                <a:latin typeface="Calibri"/>
                <a:cs typeface="Calibri"/>
              </a:rPr>
              <a:t> </a:t>
            </a:r>
            <a:r>
              <a:rPr sz="3200" spc="-10" dirty="0">
                <a:latin typeface="Calibri"/>
                <a:cs typeface="Calibri"/>
              </a:rPr>
              <a:t>suggestions,</a:t>
            </a:r>
            <a:r>
              <a:rPr sz="3200" spc="-15" dirty="0">
                <a:latin typeface="Calibri"/>
                <a:cs typeface="Calibri"/>
              </a:rPr>
              <a:t> corrections)</a:t>
            </a:r>
            <a:endParaRPr sz="3200">
              <a:latin typeface="Calibri"/>
              <a:cs typeface="Calibri"/>
            </a:endParaRPr>
          </a:p>
          <a:p>
            <a:pPr marL="294005" indent="-281940">
              <a:lnSpc>
                <a:spcPct val="100000"/>
              </a:lnSpc>
              <a:spcBef>
                <a:spcPts val="800"/>
              </a:spcBef>
              <a:buFont typeface="Arial MT"/>
              <a:buChar char="•"/>
              <a:tabLst>
                <a:tab pos="294640" algn="l"/>
              </a:tabLst>
            </a:pPr>
            <a:r>
              <a:rPr sz="3200" spc="-15" dirty="0">
                <a:latin typeface="Calibri"/>
                <a:cs typeface="Calibri"/>
              </a:rPr>
              <a:t>Sensors:</a:t>
            </a:r>
            <a:r>
              <a:rPr sz="3200" spc="-30" dirty="0">
                <a:latin typeface="Calibri"/>
                <a:cs typeface="Calibri"/>
              </a:rPr>
              <a:t> </a:t>
            </a:r>
            <a:r>
              <a:rPr sz="3200" spc="-20" dirty="0">
                <a:latin typeface="Calibri"/>
                <a:cs typeface="Calibri"/>
              </a:rPr>
              <a:t>Keyboard</a:t>
            </a:r>
            <a:endParaRPr sz="3200">
              <a:latin typeface="Calibri"/>
              <a:cs typeface="Calibri"/>
            </a:endParaRPr>
          </a:p>
        </p:txBody>
      </p:sp>
    </p:spTree>
    <p:extLst>
      <p:ext uri="{BB962C8B-B14F-4D97-AF65-F5344CB8AC3E}">
        <p14:creationId xmlns:p14="http://schemas.microsoft.com/office/powerpoint/2010/main" val="33023048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a:t>
            </a:r>
            <a:endParaRPr lang="en-IN" dirty="0"/>
          </a:p>
        </p:txBody>
      </p:sp>
      <p:sp>
        <p:nvSpPr>
          <p:cNvPr id="3" name="Text Placeholder 2"/>
          <p:cNvSpPr>
            <a:spLocks noGrp="1"/>
          </p:cNvSpPr>
          <p:nvPr>
            <p:ph type="body" idx="1"/>
          </p:nvPr>
        </p:nvSpPr>
        <p:spPr/>
        <p:txBody>
          <a:bodyPr/>
          <a:lstStyle/>
          <a:p>
            <a:endParaRPr lang="en-IN" dirty="0"/>
          </a:p>
        </p:txBody>
      </p:sp>
      <p:pic>
        <p:nvPicPr>
          <p:cNvPr id="7" name="image3.jpeg"/>
          <p:cNvPicPr/>
          <p:nvPr/>
        </p:nvPicPr>
        <p:blipFill>
          <a:blip r:embed="rId2" cstate="print"/>
          <a:stretch>
            <a:fillRect/>
          </a:stretch>
        </p:blipFill>
        <p:spPr>
          <a:xfrm>
            <a:off x="838200" y="1752600"/>
            <a:ext cx="6324599" cy="3505200"/>
          </a:xfrm>
          <a:prstGeom prst="rect">
            <a:avLst/>
          </a:prstGeom>
        </p:spPr>
      </p:pic>
    </p:spTree>
    <p:extLst>
      <p:ext uri="{BB962C8B-B14F-4D97-AF65-F5344CB8AC3E}">
        <p14:creationId xmlns:p14="http://schemas.microsoft.com/office/powerpoint/2010/main" val="30982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533400"/>
            <a:ext cx="8027752" cy="5539978"/>
          </a:xfrm>
        </p:spPr>
        <p:txBody>
          <a:bodyPr>
            <a:normAutofit fontScale="62500" lnSpcReduction="20000"/>
          </a:bodyPr>
          <a:lstStyle/>
          <a:p>
            <a:r>
              <a:rPr lang="en-US" b="1" dirty="0"/>
              <a:t>Human-Agent: </a:t>
            </a:r>
            <a:r>
              <a:rPr lang="en-US" dirty="0"/>
              <a:t>A human agent has eyes, ears, and other organs which work for sensors and hand, legs, vocal tract work for actuators.</a:t>
            </a:r>
            <a:endParaRPr lang="en-IN" dirty="0"/>
          </a:p>
          <a:p>
            <a:r>
              <a:rPr lang="en-US" b="1" dirty="0"/>
              <a:t>Robotic Agent: </a:t>
            </a:r>
            <a:r>
              <a:rPr lang="en-US" dirty="0"/>
              <a:t>A robotic agent can have cameras, infrared range finder, NLP for sensors and various motors for actuators.</a:t>
            </a:r>
            <a:endParaRPr lang="en-IN" dirty="0"/>
          </a:p>
          <a:p>
            <a:r>
              <a:rPr lang="en-US" b="1" dirty="0"/>
              <a:t>Software Agent: </a:t>
            </a:r>
            <a:r>
              <a:rPr lang="en-US" dirty="0"/>
              <a:t>Software agent can have keystrokes, file contents as sensory input and act on those inputs and display output on the screen.</a:t>
            </a:r>
            <a:endParaRPr lang="en-IN" dirty="0"/>
          </a:p>
          <a:p>
            <a:r>
              <a:rPr lang="en-US" dirty="0"/>
              <a:t>Hence the world around us is full of agents such as thermostat, cell phone, camera, and even we are also agents. Before moving forward, we should first know about sensors, effectors, and actuators.</a:t>
            </a:r>
            <a:endParaRPr lang="en-IN" dirty="0"/>
          </a:p>
          <a:p>
            <a:r>
              <a:rPr lang="en-US" b="1" dirty="0"/>
              <a:t>Sensor: </a:t>
            </a:r>
            <a:r>
              <a:rPr lang="en-US" dirty="0"/>
              <a:t>Sensor is a device which detects the change in the environment and sends the information to other electronic devices. An agent observes its environment through sensors.</a:t>
            </a:r>
            <a:endParaRPr lang="en-IN" dirty="0"/>
          </a:p>
          <a:p>
            <a:r>
              <a:rPr lang="en-US" dirty="0"/>
              <a:t/>
            </a:r>
            <a:br>
              <a:rPr lang="en-US" dirty="0"/>
            </a:br>
            <a:r>
              <a:rPr lang="en-US" b="1" dirty="0"/>
              <a:t>Actuators: </a:t>
            </a:r>
            <a:r>
              <a:rPr lang="en-US" dirty="0"/>
              <a:t>Actuators are the component of machines that converts energy into motion. The actuators are only responsible for moving and controlling a system. An actuator can be an electric motor, gears, rails, etc.</a:t>
            </a:r>
            <a:endParaRPr lang="en-IN" dirty="0"/>
          </a:p>
          <a:p>
            <a:r>
              <a:rPr lang="en-US" b="1" dirty="0"/>
              <a:t>Effectors: </a:t>
            </a:r>
            <a:r>
              <a:rPr lang="en-US" dirty="0"/>
              <a:t>Effectors are the devices which affect the environment. Effectors can be legs, wheels, arms, fingers, wings, fins, and display screen.</a:t>
            </a:r>
            <a:endParaRPr lang="en-IN" dirty="0"/>
          </a:p>
        </p:txBody>
      </p:sp>
    </p:spTree>
    <p:extLst>
      <p:ext uri="{BB962C8B-B14F-4D97-AF65-F5344CB8AC3E}">
        <p14:creationId xmlns:p14="http://schemas.microsoft.com/office/powerpoint/2010/main" val="42151342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86867"/>
            <a:ext cx="4806144" cy="830997"/>
          </a:xfrm>
        </p:spPr>
        <p:txBody>
          <a:bodyPr/>
          <a:lstStyle/>
          <a:p>
            <a:pPr lvl="1"/>
            <a:r>
              <a:rPr lang="en-US" b="1" dirty="0" smtClean="0"/>
              <a:t>PROPERTIES OF ENVIRONMENT</a:t>
            </a:r>
            <a:r>
              <a:rPr lang="en-IN" sz="1600" b="1" dirty="0" smtClean="0"/>
              <a:t/>
            </a:r>
            <a:br>
              <a:rPr lang="en-IN" sz="1600" b="1" dirty="0" smtClean="0"/>
            </a:br>
            <a:r>
              <a:rPr lang="en-US" b="1" dirty="0" smtClean="0"/>
              <a:t> </a:t>
            </a:r>
            <a:endParaRPr lang="en-IN" sz="1200" dirty="0"/>
          </a:p>
        </p:txBody>
      </p:sp>
      <p:sp>
        <p:nvSpPr>
          <p:cNvPr id="3" name="Text Placeholder 2"/>
          <p:cNvSpPr>
            <a:spLocks noGrp="1"/>
          </p:cNvSpPr>
          <p:nvPr>
            <p:ph type="body" idx="1"/>
          </p:nvPr>
        </p:nvSpPr>
        <p:spPr>
          <a:xfrm>
            <a:off x="1192448" y="1852753"/>
            <a:ext cx="5584190" cy="2154436"/>
          </a:xfrm>
        </p:spPr>
        <p:txBody>
          <a:bodyPr>
            <a:normAutofit fontScale="62500" lnSpcReduction="20000"/>
          </a:bodyPr>
          <a:lstStyle/>
          <a:p>
            <a:r>
              <a:rPr lang="en-US" dirty="0" smtClean="0"/>
              <a:t>An </a:t>
            </a:r>
            <a:r>
              <a:rPr lang="en-US" b="1" dirty="0"/>
              <a:t>environment </a:t>
            </a:r>
            <a:r>
              <a:rPr lang="en-US" dirty="0"/>
              <a:t>is everything in the world which surrounds the agent, but it is not a part of an agent itself. An environment can be described as a situation in which an agent is present.</a:t>
            </a:r>
            <a:endParaRPr lang="en-IN" sz="1200" dirty="0"/>
          </a:p>
          <a:p>
            <a:r>
              <a:rPr lang="en-US" dirty="0"/>
              <a:t>The environment is where agent lives, operate and provide the agent with something to sense and act upon it.</a:t>
            </a:r>
            <a:endParaRPr lang="en-IN" sz="1200" dirty="0"/>
          </a:p>
        </p:txBody>
      </p:sp>
    </p:spTree>
    <p:extLst>
      <p:ext uri="{BB962C8B-B14F-4D97-AF65-F5344CB8AC3E}">
        <p14:creationId xmlns:p14="http://schemas.microsoft.com/office/powerpoint/2010/main" val="854375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1" y="47538"/>
            <a:ext cx="7391400" cy="430887"/>
          </a:xfrm>
        </p:spPr>
        <p:txBody>
          <a:bodyPr>
            <a:normAutofit fontScale="90000"/>
          </a:bodyPr>
          <a:lstStyle/>
          <a:p>
            <a:pPr lvl="0"/>
            <a:r>
              <a:rPr lang="en-US" sz="2800" b="1" dirty="0" smtClean="0"/>
              <a:t>1. Fully </a:t>
            </a:r>
            <a:r>
              <a:rPr lang="en-US" sz="2800" b="1" dirty="0"/>
              <a:t>observable vs Partially Observable:</a:t>
            </a:r>
            <a:endParaRPr lang="en-IN" sz="2800" dirty="0"/>
          </a:p>
        </p:txBody>
      </p:sp>
      <p:sp>
        <p:nvSpPr>
          <p:cNvPr id="3" name="Text Placeholder 2"/>
          <p:cNvSpPr>
            <a:spLocks noGrp="1"/>
          </p:cNvSpPr>
          <p:nvPr>
            <p:ph type="body" idx="1"/>
          </p:nvPr>
        </p:nvSpPr>
        <p:spPr>
          <a:xfrm>
            <a:off x="685800" y="685800"/>
            <a:ext cx="7848600" cy="5968267"/>
          </a:xfrm>
        </p:spPr>
        <p:txBody>
          <a:bodyPr/>
          <a:lstStyle/>
          <a:p>
            <a:pPr lvl="0"/>
            <a:endParaRPr lang="en-IN" sz="2400" dirty="0"/>
          </a:p>
          <a:p>
            <a:r>
              <a:rPr lang="en-US" sz="2400" dirty="0"/>
              <a:t>If an agent sensor can sense or access the complete state of an environment at each point of time then it is </a:t>
            </a:r>
            <a:r>
              <a:rPr lang="en-US" sz="2400" b="1" dirty="0"/>
              <a:t>a fully observable </a:t>
            </a:r>
            <a:r>
              <a:rPr lang="en-US" sz="2400" dirty="0"/>
              <a:t>environment, else it is </a:t>
            </a:r>
            <a:r>
              <a:rPr lang="en-US" sz="2400" b="1" dirty="0"/>
              <a:t>partially observable</a:t>
            </a:r>
            <a:r>
              <a:rPr lang="en-US" sz="2400" dirty="0"/>
              <a:t>.</a:t>
            </a:r>
            <a:endParaRPr lang="en-IN" sz="2400" dirty="0"/>
          </a:p>
          <a:p>
            <a:r>
              <a:rPr lang="en-US" sz="2400" dirty="0"/>
              <a:t>A fully observable environment is easy as there is no need to maintain the internal state to keep track history of the world.</a:t>
            </a:r>
            <a:endParaRPr lang="en-IN" sz="2400" dirty="0"/>
          </a:p>
          <a:p>
            <a:r>
              <a:rPr lang="en-US" sz="2400" dirty="0"/>
              <a:t>An agent with no sensors in all environments then such an environment is called as unobservable.</a:t>
            </a:r>
            <a:endParaRPr lang="en-IN" sz="2400" dirty="0"/>
          </a:p>
          <a:p>
            <a:r>
              <a:rPr lang="en-US" sz="2400" b="1" dirty="0"/>
              <a:t>Example: </a:t>
            </a:r>
            <a:r>
              <a:rPr lang="en-US" sz="2400" dirty="0"/>
              <a:t>chess – the board is fully observable, as are opponent’s moves. Driving</a:t>
            </a:r>
            <a:endParaRPr lang="en-IN" sz="2400" dirty="0"/>
          </a:p>
          <a:p>
            <a:r>
              <a:rPr lang="en-US" sz="2400" dirty="0"/>
              <a:t>– what is around the next bend is not observable and hence partially observable.</a:t>
            </a:r>
            <a:endParaRPr lang="en-IN" sz="2400" dirty="0"/>
          </a:p>
          <a:p>
            <a:r>
              <a:rPr lang="en-US" sz="2400" dirty="0"/>
              <a:t> </a:t>
            </a:r>
            <a:endParaRPr lang="en-IN" sz="2400" dirty="0"/>
          </a:p>
        </p:txBody>
      </p:sp>
    </p:spTree>
    <p:extLst>
      <p:ext uri="{BB962C8B-B14F-4D97-AF65-F5344CB8AC3E}">
        <p14:creationId xmlns:p14="http://schemas.microsoft.com/office/powerpoint/2010/main" val="33615939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852753"/>
            <a:ext cx="7696200" cy="3262432"/>
          </a:xfrm>
        </p:spPr>
        <p:txBody>
          <a:bodyPr>
            <a:normAutofit fontScale="70000" lnSpcReduction="20000"/>
          </a:bodyPr>
          <a:lstStyle/>
          <a:p>
            <a:pPr lvl="0"/>
            <a:r>
              <a:rPr lang="en-US" sz="3200" b="1" dirty="0" smtClean="0"/>
              <a:t>2. Deterministic </a:t>
            </a:r>
            <a:r>
              <a:rPr lang="en-US" sz="3200" b="1" dirty="0"/>
              <a:t>vs Stochastic</a:t>
            </a:r>
            <a:endParaRPr lang="en-IN" sz="3200" b="1" dirty="0"/>
          </a:p>
          <a:p>
            <a:r>
              <a:rPr lang="en-US" b="1" dirty="0"/>
              <a:t> </a:t>
            </a:r>
            <a:endParaRPr lang="en-IN" dirty="0"/>
          </a:p>
          <a:p>
            <a:pPr marL="342900" lvl="0" indent="-342900">
              <a:buFont typeface="Arial" panose="020B0604020202020204" pitchFamily="34" charset="0"/>
              <a:buChar char="•"/>
            </a:pPr>
            <a:r>
              <a:rPr lang="en-US" dirty="0"/>
              <a:t>If an agent's current state and selected action can completely determine the next state of the environment, then such environment is called a deterministic environment.</a:t>
            </a:r>
            <a:endParaRPr lang="en-IN" dirty="0"/>
          </a:p>
          <a:p>
            <a:pPr marL="342900" lvl="0" indent="-342900">
              <a:buFont typeface="Arial" panose="020B0604020202020204" pitchFamily="34" charset="0"/>
              <a:buChar char="•"/>
            </a:pPr>
            <a:r>
              <a:rPr lang="en-US" dirty="0"/>
              <a:t/>
            </a:r>
            <a:br>
              <a:rPr lang="en-US" dirty="0"/>
            </a:br>
            <a:r>
              <a:rPr lang="en-US" dirty="0"/>
              <a:t>A stochastic environment is random in nature and cannot be determined completely by an agent.</a:t>
            </a:r>
            <a:endParaRPr lang="en-IN" dirty="0"/>
          </a:p>
          <a:p>
            <a:pPr marL="342900" lvl="0" indent="-342900">
              <a:buFont typeface="Arial" panose="020B0604020202020204" pitchFamily="34" charset="0"/>
              <a:buChar char="•"/>
            </a:pPr>
            <a:r>
              <a:rPr lang="en-US" dirty="0"/>
              <a:t>In a deterministic, fully observable environment, agent does not need to worry about uncertainty.</a:t>
            </a:r>
            <a:endParaRPr lang="en-IN" dirty="0"/>
          </a:p>
        </p:txBody>
      </p:sp>
    </p:spTree>
    <p:extLst>
      <p:ext uri="{BB962C8B-B14F-4D97-AF65-F5344CB8AC3E}">
        <p14:creationId xmlns:p14="http://schemas.microsoft.com/office/powerpoint/2010/main" val="296786795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1192448" y="1852753"/>
            <a:ext cx="7265752" cy="2031325"/>
          </a:xfrm>
        </p:spPr>
        <p:txBody>
          <a:bodyPr>
            <a:normAutofit fontScale="62500" lnSpcReduction="20000"/>
          </a:bodyPr>
          <a:lstStyle/>
          <a:p>
            <a:pPr lvl="0"/>
            <a:r>
              <a:rPr lang="en-US" sz="3200" b="1" dirty="0" smtClean="0"/>
              <a:t>3. Episodic </a:t>
            </a:r>
            <a:r>
              <a:rPr lang="en-US" sz="3200" b="1" dirty="0"/>
              <a:t>vs Sequential</a:t>
            </a:r>
            <a:endParaRPr lang="en-IN" sz="3200" b="1" dirty="0"/>
          </a:p>
          <a:p>
            <a:pPr marL="342900" indent="-342900">
              <a:buFont typeface="Arial" panose="020B0604020202020204" pitchFamily="34" charset="0"/>
              <a:buChar char="•"/>
            </a:pPr>
            <a:r>
              <a:rPr lang="en-US" b="1" dirty="0"/>
              <a:t> </a:t>
            </a:r>
            <a:endParaRPr lang="en-IN" dirty="0"/>
          </a:p>
          <a:p>
            <a:pPr marL="342900" lvl="0" indent="-342900">
              <a:buFont typeface="Arial" panose="020B0604020202020204" pitchFamily="34" charset="0"/>
              <a:buChar char="•"/>
            </a:pPr>
            <a:r>
              <a:rPr lang="en-US" dirty="0"/>
              <a:t>In an episodic environment, there is a series of one-shot actions, and only the current percept is required for the action.</a:t>
            </a:r>
            <a:endParaRPr lang="en-IN" dirty="0"/>
          </a:p>
          <a:p>
            <a:pPr marL="342900" lvl="0" indent="-342900">
              <a:buFont typeface="Arial" panose="020B0604020202020204" pitchFamily="34" charset="0"/>
              <a:buChar char="•"/>
            </a:pPr>
            <a:r>
              <a:rPr lang="en-US" dirty="0"/>
              <a:t>However, in Sequential environment, an agent requires memory of past actions to determine the next best actions.</a:t>
            </a:r>
            <a:endParaRPr lang="en-IN" dirty="0"/>
          </a:p>
        </p:txBody>
      </p:sp>
    </p:spTree>
    <p:extLst>
      <p:ext uri="{BB962C8B-B14F-4D97-AF65-F5344CB8AC3E}">
        <p14:creationId xmlns:p14="http://schemas.microsoft.com/office/powerpoint/2010/main" val="18311246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2448" y="1852753"/>
            <a:ext cx="7341952" cy="2646878"/>
          </a:xfrm>
        </p:spPr>
        <p:txBody>
          <a:bodyPr>
            <a:normAutofit fontScale="62500" lnSpcReduction="20000"/>
          </a:bodyPr>
          <a:lstStyle/>
          <a:p>
            <a:pPr lvl="0"/>
            <a:r>
              <a:rPr lang="en-US" sz="3200" b="1" dirty="0" smtClean="0"/>
              <a:t>4. Single-agent </a:t>
            </a:r>
            <a:r>
              <a:rPr lang="en-US" sz="3200" b="1" dirty="0"/>
              <a:t>vs Multi-agent</a:t>
            </a:r>
            <a:endParaRPr lang="en-IN" sz="3200" b="1" dirty="0"/>
          </a:p>
          <a:p>
            <a:r>
              <a:rPr lang="en-US" b="1" dirty="0"/>
              <a:t> </a:t>
            </a:r>
            <a:endParaRPr lang="en-IN" dirty="0"/>
          </a:p>
          <a:p>
            <a:pPr marL="342900" lvl="0" indent="-342900">
              <a:buFont typeface="Arial" panose="020B0604020202020204" pitchFamily="34" charset="0"/>
              <a:buChar char="•"/>
            </a:pPr>
            <a:r>
              <a:rPr lang="en-US" dirty="0"/>
              <a:t>If only one agent is involved in an environment, and operating by itself then such an environment is called single agent environment.</a:t>
            </a:r>
            <a:endParaRPr lang="en-IN" dirty="0"/>
          </a:p>
          <a:p>
            <a:pPr marL="342900" lvl="0" indent="-342900">
              <a:buFont typeface="Arial" panose="020B0604020202020204" pitchFamily="34" charset="0"/>
              <a:buChar char="•"/>
            </a:pPr>
            <a:r>
              <a:rPr lang="en-US" dirty="0"/>
              <a:t>However, if multiple agents are operating in an environment, then such an environment is called a multi-agent environment.</a:t>
            </a:r>
            <a:endParaRPr lang="en-IN" dirty="0"/>
          </a:p>
          <a:p>
            <a:pPr marL="342900" lvl="0" indent="-342900">
              <a:buFont typeface="Arial" panose="020B0604020202020204" pitchFamily="34" charset="0"/>
              <a:buChar char="•"/>
            </a:pPr>
            <a:r>
              <a:rPr lang="en-US" dirty="0"/>
              <a:t>The agent design problems in the multi-agent environment are different from single agent environment.</a:t>
            </a:r>
            <a:endParaRPr lang="en-IN" dirty="0"/>
          </a:p>
        </p:txBody>
      </p:sp>
    </p:spTree>
    <p:extLst>
      <p:ext uri="{BB962C8B-B14F-4D97-AF65-F5344CB8AC3E}">
        <p14:creationId xmlns:p14="http://schemas.microsoft.com/office/powerpoint/2010/main" val="299418114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817240"/>
            <a:ext cx="8001000" cy="4431983"/>
          </a:xfrm>
        </p:spPr>
        <p:txBody>
          <a:bodyPr>
            <a:normAutofit fontScale="92500" lnSpcReduction="10000"/>
          </a:bodyPr>
          <a:lstStyle/>
          <a:p>
            <a:pPr lvl="0"/>
            <a:r>
              <a:rPr lang="en-US" sz="2400" b="1" dirty="0" smtClean="0"/>
              <a:t>5. Static </a:t>
            </a:r>
            <a:r>
              <a:rPr lang="en-US" sz="2400" b="1" dirty="0"/>
              <a:t>vs Dynamic</a:t>
            </a:r>
            <a:endParaRPr lang="en-IN" sz="2400" b="1" dirty="0"/>
          </a:p>
          <a:p>
            <a:r>
              <a:rPr lang="en-US" sz="2400" b="1" dirty="0"/>
              <a:t> </a:t>
            </a:r>
            <a:endParaRPr lang="en-IN" sz="2400" dirty="0"/>
          </a:p>
          <a:p>
            <a:pPr marL="342900" lvl="0" indent="-342900">
              <a:buFont typeface="Arial" panose="020B0604020202020204" pitchFamily="34" charset="0"/>
              <a:buChar char="•"/>
            </a:pPr>
            <a:r>
              <a:rPr lang="en-US" sz="2400" dirty="0"/>
              <a:t>If the environment can change itself while an agent is deliberating then such environment is called a dynamic environment else it is called a static environment.</a:t>
            </a:r>
            <a:endParaRPr lang="en-IN" sz="2400" dirty="0"/>
          </a:p>
          <a:p>
            <a:pPr marL="342900" lvl="0" indent="-342900">
              <a:buFont typeface="Arial" panose="020B0604020202020204" pitchFamily="34" charset="0"/>
              <a:buChar char="•"/>
            </a:pPr>
            <a:r>
              <a:rPr lang="en-US" sz="2400" dirty="0"/>
              <a:t>Static environments are easy to deal because an agent does not need to continue looking at the world while deciding for an action.</a:t>
            </a:r>
            <a:endParaRPr lang="en-IN" sz="2400" dirty="0"/>
          </a:p>
          <a:p>
            <a:pPr marL="342900" lvl="0" indent="-342900">
              <a:buFont typeface="Arial" panose="020B0604020202020204" pitchFamily="34" charset="0"/>
              <a:buChar char="•"/>
            </a:pPr>
            <a:r>
              <a:rPr lang="en-US" sz="2400" dirty="0"/>
              <a:t>However for dynamic environment, agents need to keep looking at the world at each action.</a:t>
            </a:r>
            <a:endParaRPr lang="en-IN" sz="2400" dirty="0"/>
          </a:p>
          <a:p>
            <a:pPr marL="342900" lvl="0" indent="-342900">
              <a:buFont typeface="Arial" panose="020B0604020202020204" pitchFamily="34" charset="0"/>
              <a:buChar char="•"/>
            </a:pPr>
            <a:r>
              <a:rPr lang="en-US" sz="2400" dirty="0"/>
              <a:t>Taxi driving is an example of a dynamic environment whereas Crossword puzzles are an example of a static environment.</a:t>
            </a:r>
            <a:endParaRPr lang="en-IN" sz="2400" dirty="0"/>
          </a:p>
        </p:txBody>
      </p:sp>
    </p:spTree>
    <p:extLst>
      <p:ext uri="{BB962C8B-B14F-4D97-AF65-F5344CB8AC3E}">
        <p14:creationId xmlns:p14="http://schemas.microsoft.com/office/powerpoint/2010/main" val="14295963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1828800"/>
            <a:ext cx="7722952" cy="2646878"/>
          </a:xfrm>
        </p:spPr>
        <p:txBody>
          <a:bodyPr>
            <a:normAutofit fontScale="62500" lnSpcReduction="20000"/>
          </a:bodyPr>
          <a:lstStyle/>
          <a:p>
            <a:pPr lvl="0"/>
            <a:r>
              <a:rPr lang="en-US" sz="3200" b="1" dirty="0"/>
              <a:t>6</a:t>
            </a:r>
            <a:r>
              <a:rPr lang="en-US" sz="3200" b="1" dirty="0" smtClean="0"/>
              <a:t>.Discrete </a:t>
            </a:r>
            <a:r>
              <a:rPr lang="en-US" sz="3200" b="1" dirty="0"/>
              <a:t>vs Continuous</a:t>
            </a:r>
            <a:endParaRPr lang="en-IN" sz="3200" b="1" dirty="0"/>
          </a:p>
          <a:p>
            <a:r>
              <a:rPr lang="en-US" b="1" dirty="0"/>
              <a:t> </a:t>
            </a:r>
            <a:endParaRPr lang="en-IN" dirty="0"/>
          </a:p>
          <a:p>
            <a:pPr marL="342900" lvl="0" indent="-342900">
              <a:buFont typeface="Arial" panose="020B0604020202020204" pitchFamily="34" charset="0"/>
              <a:buChar char="•"/>
            </a:pPr>
            <a:r>
              <a:rPr lang="en-US" dirty="0"/>
              <a:t>If in an environment there are a finite number of precepts and actions that can be performed within it, then such an environment is called a discrete environment else it is called continuous environment.</a:t>
            </a:r>
            <a:endParaRPr lang="en-IN" dirty="0"/>
          </a:p>
          <a:p>
            <a:pPr marL="342900" lvl="0" indent="-342900">
              <a:buFont typeface="Arial" panose="020B0604020202020204" pitchFamily="34" charset="0"/>
              <a:buChar char="•"/>
            </a:pPr>
            <a:r>
              <a:rPr lang="en-US" dirty="0"/>
              <a:t>A chess game comes under discrete environment as there is a finite number of moves that can be performed.</a:t>
            </a:r>
            <a:endParaRPr lang="en-IN" dirty="0"/>
          </a:p>
          <a:p>
            <a:pPr marL="342900" lvl="0" indent="-342900">
              <a:buFont typeface="Arial" panose="020B0604020202020204" pitchFamily="34" charset="0"/>
              <a:buChar char="•"/>
            </a:pPr>
            <a:r>
              <a:rPr lang="en-US" dirty="0"/>
              <a:t>A self-driving car is an example of a continuous </a:t>
            </a:r>
            <a:r>
              <a:rPr lang="en-US" dirty="0" smtClean="0"/>
              <a:t>environment.7.</a:t>
            </a:r>
            <a:endParaRPr lang="en-IN" dirty="0"/>
          </a:p>
        </p:txBody>
      </p:sp>
    </p:spTree>
    <p:extLst>
      <p:ext uri="{BB962C8B-B14F-4D97-AF65-F5344CB8AC3E}">
        <p14:creationId xmlns:p14="http://schemas.microsoft.com/office/powerpoint/2010/main" val="21905579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1447800"/>
            <a:ext cx="6808552" cy="3570208"/>
          </a:xfrm>
        </p:spPr>
        <p:txBody>
          <a:bodyPr>
            <a:normAutofit fontScale="62500" lnSpcReduction="20000"/>
          </a:bodyPr>
          <a:lstStyle/>
          <a:p>
            <a:pPr lvl="0"/>
            <a:r>
              <a:rPr lang="en-US" sz="3200" b="1" dirty="0" smtClean="0"/>
              <a:t>7. Known </a:t>
            </a:r>
            <a:r>
              <a:rPr lang="en-US" sz="3200" b="1" dirty="0"/>
              <a:t>vs Unknown</a:t>
            </a:r>
            <a:endParaRPr lang="en-IN" sz="3200" b="1" dirty="0"/>
          </a:p>
          <a:p>
            <a:pPr marL="342900" indent="-342900">
              <a:buFont typeface="Arial" panose="020B0604020202020204" pitchFamily="34" charset="0"/>
              <a:buChar char="•"/>
            </a:pPr>
            <a:endParaRPr lang="en-IN" dirty="0"/>
          </a:p>
          <a:p>
            <a:pPr marL="342900" lvl="0" indent="-342900">
              <a:buFont typeface="Arial" panose="020B0604020202020204" pitchFamily="34" charset="0"/>
              <a:buChar char="•"/>
            </a:pPr>
            <a:r>
              <a:rPr lang="en-US" dirty="0"/>
              <a:t>Known and unknown are not actually a feature of an environment, but it is an agent's state of knowledge to perform an action.</a:t>
            </a:r>
            <a:endParaRPr lang="en-IN" dirty="0"/>
          </a:p>
          <a:p>
            <a:pPr marL="342900" lvl="0" indent="-342900">
              <a:buFont typeface="Arial" panose="020B0604020202020204" pitchFamily="34" charset="0"/>
              <a:buChar char="•"/>
            </a:pPr>
            <a:r>
              <a:rPr lang="en-US" dirty="0"/>
              <a:t>In a known environment, the results for all actions are known to the agent. While in unknown environment, agent needs to learn how it works in order to perform an action.</a:t>
            </a:r>
            <a:endParaRPr lang="en-IN" dirty="0"/>
          </a:p>
          <a:p>
            <a:pPr marL="342900" lvl="0" indent="-342900">
              <a:buFont typeface="Arial" panose="020B0604020202020204" pitchFamily="34" charset="0"/>
              <a:buChar char="•"/>
            </a:pPr>
            <a:r>
              <a:rPr lang="en-US" dirty="0"/>
              <a:t>It is quite possible that a known environment to be partially observable and an Unknown environment to be fully observable.</a:t>
            </a:r>
            <a:endParaRPr lang="en-IN" dirty="0"/>
          </a:p>
        </p:txBody>
      </p:sp>
    </p:spTree>
    <p:extLst>
      <p:ext uri="{BB962C8B-B14F-4D97-AF65-F5344CB8AC3E}">
        <p14:creationId xmlns:p14="http://schemas.microsoft.com/office/powerpoint/2010/main" val="2983632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92448" y="1852753"/>
            <a:ext cx="7037152" cy="3508653"/>
          </a:xfrm>
        </p:spPr>
        <p:txBody>
          <a:bodyPr>
            <a:normAutofit fontScale="70000" lnSpcReduction="20000"/>
          </a:bodyPr>
          <a:lstStyle/>
          <a:p>
            <a:pPr lvl="0"/>
            <a:r>
              <a:rPr lang="en-US" sz="2800" b="1" dirty="0" smtClean="0"/>
              <a:t>8. Accessible </a:t>
            </a:r>
            <a:r>
              <a:rPr lang="en-US" sz="2800" b="1" dirty="0"/>
              <a:t>vs. Inaccessible</a:t>
            </a:r>
            <a:endParaRPr lang="en-IN" sz="2800" b="1" dirty="0"/>
          </a:p>
          <a:p>
            <a:r>
              <a:rPr lang="en-US" b="1" dirty="0"/>
              <a:t> </a:t>
            </a:r>
            <a:endParaRPr lang="en-IN" dirty="0"/>
          </a:p>
          <a:p>
            <a:pPr marL="342900" lvl="0" indent="-342900">
              <a:buFont typeface="Arial" panose="020B0604020202020204" pitchFamily="34" charset="0"/>
              <a:buChar char="•"/>
            </a:pPr>
            <a:r>
              <a:rPr lang="en-US" dirty="0"/>
              <a:t>If an agent can obtain complete and accurate information about the state's environment, then such an environment is called an Accessible environment else it is called inaccessible.</a:t>
            </a:r>
            <a:endParaRPr lang="en-IN" dirty="0"/>
          </a:p>
          <a:p>
            <a:pPr marL="342900" lvl="0" indent="-342900">
              <a:buFont typeface="Arial" panose="020B0604020202020204" pitchFamily="34" charset="0"/>
              <a:buChar char="•"/>
            </a:pPr>
            <a:r>
              <a:rPr lang="en-US" dirty="0"/>
              <a:t>An empty room whose state can be defined by its temperature is an example of an accessible environment.</a:t>
            </a:r>
            <a:endParaRPr lang="en-IN" dirty="0"/>
          </a:p>
          <a:p>
            <a:pPr marL="342900" lvl="0" indent="-342900">
              <a:buFont typeface="Arial" panose="020B0604020202020204" pitchFamily="34" charset="0"/>
              <a:buChar char="•"/>
            </a:pPr>
            <a:r>
              <a:rPr lang="en-US" dirty="0"/>
              <a:t>Information about an event on earth is an example of Inaccessible environment.</a:t>
            </a:r>
            <a:endParaRPr lang="en-IN" dirty="0"/>
          </a:p>
        </p:txBody>
      </p:sp>
    </p:spTree>
    <p:extLst>
      <p:ext uri="{BB962C8B-B14F-4D97-AF65-F5344CB8AC3E}">
        <p14:creationId xmlns:p14="http://schemas.microsoft.com/office/powerpoint/2010/main" val="49541877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304800" y="0"/>
            <a:ext cx="8382000" cy="5724644"/>
          </a:xfrm>
        </p:spPr>
        <p:txBody>
          <a:bodyPr>
            <a:normAutofit fontScale="92500" lnSpcReduction="10000"/>
          </a:bodyPr>
          <a:lstStyle/>
          <a:p>
            <a:r>
              <a:rPr lang="en-US" sz="1800" b="1" dirty="0"/>
              <a:t>PEAS: </a:t>
            </a:r>
            <a:r>
              <a:rPr lang="en-US" sz="1800" dirty="0"/>
              <a:t>Performance Measure, Environment, Actuators, Sensors</a:t>
            </a:r>
            <a:endParaRPr lang="en-IN" sz="1800" dirty="0"/>
          </a:p>
          <a:p>
            <a:r>
              <a:rPr lang="en-US" sz="1800" dirty="0"/>
              <a:t> </a:t>
            </a:r>
            <a:endParaRPr lang="en-IN" sz="1800" dirty="0"/>
          </a:p>
          <a:p>
            <a:r>
              <a:rPr lang="en-US" sz="2400" b="1" dirty="0" smtClean="0"/>
              <a:t>Performance</a:t>
            </a:r>
            <a:r>
              <a:rPr lang="en-US" sz="2400" b="1" i="1" dirty="0" smtClean="0"/>
              <a:t> </a:t>
            </a:r>
            <a:endParaRPr lang="en-IN" sz="2400" dirty="0" smtClean="0"/>
          </a:p>
          <a:p>
            <a:r>
              <a:rPr lang="en-US" sz="2400" dirty="0" smtClean="0"/>
              <a:t>The </a:t>
            </a:r>
            <a:r>
              <a:rPr lang="en-US" sz="2400" dirty="0"/>
              <a:t>output which we get from the </a:t>
            </a:r>
            <a:r>
              <a:rPr lang="en-US" sz="2400" dirty="0" smtClean="0"/>
              <a:t>agent</a:t>
            </a:r>
            <a:r>
              <a:rPr lang="en-US" sz="2400" dirty="0"/>
              <a:t>. All the necessary results that an agent gives after processing comes under its performance.</a:t>
            </a:r>
            <a:endParaRPr lang="en-IN" sz="2400" dirty="0"/>
          </a:p>
          <a:p>
            <a:r>
              <a:rPr lang="en-US" sz="2400" b="1" dirty="0" smtClean="0"/>
              <a:t>Environment:</a:t>
            </a:r>
            <a:r>
              <a:rPr lang="en-US" sz="2400" b="1" i="1" dirty="0"/>
              <a:t> </a:t>
            </a:r>
            <a:endParaRPr lang="en-IN" sz="2400" dirty="0"/>
          </a:p>
          <a:p>
            <a:r>
              <a:rPr lang="en-US" sz="2400" dirty="0"/>
              <a:t>All the surrounding things and conditions of an agent fall in this section. It basically consists of all the things under which the agents work.</a:t>
            </a:r>
            <a:endParaRPr lang="en-IN" sz="2400" dirty="0"/>
          </a:p>
          <a:p>
            <a:r>
              <a:rPr lang="en-US" sz="2400" b="1" dirty="0" smtClean="0"/>
              <a:t>Actuators : </a:t>
            </a:r>
            <a:r>
              <a:rPr lang="en-US" sz="2400" b="1" i="1" dirty="0"/>
              <a:t> </a:t>
            </a:r>
            <a:endParaRPr lang="en-IN" sz="2400" dirty="0"/>
          </a:p>
          <a:p>
            <a:r>
              <a:rPr lang="en-US" sz="2400" dirty="0"/>
              <a:t>The devices, hardware or software through which the agent performs any actions or processes any information to produce a result are the actuators of the agent.</a:t>
            </a:r>
            <a:endParaRPr lang="en-IN" sz="2400" dirty="0"/>
          </a:p>
          <a:p>
            <a:r>
              <a:rPr lang="en-US" sz="2400" dirty="0"/>
              <a:t> </a:t>
            </a:r>
            <a:r>
              <a:rPr lang="en-US" sz="2400" b="1" dirty="0" smtClean="0"/>
              <a:t>Sensors: </a:t>
            </a:r>
            <a:r>
              <a:rPr lang="en-US" sz="2400" b="1" i="1" dirty="0"/>
              <a:t> </a:t>
            </a:r>
            <a:endParaRPr lang="en-IN" sz="2400" dirty="0"/>
          </a:p>
          <a:p>
            <a:r>
              <a:rPr lang="en-US" sz="2400" dirty="0"/>
              <a:t>The devices through which the agent observes and perceives its environment are the sensors of the agent.</a:t>
            </a:r>
            <a:endParaRPr lang="en-IN" sz="2400" dirty="0"/>
          </a:p>
        </p:txBody>
      </p:sp>
    </p:spTree>
    <p:extLst>
      <p:ext uri="{BB962C8B-B14F-4D97-AF65-F5344CB8AC3E}">
        <p14:creationId xmlns:p14="http://schemas.microsoft.com/office/powerpoint/2010/main" val="11834209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983805810"/>
              </p:ext>
            </p:extLst>
          </p:nvPr>
        </p:nvGraphicFramePr>
        <p:xfrm>
          <a:off x="3330299" y="2687825"/>
          <a:ext cx="3253711" cy="3010256"/>
        </p:xfrm>
        <a:graphic>
          <a:graphicData uri="http://schemas.openxmlformats.org/drawingml/2006/table">
            <a:tbl>
              <a:tblPr firstRow="1" firstCol="1" lastRow="1" lastCol="1" bandRow="1" bandCol="1">
                <a:tableStyleId>{5C22544A-7EE6-4342-B048-85BDC9FD1C3A}</a:tableStyleId>
              </a:tblPr>
              <a:tblGrid>
                <a:gridCol w="3253711"/>
              </a:tblGrid>
              <a:tr h="2765894">
                <a:tc>
                  <a:txBody>
                    <a:bodyPr/>
                    <a:lstStyle/>
                    <a:p>
                      <a:pPr>
                        <a:lnSpc>
                          <a:spcPct val="107000"/>
                        </a:lnSpc>
                        <a:spcBef>
                          <a:spcPts val="50"/>
                        </a:spcBef>
                        <a:spcAft>
                          <a:spcPts val="0"/>
                        </a:spcAft>
                      </a:pPr>
                      <a:r>
                        <a:rPr lang="en-US" sz="600">
                          <a:effectLst/>
                        </a:rPr>
                        <a:t> </a:t>
                      </a:r>
                      <a:endParaRPr lang="en-IN" sz="500">
                        <a:effectLst/>
                        <a:latin typeface="Tinos"/>
                        <a:ea typeface="Tinos"/>
                        <a:cs typeface="Tinos"/>
                      </a:endParaRPr>
                    </a:p>
                  </a:txBody>
                  <a:tcPr marL="0" marR="0" marT="0" marB="0"/>
                </a:tc>
              </a:tr>
              <a:tr h="244362">
                <a:tc>
                  <a:txBody>
                    <a:bodyPr/>
                    <a:lstStyle/>
                    <a:p>
                      <a:pPr marL="116840" marR="108585" algn="ctr">
                        <a:lnSpc>
                          <a:spcPct val="107000"/>
                        </a:lnSpc>
                        <a:spcBef>
                          <a:spcPts val="390"/>
                        </a:spcBef>
                        <a:spcAft>
                          <a:spcPts val="0"/>
                        </a:spcAft>
                      </a:pPr>
                      <a:r>
                        <a:rPr lang="en-US" sz="600" dirty="0">
                          <a:effectLst/>
                        </a:rPr>
                        <a:t>Figure 1.5 Examples</a:t>
                      </a:r>
                      <a:r>
                        <a:rPr lang="en-US" sz="600" spc="-15" dirty="0">
                          <a:effectLst/>
                        </a:rPr>
                        <a:t> </a:t>
                      </a:r>
                      <a:r>
                        <a:rPr lang="en-US" sz="600" dirty="0">
                          <a:effectLst/>
                        </a:rPr>
                        <a:t>of</a:t>
                      </a:r>
                      <a:r>
                        <a:rPr lang="en-US" sz="600" spc="-30" dirty="0">
                          <a:effectLst/>
                        </a:rPr>
                        <a:t> </a:t>
                      </a:r>
                      <a:r>
                        <a:rPr lang="en-US" sz="600" dirty="0">
                          <a:effectLst/>
                        </a:rPr>
                        <a:t>agent</a:t>
                      </a:r>
                      <a:r>
                        <a:rPr lang="en-US" sz="600" spc="5" dirty="0">
                          <a:effectLst/>
                        </a:rPr>
                        <a:t> </a:t>
                      </a:r>
                      <a:r>
                        <a:rPr lang="en-US" sz="600" dirty="0">
                          <a:effectLst/>
                        </a:rPr>
                        <a:t>types</a:t>
                      </a:r>
                      <a:r>
                        <a:rPr lang="en-US" sz="600" spc="-5" dirty="0">
                          <a:effectLst/>
                        </a:rPr>
                        <a:t> </a:t>
                      </a:r>
                      <a:r>
                        <a:rPr lang="en-US" sz="600" dirty="0">
                          <a:effectLst/>
                        </a:rPr>
                        <a:t>and</a:t>
                      </a:r>
                      <a:r>
                        <a:rPr lang="en-US" sz="600" spc="-20" dirty="0">
                          <a:effectLst/>
                        </a:rPr>
                        <a:t> </a:t>
                      </a:r>
                      <a:r>
                        <a:rPr lang="en-US" sz="600" dirty="0">
                          <a:effectLst/>
                        </a:rPr>
                        <a:t>their</a:t>
                      </a:r>
                      <a:r>
                        <a:rPr lang="en-US" sz="600" spc="-35" dirty="0">
                          <a:effectLst/>
                        </a:rPr>
                        <a:t> </a:t>
                      </a:r>
                      <a:r>
                        <a:rPr lang="en-US" sz="600" dirty="0">
                          <a:effectLst/>
                        </a:rPr>
                        <a:t>PEAS descriptions</a:t>
                      </a:r>
                      <a:endParaRPr lang="en-IN" sz="500" dirty="0">
                        <a:effectLst/>
                        <a:latin typeface="Tinos"/>
                        <a:ea typeface="Tinos"/>
                        <a:cs typeface="Tinos"/>
                      </a:endParaRPr>
                    </a:p>
                  </a:txBody>
                  <a:tcPr marL="0" marR="0" marT="0" marB="0"/>
                </a:tc>
              </a:tr>
            </a:tbl>
          </a:graphicData>
        </a:graphic>
      </p:graphicFrame>
      <p:pic>
        <p:nvPicPr>
          <p:cNvPr id="2049" name="image5.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09600"/>
            <a:ext cx="7814574" cy="5714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16945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IN"/>
          </a:p>
        </p:txBody>
      </p:sp>
      <p:sp>
        <p:nvSpPr>
          <p:cNvPr id="4" name="Rectangle 3"/>
          <p:cNvSpPr/>
          <p:nvPr/>
        </p:nvSpPr>
        <p:spPr>
          <a:xfrm>
            <a:off x="381000" y="488965"/>
            <a:ext cx="7620000" cy="4384277"/>
          </a:xfrm>
          <a:prstGeom prst="rect">
            <a:avLst/>
          </a:prstGeom>
        </p:spPr>
        <p:txBody>
          <a:bodyPr wrap="square">
            <a:spAutoFit/>
          </a:bodyPr>
          <a:lstStyle/>
          <a:p>
            <a:pPr marL="627380">
              <a:spcBef>
                <a:spcPts val="450"/>
              </a:spcBef>
              <a:spcAft>
                <a:spcPts val="0"/>
              </a:spcAft>
            </a:pPr>
            <a:r>
              <a:rPr lang="en-US" b="1" dirty="0">
                <a:latin typeface="Times New Roman" panose="02020603050405020304" pitchFamily="18" charset="0"/>
                <a:ea typeface="Tinos"/>
                <a:cs typeface="Tinos"/>
              </a:rPr>
              <a:t>Rational</a:t>
            </a:r>
            <a:r>
              <a:rPr lang="en-US" b="1" spc="-45" dirty="0">
                <a:latin typeface="Times New Roman" panose="02020603050405020304" pitchFamily="18" charset="0"/>
                <a:ea typeface="Tinos"/>
                <a:cs typeface="Tinos"/>
              </a:rPr>
              <a:t> </a:t>
            </a:r>
            <a:r>
              <a:rPr lang="en-US" b="1" dirty="0">
                <a:latin typeface="Times New Roman" panose="02020603050405020304" pitchFamily="18" charset="0"/>
                <a:ea typeface="Tinos"/>
                <a:cs typeface="Tinos"/>
              </a:rPr>
              <a:t>Agent</a:t>
            </a:r>
            <a:r>
              <a:rPr lang="en-US" b="1" spc="-45" dirty="0">
                <a:latin typeface="Times New Roman" panose="02020603050405020304" pitchFamily="18" charset="0"/>
                <a:ea typeface="Tinos"/>
                <a:cs typeface="Tinos"/>
              </a:rPr>
              <a:t> </a:t>
            </a:r>
            <a:r>
              <a:rPr lang="en-US" b="1" dirty="0">
                <a:latin typeface="Times New Roman" panose="02020603050405020304" pitchFamily="18" charset="0"/>
                <a:ea typeface="Tinos"/>
                <a:cs typeface="Tinos"/>
              </a:rPr>
              <a:t>-</a:t>
            </a:r>
            <a:r>
              <a:rPr lang="en-US" b="1" spc="-2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A</a:t>
            </a:r>
            <a:r>
              <a:rPr lang="en-US" spc="-5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system</a:t>
            </a:r>
            <a:r>
              <a:rPr lang="en-US" spc="-4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is</a:t>
            </a:r>
            <a:r>
              <a:rPr lang="en-US" spc="-4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rational</a:t>
            </a:r>
            <a:r>
              <a:rPr lang="en-US" spc="-4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if</a:t>
            </a:r>
            <a:r>
              <a:rPr lang="en-US" spc="-4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it</a:t>
            </a:r>
            <a:r>
              <a:rPr lang="en-US" spc="-1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does</a:t>
            </a:r>
            <a:r>
              <a:rPr lang="en-US" spc="-5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the</a:t>
            </a:r>
            <a:r>
              <a:rPr lang="en-US" spc="-3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“right</a:t>
            </a:r>
            <a:r>
              <a:rPr lang="en-US" spc="-2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thing”.</a:t>
            </a:r>
            <a:r>
              <a:rPr lang="en-US" spc="-1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Given</a:t>
            </a:r>
            <a:r>
              <a:rPr lang="en-US" spc="-5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what</a:t>
            </a:r>
            <a:r>
              <a:rPr lang="en-US" spc="-1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it</a:t>
            </a:r>
            <a:r>
              <a:rPr lang="en-US" spc="-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knows.</a:t>
            </a:r>
            <a:endParaRPr lang="en-IN" sz="1100" dirty="0">
              <a:latin typeface="Tinos"/>
              <a:ea typeface="Tinos"/>
              <a:cs typeface="Tinos"/>
            </a:endParaRPr>
          </a:p>
          <a:p>
            <a:pPr marL="627380">
              <a:spcBef>
                <a:spcPts val="45"/>
              </a:spcBef>
              <a:spcAft>
                <a:spcPts val="0"/>
              </a:spcAft>
            </a:pPr>
            <a:r>
              <a:rPr lang="en-US" dirty="0">
                <a:latin typeface="Times New Roman" panose="02020603050405020304" pitchFamily="18" charset="0"/>
                <a:ea typeface="Tinos"/>
                <a:cs typeface="Tinos"/>
              </a:rPr>
              <a:t> </a:t>
            </a:r>
            <a:endParaRPr lang="en-IN" sz="1100" dirty="0">
              <a:latin typeface="Tinos"/>
              <a:ea typeface="Tinos"/>
              <a:cs typeface="Tinos"/>
            </a:endParaRPr>
          </a:p>
          <a:p>
            <a:pPr marL="180975" marR="189230" algn="ctr">
              <a:spcBef>
                <a:spcPts val="30"/>
              </a:spcBef>
              <a:spcAft>
                <a:spcPts val="0"/>
              </a:spcAft>
            </a:pPr>
            <a:r>
              <a:rPr lang="en-US" b="1" dirty="0">
                <a:latin typeface="Times New Roman" panose="02020603050405020304" pitchFamily="18" charset="0"/>
                <a:ea typeface="Times New Roman" panose="02020603050405020304" pitchFamily="18" charset="0"/>
              </a:rPr>
              <a:t>Characteristic of</a:t>
            </a:r>
            <a:r>
              <a:rPr lang="en-US" b="1" spc="-4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Rational</a:t>
            </a:r>
            <a:r>
              <a:rPr lang="en-US" b="1" spc="-3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Agent</a:t>
            </a:r>
            <a:endParaRPr lang="en-IN" sz="1600" b="1" dirty="0">
              <a:latin typeface="Times New Roman" panose="02020603050405020304" pitchFamily="18" charset="0"/>
              <a:ea typeface="Times New Roman" panose="02020603050405020304" pitchFamily="18" charset="0"/>
            </a:endParaRPr>
          </a:p>
          <a:p>
            <a:pPr marL="627380">
              <a:spcBef>
                <a:spcPts val="30"/>
              </a:spcBef>
              <a:spcAft>
                <a:spcPts val="0"/>
              </a:spcAft>
            </a:pPr>
            <a:r>
              <a:rPr lang="en-US" b="1" dirty="0">
                <a:latin typeface="Times New Roman" panose="02020603050405020304" pitchFamily="18" charset="0"/>
                <a:ea typeface="Tinos"/>
                <a:cs typeface="Tinos"/>
              </a:rPr>
              <a:t> </a:t>
            </a:r>
            <a:endParaRPr lang="en-IN" sz="1100" dirty="0">
              <a:latin typeface="Tinos"/>
              <a:ea typeface="Tinos"/>
              <a:cs typeface="Tinos"/>
            </a:endParaRPr>
          </a:p>
          <a:p>
            <a:pPr marL="342900" lvl="0" indent="-342900">
              <a:spcBef>
                <a:spcPts val="45"/>
              </a:spcBef>
              <a:spcAft>
                <a:spcPts val="0"/>
              </a:spcAft>
              <a:buSzPts val="1200"/>
              <a:buFont typeface="Wingdings" panose="05000000000000000000" pitchFamily="2" charset="2"/>
              <a:buChar char=""/>
              <a:tabLst>
                <a:tab pos="749300" algn="l"/>
                <a:tab pos="749935" algn="l"/>
              </a:tabLst>
            </a:pPr>
            <a:r>
              <a:rPr lang="en-US" dirty="0">
                <a:latin typeface="Times New Roman" panose="02020603050405020304" pitchFamily="18" charset="0"/>
                <a:ea typeface="Wingdings" panose="05000000000000000000" pitchFamily="2" charset="2"/>
                <a:cs typeface="Wingdings" panose="05000000000000000000" pitchFamily="2" charset="2"/>
              </a:rPr>
              <a:t>The</a:t>
            </a:r>
            <a:r>
              <a:rPr lang="en-US" spc="-3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agent's</a:t>
            </a:r>
            <a:r>
              <a:rPr lang="en-US" spc="-1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prior knowledge</a:t>
            </a:r>
            <a:r>
              <a:rPr lang="en-US" spc="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of</a:t>
            </a:r>
            <a:r>
              <a:rPr lang="en-US" spc="-4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the environment.</a:t>
            </a:r>
            <a:endParaRPr lang="en-IN" sz="1600" dirty="0">
              <a:latin typeface="Tinos"/>
              <a:ea typeface="Wingdings" panose="05000000000000000000" pitchFamily="2" charset="2"/>
              <a:cs typeface="Wingdings" panose="05000000000000000000" pitchFamily="2" charset="2"/>
            </a:endParaRPr>
          </a:p>
          <a:p>
            <a:pPr marL="342900" lvl="0" indent="-342900">
              <a:spcBef>
                <a:spcPts val="490"/>
              </a:spcBef>
              <a:spcAft>
                <a:spcPts val="0"/>
              </a:spcAft>
              <a:buSzPts val="1200"/>
              <a:buFont typeface="Wingdings" panose="05000000000000000000" pitchFamily="2" charset="2"/>
              <a:buChar char=""/>
              <a:tabLst>
                <a:tab pos="749300" algn="l"/>
                <a:tab pos="749935" algn="l"/>
              </a:tabLst>
            </a:pPr>
            <a:r>
              <a:rPr lang="en-US" dirty="0">
                <a:latin typeface="Times New Roman" panose="02020603050405020304" pitchFamily="18" charset="0"/>
                <a:ea typeface="Wingdings" panose="05000000000000000000" pitchFamily="2" charset="2"/>
                <a:cs typeface="Wingdings" panose="05000000000000000000" pitchFamily="2" charset="2"/>
              </a:rPr>
              <a:t>The</a:t>
            </a:r>
            <a:r>
              <a:rPr lang="en-US" spc="-4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performance</a:t>
            </a:r>
            <a:r>
              <a:rPr lang="en-US" spc="1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measure</a:t>
            </a:r>
            <a:r>
              <a:rPr lang="en-US" spc="-1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that</a:t>
            </a:r>
            <a:r>
              <a:rPr lang="en-US" spc="-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defines</a:t>
            </a:r>
            <a:r>
              <a:rPr lang="en-US" spc="-2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the</a:t>
            </a:r>
            <a:r>
              <a:rPr lang="en-US" spc="-1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criterion</a:t>
            </a:r>
            <a:r>
              <a:rPr lang="en-US" spc="-2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of</a:t>
            </a:r>
            <a:r>
              <a:rPr lang="en-US" spc="-4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success.</a:t>
            </a:r>
            <a:endParaRPr lang="en-IN" sz="1600" dirty="0">
              <a:latin typeface="Tinos"/>
              <a:ea typeface="Wingdings" panose="05000000000000000000" pitchFamily="2" charset="2"/>
              <a:cs typeface="Wingdings" panose="05000000000000000000" pitchFamily="2" charset="2"/>
            </a:endParaRPr>
          </a:p>
          <a:p>
            <a:pPr marL="342900" lvl="0" indent="-342900">
              <a:spcBef>
                <a:spcPts val="470"/>
              </a:spcBef>
              <a:spcAft>
                <a:spcPts val="0"/>
              </a:spcAft>
              <a:buSzPts val="1200"/>
              <a:buFont typeface="Wingdings" panose="05000000000000000000" pitchFamily="2" charset="2"/>
              <a:buChar char=""/>
              <a:tabLst>
                <a:tab pos="749300" algn="l"/>
                <a:tab pos="749935" algn="l"/>
              </a:tabLst>
            </a:pPr>
            <a:r>
              <a:rPr lang="en-US" dirty="0">
                <a:latin typeface="Times New Roman" panose="02020603050405020304" pitchFamily="18" charset="0"/>
                <a:ea typeface="Wingdings" panose="05000000000000000000" pitchFamily="2" charset="2"/>
                <a:cs typeface="Wingdings" panose="05000000000000000000" pitchFamily="2" charset="2"/>
              </a:rPr>
              <a:t>The</a:t>
            </a:r>
            <a:r>
              <a:rPr lang="en-US" spc="-4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actions</a:t>
            </a:r>
            <a:r>
              <a:rPr lang="en-US" spc="-1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that</a:t>
            </a:r>
            <a:r>
              <a:rPr lang="en-US" spc="-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the</a:t>
            </a:r>
            <a:r>
              <a:rPr lang="en-US" spc="-1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agent</a:t>
            </a:r>
            <a:r>
              <a:rPr lang="en-US" spc="2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can</a:t>
            </a:r>
            <a:r>
              <a:rPr lang="en-US" spc="-3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perform.</a:t>
            </a:r>
            <a:endParaRPr lang="en-IN" sz="1600" dirty="0">
              <a:latin typeface="Tinos"/>
              <a:ea typeface="Wingdings" panose="05000000000000000000" pitchFamily="2" charset="2"/>
              <a:cs typeface="Wingdings" panose="05000000000000000000" pitchFamily="2" charset="2"/>
            </a:endParaRPr>
          </a:p>
          <a:p>
            <a:pPr marL="342900" lvl="0" indent="-342900">
              <a:spcBef>
                <a:spcPts val="470"/>
              </a:spcBef>
              <a:spcAft>
                <a:spcPts val="0"/>
              </a:spcAft>
              <a:buSzPts val="1200"/>
              <a:buFont typeface="Wingdings" panose="05000000000000000000" pitchFamily="2" charset="2"/>
              <a:buChar char=""/>
              <a:tabLst>
                <a:tab pos="749300" algn="l"/>
                <a:tab pos="749935" algn="l"/>
              </a:tabLst>
            </a:pPr>
            <a:r>
              <a:rPr lang="en-US" dirty="0">
                <a:latin typeface="Times New Roman" panose="02020603050405020304" pitchFamily="18" charset="0"/>
                <a:ea typeface="Wingdings" panose="05000000000000000000" pitchFamily="2" charset="2"/>
                <a:cs typeface="Wingdings" panose="05000000000000000000" pitchFamily="2" charset="2"/>
              </a:rPr>
              <a:t>The</a:t>
            </a:r>
            <a:r>
              <a:rPr lang="en-US" spc="-4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agent's</a:t>
            </a:r>
            <a:r>
              <a:rPr lang="en-US" spc="-1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percept</a:t>
            </a:r>
            <a:r>
              <a:rPr lang="en-US" spc="15"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sequence to</a:t>
            </a:r>
            <a:r>
              <a:rPr lang="en-US" spc="-10" dirty="0">
                <a:latin typeface="Times New Roman" panose="02020603050405020304" pitchFamily="18" charset="0"/>
                <a:ea typeface="Wingdings" panose="05000000000000000000" pitchFamily="2" charset="2"/>
                <a:cs typeface="Wingdings" panose="05000000000000000000" pitchFamily="2" charset="2"/>
              </a:rPr>
              <a:t> </a:t>
            </a:r>
            <a:r>
              <a:rPr lang="en-US" dirty="0">
                <a:latin typeface="Times New Roman" panose="02020603050405020304" pitchFamily="18" charset="0"/>
                <a:ea typeface="Wingdings" panose="05000000000000000000" pitchFamily="2" charset="2"/>
                <a:cs typeface="Wingdings" panose="05000000000000000000" pitchFamily="2" charset="2"/>
              </a:rPr>
              <a:t>date.</a:t>
            </a:r>
            <a:endParaRPr lang="en-IN" sz="1600" dirty="0">
              <a:latin typeface="Tinos"/>
              <a:ea typeface="Wingdings" panose="05000000000000000000" pitchFamily="2" charset="2"/>
              <a:cs typeface="Wingdings" panose="05000000000000000000" pitchFamily="2" charset="2"/>
            </a:endParaRPr>
          </a:p>
          <a:p>
            <a:pPr marL="627380">
              <a:spcBef>
                <a:spcPts val="40"/>
              </a:spcBef>
              <a:spcAft>
                <a:spcPts val="0"/>
              </a:spcAft>
            </a:pPr>
            <a:r>
              <a:rPr lang="en-US" dirty="0">
                <a:latin typeface="Times New Roman" panose="02020603050405020304" pitchFamily="18" charset="0"/>
                <a:ea typeface="Tinos"/>
                <a:cs typeface="Tinos"/>
              </a:rPr>
              <a:t> </a:t>
            </a:r>
            <a:endParaRPr lang="en-IN" sz="1100" dirty="0">
              <a:latin typeface="Tinos"/>
              <a:ea typeface="Tinos"/>
              <a:cs typeface="Tinos"/>
            </a:endParaRPr>
          </a:p>
          <a:p>
            <a:pPr marL="292100" marR="96520" indent="454025" algn="just">
              <a:lnSpc>
                <a:spcPct val="120000"/>
              </a:lnSpc>
              <a:spcBef>
                <a:spcPts val="5"/>
              </a:spcBef>
              <a:spcAft>
                <a:spcPts val="0"/>
              </a:spcAft>
            </a:pPr>
            <a:r>
              <a:rPr lang="en-US" dirty="0">
                <a:latin typeface="Times New Roman" panose="02020603050405020304" pitchFamily="18" charset="0"/>
                <a:ea typeface="Tinos"/>
                <a:cs typeface="Tinos"/>
              </a:rPr>
              <a:t>For every possible percept sequence, a rational agent should select an action that is</a:t>
            </a:r>
            <a:r>
              <a:rPr lang="en-US" spc="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expected to maximize its performance measure, given the evidence provided by the percept</a:t>
            </a:r>
            <a:r>
              <a:rPr lang="en-US" spc="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sequence and</a:t>
            </a:r>
            <a:r>
              <a:rPr lang="en-US" spc="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whatever</a:t>
            </a:r>
            <a:r>
              <a:rPr lang="en-US" spc="1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built-in</a:t>
            </a:r>
            <a:r>
              <a:rPr lang="en-US" spc="-2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knowledge</a:t>
            </a:r>
            <a:r>
              <a:rPr lang="en-US" spc="1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the agent</a:t>
            </a:r>
            <a:r>
              <a:rPr lang="en-US" spc="3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has.</a:t>
            </a:r>
            <a:endParaRPr lang="en-IN" sz="1100" dirty="0">
              <a:effectLst/>
              <a:latin typeface="Tinos"/>
              <a:ea typeface="Tinos"/>
              <a:cs typeface="Tinos"/>
            </a:endParaRPr>
          </a:p>
        </p:txBody>
      </p:sp>
    </p:spTree>
    <p:extLst>
      <p:ext uri="{BB962C8B-B14F-4D97-AF65-F5344CB8AC3E}">
        <p14:creationId xmlns:p14="http://schemas.microsoft.com/office/powerpoint/2010/main" val="31866836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0"/>
            <a:ext cx="7696200" cy="5539978"/>
          </a:xfrm>
        </p:spPr>
        <p:txBody>
          <a:bodyPr>
            <a:normAutofit fontScale="62500" lnSpcReduction="20000"/>
          </a:bodyPr>
          <a:lstStyle/>
          <a:p>
            <a:pPr lvl="0"/>
            <a:r>
              <a:rPr lang="en-US" dirty="0"/>
              <a:t>An </a:t>
            </a:r>
            <a:r>
              <a:rPr lang="en-US" b="1" dirty="0"/>
              <a:t>omniscient agent </a:t>
            </a:r>
            <a:r>
              <a:rPr lang="en-US" dirty="0"/>
              <a:t>knows the actual outcome of its actions and can act accordingly; but omniscience is impossible in reality</a:t>
            </a:r>
            <a:r>
              <a:rPr lang="en-US" dirty="0" smtClean="0"/>
              <a:t>.</a:t>
            </a:r>
          </a:p>
          <a:p>
            <a:pPr lvl="0"/>
            <a:endParaRPr lang="en-IN" dirty="0"/>
          </a:p>
          <a:p>
            <a:pPr lvl="0"/>
            <a:r>
              <a:rPr lang="en-US" b="1" dirty="0"/>
              <a:t>Ideal Rational Agent </a:t>
            </a:r>
            <a:r>
              <a:rPr lang="en-US" dirty="0"/>
              <a:t>precepts and does things. It has a greater performance measure.</a:t>
            </a:r>
            <a:endParaRPr lang="en-IN" dirty="0"/>
          </a:p>
          <a:p>
            <a:r>
              <a:rPr lang="en-US" dirty="0" err="1"/>
              <a:t>Eg</a:t>
            </a:r>
            <a:r>
              <a:rPr lang="en-US" dirty="0"/>
              <a:t>. Crossing road. Here first perception occurs on both sides and then only action. No perception occurs in </a:t>
            </a:r>
            <a:r>
              <a:rPr lang="en-US" b="1" dirty="0"/>
              <a:t>Degenerate Agent</a:t>
            </a:r>
            <a:r>
              <a:rPr lang="en-US" dirty="0"/>
              <a:t>.</a:t>
            </a:r>
            <a:endParaRPr lang="en-IN" dirty="0"/>
          </a:p>
          <a:p>
            <a:r>
              <a:rPr lang="en-US" dirty="0" err="1"/>
              <a:t>Eg</a:t>
            </a:r>
            <a:r>
              <a:rPr lang="en-US" dirty="0"/>
              <a:t>. Clock. It does not view the surroundings. No matter what happens outside. The clock works based on inbuilt program</a:t>
            </a:r>
            <a:r>
              <a:rPr lang="en-US" dirty="0" smtClean="0"/>
              <a:t>.</a:t>
            </a:r>
          </a:p>
          <a:p>
            <a:endParaRPr lang="en-IN" dirty="0"/>
          </a:p>
          <a:p>
            <a:pPr lvl="0"/>
            <a:r>
              <a:rPr lang="en-US" b="1" dirty="0"/>
              <a:t>Ideal Agent </a:t>
            </a:r>
            <a:r>
              <a:rPr lang="en-US" dirty="0"/>
              <a:t>describes by ideal mappings. “Specifying which action an agent ought to take in response to any given percept sequence provides a design for ideal agent”.</a:t>
            </a:r>
            <a:endParaRPr lang="en-IN" dirty="0"/>
          </a:p>
          <a:p>
            <a:pPr lvl="0"/>
            <a:r>
              <a:rPr lang="en-US" dirty="0"/>
              <a:t/>
            </a:r>
            <a:br>
              <a:rPr lang="en-US" dirty="0"/>
            </a:br>
            <a:r>
              <a:rPr lang="en-US" b="1" dirty="0" err="1"/>
              <a:t>Eg</a:t>
            </a:r>
            <a:r>
              <a:rPr lang="en-US" b="1" dirty="0"/>
              <a:t>. </a:t>
            </a:r>
            <a:r>
              <a:rPr lang="en-US" dirty="0"/>
              <a:t>SQRT function calculation in calculator.</a:t>
            </a:r>
            <a:endParaRPr lang="en-IN" dirty="0"/>
          </a:p>
          <a:p>
            <a:r>
              <a:rPr lang="en-US" dirty="0"/>
              <a:t> </a:t>
            </a:r>
            <a:endParaRPr lang="en-IN" dirty="0"/>
          </a:p>
          <a:p>
            <a:pPr lvl="0"/>
            <a:r>
              <a:rPr lang="en-US" dirty="0"/>
              <a:t>Doing actions in order to modify future precepts-sometimes called </a:t>
            </a:r>
            <a:r>
              <a:rPr lang="en-US" b="1" dirty="0"/>
              <a:t>information gathering</a:t>
            </a:r>
            <a:r>
              <a:rPr lang="en-US" dirty="0"/>
              <a:t>- is an important part of rationality.</a:t>
            </a:r>
            <a:endParaRPr lang="en-IN" dirty="0"/>
          </a:p>
        </p:txBody>
      </p:sp>
    </p:spTree>
    <p:extLst>
      <p:ext uri="{BB962C8B-B14F-4D97-AF65-F5344CB8AC3E}">
        <p14:creationId xmlns:p14="http://schemas.microsoft.com/office/powerpoint/2010/main" val="42417197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sp>
        <p:nvSpPr>
          <p:cNvPr id="4" name="Rectangle 3"/>
          <p:cNvSpPr/>
          <p:nvPr/>
        </p:nvSpPr>
        <p:spPr>
          <a:xfrm>
            <a:off x="685800" y="1197941"/>
            <a:ext cx="7391400" cy="2916439"/>
          </a:xfrm>
          <a:prstGeom prst="rect">
            <a:avLst/>
          </a:prstGeom>
        </p:spPr>
        <p:txBody>
          <a:bodyPr wrap="square">
            <a:spAutoFit/>
          </a:bodyPr>
          <a:lstStyle/>
          <a:p>
            <a:pPr marL="342900" marR="91440" lvl="0" indent="-342900" algn="just">
              <a:lnSpc>
                <a:spcPct val="118000"/>
              </a:lnSpc>
              <a:spcBef>
                <a:spcPts val="1040"/>
              </a:spcBef>
              <a:spcAft>
                <a:spcPts val="0"/>
              </a:spcAft>
              <a:buFont typeface="Wingdings" panose="05000000000000000000" pitchFamily="2" charset="2"/>
              <a:buChar char=""/>
              <a:tabLst>
                <a:tab pos="749935" algn="l"/>
              </a:tabLst>
            </a:pPr>
            <a:r>
              <a:rPr lang="en-US" dirty="0">
                <a:latin typeface="Times New Roman" panose="02020603050405020304" pitchFamily="18" charset="0"/>
                <a:ea typeface="Tinos"/>
                <a:cs typeface="Tinos"/>
              </a:rPr>
              <a:t>A rational agent should be </a:t>
            </a:r>
            <a:r>
              <a:rPr lang="en-US" b="1" dirty="0">
                <a:latin typeface="Times New Roman" panose="02020603050405020304" pitchFamily="18" charset="0"/>
                <a:ea typeface="Tinos"/>
                <a:cs typeface="Tinos"/>
              </a:rPr>
              <a:t>autonomous</a:t>
            </a:r>
            <a:r>
              <a:rPr lang="en-US" dirty="0">
                <a:latin typeface="Times New Roman" panose="02020603050405020304" pitchFamily="18" charset="0"/>
                <a:ea typeface="Tinos"/>
                <a:cs typeface="Tinos"/>
              </a:rPr>
              <a:t>-it should learn from its own prior knowledge</a:t>
            </a:r>
            <a:r>
              <a:rPr lang="en-US" spc="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(experience).</a:t>
            </a:r>
            <a:endParaRPr lang="en-IN" sz="1600" dirty="0">
              <a:latin typeface="Tinos"/>
              <a:ea typeface="Tinos"/>
              <a:cs typeface="Tinos"/>
            </a:endParaRPr>
          </a:p>
          <a:p>
            <a:pPr marL="180975" marR="189230" algn="ctr">
              <a:spcBef>
                <a:spcPts val="1015"/>
              </a:spcBef>
              <a:spcAft>
                <a:spcPts val="0"/>
              </a:spcAft>
            </a:pPr>
            <a:r>
              <a:rPr lang="en-US" b="1" dirty="0">
                <a:latin typeface="Times New Roman" panose="02020603050405020304" pitchFamily="18" charset="0"/>
                <a:ea typeface="Times New Roman" panose="02020603050405020304" pitchFamily="18" charset="0"/>
              </a:rPr>
              <a:t>The</a:t>
            </a:r>
            <a:r>
              <a:rPr lang="en-US" b="1" spc="-3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Structure</a:t>
            </a:r>
            <a:r>
              <a:rPr lang="en-US" b="1" spc="-3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of</a:t>
            </a:r>
            <a:r>
              <a:rPr lang="en-US" b="1" spc="-2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Intelligent Agents</a:t>
            </a:r>
            <a:endParaRPr lang="en-IN" sz="1600" b="1" dirty="0">
              <a:latin typeface="Times New Roman" panose="02020603050405020304" pitchFamily="18" charset="0"/>
              <a:ea typeface="Times New Roman" panose="02020603050405020304" pitchFamily="18" charset="0"/>
            </a:endParaRPr>
          </a:p>
          <a:p>
            <a:pPr marL="627380">
              <a:spcBef>
                <a:spcPts val="50"/>
              </a:spcBef>
              <a:spcAft>
                <a:spcPts val="0"/>
              </a:spcAft>
            </a:pPr>
            <a:r>
              <a:rPr lang="en-US" b="1" dirty="0">
                <a:latin typeface="Times New Roman" panose="02020603050405020304" pitchFamily="18" charset="0"/>
                <a:ea typeface="Tinos"/>
                <a:cs typeface="Tinos"/>
              </a:rPr>
              <a:t> </a:t>
            </a:r>
            <a:endParaRPr lang="en-IN" sz="1100" dirty="0">
              <a:latin typeface="Tinos"/>
              <a:ea typeface="Tinos"/>
              <a:cs typeface="Tinos"/>
            </a:endParaRPr>
          </a:p>
          <a:p>
            <a:pPr marL="745490" marR="543560" algn="ctr">
              <a:spcBef>
                <a:spcPts val="5"/>
              </a:spcBef>
              <a:spcAft>
                <a:spcPts val="0"/>
              </a:spcAft>
            </a:pPr>
            <a:r>
              <a:rPr lang="en-US" b="1" dirty="0">
                <a:latin typeface="Times New Roman" panose="02020603050405020304" pitchFamily="18" charset="0"/>
                <a:ea typeface="Times New Roman" panose="02020603050405020304" pitchFamily="18" charset="0"/>
              </a:rPr>
              <a:t>Agent</a:t>
            </a:r>
            <a:r>
              <a:rPr lang="en-US" b="1" spc="-1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t>
            </a:r>
            <a:r>
              <a:rPr lang="en-US" b="1" spc="-2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Architecture</a:t>
            </a:r>
            <a:r>
              <a:rPr lang="en-US" b="1" spc="-1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t>
            </a:r>
            <a:r>
              <a:rPr lang="en-US" b="1" spc="-4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Agent</a:t>
            </a:r>
            <a:r>
              <a:rPr lang="en-US" b="1" spc="-1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Program</a:t>
            </a:r>
            <a:endParaRPr lang="en-IN" sz="1100" b="1" dirty="0">
              <a:latin typeface="Times New Roman" panose="02020603050405020304" pitchFamily="18" charset="0"/>
              <a:ea typeface="Times New Roman" panose="02020603050405020304" pitchFamily="18" charset="0"/>
            </a:endParaRPr>
          </a:p>
          <a:p>
            <a:pPr marL="627380">
              <a:spcBef>
                <a:spcPts val="995"/>
              </a:spcBef>
              <a:spcAft>
                <a:spcPts val="0"/>
              </a:spcAft>
            </a:pPr>
            <a:r>
              <a:rPr lang="en-US" dirty="0">
                <a:latin typeface="Times New Roman" panose="02020603050405020304" pitchFamily="18" charset="0"/>
                <a:ea typeface="Tinos"/>
                <a:cs typeface="Tinos"/>
              </a:rPr>
              <a:t>Architecture =</a:t>
            </a:r>
            <a:r>
              <a:rPr lang="en-US" spc="-5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the</a:t>
            </a:r>
            <a:r>
              <a:rPr lang="en-US" spc="-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machinery</a:t>
            </a:r>
            <a:r>
              <a:rPr lang="en-US" spc="-4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that</a:t>
            </a:r>
            <a:r>
              <a:rPr lang="en-US" spc="3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an</a:t>
            </a:r>
            <a:r>
              <a:rPr lang="en-US" spc="-2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agent</a:t>
            </a:r>
            <a:r>
              <a:rPr lang="en-US" spc="2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executes</a:t>
            </a:r>
            <a:r>
              <a:rPr lang="en-US" spc="-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on.</a:t>
            </a:r>
            <a:r>
              <a:rPr lang="en-US" spc="-1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(Hardware)</a:t>
            </a:r>
            <a:endParaRPr lang="en-IN" sz="1100" dirty="0">
              <a:latin typeface="Tinos"/>
              <a:ea typeface="Tinos"/>
              <a:cs typeface="Tinos"/>
            </a:endParaRPr>
          </a:p>
          <a:p>
            <a:pPr marL="627380" marR="96520">
              <a:lnSpc>
                <a:spcPct val="120000"/>
              </a:lnSpc>
              <a:spcBef>
                <a:spcPts val="995"/>
              </a:spcBef>
              <a:spcAft>
                <a:spcPts val="0"/>
              </a:spcAft>
              <a:tabLst>
                <a:tab pos="1264920" algn="l"/>
                <a:tab pos="1938655" algn="l"/>
                <a:tab pos="2170430" algn="l"/>
                <a:tab pos="2463165" algn="l"/>
                <a:tab pos="3566795" algn="l"/>
                <a:tab pos="3838575" algn="l"/>
                <a:tab pos="4130675" algn="l"/>
                <a:tab pos="4606925" algn="l"/>
                <a:tab pos="5302250" algn="l"/>
              </a:tabLst>
            </a:pPr>
            <a:r>
              <a:rPr lang="en-US" dirty="0">
                <a:latin typeface="Times New Roman" panose="02020603050405020304" pitchFamily="18" charset="0"/>
                <a:ea typeface="Tinos"/>
                <a:cs typeface="Tinos"/>
              </a:rPr>
              <a:t>Agent	Program	=	an	implementation	of	an	agent	function.	</a:t>
            </a:r>
            <a:r>
              <a:rPr lang="en-US" spc="-10" dirty="0">
                <a:latin typeface="Times New Roman" panose="02020603050405020304" pitchFamily="18" charset="0"/>
                <a:ea typeface="Tinos"/>
                <a:cs typeface="Tinos"/>
              </a:rPr>
              <a:t>(Algorithm,</a:t>
            </a:r>
            <a:r>
              <a:rPr lang="en-US" spc="-285"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Logic –</a:t>
            </a:r>
            <a:r>
              <a:rPr lang="en-US" spc="10" dirty="0">
                <a:latin typeface="Times New Roman" panose="02020603050405020304" pitchFamily="18" charset="0"/>
                <a:ea typeface="Tinos"/>
                <a:cs typeface="Tinos"/>
              </a:rPr>
              <a:t> </a:t>
            </a:r>
            <a:r>
              <a:rPr lang="en-US" dirty="0">
                <a:latin typeface="Times New Roman" panose="02020603050405020304" pitchFamily="18" charset="0"/>
                <a:ea typeface="Tinos"/>
                <a:cs typeface="Tinos"/>
              </a:rPr>
              <a:t>Software)</a:t>
            </a:r>
            <a:endParaRPr lang="en-IN" sz="1100" dirty="0">
              <a:effectLst/>
              <a:latin typeface="Tinos"/>
              <a:ea typeface="Tinos"/>
              <a:cs typeface="Tinos"/>
            </a:endParaRPr>
          </a:p>
        </p:txBody>
      </p:sp>
    </p:spTree>
    <p:extLst>
      <p:ext uri="{BB962C8B-B14F-4D97-AF65-F5344CB8AC3E}">
        <p14:creationId xmlns:p14="http://schemas.microsoft.com/office/powerpoint/2010/main" val="23492746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9221" y="148068"/>
            <a:ext cx="3879850" cy="695960"/>
          </a:xfrm>
          <a:prstGeom prst="rect">
            <a:avLst/>
          </a:prstGeom>
        </p:spPr>
        <p:txBody>
          <a:bodyPr vert="horz" wrap="square" lIns="0" tIns="12700" rIns="0" bIns="0" rtlCol="0">
            <a:spAutoFit/>
          </a:bodyPr>
          <a:lstStyle/>
          <a:p>
            <a:pPr marL="12700">
              <a:lnSpc>
                <a:spcPct val="100000"/>
              </a:lnSpc>
              <a:spcBef>
                <a:spcPts val="100"/>
              </a:spcBef>
            </a:pPr>
            <a:r>
              <a:rPr spc="-40" dirty="0" smtClean="0"/>
              <a:t>Types</a:t>
            </a:r>
            <a:r>
              <a:rPr spc="-45" dirty="0" smtClean="0"/>
              <a:t> </a:t>
            </a:r>
            <a:r>
              <a:rPr spc="-5" dirty="0"/>
              <a:t>of</a:t>
            </a:r>
            <a:r>
              <a:rPr spc="-35" dirty="0"/>
              <a:t> </a:t>
            </a:r>
            <a:r>
              <a:rPr spc="-20" dirty="0" smtClean="0"/>
              <a:t>Agents</a:t>
            </a:r>
            <a:endParaRPr spc="-20" dirty="0"/>
          </a:p>
        </p:txBody>
      </p:sp>
      <p:sp>
        <p:nvSpPr>
          <p:cNvPr id="3" name="object 3"/>
          <p:cNvSpPr txBox="1"/>
          <p:nvPr/>
        </p:nvSpPr>
        <p:spPr>
          <a:xfrm>
            <a:off x="591180" y="1431190"/>
            <a:ext cx="4760595" cy="3560445"/>
          </a:xfrm>
          <a:prstGeom prst="rect">
            <a:avLst/>
          </a:prstGeom>
        </p:spPr>
        <p:txBody>
          <a:bodyPr vert="horz" wrap="square" lIns="0" tIns="114300" rIns="0" bIns="0" rtlCol="0">
            <a:spAutoFit/>
          </a:bodyPr>
          <a:lstStyle/>
          <a:p>
            <a:pPr marL="294005" indent="-281940">
              <a:lnSpc>
                <a:spcPct val="100000"/>
              </a:lnSpc>
              <a:spcBef>
                <a:spcPts val="900"/>
              </a:spcBef>
              <a:buFont typeface="Arial MT"/>
              <a:buChar char="•"/>
              <a:tabLst>
                <a:tab pos="294640" algn="l"/>
              </a:tabLst>
            </a:pPr>
            <a:r>
              <a:rPr sz="3200" spc="-55" dirty="0">
                <a:latin typeface="Calibri"/>
                <a:cs typeface="Calibri"/>
              </a:rPr>
              <a:t>Table</a:t>
            </a:r>
            <a:r>
              <a:rPr sz="3200" spc="-25" dirty="0">
                <a:latin typeface="Calibri"/>
                <a:cs typeface="Calibri"/>
              </a:rPr>
              <a:t> </a:t>
            </a:r>
            <a:r>
              <a:rPr sz="3200" spc="-10" dirty="0">
                <a:latin typeface="Calibri"/>
                <a:cs typeface="Calibri"/>
              </a:rPr>
              <a:t>Driven</a:t>
            </a:r>
            <a:r>
              <a:rPr sz="3200" spc="-25" dirty="0">
                <a:latin typeface="Calibri"/>
                <a:cs typeface="Calibri"/>
              </a:rPr>
              <a:t> </a:t>
            </a:r>
            <a:r>
              <a:rPr sz="3200" spc="-15" dirty="0">
                <a:latin typeface="Calibri"/>
                <a:cs typeface="Calibri"/>
              </a:rPr>
              <a:t>Agents</a:t>
            </a:r>
            <a:endParaRPr sz="3200">
              <a:latin typeface="Calibri"/>
              <a:cs typeface="Calibri"/>
            </a:endParaRPr>
          </a:p>
          <a:p>
            <a:pPr marL="294005" indent="-281940">
              <a:lnSpc>
                <a:spcPct val="100000"/>
              </a:lnSpc>
              <a:spcBef>
                <a:spcPts val="795"/>
              </a:spcBef>
              <a:buFont typeface="Arial MT"/>
              <a:buChar char="•"/>
              <a:tabLst>
                <a:tab pos="294640" algn="l"/>
              </a:tabLst>
            </a:pPr>
            <a:r>
              <a:rPr sz="3200" spc="-5" dirty="0">
                <a:latin typeface="Calibri"/>
                <a:cs typeface="Calibri"/>
              </a:rPr>
              <a:t>Simple</a:t>
            </a:r>
            <a:r>
              <a:rPr sz="3200" spc="-35" dirty="0">
                <a:latin typeface="Calibri"/>
                <a:cs typeface="Calibri"/>
              </a:rPr>
              <a:t> </a:t>
            </a:r>
            <a:r>
              <a:rPr sz="3200" spc="-25" dirty="0">
                <a:latin typeface="Calibri"/>
                <a:cs typeface="Calibri"/>
              </a:rPr>
              <a:t>Reflex</a:t>
            </a:r>
            <a:r>
              <a:rPr sz="3200" spc="-30" dirty="0">
                <a:latin typeface="Calibri"/>
                <a:cs typeface="Calibri"/>
              </a:rPr>
              <a:t> </a:t>
            </a:r>
            <a:r>
              <a:rPr sz="3200" spc="-15" dirty="0">
                <a:latin typeface="Calibri"/>
                <a:cs typeface="Calibri"/>
              </a:rPr>
              <a:t>Agents</a:t>
            </a:r>
            <a:endParaRPr sz="3200">
              <a:latin typeface="Calibri"/>
              <a:cs typeface="Calibri"/>
            </a:endParaRPr>
          </a:p>
          <a:p>
            <a:pPr marL="294005" indent="-281940">
              <a:lnSpc>
                <a:spcPct val="100000"/>
              </a:lnSpc>
              <a:spcBef>
                <a:spcPts val="800"/>
              </a:spcBef>
              <a:buFont typeface="Arial MT"/>
              <a:buChar char="•"/>
              <a:tabLst>
                <a:tab pos="294640" algn="l"/>
              </a:tabLst>
            </a:pPr>
            <a:r>
              <a:rPr sz="3200" spc="-10" dirty="0">
                <a:latin typeface="Calibri"/>
                <a:cs typeface="Calibri"/>
              </a:rPr>
              <a:t>Model</a:t>
            </a:r>
            <a:r>
              <a:rPr sz="3200" spc="-35" dirty="0">
                <a:latin typeface="Calibri"/>
                <a:cs typeface="Calibri"/>
              </a:rPr>
              <a:t> </a:t>
            </a:r>
            <a:r>
              <a:rPr sz="3200" spc="-5" dirty="0">
                <a:latin typeface="Calibri"/>
                <a:cs typeface="Calibri"/>
              </a:rPr>
              <a:t>based</a:t>
            </a:r>
            <a:r>
              <a:rPr sz="3200" spc="-30" dirty="0">
                <a:latin typeface="Calibri"/>
                <a:cs typeface="Calibri"/>
              </a:rPr>
              <a:t> </a:t>
            </a:r>
            <a:r>
              <a:rPr sz="3200" spc="-25" dirty="0">
                <a:latin typeface="Calibri"/>
                <a:cs typeface="Calibri"/>
              </a:rPr>
              <a:t>Reflex</a:t>
            </a:r>
            <a:r>
              <a:rPr sz="3200" spc="-30" dirty="0">
                <a:latin typeface="Calibri"/>
                <a:cs typeface="Calibri"/>
              </a:rPr>
              <a:t> </a:t>
            </a:r>
            <a:r>
              <a:rPr sz="3200" spc="-15" dirty="0">
                <a:latin typeface="Calibri"/>
                <a:cs typeface="Calibri"/>
              </a:rPr>
              <a:t>Agents</a:t>
            </a:r>
            <a:endParaRPr sz="3200">
              <a:latin typeface="Calibri"/>
              <a:cs typeface="Calibri"/>
            </a:endParaRPr>
          </a:p>
          <a:p>
            <a:pPr marL="294005" indent="-281940">
              <a:lnSpc>
                <a:spcPct val="100000"/>
              </a:lnSpc>
              <a:spcBef>
                <a:spcPts val="800"/>
              </a:spcBef>
              <a:buFont typeface="Arial MT"/>
              <a:buChar char="•"/>
              <a:tabLst>
                <a:tab pos="294640" algn="l"/>
              </a:tabLst>
            </a:pPr>
            <a:r>
              <a:rPr sz="3200" spc="-10" dirty="0">
                <a:latin typeface="Calibri"/>
                <a:cs typeface="Calibri"/>
              </a:rPr>
              <a:t>Goal</a:t>
            </a:r>
            <a:r>
              <a:rPr sz="3200" spc="-35" dirty="0">
                <a:latin typeface="Calibri"/>
                <a:cs typeface="Calibri"/>
              </a:rPr>
              <a:t> </a:t>
            </a:r>
            <a:r>
              <a:rPr sz="3200" spc="-5" dirty="0">
                <a:latin typeface="Calibri"/>
                <a:cs typeface="Calibri"/>
              </a:rPr>
              <a:t>based</a:t>
            </a:r>
            <a:r>
              <a:rPr sz="3200" spc="-30" dirty="0">
                <a:latin typeface="Calibri"/>
                <a:cs typeface="Calibri"/>
              </a:rPr>
              <a:t> </a:t>
            </a:r>
            <a:r>
              <a:rPr sz="3200" spc="-15" dirty="0">
                <a:latin typeface="Calibri"/>
                <a:cs typeface="Calibri"/>
              </a:rPr>
              <a:t>Agents</a:t>
            </a:r>
            <a:endParaRPr sz="3200">
              <a:latin typeface="Calibri"/>
              <a:cs typeface="Calibri"/>
            </a:endParaRPr>
          </a:p>
          <a:p>
            <a:pPr marL="294005" indent="-281940">
              <a:lnSpc>
                <a:spcPct val="100000"/>
              </a:lnSpc>
              <a:spcBef>
                <a:spcPts val="800"/>
              </a:spcBef>
              <a:buFont typeface="Arial MT"/>
              <a:buChar char="•"/>
              <a:tabLst>
                <a:tab pos="294640" algn="l"/>
              </a:tabLst>
            </a:pPr>
            <a:r>
              <a:rPr sz="3200" spc="-5" dirty="0">
                <a:latin typeface="Calibri"/>
                <a:cs typeface="Calibri"/>
              </a:rPr>
              <a:t>Utility</a:t>
            </a:r>
            <a:r>
              <a:rPr sz="3200" spc="-30" dirty="0">
                <a:latin typeface="Calibri"/>
                <a:cs typeface="Calibri"/>
              </a:rPr>
              <a:t> </a:t>
            </a:r>
            <a:r>
              <a:rPr sz="3200" spc="-10" dirty="0">
                <a:latin typeface="Calibri"/>
                <a:cs typeface="Calibri"/>
              </a:rPr>
              <a:t>Based</a:t>
            </a:r>
            <a:r>
              <a:rPr sz="3200" spc="-35" dirty="0">
                <a:latin typeface="Calibri"/>
                <a:cs typeface="Calibri"/>
              </a:rPr>
              <a:t> </a:t>
            </a:r>
            <a:r>
              <a:rPr sz="3200" spc="-15" dirty="0">
                <a:latin typeface="Calibri"/>
                <a:cs typeface="Calibri"/>
              </a:rPr>
              <a:t>Agents</a:t>
            </a:r>
            <a:endParaRPr sz="3200">
              <a:latin typeface="Calibri"/>
              <a:cs typeface="Calibri"/>
            </a:endParaRPr>
          </a:p>
          <a:p>
            <a:pPr marL="294005" indent="-281940">
              <a:lnSpc>
                <a:spcPct val="100000"/>
              </a:lnSpc>
              <a:spcBef>
                <a:spcPts val="795"/>
              </a:spcBef>
              <a:buFont typeface="Arial MT"/>
              <a:buChar char="•"/>
              <a:tabLst>
                <a:tab pos="294640" algn="l"/>
              </a:tabLst>
            </a:pPr>
            <a:r>
              <a:rPr sz="3200" spc="-5" dirty="0">
                <a:latin typeface="Calibri"/>
                <a:cs typeface="Calibri"/>
              </a:rPr>
              <a:t>Learning</a:t>
            </a:r>
            <a:r>
              <a:rPr sz="3200" spc="-45" dirty="0">
                <a:latin typeface="Calibri"/>
                <a:cs typeface="Calibri"/>
              </a:rPr>
              <a:t> </a:t>
            </a:r>
            <a:r>
              <a:rPr sz="3200" spc="-15" dirty="0">
                <a:latin typeface="Calibri"/>
                <a:cs typeface="Calibri"/>
              </a:rPr>
              <a:t>Agents</a:t>
            </a:r>
            <a:endParaRPr sz="3200">
              <a:latin typeface="Calibri"/>
              <a:cs typeface="Calibri"/>
            </a:endParaRPr>
          </a:p>
        </p:txBody>
      </p:sp>
    </p:spTree>
    <p:extLst>
      <p:ext uri="{BB962C8B-B14F-4D97-AF65-F5344CB8AC3E}">
        <p14:creationId xmlns:p14="http://schemas.microsoft.com/office/powerpoint/2010/main" val="132178592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40888" y="223847"/>
            <a:ext cx="4657725" cy="695960"/>
          </a:xfrm>
          <a:prstGeom prst="rect">
            <a:avLst/>
          </a:prstGeom>
        </p:spPr>
        <p:txBody>
          <a:bodyPr vert="horz" wrap="square" lIns="0" tIns="12700" rIns="0" bIns="0" rtlCol="0">
            <a:spAutoFit/>
          </a:bodyPr>
          <a:lstStyle/>
          <a:p>
            <a:pPr marL="12700">
              <a:lnSpc>
                <a:spcPct val="100000"/>
              </a:lnSpc>
              <a:spcBef>
                <a:spcPts val="100"/>
              </a:spcBef>
            </a:pPr>
            <a:r>
              <a:rPr spc="-70" dirty="0"/>
              <a:t>Table</a:t>
            </a:r>
            <a:r>
              <a:rPr spc="-35" dirty="0"/>
              <a:t> </a:t>
            </a:r>
            <a:r>
              <a:rPr spc="-15" dirty="0"/>
              <a:t>Driven</a:t>
            </a:r>
            <a:r>
              <a:rPr spc="-35" dirty="0"/>
              <a:t> </a:t>
            </a:r>
            <a:r>
              <a:rPr spc="-20" dirty="0"/>
              <a:t>Agents:</a:t>
            </a:r>
          </a:p>
        </p:txBody>
      </p:sp>
      <p:sp>
        <p:nvSpPr>
          <p:cNvPr id="3" name="object 3"/>
          <p:cNvSpPr txBox="1"/>
          <p:nvPr/>
        </p:nvSpPr>
        <p:spPr>
          <a:xfrm>
            <a:off x="591180" y="1075824"/>
            <a:ext cx="7738109" cy="3154680"/>
          </a:xfrm>
          <a:prstGeom prst="rect">
            <a:avLst/>
          </a:prstGeom>
        </p:spPr>
        <p:txBody>
          <a:bodyPr vert="horz" wrap="square" lIns="0" tIns="12700" rIns="0" bIns="0" rtlCol="0">
            <a:spAutoFit/>
          </a:bodyPr>
          <a:lstStyle/>
          <a:p>
            <a:pPr marL="294005" marR="478790" indent="-281940">
              <a:lnSpc>
                <a:spcPct val="100000"/>
              </a:lnSpc>
              <a:spcBef>
                <a:spcPts val="100"/>
              </a:spcBef>
              <a:buFont typeface="Arial MT"/>
              <a:buChar char="•"/>
              <a:tabLst>
                <a:tab pos="294640" algn="l"/>
              </a:tabLst>
            </a:pPr>
            <a:r>
              <a:rPr sz="3200" spc="-55" dirty="0">
                <a:latin typeface="Calibri"/>
                <a:cs typeface="Calibri"/>
              </a:rPr>
              <a:t>Table </a:t>
            </a:r>
            <a:r>
              <a:rPr sz="3200" spc="-5" dirty="0">
                <a:latin typeface="Calibri"/>
                <a:cs typeface="Calibri"/>
              </a:rPr>
              <a:t>based </a:t>
            </a:r>
            <a:r>
              <a:rPr sz="3200" spc="-15" dirty="0">
                <a:latin typeface="Calibri"/>
                <a:cs typeface="Calibri"/>
              </a:rPr>
              <a:t>information </a:t>
            </a:r>
            <a:r>
              <a:rPr sz="3200" dirty="0">
                <a:latin typeface="Calibri"/>
                <a:cs typeface="Calibri"/>
              </a:rPr>
              <a:t>about </a:t>
            </a:r>
            <a:r>
              <a:rPr sz="3200" spc="-10" dirty="0">
                <a:latin typeface="Calibri"/>
                <a:cs typeface="Calibri"/>
              </a:rPr>
              <a:t>the </a:t>
            </a:r>
            <a:r>
              <a:rPr sz="3200" spc="-25" dirty="0">
                <a:latin typeface="Calibri"/>
                <a:cs typeface="Calibri"/>
              </a:rPr>
              <a:t>agent’s </a:t>
            </a:r>
            <a:r>
              <a:rPr sz="3200" spc="-710" dirty="0">
                <a:latin typeface="Calibri"/>
                <a:cs typeface="Calibri"/>
              </a:rPr>
              <a:t> </a:t>
            </a:r>
            <a:r>
              <a:rPr sz="3200" spc="-15" dirty="0">
                <a:latin typeface="Calibri"/>
                <a:cs typeface="Calibri"/>
              </a:rPr>
              <a:t>percept.</a:t>
            </a:r>
            <a:endParaRPr sz="3200">
              <a:latin typeface="Calibri"/>
              <a:cs typeface="Calibri"/>
            </a:endParaRPr>
          </a:p>
          <a:p>
            <a:pPr marL="294005" marR="197485" indent="-281940">
              <a:lnSpc>
                <a:spcPct val="100000"/>
              </a:lnSpc>
              <a:spcBef>
                <a:spcPts val="795"/>
              </a:spcBef>
              <a:buFont typeface="Arial MT"/>
              <a:buChar char="•"/>
              <a:tabLst>
                <a:tab pos="294640" algn="l"/>
              </a:tabLst>
            </a:pPr>
            <a:r>
              <a:rPr sz="3200" spc="-10" dirty="0">
                <a:latin typeface="Calibri"/>
                <a:cs typeface="Calibri"/>
              </a:rPr>
              <a:t>Mapping can </a:t>
            </a:r>
            <a:r>
              <a:rPr sz="3200" spc="-5" dirty="0">
                <a:latin typeface="Calibri"/>
                <a:cs typeface="Calibri"/>
              </a:rPr>
              <a:t>be </a:t>
            </a:r>
            <a:r>
              <a:rPr sz="3200" spc="-15" dirty="0">
                <a:latin typeface="Calibri"/>
                <a:cs typeface="Calibri"/>
              </a:rPr>
              <a:t>implemented </a:t>
            </a:r>
            <a:r>
              <a:rPr sz="3200" spc="-10" dirty="0">
                <a:latin typeface="Calibri"/>
                <a:cs typeface="Calibri"/>
              </a:rPr>
              <a:t>by </a:t>
            </a:r>
            <a:r>
              <a:rPr sz="3200" spc="-5" dirty="0">
                <a:latin typeface="Calibri"/>
                <a:cs typeface="Calibri"/>
              </a:rPr>
              <a:t>rule based </a:t>
            </a:r>
            <a:r>
              <a:rPr sz="3200" spc="-710" dirty="0">
                <a:latin typeface="Calibri"/>
                <a:cs typeface="Calibri"/>
              </a:rPr>
              <a:t> </a:t>
            </a:r>
            <a:r>
              <a:rPr sz="3200" spc="-30" dirty="0">
                <a:latin typeface="Calibri"/>
                <a:cs typeface="Calibri"/>
              </a:rPr>
              <a:t>system,</a:t>
            </a:r>
            <a:r>
              <a:rPr sz="3200" spc="-10" dirty="0">
                <a:latin typeface="Calibri"/>
                <a:cs typeface="Calibri"/>
              </a:rPr>
              <a:t> </a:t>
            </a:r>
            <a:r>
              <a:rPr sz="3200" spc="-5" dirty="0">
                <a:latin typeface="Calibri"/>
                <a:cs typeface="Calibri"/>
              </a:rPr>
              <a:t>Nn </a:t>
            </a:r>
            <a:r>
              <a:rPr sz="3200" spc="-10" dirty="0">
                <a:latin typeface="Calibri"/>
                <a:cs typeface="Calibri"/>
              </a:rPr>
              <a:t>methods.</a:t>
            </a:r>
            <a:endParaRPr sz="3200">
              <a:latin typeface="Calibri"/>
              <a:cs typeface="Calibri"/>
            </a:endParaRPr>
          </a:p>
          <a:p>
            <a:pPr marL="294005" marR="5080" indent="-281940">
              <a:lnSpc>
                <a:spcPct val="100000"/>
              </a:lnSpc>
              <a:spcBef>
                <a:spcPts val="800"/>
              </a:spcBef>
              <a:buFont typeface="Arial MT"/>
              <a:buChar char="•"/>
              <a:tabLst>
                <a:tab pos="294640" algn="l"/>
              </a:tabLst>
            </a:pPr>
            <a:r>
              <a:rPr sz="3200" spc="-5" dirty="0">
                <a:latin typeface="Calibri"/>
                <a:cs typeface="Calibri"/>
              </a:rPr>
              <a:t>If </a:t>
            </a:r>
            <a:r>
              <a:rPr sz="3200" spc="-10" dirty="0">
                <a:latin typeface="Calibri"/>
                <a:cs typeface="Calibri"/>
              </a:rPr>
              <a:t>table becomes very </a:t>
            </a:r>
            <a:r>
              <a:rPr sz="3200" spc="-20" dirty="0">
                <a:latin typeface="Calibri"/>
                <a:cs typeface="Calibri"/>
              </a:rPr>
              <a:t>large </a:t>
            </a:r>
            <a:r>
              <a:rPr sz="3200" spc="-5" dirty="0">
                <a:latin typeface="Calibri"/>
                <a:cs typeface="Calibri"/>
              </a:rPr>
              <a:t>learning </a:t>
            </a:r>
            <a:r>
              <a:rPr sz="3200" spc="-10" dirty="0">
                <a:latin typeface="Calibri"/>
                <a:cs typeface="Calibri"/>
              </a:rPr>
              <a:t>the table </a:t>
            </a:r>
            <a:r>
              <a:rPr sz="3200" spc="-710" dirty="0">
                <a:latin typeface="Calibri"/>
                <a:cs typeface="Calibri"/>
              </a:rPr>
              <a:t> </a:t>
            </a:r>
            <a:r>
              <a:rPr sz="3200" spc="-25" dirty="0">
                <a:latin typeface="Calibri"/>
                <a:cs typeface="Calibri"/>
              </a:rPr>
              <a:t>may</a:t>
            </a:r>
            <a:r>
              <a:rPr sz="3200" spc="-10" dirty="0">
                <a:latin typeface="Calibri"/>
                <a:cs typeface="Calibri"/>
              </a:rPr>
              <a:t> </a:t>
            </a:r>
            <a:r>
              <a:rPr sz="3200" spc="-40" dirty="0">
                <a:latin typeface="Calibri"/>
                <a:cs typeface="Calibri"/>
              </a:rPr>
              <a:t>take</a:t>
            </a:r>
            <a:r>
              <a:rPr sz="3200" spc="-5" dirty="0">
                <a:latin typeface="Calibri"/>
                <a:cs typeface="Calibri"/>
              </a:rPr>
              <a:t> long time.</a:t>
            </a:r>
            <a:endParaRPr sz="3200">
              <a:latin typeface="Calibri"/>
              <a:cs typeface="Calibri"/>
            </a:endParaRPr>
          </a:p>
        </p:txBody>
      </p:sp>
    </p:spTree>
    <p:extLst>
      <p:ext uri="{BB962C8B-B14F-4D97-AF65-F5344CB8AC3E}">
        <p14:creationId xmlns:p14="http://schemas.microsoft.com/office/powerpoint/2010/main" val="19848857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4033" y="0"/>
            <a:ext cx="7207884" cy="1366520"/>
          </a:xfrm>
          <a:prstGeom prst="rect">
            <a:avLst/>
          </a:prstGeom>
        </p:spPr>
        <p:txBody>
          <a:bodyPr vert="horz" wrap="square" lIns="0" tIns="12700" rIns="0" bIns="0" rtlCol="0">
            <a:spAutoFit/>
          </a:bodyPr>
          <a:lstStyle/>
          <a:p>
            <a:pPr marL="2931795" marR="5080" indent="-2919730">
              <a:lnSpc>
                <a:spcPct val="100000"/>
              </a:lnSpc>
              <a:spcBef>
                <a:spcPts val="100"/>
              </a:spcBef>
            </a:pPr>
            <a:r>
              <a:rPr spc="-5" dirty="0"/>
              <a:t>Simple </a:t>
            </a:r>
            <a:r>
              <a:rPr spc="-35" dirty="0"/>
              <a:t>Reflex </a:t>
            </a:r>
            <a:r>
              <a:rPr spc="-20" dirty="0"/>
              <a:t>Agents </a:t>
            </a:r>
            <a:r>
              <a:rPr spc="-5" dirty="0"/>
              <a:t>or </a:t>
            </a:r>
            <a:r>
              <a:rPr spc="-30" dirty="0"/>
              <a:t>Percept </a:t>
            </a:r>
            <a:r>
              <a:rPr spc="-980" dirty="0"/>
              <a:t> </a:t>
            </a:r>
            <a:r>
              <a:rPr spc="-5" dirty="0"/>
              <a:t>based</a:t>
            </a:r>
          </a:p>
        </p:txBody>
      </p:sp>
      <p:sp>
        <p:nvSpPr>
          <p:cNvPr id="3" name="object 3"/>
          <p:cNvSpPr txBox="1"/>
          <p:nvPr/>
        </p:nvSpPr>
        <p:spPr>
          <a:xfrm>
            <a:off x="377585" y="4229100"/>
            <a:ext cx="7494905" cy="2158365"/>
          </a:xfrm>
          <a:prstGeom prst="rect">
            <a:avLst/>
          </a:prstGeom>
        </p:spPr>
        <p:txBody>
          <a:bodyPr vert="horz" wrap="square" lIns="0" tIns="12065" rIns="0" bIns="0" rtlCol="0">
            <a:spAutoFit/>
          </a:bodyPr>
          <a:lstStyle/>
          <a:p>
            <a:pPr marL="12700" marR="1891664">
              <a:lnSpc>
                <a:spcPct val="120800"/>
              </a:lnSpc>
              <a:spcBef>
                <a:spcPts val="95"/>
              </a:spcBef>
            </a:pPr>
            <a:r>
              <a:rPr sz="2400" spc="-15" dirty="0">
                <a:latin typeface="Calibri"/>
                <a:cs typeface="Calibri"/>
              </a:rPr>
              <a:t>Information</a:t>
            </a:r>
            <a:r>
              <a:rPr sz="2400" spc="-10" dirty="0">
                <a:latin typeface="Calibri"/>
                <a:cs typeface="Calibri"/>
              </a:rPr>
              <a:t> comes </a:t>
            </a:r>
            <a:r>
              <a:rPr sz="2400" spc="-15" dirty="0">
                <a:latin typeface="Calibri"/>
                <a:cs typeface="Calibri"/>
              </a:rPr>
              <a:t>from</a:t>
            </a:r>
            <a:r>
              <a:rPr sz="2400" spc="-5" dirty="0">
                <a:latin typeface="Calibri"/>
                <a:cs typeface="Calibri"/>
              </a:rPr>
              <a:t> </a:t>
            </a:r>
            <a:r>
              <a:rPr sz="2400" spc="-10" dirty="0">
                <a:latin typeface="Calibri"/>
                <a:cs typeface="Calibri"/>
              </a:rPr>
              <a:t>sensors-</a:t>
            </a:r>
            <a:r>
              <a:rPr sz="2400" b="1" spc="-10" dirty="0">
                <a:latin typeface="Calibri"/>
                <a:cs typeface="Calibri"/>
              </a:rPr>
              <a:t>Percepts </a:t>
            </a:r>
            <a:r>
              <a:rPr sz="2400" b="1" spc="-5" dirty="0">
                <a:latin typeface="Calibri"/>
                <a:cs typeface="Calibri"/>
              </a:rPr>
              <a:t> </a:t>
            </a:r>
            <a:r>
              <a:rPr sz="2400" spc="-10" dirty="0">
                <a:latin typeface="Calibri"/>
                <a:cs typeface="Calibri"/>
              </a:rPr>
              <a:t>Changes </a:t>
            </a:r>
            <a:r>
              <a:rPr sz="2400" spc="-5" dirty="0">
                <a:latin typeface="Calibri"/>
                <a:cs typeface="Calibri"/>
              </a:rPr>
              <a:t>the </a:t>
            </a:r>
            <a:r>
              <a:rPr sz="2400" spc="-10" dirty="0">
                <a:latin typeface="Calibri"/>
                <a:cs typeface="Calibri"/>
              </a:rPr>
              <a:t>agent </a:t>
            </a:r>
            <a:r>
              <a:rPr sz="2400" spc="-15" dirty="0">
                <a:latin typeface="Calibri"/>
                <a:cs typeface="Calibri"/>
              </a:rPr>
              <a:t>current</a:t>
            </a:r>
            <a:r>
              <a:rPr sz="2400" spc="35" dirty="0">
                <a:latin typeface="Calibri"/>
                <a:cs typeface="Calibri"/>
              </a:rPr>
              <a:t> </a:t>
            </a:r>
            <a:r>
              <a:rPr sz="2400" b="1" spc="-25" dirty="0">
                <a:latin typeface="Calibri"/>
                <a:cs typeface="Calibri"/>
              </a:rPr>
              <a:t>state</a:t>
            </a:r>
            <a:r>
              <a:rPr sz="2400" b="1" spc="-10" dirty="0">
                <a:latin typeface="Calibri"/>
                <a:cs typeface="Calibri"/>
              </a:rPr>
              <a:t> </a:t>
            </a:r>
            <a:r>
              <a:rPr sz="2400" b="1" spc="-5" dirty="0">
                <a:latin typeface="Calibri"/>
                <a:cs typeface="Calibri"/>
              </a:rPr>
              <a:t>of the </a:t>
            </a:r>
            <a:r>
              <a:rPr sz="2400" b="1" spc="-10" dirty="0">
                <a:latin typeface="Calibri"/>
                <a:cs typeface="Calibri"/>
              </a:rPr>
              <a:t>world </a:t>
            </a:r>
            <a:r>
              <a:rPr sz="2400" b="1" spc="-530" dirty="0">
                <a:latin typeface="Calibri"/>
                <a:cs typeface="Calibri"/>
              </a:rPr>
              <a:t> </a:t>
            </a:r>
            <a:r>
              <a:rPr sz="2400" b="1" spc="-25" dirty="0">
                <a:latin typeface="Calibri"/>
                <a:cs typeface="Calibri"/>
              </a:rPr>
              <a:t>Triggers</a:t>
            </a:r>
            <a:r>
              <a:rPr sz="2400" b="1" spc="-10" dirty="0">
                <a:latin typeface="Calibri"/>
                <a:cs typeface="Calibri"/>
              </a:rPr>
              <a:t> </a:t>
            </a:r>
            <a:r>
              <a:rPr sz="2400" b="1" spc="-5" dirty="0">
                <a:latin typeface="Calibri"/>
                <a:cs typeface="Calibri"/>
              </a:rPr>
              <a:t>actions </a:t>
            </a:r>
            <a:r>
              <a:rPr sz="2400" b="1" spc="-10" dirty="0">
                <a:latin typeface="Calibri"/>
                <a:cs typeface="Calibri"/>
              </a:rPr>
              <a:t>through</a:t>
            </a:r>
            <a:r>
              <a:rPr sz="2400" b="1" spc="-5" dirty="0">
                <a:latin typeface="Calibri"/>
                <a:cs typeface="Calibri"/>
              </a:rPr>
              <a:t> the</a:t>
            </a:r>
            <a:r>
              <a:rPr sz="2400" b="1" spc="-10" dirty="0">
                <a:latin typeface="Calibri"/>
                <a:cs typeface="Calibri"/>
              </a:rPr>
              <a:t> </a:t>
            </a:r>
            <a:r>
              <a:rPr sz="2400" b="1" spc="-20" dirty="0">
                <a:latin typeface="Calibri"/>
                <a:cs typeface="Calibri"/>
              </a:rPr>
              <a:t>effectors</a:t>
            </a:r>
            <a:endParaRPr sz="2400">
              <a:latin typeface="Calibri"/>
              <a:cs typeface="Calibri"/>
            </a:endParaRPr>
          </a:p>
          <a:p>
            <a:pPr marL="354965" marR="5080" indent="-342900">
              <a:lnSpc>
                <a:spcPct val="100000"/>
              </a:lnSpc>
              <a:spcBef>
                <a:spcPts val="600"/>
              </a:spcBef>
            </a:pPr>
            <a:r>
              <a:rPr sz="2400" b="1" spc="-5" dirty="0">
                <a:latin typeface="Calibri"/>
                <a:cs typeface="Calibri"/>
              </a:rPr>
              <a:t>No</a:t>
            </a:r>
            <a:r>
              <a:rPr sz="2400" b="1" dirty="0">
                <a:latin typeface="Calibri"/>
                <a:cs typeface="Calibri"/>
              </a:rPr>
              <a:t> </a:t>
            </a:r>
            <a:r>
              <a:rPr sz="2400" b="1" spc="-5" dirty="0">
                <a:latin typeface="Calibri"/>
                <a:cs typeface="Calibri"/>
              </a:rPr>
              <a:t>notion</a:t>
            </a:r>
            <a:r>
              <a:rPr sz="2400" b="1" spc="5" dirty="0">
                <a:latin typeface="Calibri"/>
                <a:cs typeface="Calibri"/>
              </a:rPr>
              <a:t> </a:t>
            </a:r>
            <a:r>
              <a:rPr sz="2400" b="1" spc="-5" dirty="0">
                <a:latin typeface="Calibri"/>
                <a:cs typeface="Calibri"/>
              </a:rPr>
              <a:t>of</a:t>
            </a:r>
            <a:r>
              <a:rPr sz="2400" b="1" dirty="0">
                <a:latin typeface="Calibri"/>
                <a:cs typeface="Calibri"/>
              </a:rPr>
              <a:t> </a:t>
            </a:r>
            <a:r>
              <a:rPr sz="2400" b="1" spc="-25" dirty="0">
                <a:latin typeface="Calibri"/>
                <a:cs typeface="Calibri"/>
              </a:rPr>
              <a:t>history,no</a:t>
            </a:r>
            <a:r>
              <a:rPr sz="2400" b="1" spc="5" dirty="0">
                <a:latin typeface="Calibri"/>
                <a:cs typeface="Calibri"/>
              </a:rPr>
              <a:t> </a:t>
            </a:r>
            <a:r>
              <a:rPr sz="2400" b="1" spc="-15" dirty="0">
                <a:latin typeface="Calibri"/>
                <a:cs typeface="Calibri"/>
              </a:rPr>
              <a:t>internal</a:t>
            </a:r>
            <a:r>
              <a:rPr sz="2400" b="1" dirty="0">
                <a:latin typeface="Calibri"/>
                <a:cs typeface="Calibri"/>
              </a:rPr>
              <a:t> </a:t>
            </a:r>
            <a:r>
              <a:rPr sz="2400" b="1" spc="-15" dirty="0">
                <a:latin typeface="Calibri"/>
                <a:cs typeface="Calibri"/>
              </a:rPr>
              <a:t>representation,no</a:t>
            </a:r>
            <a:r>
              <a:rPr sz="2400" b="1" spc="5" dirty="0">
                <a:latin typeface="Calibri"/>
                <a:cs typeface="Calibri"/>
              </a:rPr>
              <a:t> </a:t>
            </a:r>
            <a:r>
              <a:rPr sz="2400" b="1" spc="-20" dirty="0">
                <a:latin typeface="Calibri"/>
                <a:cs typeface="Calibri"/>
              </a:rPr>
              <a:t>strategic </a:t>
            </a:r>
            <a:r>
              <a:rPr sz="2400" b="1" spc="-525" dirty="0">
                <a:latin typeface="Calibri"/>
                <a:cs typeface="Calibri"/>
              </a:rPr>
              <a:t> </a:t>
            </a:r>
            <a:r>
              <a:rPr sz="2400" b="1" spc="-5" dirty="0">
                <a:latin typeface="Calibri"/>
                <a:cs typeface="Calibri"/>
              </a:rPr>
              <a:t>planning</a:t>
            </a:r>
            <a:endParaRPr sz="2400">
              <a:latin typeface="Calibri"/>
              <a:cs typeface="Calibri"/>
            </a:endParaRPr>
          </a:p>
        </p:txBody>
      </p:sp>
      <p:grpSp>
        <p:nvGrpSpPr>
          <p:cNvPr id="4" name="object 4"/>
          <p:cNvGrpSpPr/>
          <p:nvPr/>
        </p:nvGrpSpPr>
        <p:grpSpPr>
          <a:xfrm>
            <a:off x="596462" y="1587182"/>
            <a:ext cx="4369435" cy="2540635"/>
            <a:chOff x="596462" y="1587182"/>
            <a:chExt cx="4369435" cy="2540635"/>
          </a:xfrm>
        </p:grpSpPr>
        <p:sp>
          <p:nvSpPr>
            <p:cNvPr id="5" name="object 5"/>
            <p:cNvSpPr/>
            <p:nvPr/>
          </p:nvSpPr>
          <p:spPr>
            <a:xfrm>
              <a:off x="609479" y="1600199"/>
              <a:ext cx="4343400" cy="2514600"/>
            </a:xfrm>
            <a:custGeom>
              <a:avLst/>
              <a:gdLst/>
              <a:ahLst/>
              <a:cxnLst/>
              <a:rect l="l" t="t" r="r" b="b"/>
              <a:pathLst>
                <a:path w="4343400" h="2514600">
                  <a:moveTo>
                    <a:pt x="4343399" y="2514599"/>
                  </a:moveTo>
                  <a:lnTo>
                    <a:pt x="0" y="2514599"/>
                  </a:lnTo>
                  <a:lnTo>
                    <a:pt x="0" y="0"/>
                  </a:lnTo>
                  <a:lnTo>
                    <a:pt x="4343399" y="0"/>
                  </a:lnTo>
                  <a:lnTo>
                    <a:pt x="4343399" y="2514599"/>
                  </a:lnTo>
                  <a:close/>
                </a:path>
              </a:pathLst>
            </a:custGeom>
            <a:solidFill>
              <a:srgbClr val="4F81BD"/>
            </a:solidFill>
          </p:spPr>
          <p:txBody>
            <a:bodyPr wrap="square" lIns="0" tIns="0" rIns="0" bIns="0" rtlCol="0"/>
            <a:lstStyle/>
            <a:p>
              <a:endParaRPr/>
            </a:p>
          </p:txBody>
        </p:sp>
        <p:sp>
          <p:nvSpPr>
            <p:cNvPr id="6" name="object 6"/>
            <p:cNvSpPr/>
            <p:nvPr/>
          </p:nvSpPr>
          <p:spPr>
            <a:xfrm>
              <a:off x="609479" y="1600199"/>
              <a:ext cx="4343400" cy="2514600"/>
            </a:xfrm>
            <a:custGeom>
              <a:avLst/>
              <a:gdLst/>
              <a:ahLst/>
              <a:cxnLst/>
              <a:rect l="l" t="t" r="r" b="b"/>
              <a:pathLst>
                <a:path w="4343400" h="2514600">
                  <a:moveTo>
                    <a:pt x="0" y="0"/>
                  </a:moveTo>
                  <a:lnTo>
                    <a:pt x="4343399" y="0"/>
                  </a:lnTo>
                  <a:lnTo>
                    <a:pt x="4343399" y="2514599"/>
                  </a:lnTo>
                  <a:lnTo>
                    <a:pt x="0" y="2514599"/>
                  </a:lnTo>
                  <a:lnTo>
                    <a:pt x="0" y="0"/>
                  </a:lnTo>
                  <a:close/>
                </a:path>
              </a:pathLst>
            </a:custGeom>
            <a:ln w="25549">
              <a:solidFill>
                <a:srgbClr val="375D8A"/>
              </a:solidFill>
            </a:ln>
          </p:spPr>
          <p:txBody>
            <a:bodyPr wrap="square" lIns="0" tIns="0" rIns="0" bIns="0" rtlCol="0"/>
            <a:lstStyle/>
            <a:p>
              <a:endParaRPr/>
            </a:p>
          </p:txBody>
        </p:sp>
      </p:grpSp>
      <p:sp>
        <p:nvSpPr>
          <p:cNvPr id="7" name="object 7"/>
          <p:cNvSpPr txBox="1"/>
          <p:nvPr/>
        </p:nvSpPr>
        <p:spPr>
          <a:xfrm>
            <a:off x="3048119" y="2057400"/>
            <a:ext cx="1828800" cy="457200"/>
          </a:xfrm>
          <a:prstGeom prst="rect">
            <a:avLst/>
          </a:prstGeom>
          <a:solidFill>
            <a:srgbClr val="4F81BD"/>
          </a:solidFill>
          <a:ln w="25549">
            <a:solidFill>
              <a:srgbClr val="375D8A"/>
            </a:solidFill>
          </a:ln>
        </p:spPr>
        <p:txBody>
          <a:bodyPr vert="horz" wrap="square" lIns="0" tIns="8255" rIns="0" bIns="0" rtlCol="0">
            <a:spAutoFit/>
          </a:bodyPr>
          <a:lstStyle/>
          <a:p>
            <a:pPr marL="711200" marR="102235" indent="-603250">
              <a:lnSpc>
                <a:spcPct val="100000"/>
              </a:lnSpc>
              <a:spcBef>
                <a:spcPts val="65"/>
              </a:spcBef>
            </a:pPr>
            <a:r>
              <a:rPr sz="1400" b="1" spc="-10" dirty="0">
                <a:latin typeface="Calibri"/>
                <a:cs typeface="Calibri"/>
              </a:rPr>
              <a:t>What </a:t>
            </a:r>
            <a:r>
              <a:rPr sz="1400" b="1" spc="-5" dirty="0">
                <a:latin typeface="Calibri"/>
                <a:cs typeface="Calibri"/>
              </a:rPr>
              <a:t>the </a:t>
            </a:r>
            <a:r>
              <a:rPr sz="1400" b="1" spc="-10" dirty="0">
                <a:latin typeface="Calibri"/>
                <a:cs typeface="Calibri"/>
              </a:rPr>
              <a:t>world </a:t>
            </a:r>
            <a:r>
              <a:rPr sz="1400" b="1" spc="-5" dirty="0">
                <a:latin typeface="Calibri"/>
                <a:cs typeface="Calibri"/>
              </a:rPr>
              <a:t>is </a:t>
            </a:r>
            <a:r>
              <a:rPr sz="1400" b="1" spc="-15" dirty="0">
                <a:latin typeface="Calibri"/>
                <a:cs typeface="Calibri"/>
              </a:rPr>
              <a:t>like </a:t>
            </a:r>
            <a:r>
              <a:rPr sz="1400" b="1" spc="-305" dirty="0">
                <a:latin typeface="Calibri"/>
                <a:cs typeface="Calibri"/>
              </a:rPr>
              <a:t> </a:t>
            </a:r>
            <a:r>
              <a:rPr sz="1400" b="1" spc="-5" dirty="0">
                <a:latin typeface="Calibri"/>
                <a:cs typeface="Calibri"/>
              </a:rPr>
              <a:t>now?</a:t>
            </a:r>
            <a:endParaRPr sz="1400">
              <a:latin typeface="Calibri"/>
              <a:cs typeface="Calibri"/>
            </a:endParaRPr>
          </a:p>
        </p:txBody>
      </p:sp>
      <p:grpSp>
        <p:nvGrpSpPr>
          <p:cNvPr id="8" name="object 8"/>
          <p:cNvGrpSpPr/>
          <p:nvPr/>
        </p:nvGrpSpPr>
        <p:grpSpPr>
          <a:xfrm>
            <a:off x="3187382" y="2882462"/>
            <a:ext cx="1854835" cy="483234"/>
            <a:chOff x="3187382" y="2882462"/>
            <a:chExt cx="1854835" cy="483234"/>
          </a:xfrm>
        </p:grpSpPr>
        <p:sp>
          <p:nvSpPr>
            <p:cNvPr id="9" name="object 9"/>
            <p:cNvSpPr/>
            <p:nvPr/>
          </p:nvSpPr>
          <p:spPr>
            <a:xfrm>
              <a:off x="3200400" y="2895479"/>
              <a:ext cx="1828800" cy="457200"/>
            </a:xfrm>
            <a:custGeom>
              <a:avLst/>
              <a:gdLst/>
              <a:ahLst/>
              <a:cxnLst/>
              <a:rect l="l" t="t" r="r" b="b"/>
              <a:pathLst>
                <a:path w="1828800" h="457200">
                  <a:moveTo>
                    <a:pt x="1828799" y="457199"/>
                  </a:moveTo>
                  <a:lnTo>
                    <a:pt x="0" y="457199"/>
                  </a:lnTo>
                  <a:lnTo>
                    <a:pt x="0" y="0"/>
                  </a:lnTo>
                  <a:lnTo>
                    <a:pt x="1828799" y="0"/>
                  </a:lnTo>
                  <a:lnTo>
                    <a:pt x="1828799" y="457199"/>
                  </a:lnTo>
                  <a:close/>
                </a:path>
              </a:pathLst>
            </a:custGeom>
            <a:solidFill>
              <a:srgbClr val="4F81BD"/>
            </a:solidFill>
          </p:spPr>
          <p:txBody>
            <a:bodyPr wrap="square" lIns="0" tIns="0" rIns="0" bIns="0" rtlCol="0"/>
            <a:lstStyle/>
            <a:p>
              <a:endParaRPr/>
            </a:p>
          </p:txBody>
        </p:sp>
        <p:sp>
          <p:nvSpPr>
            <p:cNvPr id="10" name="object 10"/>
            <p:cNvSpPr/>
            <p:nvPr/>
          </p:nvSpPr>
          <p:spPr>
            <a:xfrm>
              <a:off x="3200400" y="2895479"/>
              <a:ext cx="1828800" cy="457200"/>
            </a:xfrm>
            <a:custGeom>
              <a:avLst/>
              <a:gdLst/>
              <a:ahLst/>
              <a:cxnLst/>
              <a:rect l="l" t="t" r="r" b="b"/>
              <a:pathLst>
                <a:path w="1828800" h="457200">
                  <a:moveTo>
                    <a:pt x="0" y="0"/>
                  </a:moveTo>
                  <a:lnTo>
                    <a:pt x="1828799" y="0"/>
                  </a:lnTo>
                  <a:lnTo>
                    <a:pt x="1828799" y="457199"/>
                  </a:lnTo>
                  <a:lnTo>
                    <a:pt x="0" y="457199"/>
                  </a:lnTo>
                  <a:lnTo>
                    <a:pt x="0" y="0"/>
                  </a:lnTo>
                  <a:close/>
                </a:path>
              </a:pathLst>
            </a:custGeom>
            <a:ln w="25549">
              <a:solidFill>
                <a:srgbClr val="375D8A"/>
              </a:solidFill>
            </a:ln>
          </p:spPr>
          <p:txBody>
            <a:bodyPr wrap="square" lIns="0" tIns="0" rIns="0" bIns="0" rtlCol="0"/>
            <a:lstStyle/>
            <a:p>
              <a:endParaRPr/>
            </a:p>
          </p:txBody>
        </p:sp>
      </p:grpSp>
      <p:sp>
        <p:nvSpPr>
          <p:cNvPr id="11" name="object 11"/>
          <p:cNvSpPr txBox="1"/>
          <p:nvPr/>
        </p:nvSpPr>
        <p:spPr>
          <a:xfrm>
            <a:off x="3200400" y="2895480"/>
            <a:ext cx="1752600" cy="457200"/>
          </a:xfrm>
          <a:prstGeom prst="rect">
            <a:avLst/>
          </a:prstGeom>
          <a:solidFill>
            <a:srgbClr val="4F81BD"/>
          </a:solidFill>
          <a:ln w="25549">
            <a:solidFill>
              <a:srgbClr val="375D8A"/>
            </a:solidFill>
          </a:ln>
        </p:spPr>
        <p:txBody>
          <a:bodyPr vert="horz" wrap="square" lIns="0" tIns="71755" rIns="0" bIns="0" rtlCol="0">
            <a:spAutoFit/>
          </a:bodyPr>
          <a:lstStyle/>
          <a:p>
            <a:pPr marL="595630" marR="69850" indent="-445134">
              <a:lnSpc>
                <a:spcPct val="100000"/>
              </a:lnSpc>
              <a:spcBef>
                <a:spcPts val="565"/>
              </a:spcBef>
            </a:pPr>
            <a:r>
              <a:rPr sz="1400" b="1" spc="-10" dirty="0">
                <a:latin typeface="Calibri"/>
                <a:cs typeface="Calibri"/>
              </a:rPr>
              <a:t>What</a:t>
            </a:r>
            <a:r>
              <a:rPr sz="1400" b="1" spc="-30" dirty="0">
                <a:latin typeface="Calibri"/>
                <a:cs typeface="Calibri"/>
              </a:rPr>
              <a:t> </a:t>
            </a:r>
            <a:r>
              <a:rPr sz="1400" b="1" spc="-5" dirty="0">
                <a:latin typeface="Calibri"/>
                <a:cs typeface="Calibri"/>
              </a:rPr>
              <a:t>action</a:t>
            </a:r>
            <a:r>
              <a:rPr sz="1400" b="1" spc="-30" dirty="0">
                <a:latin typeface="Calibri"/>
                <a:cs typeface="Calibri"/>
              </a:rPr>
              <a:t> </a:t>
            </a:r>
            <a:r>
              <a:rPr sz="1400" b="1" spc="-5" dirty="0">
                <a:latin typeface="Calibri"/>
                <a:cs typeface="Calibri"/>
              </a:rPr>
              <a:t>should</a:t>
            </a:r>
            <a:r>
              <a:rPr sz="1400" b="1" spc="-25" dirty="0">
                <a:latin typeface="Calibri"/>
                <a:cs typeface="Calibri"/>
              </a:rPr>
              <a:t> </a:t>
            </a:r>
            <a:r>
              <a:rPr sz="1400" b="1" dirty="0">
                <a:latin typeface="Calibri"/>
                <a:cs typeface="Calibri"/>
              </a:rPr>
              <a:t>I </a:t>
            </a:r>
            <a:r>
              <a:rPr sz="1400" b="1" spc="-305" dirty="0">
                <a:latin typeface="Calibri"/>
                <a:cs typeface="Calibri"/>
              </a:rPr>
              <a:t> </a:t>
            </a:r>
            <a:r>
              <a:rPr sz="1400" b="1" spc="-5" dirty="0">
                <a:latin typeface="Calibri"/>
                <a:cs typeface="Calibri"/>
              </a:rPr>
              <a:t>do</a:t>
            </a:r>
            <a:r>
              <a:rPr sz="1400" b="1" spc="-15" dirty="0">
                <a:latin typeface="Calibri"/>
                <a:cs typeface="Calibri"/>
              </a:rPr>
              <a:t> </a:t>
            </a:r>
            <a:r>
              <a:rPr sz="1400" b="1" spc="-5" dirty="0">
                <a:latin typeface="Calibri"/>
                <a:cs typeface="Calibri"/>
              </a:rPr>
              <a:t>now?</a:t>
            </a:r>
            <a:endParaRPr sz="1400">
              <a:latin typeface="Calibri"/>
              <a:cs typeface="Calibri"/>
            </a:endParaRPr>
          </a:p>
        </p:txBody>
      </p:sp>
      <p:grpSp>
        <p:nvGrpSpPr>
          <p:cNvPr id="12" name="object 12"/>
          <p:cNvGrpSpPr/>
          <p:nvPr/>
        </p:nvGrpSpPr>
        <p:grpSpPr>
          <a:xfrm>
            <a:off x="3796862" y="2501582"/>
            <a:ext cx="71755" cy="407034"/>
            <a:chOff x="3796862" y="2501582"/>
            <a:chExt cx="71755" cy="407034"/>
          </a:xfrm>
        </p:grpSpPr>
        <p:sp>
          <p:nvSpPr>
            <p:cNvPr id="13" name="object 13"/>
            <p:cNvSpPr/>
            <p:nvPr/>
          </p:nvSpPr>
          <p:spPr>
            <a:xfrm>
              <a:off x="3809879" y="2514600"/>
              <a:ext cx="45720" cy="381000"/>
            </a:xfrm>
            <a:custGeom>
              <a:avLst/>
              <a:gdLst/>
              <a:ahLst/>
              <a:cxnLst/>
              <a:rect l="l" t="t" r="r" b="b"/>
              <a:pathLst>
                <a:path w="45720" h="381000">
                  <a:moveTo>
                    <a:pt x="22685" y="380520"/>
                  </a:moveTo>
                  <a:lnTo>
                    <a:pt x="0" y="357524"/>
                  </a:lnTo>
                  <a:lnTo>
                    <a:pt x="11342" y="357524"/>
                  </a:lnTo>
                  <a:lnTo>
                    <a:pt x="11342" y="0"/>
                  </a:lnTo>
                  <a:lnTo>
                    <a:pt x="34028" y="0"/>
                  </a:lnTo>
                  <a:lnTo>
                    <a:pt x="34028" y="357524"/>
                  </a:lnTo>
                  <a:lnTo>
                    <a:pt x="45725" y="357524"/>
                  </a:lnTo>
                  <a:lnTo>
                    <a:pt x="22685" y="380520"/>
                  </a:lnTo>
                  <a:close/>
                </a:path>
              </a:pathLst>
            </a:custGeom>
            <a:solidFill>
              <a:srgbClr val="000000"/>
            </a:solidFill>
          </p:spPr>
          <p:txBody>
            <a:bodyPr wrap="square" lIns="0" tIns="0" rIns="0" bIns="0" rtlCol="0"/>
            <a:lstStyle/>
            <a:p>
              <a:endParaRPr/>
            </a:p>
          </p:txBody>
        </p:sp>
        <p:sp>
          <p:nvSpPr>
            <p:cNvPr id="14" name="object 14"/>
            <p:cNvSpPr/>
            <p:nvPr/>
          </p:nvSpPr>
          <p:spPr>
            <a:xfrm>
              <a:off x="3809879" y="2514600"/>
              <a:ext cx="45720" cy="381000"/>
            </a:xfrm>
            <a:custGeom>
              <a:avLst/>
              <a:gdLst/>
              <a:ahLst/>
              <a:cxnLst/>
              <a:rect l="l" t="t" r="r" b="b"/>
              <a:pathLst>
                <a:path w="45720" h="381000">
                  <a:moveTo>
                    <a:pt x="11342" y="0"/>
                  </a:moveTo>
                  <a:lnTo>
                    <a:pt x="11342" y="357524"/>
                  </a:lnTo>
                  <a:lnTo>
                    <a:pt x="0" y="357524"/>
                  </a:lnTo>
                  <a:lnTo>
                    <a:pt x="22685" y="380520"/>
                  </a:lnTo>
                  <a:lnTo>
                    <a:pt x="45725" y="357524"/>
                  </a:lnTo>
                  <a:lnTo>
                    <a:pt x="34028" y="357524"/>
                  </a:lnTo>
                  <a:lnTo>
                    <a:pt x="34028" y="0"/>
                  </a:lnTo>
                  <a:lnTo>
                    <a:pt x="11342" y="0"/>
                  </a:lnTo>
                </a:path>
              </a:pathLst>
            </a:custGeom>
            <a:ln w="25549">
              <a:solidFill>
                <a:srgbClr val="000000"/>
              </a:solidFill>
            </a:ln>
          </p:spPr>
          <p:txBody>
            <a:bodyPr wrap="square" lIns="0" tIns="0" rIns="0" bIns="0" rtlCol="0"/>
            <a:lstStyle/>
            <a:p>
              <a:endParaRPr/>
            </a:p>
          </p:txBody>
        </p:sp>
      </p:grpSp>
      <p:sp>
        <p:nvSpPr>
          <p:cNvPr id="15" name="object 15"/>
          <p:cNvSpPr txBox="1"/>
          <p:nvPr/>
        </p:nvSpPr>
        <p:spPr>
          <a:xfrm>
            <a:off x="685800" y="2895480"/>
            <a:ext cx="1828800" cy="457200"/>
          </a:xfrm>
          <a:prstGeom prst="rect">
            <a:avLst/>
          </a:prstGeom>
          <a:solidFill>
            <a:srgbClr val="4F81BD"/>
          </a:solidFill>
          <a:ln w="25549">
            <a:solidFill>
              <a:srgbClr val="375D8A"/>
            </a:solidFill>
          </a:ln>
        </p:spPr>
        <p:txBody>
          <a:bodyPr vert="horz" wrap="square" lIns="0" tIns="8255" rIns="0" bIns="0" rtlCol="0">
            <a:spAutoFit/>
          </a:bodyPr>
          <a:lstStyle/>
          <a:p>
            <a:pPr marL="732790" marR="263525" indent="-463550">
              <a:lnSpc>
                <a:spcPct val="100000"/>
              </a:lnSpc>
              <a:spcBef>
                <a:spcPts val="65"/>
              </a:spcBef>
            </a:pPr>
            <a:r>
              <a:rPr sz="1400" b="1" spc="-5" dirty="0">
                <a:latin typeface="Calibri"/>
                <a:cs typeface="Calibri"/>
              </a:rPr>
              <a:t>Condition</a:t>
            </a:r>
            <a:r>
              <a:rPr sz="1400" b="1" dirty="0">
                <a:latin typeface="Calibri"/>
                <a:cs typeface="Calibri"/>
              </a:rPr>
              <a:t>s</a:t>
            </a:r>
            <a:r>
              <a:rPr sz="1400" b="1" spc="-5" dirty="0">
                <a:latin typeface="Calibri"/>
                <a:cs typeface="Calibri"/>
              </a:rPr>
              <a:t> action  rules</a:t>
            </a:r>
            <a:endParaRPr sz="1400">
              <a:latin typeface="Calibri"/>
              <a:cs typeface="Calibri"/>
            </a:endParaRPr>
          </a:p>
        </p:txBody>
      </p:sp>
      <p:grpSp>
        <p:nvGrpSpPr>
          <p:cNvPr id="16" name="object 16"/>
          <p:cNvGrpSpPr/>
          <p:nvPr/>
        </p:nvGrpSpPr>
        <p:grpSpPr>
          <a:xfrm>
            <a:off x="2501582" y="1663502"/>
            <a:ext cx="1291590" cy="1443355"/>
            <a:chOff x="2501582" y="1663502"/>
            <a:chExt cx="1291590" cy="1443355"/>
          </a:xfrm>
        </p:grpSpPr>
        <p:sp>
          <p:nvSpPr>
            <p:cNvPr id="17" name="object 17"/>
            <p:cNvSpPr/>
            <p:nvPr/>
          </p:nvSpPr>
          <p:spPr>
            <a:xfrm>
              <a:off x="2514600" y="3048120"/>
              <a:ext cx="685800" cy="45720"/>
            </a:xfrm>
            <a:custGeom>
              <a:avLst/>
              <a:gdLst/>
              <a:ahLst/>
              <a:cxnLst/>
              <a:rect l="l" t="t" r="r" b="b"/>
              <a:pathLst>
                <a:path w="685800" h="45719">
                  <a:moveTo>
                    <a:pt x="662424" y="45725"/>
                  </a:moveTo>
                  <a:lnTo>
                    <a:pt x="662424" y="34028"/>
                  </a:lnTo>
                  <a:lnTo>
                    <a:pt x="0" y="34028"/>
                  </a:lnTo>
                  <a:lnTo>
                    <a:pt x="0" y="11342"/>
                  </a:lnTo>
                  <a:lnTo>
                    <a:pt x="662424" y="11342"/>
                  </a:lnTo>
                  <a:lnTo>
                    <a:pt x="662424" y="0"/>
                  </a:lnTo>
                  <a:lnTo>
                    <a:pt x="685440" y="22685"/>
                  </a:lnTo>
                  <a:lnTo>
                    <a:pt x="662424" y="45725"/>
                  </a:lnTo>
                  <a:close/>
                </a:path>
              </a:pathLst>
            </a:custGeom>
            <a:solidFill>
              <a:srgbClr val="4F81BD"/>
            </a:solidFill>
          </p:spPr>
          <p:txBody>
            <a:bodyPr wrap="square" lIns="0" tIns="0" rIns="0" bIns="0" rtlCol="0"/>
            <a:lstStyle/>
            <a:p>
              <a:endParaRPr/>
            </a:p>
          </p:txBody>
        </p:sp>
        <p:sp>
          <p:nvSpPr>
            <p:cNvPr id="18" name="object 18"/>
            <p:cNvSpPr/>
            <p:nvPr/>
          </p:nvSpPr>
          <p:spPr>
            <a:xfrm>
              <a:off x="2514600" y="3048120"/>
              <a:ext cx="685800" cy="45720"/>
            </a:xfrm>
            <a:custGeom>
              <a:avLst/>
              <a:gdLst/>
              <a:ahLst/>
              <a:cxnLst/>
              <a:rect l="l" t="t" r="r" b="b"/>
              <a:pathLst>
                <a:path w="685800" h="45719">
                  <a:moveTo>
                    <a:pt x="0" y="11342"/>
                  </a:moveTo>
                  <a:lnTo>
                    <a:pt x="662424" y="11342"/>
                  </a:lnTo>
                  <a:lnTo>
                    <a:pt x="662424" y="0"/>
                  </a:lnTo>
                  <a:lnTo>
                    <a:pt x="685440" y="22685"/>
                  </a:lnTo>
                  <a:lnTo>
                    <a:pt x="662424" y="45725"/>
                  </a:lnTo>
                  <a:lnTo>
                    <a:pt x="662424" y="34028"/>
                  </a:lnTo>
                  <a:lnTo>
                    <a:pt x="0" y="34028"/>
                  </a:lnTo>
                  <a:lnTo>
                    <a:pt x="0" y="11342"/>
                  </a:lnTo>
                </a:path>
              </a:pathLst>
            </a:custGeom>
            <a:ln w="25549">
              <a:solidFill>
                <a:srgbClr val="000000"/>
              </a:solidFill>
            </a:ln>
          </p:spPr>
          <p:txBody>
            <a:bodyPr wrap="square" lIns="0" tIns="0" rIns="0" bIns="0" rtlCol="0"/>
            <a:lstStyle/>
            <a:p>
              <a:endParaRPr/>
            </a:p>
          </p:txBody>
        </p:sp>
        <p:sp>
          <p:nvSpPr>
            <p:cNvPr id="19" name="object 19"/>
            <p:cNvSpPr/>
            <p:nvPr/>
          </p:nvSpPr>
          <p:spPr>
            <a:xfrm>
              <a:off x="3733920" y="1676520"/>
              <a:ext cx="45720" cy="381000"/>
            </a:xfrm>
            <a:custGeom>
              <a:avLst/>
              <a:gdLst/>
              <a:ahLst/>
              <a:cxnLst/>
              <a:rect l="l" t="t" r="r" b="b"/>
              <a:pathLst>
                <a:path w="45720" h="381000">
                  <a:moveTo>
                    <a:pt x="22685" y="380520"/>
                  </a:moveTo>
                  <a:lnTo>
                    <a:pt x="0" y="357524"/>
                  </a:lnTo>
                  <a:lnTo>
                    <a:pt x="11342" y="357524"/>
                  </a:lnTo>
                  <a:lnTo>
                    <a:pt x="11342" y="0"/>
                  </a:lnTo>
                  <a:lnTo>
                    <a:pt x="34028" y="0"/>
                  </a:lnTo>
                  <a:lnTo>
                    <a:pt x="34028" y="357524"/>
                  </a:lnTo>
                  <a:lnTo>
                    <a:pt x="45725" y="357524"/>
                  </a:lnTo>
                  <a:lnTo>
                    <a:pt x="22685" y="380520"/>
                  </a:lnTo>
                  <a:close/>
                </a:path>
              </a:pathLst>
            </a:custGeom>
            <a:solidFill>
              <a:srgbClr val="000000"/>
            </a:solidFill>
          </p:spPr>
          <p:txBody>
            <a:bodyPr wrap="square" lIns="0" tIns="0" rIns="0" bIns="0" rtlCol="0"/>
            <a:lstStyle/>
            <a:p>
              <a:endParaRPr/>
            </a:p>
          </p:txBody>
        </p:sp>
        <p:sp>
          <p:nvSpPr>
            <p:cNvPr id="20" name="object 20"/>
            <p:cNvSpPr/>
            <p:nvPr/>
          </p:nvSpPr>
          <p:spPr>
            <a:xfrm>
              <a:off x="3733920" y="1676520"/>
              <a:ext cx="45720" cy="381000"/>
            </a:xfrm>
            <a:custGeom>
              <a:avLst/>
              <a:gdLst/>
              <a:ahLst/>
              <a:cxnLst/>
              <a:rect l="l" t="t" r="r" b="b"/>
              <a:pathLst>
                <a:path w="45720" h="381000">
                  <a:moveTo>
                    <a:pt x="11342" y="0"/>
                  </a:moveTo>
                  <a:lnTo>
                    <a:pt x="11342" y="357524"/>
                  </a:lnTo>
                  <a:lnTo>
                    <a:pt x="0" y="357524"/>
                  </a:lnTo>
                  <a:lnTo>
                    <a:pt x="22685" y="380520"/>
                  </a:lnTo>
                  <a:lnTo>
                    <a:pt x="45725" y="357524"/>
                  </a:lnTo>
                  <a:lnTo>
                    <a:pt x="34028" y="357524"/>
                  </a:lnTo>
                  <a:lnTo>
                    <a:pt x="34028" y="0"/>
                  </a:lnTo>
                  <a:lnTo>
                    <a:pt x="11342" y="0"/>
                  </a:lnTo>
                </a:path>
              </a:pathLst>
            </a:custGeom>
            <a:ln w="25549">
              <a:solidFill>
                <a:srgbClr val="000000"/>
              </a:solidFill>
            </a:ln>
          </p:spPr>
          <p:txBody>
            <a:bodyPr wrap="square" lIns="0" tIns="0" rIns="0" bIns="0" rtlCol="0"/>
            <a:lstStyle/>
            <a:p>
              <a:endParaRPr/>
            </a:p>
          </p:txBody>
        </p:sp>
      </p:grpSp>
      <p:sp>
        <p:nvSpPr>
          <p:cNvPr id="21" name="object 21"/>
          <p:cNvSpPr txBox="1"/>
          <p:nvPr/>
        </p:nvSpPr>
        <p:spPr>
          <a:xfrm>
            <a:off x="3959225" y="1695824"/>
            <a:ext cx="5251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Sensors</a:t>
            </a:r>
            <a:endParaRPr sz="1200">
              <a:latin typeface="Times New Roman"/>
              <a:cs typeface="Times New Roman"/>
            </a:endParaRPr>
          </a:p>
        </p:txBody>
      </p:sp>
      <p:sp>
        <p:nvSpPr>
          <p:cNvPr id="22" name="object 22"/>
          <p:cNvSpPr txBox="1"/>
          <p:nvPr/>
        </p:nvSpPr>
        <p:spPr>
          <a:xfrm>
            <a:off x="6019920" y="1371600"/>
            <a:ext cx="266700" cy="2971800"/>
          </a:xfrm>
          <a:prstGeom prst="rect">
            <a:avLst/>
          </a:prstGeom>
          <a:solidFill>
            <a:srgbClr val="4F81BD"/>
          </a:solidFill>
          <a:ln w="25549">
            <a:solidFill>
              <a:srgbClr val="375D8A"/>
            </a:solidFill>
          </a:ln>
        </p:spPr>
        <p:txBody>
          <a:bodyPr vert="horz" wrap="square" lIns="0" tIns="136525" rIns="0" bIns="0" rtlCol="0">
            <a:spAutoFit/>
          </a:bodyPr>
          <a:lstStyle/>
          <a:p>
            <a:pPr marL="85725" marR="21590">
              <a:lnSpc>
                <a:spcPct val="100000"/>
              </a:lnSpc>
              <a:spcBef>
                <a:spcPts val="1075"/>
              </a:spcBef>
            </a:pPr>
            <a:r>
              <a:rPr sz="1600" b="1" dirty="0">
                <a:latin typeface="Calibri"/>
                <a:cs typeface="Calibri"/>
              </a:rPr>
              <a:t>E</a:t>
            </a:r>
            <a:endParaRPr sz="1600">
              <a:latin typeface="Calibri"/>
              <a:cs typeface="Calibri"/>
            </a:endParaRPr>
          </a:p>
          <a:p>
            <a:pPr marL="85725">
              <a:lnSpc>
                <a:spcPct val="100000"/>
              </a:lnSpc>
            </a:pPr>
            <a:r>
              <a:rPr sz="1600" b="1" dirty="0">
                <a:latin typeface="Calibri"/>
                <a:cs typeface="Calibri"/>
              </a:rPr>
              <a:t>n </a:t>
            </a:r>
            <a:r>
              <a:rPr sz="1600" b="1" spc="5" dirty="0">
                <a:latin typeface="Calibri"/>
                <a:cs typeface="Calibri"/>
              </a:rPr>
              <a:t> </a:t>
            </a:r>
            <a:r>
              <a:rPr sz="1600" b="1" dirty="0">
                <a:latin typeface="Calibri"/>
                <a:cs typeface="Calibri"/>
              </a:rPr>
              <a:t>v </a:t>
            </a:r>
            <a:r>
              <a:rPr sz="1600" b="1" spc="5" dirty="0">
                <a:latin typeface="Calibri"/>
                <a:cs typeface="Calibri"/>
              </a:rPr>
              <a:t> </a:t>
            </a:r>
            <a:r>
              <a:rPr sz="1600" b="1" dirty="0">
                <a:latin typeface="Calibri"/>
                <a:cs typeface="Calibri"/>
              </a:rPr>
              <a:t>i </a:t>
            </a:r>
            <a:r>
              <a:rPr sz="1600" b="1" spc="5" dirty="0">
                <a:latin typeface="Calibri"/>
                <a:cs typeface="Calibri"/>
              </a:rPr>
              <a:t> </a:t>
            </a:r>
            <a:r>
              <a:rPr sz="1600" b="1" dirty="0">
                <a:latin typeface="Calibri"/>
                <a:cs typeface="Calibri"/>
              </a:rPr>
              <a:t>o </a:t>
            </a:r>
            <a:r>
              <a:rPr sz="1600" b="1" spc="5" dirty="0">
                <a:latin typeface="Calibri"/>
                <a:cs typeface="Calibri"/>
              </a:rPr>
              <a:t> </a:t>
            </a:r>
            <a:r>
              <a:rPr sz="1600" b="1" dirty="0">
                <a:latin typeface="Calibri"/>
                <a:cs typeface="Calibri"/>
              </a:rPr>
              <a:t>r </a:t>
            </a:r>
            <a:r>
              <a:rPr sz="1600" b="1" spc="5" dirty="0">
                <a:latin typeface="Calibri"/>
                <a:cs typeface="Calibri"/>
              </a:rPr>
              <a:t> </a:t>
            </a:r>
            <a:r>
              <a:rPr sz="1600" b="1" dirty="0">
                <a:latin typeface="Calibri"/>
                <a:cs typeface="Calibri"/>
              </a:rPr>
              <a:t>n </a:t>
            </a:r>
            <a:r>
              <a:rPr sz="1600" b="1" spc="5" dirty="0">
                <a:latin typeface="Calibri"/>
                <a:cs typeface="Calibri"/>
              </a:rPr>
              <a:t> </a:t>
            </a:r>
            <a:r>
              <a:rPr sz="1600" b="1" dirty="0">
                <a:latin typeface="Calibri"/>
                <a:cs typeface="Calibri"/>
              </a:rPr>
              <a:t>m  e </a:t>
            </a:r>
            <a:r>
              <a:rPr sz="1600" b="1" spc="5" dirty="0">
                <a:latin typeface="Calibri"/>
                <a:cs typeface="Calibri"/>
              </a:rPr>
              <a:t> </a:t>
            </a:r>
            <a:r>
              <a:rPr sz="1600" b="1" dirty="0">
                <a:latin typeface="Calibri"/>
                <a:cs typeface="Calibri"/>
              </a:rPr>
              <a:t>n </a:t>
            </a:r>
            <a:r>
              <a:rPr sz="1600" b="1" spc="5" dirty="0">
                <a:latin typeface="Calibri"/>
                <a:cs typeface="Calibri"/>
              </a:rPr>
              <a:t> </a:t>
            </a:r>
            <a:r>
              <a:rPr sz="1600" b="1" dirty="0">
                <a:latin typeface="Calibri"/>
                <a:cs typeface="Calibri"/>
              </a:rPr>
              <a:t>t</a:t>
            </a:r>
            <a:endParaRPr sz="1600">
              <a:latin typeface="Calibri"/>
              <a:cs typeface="Calibri"/>
            </a:endParaRPr>
          </a:p>
        </p:txBody>
      </p:sp>
      <p:grpSp>
        <p:nvGrpSpPr>
          <p:cNvPr id="23" name="object 23"/>
          <p:cNvGrpSpPr/>
          <p:nvPr/>
        </p:nvGrpSpPr>
        <p:grpSpPr>
          <a:xfrm>
            <a:off x="3845154" y="1710508"/>
            <a:ext cx="2187575" cy="2067560"/>
            <a:chOff x="3845154" y="1710508"/>
            <a:chExt cx="2187575" cy="2067560"/>
          </a:xfrm>
        </p:grpSpPr>
        <p:sp>
          <p:nvSpPr>
            <p:cNvPr id="24" name="object 24"/>
            <p:cNvSpPr/>
            <p:nvPr/>
          </p:nvSpPr>
          <p:spPr>
            <a:xfrm>
              <a:off x="4963761" y="1751952"/>
              <a:ext cx="1056640" cy="2540"/>
            </a:xfrm>
            <a:custGeom>
              <a:avLst/>
              <a:gdLst/>
              <a:ahLst/>
              <a:cxnLst/>
              <a:rect l="l" t="t" r="r" b="b"/>
              <a:pathLst>
                <a:path w="1056639" h="2539">
                  <a:moveTo>
                    <a:pt x="1056158" y="2326"/>
                  </a:moveTo>
                  <a:lnTo>
                    <a:pt x="0" y="0"/>
                  </a:lnTo>
                </a:path>
              </a:pathLst>
            </a:custGeom>
            <a:ln w="25549">
              <a:solidFill>
                <a:srgbClr val="000000"/>
              </a:solidFill>
            </a:ln>
          </p:spPr>
          <p:txBody>
            <a:bodyPr wrap="square" lIns="0" tIns="0" rIns="0" bIns="0" rtlCol="0"/>
            <a:lstStyle/>
            <a:p>
              <a:endParaRPr/>
            </a:p>
          </p:txBody>
        </p:sp>
        <p:pic>
          <p:nvPicPr>
            <p:cNvPr id="25" name="object 25"/>
            <p:cNvPicPr/>
            <p:nvPr/>
          </p:nvPicPr>
          <p:blipFill>
            <a:blip r:embed="rId2" cstate="print"/>
            <a:stretch>
              <a:fillRect/>
            </a:stretch>
          </p:blipFill>
          <p:spPr>
            <a:xfrm>
              <a:off x="4900776" y="1710508"/>
              <a:ext cx="104556" cy="83015"/>
            </a:xfrm>
            <a:prstGeom prst="rect">
              <a:avLst/>
            </a:prstGeom>
          </p:spPr>
        </p:pic>
        <p:pic>
          <p:nvPicPr>
            <p:cNvPr id="26" name="object 26"/>
            <p:cNvPicPr/>
            <p:nvPr/>
          </p:nvPicPr>
          <p:blipFill>
            <a:blip r:embed="rId3" cstate="print"/>
            <a:stretch>
              <a:fillRect/>
            </a:stretch>
          </p:blipFill>
          <p:spPr>
            <a:xfrm>
              <a:off x="3845154" y="3339544"/>
              <a:ext cx="83014" cy="293839"/>
            </a:xfrm>
            <a:prstGeom prst="rect">
              <a:avLst/>
            </a:prstGeom>
          </p:spPr>
        </p:pic>
        <p:sp>
          <p:nvSpPr>
            <p:cNvPr id="27" name="object 27"/>
            <p:cNvSpPr/>
            <p:nvPr/>
          </p:nvSpPr>
          <p:spPr>
            <a:xfrm>
              <a:off x="4038479" y="3733919"/>
              <a:ext cx="1894839" cy="2540"/>
            </a:xfrm>
            <a:custGeom>
              <a:avLst/>
              <a:gdLst/>
              <a:ahLst/>
              <a:cxnLst/>
              <a:rect l="l" t="t" r="r" b="b"/>
              <a:pathLst>
                <a:path w="1894839" h="2539">
                  <a:moveTo>
                    <a:pt x="0" y="0"/>
                  </a:moveTo>
                  <a:lnTo>
                    <a:pt x="1894597" y="2064"/>
                  </a:lnTo>
                </a:path>
              </a:pathLst>
            </a:custGeom>
            <a:ln w="25549">
              <a:solidFill>
                <a:srgbClr val="000000"/>
              </a:solidFill>
            </a:ln>
          </p:spPr>
          <p:txBody>
            <a:bodyPr wrap="square" lIns="0" tIns="0" rIns="0" bIns="0" rtlCol="0"/>
            <a:lstStyle/>
            <a:p>
              <a:endParaRPr/>
            </a:p>
          </p:txBody>
        </p:sp>
        <p:pic>
          <p:nvPicPr>
            <p:cNvPr id="28" name="object 28"/>
            <p:cNvPicPr/>
            <p:nvPr/>
          </p:nvPicPr>
          <p:blipFill>
            <a:blip r:embed="rId4" cstate="print"/>
            <a:stretch>
              <a:fillRect/>
            </a:stretch>
          </p:blipFill>
          <p:spPr>
            <a:xfrm>
              <a:off x="5891538" y="3694445"/>
              <a:ext cx="104524" cy="83015"/>
            </a:xfrm>
            <a:prstGeom prst="rect">
              <a:avLst/>
            </a:prstGeom>
          </p:spPr>
        </p:pic>
      </p:grpSp>
      <p:sp>
        <p:nvSpPr>
          <p:cNvPr id="29" name="object 29"/>
          <p:cNvSpPr txBox="1"/>
          <p:nvPr/>
        </p:nvSpPr>
        <p:spPr>
          <a:xfrm>
            <a:off x="2968505" y="3599568"/>
            <a:ext cx="71691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Actuators</a:t>
            </a:r>
            <a:endParaRPr sz="1400">
              <a:latin typeface="Times New Roman"/>
              <a:cs typeface="Times New Roman"/>
            </a:endParaRPr>
          </a:p>
        </p:txBody>
      </p:sp>
      <p:sp>
        <p:nvSpPr>
          <p:cNvPr id="30" name="object 30"/>
          <p:cNvSpPr txBox="1"/>
          <p:nvPr/>
        </p:nvSpPr>
        <p:spPr>
          <a:xfrm>
            <a:off x="835145" y="1613408"/>
            <a:ext cx="871219"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Palatino Linotype"/>
                <a:cs typeface="Palatino Linotype"/>
              </a:rPr>
              <a:t>Agent</a:t>
            </a:r>
            <a:endParaRPr sz="2400">
              <a:latin typeface="Palatino Linotype"/>
              <a:cs typeface="Palatino Linotype"/>
            </a:endParaRPr>
          </a:p>
        </p:txBody>
      </p:sp>
    </p:spTree>
    <p:extLst>
      <p:ext uri="{BB962C8B-B14F-4D97-AF65-F5344CB8AC3E}">
        <p14:creationId xmlns:p14="http://schemas.microsoft.com/office/powerpoint/2010/main" val="20023228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6056" y="86867"/>
            <a:ext cx="6042660" cy="695960"/>
          </a:xfrm>
          <a:prstGeom prst="rect">
            <a:avLst/>
          </a:prstGeom>
        </p:spPr>
        <p:txBody>
          <a:bodyPr vert="horz" wrap="square" lIns="0" tIns="12700" rIns="0" bIns="0" rtlCol="0">
            <a:spAutoFit/>
          </a:bodyPr>
          <a:lstStyle/>
          <a:p>
            <a:pPr marL="12700">
              <a:lnSpc>
                <a:spcPct val="100000"/>
              </a:lnSpc>
              <a:spcBef>
                <a:spcPts val="100"/>
              </a:spcBef>
            </a:pPr>
            <a:r>
              <a:rPr spc="-10" dirty="0"/>
              <a:t>Model</a:t>
            </a:r>
            <a:r>
              <a:rPr spc="-35" dirty="0"/>
              <a:t> </a:t>
            </a:r>
            <a:r>
              <a:rPr spc="-5" dirty="0"/>
              <a:t>based</a:t>
            </a:r>
            <a:r>
              <a:rPr spc="-25" dirty="0"/>
              <a:t> </a:t>
            </a:r>
            <a:r>
              <a:rPr spc="-30" dirty="0"/>
              <a:t>reflex </a:t>
            </a:r>
            <a:r>
              <a:rPr spc="-20" dirty="0"/>
              <a:t>Agents</a:t>
            </a:r>
          </a:p>
        </p:txBody>
      </p:sp>
      <p:sp>
        <p:nvSpPr>
          <p:cNvPr id="3" name="object 3"/>
          <p:cNvSpPr txBox="1"/>
          <p:nvPr/>
        </p:nvSpPr>
        <p:spPr>
          <a:xfrm>
            <a:off x="530225" y="652272"/>
            <a:ext cx="7725409" cy="1153160"/>
          </a:xfrm>
          <a:prstGeom prst="rect">
            <a:avLst/>
          </a:prstGeom>
        </p:spPr>
        <p:txBody>
          <a:bodyPr vert="horz" wrap="square" lIns="0" tIns="12700" rIns="0" bIns="0" rtlCol="0">
            <a:spAutoFit/>
          </a:bodyPr>
          <a:lstStyle/>
          <a:p>
            <a:pPr marL="12700" marR="3983990">
              <a:lnSpc>
                <a:spcPct val="120800"/>
              </a:lnSpc>
              <a:spcBef>
                <a:spcPts val="100"/>
              </a:spcBef>
            </a:pPr>
            <a:r>
              <a:rPr sz="1600" spc="-10" dirty="0">
                <a:latin typeface="Calibri"/>
                <a:cs typeface="Calibri"/>
              </a:rPr>
              <a:t>Information comes from sensors-</a:t>
            </a:r>
            <a:r>
              <a:rPr sz="1600" b="1" spc="-10" dirty="0">
                <a:latin typeface="Calibri"/>
                <a:cs typeface="Calibri"/>
              </a:rPr>
              <a:t>Percepts </a:t>
            </a:r>
            <a:r>
              <a:rPr sz="1600" b="1" spc="-5" dirty="0">
                <a:latin typeface="Calibri"/>
                <a:cs typeface="Calibri"/>
              </a:rPr>
              <a:t> </a:t>
            </a:r>
            <a:r>
              <a:rPr sz="1600" spc="-10" dirty="0">
                <a:latin typeface="Calibri"/>
                <a:cs typeface="Calibri"/>
              </a:rPr>
              <a:t>Changes </a:t>
            </a:r>
            <a:r>
              <a:rPr sz="1600" spc="-5" dirty="0">
                <a:latin typeface="Calibri"/>
                <a:cs typeface="Calibri"/>
              </a:rPr>
              <a:t>the </a:t>
            </a:r>
            <a:r>
              <a:rPr sz="1600" spc="-10" dirty="0">
                <a:latin typeface="Calibri"/>
                <a:cs typeface="Calibri"/>
              </a:rPr>
              <a:t>agent</a:t>
            </a:r>
            <a:r>
              <a:rPr sz="1600" spc="-5" dirty="0">
                <a:latin typeface="Calibri"/>
                <a:cs typeface="Calibri"/>
              </a:rPr>
              <a:t> </a:t>
            </a:r>
            <a:r>
              <a:rPr sz="1600" spc="-10" dirty="0">
                <a:latin typeface="Calibri"/>
                <a:cs typeface="Calibri"/>
              </a:rPr>
              <a:t>current</a:t>
            </a:r>
            <a:r>
              <a:rPr sz="1600" spc="15" dirty="0">
                <a:latin typeface="Calibri"/>
                <a:cs typeface="Calibri"/>
              </a:rPr>
              <a:t> </a:t>
            </a:r>
            <a:r>
              <a:rPr sz="1600" b="1" spc="-20" dirty="0">
                <a:latin typeface="Calibri"/>
                <a:cs typeface="Calibri"/>
              </a:rPr>
              <a:t>state</a:t>
            </a:r>
            <a:r>
              <a:rPr sz="1600" b="1" spc="-5" dirty="0">
                <a:latin typeface="Calibri"/>
                <a:cs typeface="Calibri"/>
              </a:rPr>
              <a:t> of the </a:t>
            </a:r>
            <a:r>
              <a:rPr sz="1600" b="1" spc="-10" dirty="0">
                <a:latin typeface="Calibri"/>
                <a:cs typeface="Calibri"/>
              </a:rPr>
              <a:t>world</a:t>
            </a:r>
            <a:endParaRPr sz="1600">
              <a:latin typeface="Calibri"/>
              <a:cs typeface="Calibri"/>
            </a:endParaRPr>
          </a:p>
          <a:p>
            <a:pPr marL="354965" marR="5080" indent="-312420">
              <a:lnSpc>
                <a:spcPct val="100000"/>
              </a:lnSpc>
              <a:spcBef>
                <a:spcPts val="400"/>
              </a:spcBef>
              <a:buFont typeface="Arial"/>
              <a:buChar char="•"/>
              <a:tabLst>
                <a:tab pos="354965" algn="l"/>
                <a:tab pos="355600" algn="l"/>
              </a:tabLst>
            </a:pPr>
            <a:r>
              <a:rPr sz="1600" b="1" spc="-5" dirty="0">
                <a:latin typeface="Calibri"/>
                <a:cs typeface="Calibri"/>
              </a:rPr>
              <a:t>Based on the </a:t>
            </a:r>
            <a:r>
              <a:rPr sz="1600" b="1" spc="-20" dirty="0">
                <a:latin typeface="Calibri"/>
                <a:cs typeface="Calibri"/>
              </a:rPr>
              <a:t>state</a:t>
            </a:r>
            <a:r>
              <a:rPr sz="1600" b="1" dirty="0">
                <a:latin typeface="Calibri"/>
                <a:cs typeface="Calibri"/>
              </a:rPr>
              <a:t> </a:t>
            </a:r>
            <a:r>
              <a:rPr sz="1600" b="1" spc="-5" dirty="0">
                <a:latin typeface="Calibri"/>
                <a:cs typeface="Calibri"/>
              </a:rPr>
              <a:t>of the </a:t>
            </a:r>
            <a:r>
              <a:rPr sz="1600" b="1" spc="-10" dirty="0">
                <a:latin typeface="Calibri"/>
                <a:cs typeface="Calibri"/>
              </a:rPr>
              <a:t>world</a:t>
            </a:r>
            <a:r>
              <a:rPr sz="1600" b="1" dirty="0">
                <a:latin typeface="Calibri"/>
                <a:cs typeface="Calibri"/>
              </a:rPr>
              <a:t> </a:t>
            </a:r>
            <a:r>
              <a:rPr sz="1600" b="1" spc="-5" dirty="0">
                <a:latin typeface="Calibri"/>
                <a:cs typeface="Calibri"/>
              </a:rPr>
              <a:t>and knowledge(memory),it </a:t>
            </a:r>
            <a:r>
              <a:rPr sz="1600" b="1" spc="-10" dirty="0">
                <a:latin typeface="Calibri"/>
                <a:cs typeface="Calibri"/>
              </a:rPr>
              <a:t>triggers</a:t>
            </a:r>
            <a:r>
              <a:rPr sz="1600" b="1" dirty="0">
                <a:latin typeface="Calibri"/>
                <a:cs typeface="Calibri"/>
              </a:rPr>
              <a:t> </a:t>
            </a:r>
            <a:r>
              <a:rPr sz="1600" b="1" spc="-5" dirty="0">
                <a:latin typeface="Calibri"/>
                <a:cs typeface="Calibri"/>
              </a:rPr>
              <a:t>actions </a:t>
            </a:r>
            <a:r>
              <a:rPr sz="1600" b="1" spc="-10" dirty="0">
                <a:latin typeface="Calibri"/>
                <a:cs typeface="Calibri"/>
              </a:rPr>
              <a:t>through</a:t>
            </a:r>
            <a:r>
              <a:rPr sz="1600" b="1" spc="-5" dirty="0">
                <a:latin typeface="Calibri"/>
                <a:cs typeface="Calibri"/>
              </a:rPr>
              <a:t> the </a:t>
            </a:r>
            <a:r>
              <a:rPr sz="1600" b="1" spc="-345" dirty="0">
                <a:latin typeface="Calibri"/>
                <a:cs typeface="Calibri"/>
              </a:rPr>
              <a:t> </a:t>
            </a:r>
            <a:r>
              <a:rPr sz="1600" b="1" spc="-15" dirty="0">
                <a:latin typeface="Calibri"/>
                <a:cs typeface="Calibri"/>
              </a:rPr>
              <a:t>effectors.</a:t>
            </a:r>
            <a:endParaRPr sz="1600">
              <a:latin typeface="Calibri"/>
              <a:cs typeface="Calibri"/>
            </a:endParaRPr>
          </a:p>
        </p:txBody>
      </p:sp>
      <p:grpSp>
        <p:nvGrpSpPr>
          <p:cNvPr id="4" name="object 4"/>
          <p:cNvGrpSpPr/>
          <p:nvPr/>
        </p:nvGrpSpPr>
        <p:grpSpPr>
          <a:xfrm>
            <a:off x="596462" y="2272982"/>
            <a:ext cx="4826635" cy="3303270"/>
            <a:chOff x="596462" y="2272982"/>
            <a:chExt cx="4826635" cy="3303270"/>
          </a:xfrm>
        </p:grpSpPr>
        <p:sp>
          <p:nvSpPr>
            <p:cNvPr id="5" name="object 5"/>
            <p:cNvSpPr/>
            <p:nvPr/>
          </p:nvSpPr>
          <p:spPr>
            <a:xfrm>
              <a:off x="609479" y="2286000"/>
              <a:ext cx="4800600" cy="3277235"/>
            </a:xfrm>
            <a:custGeom>
              <a:avLst/>
              <a:gdLst/>
              <a:ahLst/>
              <a:cxnLst/>
              <a:rect l="l" t="t" r="r" b="b"/>
              <a:pathLst>
                <a:path w="4800600" h="3277235">
                  <a:moveTo>
                    <a:pt x="4800599" y="3276719"/>
                  </a:moveTo>
                  <a:lnTo>
                    <a:pt x="0" y="3276719"/>
                  </a:lnTo>
                  <a:lnTo>
                    <a:pt x="0" y="0"/>
                  </a:lnTo>
                  <a:lnTo>
                    <a:pt x="4800599" y="0"/>
                  </a:lnTo>
                  <a:lnTo>
                    <a:pt x="4800599" y="3276719"/>
                  </a:lnTo>
                  <a:close/>
                </a:path>
              </a:pathLst>
            </a:custGeom>
            <a:solidFill>
              <a:srgbClr val="4F81BD"/>
            </a:solidFill>
          </p:spPr>
          <p:txBody>
            <a:bodyPr wrap="square" lIns="0" tIns="0" rIns="0" bIns="0" rtlCol="0"/>
            <a:lstStyle/>
            <a:p>
              <a:endParaRPr/>
            </a:p>
          </p:txBody>
        </p:sp>
        <p:sp>
          <p:nvSpPr>
            <p:cNvPr id="6" name="object 6"/>
            <p:cNvSpPr/>
            <p:nvPr/>
          </p:nvSpPr>
          <p:spPr>
            <a:xfrm>
              <a:off x="609479" y="2286000"/>
              <a:ext cx="4800600" cy="3277235"/>
            </a:xfrm>
            <a:custGeom>
              <a:avLst/>
              <a:gdLst/>
              <a:ahLst/>
              <a:cxnLst/>
              <a:rect l="l" t="t" r="r" b="b"/>
              <a:pathLst>
                <a:path w="4800600" h="3277235">
                  <a:moveTo>
                    <a:pt x="0" y="0"/>
                  </a:moveTo>
                  <a:lnTo>
                    <a:pt x="4800599" y="0"/>
                  </a:lnTo>
                  <a:lnTo>
                    <a:pt x="4800599" y="3276719"/>
                  </a:lnTo>
                  <a:lnTo>
                    <a:pt x="0" y="3276719"/>
                  </a:lnTo>
                  <a:lnTo>
                    <a:pt x="0" y="0"/>
                  </a:lnTo>
                  <a:close/>
                </a:path>
              </a:pathLst>
            </a:custGeom>
            <a:ln w="25549">
              <a:solidFill>
                <a:srgbClr val="375D8A"/>
              </a:solidFill>
            </a:ln>
          </p:spPr>
          <p:txBody>
            <a:bodyPr wrap="square" lIns="0" tIns="0" rIns="0" bIns="0" rtlCol="0"/>
            <a:lstStyle/>
            <a:p>
              <a:endParaRPr/>
            </a:p>
          </p:txBody>
        </p:sp>
      </p:grpSp>
      <p:sp>
        <p:nvSpPr>
          <p:cNvPr id="7" name="object 7"/>
          <p:cNvSpPr txBox="1"/>
          <p:nvPr/>
        </p:nvSpPr>
        <p:spPr>
          <a:xfrm>
            <a:off x="3200400" y="2666880"/>
            <a:ext cx="1828800" cy="457200"/>
          </a:xfrm>
          <a:prstGeom prst="rect">
            <a:avLst/>
          </a:prstGeom>
          <a:ln w="25549">
            <a:solidFill>
              <a:srgbClr val="375D8A"/>
            </a:solidFill>
          </a:ln>
        </p:spPr>
        <p:txBody>
          <a:bodyPr vert="horz" wrap="square" lIns="0" tIns="8255" rIns="0" bIns="0" rtlCol="0">
            <a:spAutoFit/>
          </a:bodyPr>
          <a:lstStyle/>
          <a:p>
            <a:pPr marL="711200" marR="102235" indent="-603250">
              <a:lnSpc>
                <a:spcPct val="100000"/>
              </a:lnSpc>
              <a:spcBef>
                <a:spcPts val="65"/>
              </a:spcBef>
            </a:pPr>
            <a:r>
              <a:rPr sz="1400" b="1" spc="-10" dirty="0">
                <a:latin typeface="Calibri"/>
                <a:cs typeface="Calibri"/>
              </a:rPr>
              <a:t>What </a:t>
            </a:r>
            <a:r>
              <a:rPr sz="1400" b="1" spc="-5" dirty="0">
                <a:latin typeface="Calibri"/>
                <a:cs typeface="Calibri"/>
              </a:rPr>
              <a:t>the </a:t>
            </a:r>
            <a:r>
              <a:rPr sz="1400" b="1" spc="-10" dirty="0">
                <a:latin typeface="Calibri"/>
                <a:cs typeface="Calibri"/>
              </a:rPr>
              <a:t>world </a:t>
            </a:r>
            <a:r>
              <a:rPr sz="1400" b="1" spc="-5" dirty="0">
                <a:latin typeface="Calibri"/>
                <a:cs typeface="Calibri"/>
              </a:rPr>
              <a:t>is </a:t>
            </a:r>
            <a:r>
              <a:rPr sz="1400" b="1" spc="-15" dirty="0">
                <a:latin typeface="Calibri"/>
                <a:cs typeface="Calibri"/>
              </a:rPr>
              <a:t>like </a:t>
            </a:r>
            <a:r>
              <a:rPr sz="1400" b="1" spc="-305" dirty="0">
                <a:latin typeface="Calibri"/>
                <a:cs typeface="Calibri"/>
              </a:rPr>
              <a:t> </a:t>
            </a:r>
            <a:r>
              <a:rPr sz="1400" b="1" spc="-5" dirty="0">
                <a:latin typeface="Calibri"/>
                <a:cs typeface="Calibri"/>
              </a:rPr>
              <a:t>now?</a:t>
            </a:r>
            <a:endParaRPr sz="1400">
              <a:latin typeface="Calibri"/>
              <a:cs typeface="Calibri"/>
            </a:endParaRPr>
          </a:p>
        </p:txBody>
      </p:sp>
      <p:sp>
        <p:nvSpPr>
          <p:cNvPr id="8" name="object 8"/>
          <p:cNvSpPr/>
          <p:nvPr/>
        </p:nvSpPr>
        <p:spPr>
          <a:xfrm>
            <a:off x="3429000" y="3733920"/>
            <a:ext cx="1828800" cy="457200"/>
          </a:xfrm>
          <a:custGeom>
            <a:avLst/>
            <a:gdLst/>
            <a:ahLst/>
            <a:cxnLst/>
            <a:rect l="l" t="t" r="r" b="b"/>
            <a:pathLst>
              <a:path w="1828800" h="457200">
                <a:moveTo>
                  <a:pt x="0" y="0"/>
                </a:moveTo>
                <a:lnTo>
                  <a:pt x="1828799" y="0"/>
                </a:lnTo>
                <a:lnTo>
                  <a:pt x="1828799" y="457199"/>
                </a:lnTo>
                <a:lnTo>
                  <a:pt x="0" y="457199"/>
                </a:lnTo>
                <a:lnTo>
                  <a:pt x="0" y="0"/>
                </a:lnTo>
                <a:close/>
              </a:path>
            </a:pathLst>
          </a:custGeom>
          <a:ln w="25549">
            <a:solidFill>
              <a:srgbClr val="375D8A"/>
            </a:solidFill>
          </a:ln>
        </p:spPr>
        <p:txBody>
          <a:bodyPr wrap="square" lIns="0" tIns="0" rIns="0" bIns="0" rtlCol="0"/>
          <a:lstStyle/>
          <a:p>
            <a:endParaRPr/>
          </a:p>
        </p:txBody>
      </p:sp>
      <p:sp>
        <p:nvSpPr>
          <p:cNvPr id="9" name="object 9"/>
          <p:cNvSpPr txBox="1"/>
          <p:nvPr/>
        </p:nvSpPr>
        <p:spPr>
          <a:xfrm>
            <a:off x="3567533" y="3805548"/>
            <a:ext cx="1549400" cy="452120"/>
          </a:xfrm>
          <a:prstGeom prst="rect">
            <a:avLst/>
          </a:prstGeom>
        </p:spPr>
        <p:txBody>
          <a:bodyPr vert="horz" wrap="square" lIns="0" tIns="12700" rIns="0" bIns="0" rtlCol="0">
            <a:spAutoFit/>
          </a:bodyPr>
          <a:lstStyle/>
          <a:p>
            <a:pPr marL="457200" marR="5080" indent="-445134">
              <a:lnSpc>
                <a:spcPct val="100000"/>
              </a:lnSpc>
              <a:spcBef>
                <a:spcPts val="100"/>
              </a:spcBef>
            </a:pPr>
            <a:r>
              <a:rPr sz="1400" b="1" spc="-10" dirty="0">
                <a:latin typeface="Calibri"/>
                <a:cs typeface="Calibri"/>
              </a:rPr>
              <a:t>What</a:t>
            </a:r>
            <a:r>
              <a:rPr sz="1400" b="1" spc="-30" dirty="0">
                <a:latin typeface="Calibri"/>
                <a:cs typeface="Calibri"/>
              </a:rPr>
              <a:t> </a:t>
            </a:r>
            <a:r>
              <a:rPr sz="1400" b="1" spc="-5" dirty="0">
                <a:latin typeface="Calibri"/>
                <a:cs typeface="Calibri"/>
              </a:rPr>
              <a:t>action</a:t>
            </a:r>
            <a:r>
              <a:rPr sz="1400" b="1" spc="-30" dirty="0">
                <a:latin typeface="Calibri"/>
                <a:cs typeface="Calibri"/>
              </a:rPr>
              <a:t> </a:t>
            </a:r>
            <a:r>
              <a:rPr sz="1400" b="1" spc="-5" dirty="0">
                <a:latin typeface="Calibri"/>
                <a:cs typeface="Calibri"/>
              </a:rPr>
              <a:t>should</a:t>
            </a:r>
            <a:r>
              <a:rPr sz="1400" b="1" spc="-25" dirty="0">
                <a:latin typeface="Calibri"/>
                <a:cs typeface="Calibri"/>
              </a:rPr>
              <a:t> </a:t>
            </a:r>
            <a:r>
              <a:rPr sz="1400" b="1" dirty="0">
                <a:latin typeface="Calibri"/>
                <a:cs typeface="Calibri"/>
              </a:rPr>
              <a:t>I </a:t>
            </a:r>
            <a:r>
              <a:rPr sz="1400" b="1" spc="-305" dirty="0">
                <a:latin typeface="Calibri"/>
                <a:cs typeface="Calibri"/>
              </a:rPr>
              <a:t> </a:t>
            </a:r>
            <a:r>
              <a:rPr sz="1400" b="1" spc="-5" dirty="0">
                <a:latin typeface="Calibri"/>
                <a:cs typeface="Calibri"/>
              </a:rPr>
              <a:t>do</a:t>
            </a:r>
            <a:r>
              <a:rPr sz="1400" b="1" spc="-15" dirty="0">
                <a:latin typeface="Calibri"/>
                <a:cs typeface="Calibri"/>
              </a:rPr>
              <a:t> </a:t>
            </a:r>
            <a:r>
              <a:rPr sz="1400" b="1" spc="-5" dirty="0">
                <a:latin typeface="Calibri"/>
                <a:cs typeface="Calibri"/>
              </a:rPr>
              <a:t>now?</a:t>
            </a:r>
            <a:endParaRPr sz="1400">
              <a:latin typeface="Calibri"/>
              <a:cs typeface="Calibri"/>
            </a:endParaRPr>
          </a:p>
        </p:txBody>
      </p:sp>
      <p:grpSp>
        <p:nvGrpSpPr>
          <p:cNvPr id="10" name="object 10"/>
          <p:cNvGrpSpPr/>
          <p:nvPr/>
        </p:nvGrpSpPr>
        <p:grpSpPr>
          <a:xfrm>
            <a:off x="3949502" y="3339662"/>
            <a:ext cx="71755" cy="407034"/>
            <a:chOff x="3949502" y="3339662"/>
            <a:chExt cx="71755" cy="407034"/>
          </a:xfrm>
        </p:grpSpPr>
        <p:sp>
          <p:nvSpPr>
            <p:cNvPr id="11" name="object 11"/>
            <p:cNvSpPr/>
            <p:nvPr/>
          </p:nvSpPr>
          <p:spPr>
            <a:xfrm>
              <a:off x="3962519" y="3352679"/>
              <a:ext cx="45720" cy="381000"/>
            </a:xfrm>
            <a:custGeom>
              <a:avLst/>
              <a:gdLst/>
              <a:ahLst/>
              <a:cxnLst/>
              <a:rect l="l" t="t" r="r" b="b"/>
              <a:pathLst>
                <a:path w="45720" h="381000">
                  <a:moveTo>
                    <a:pt x="22685" y="380880"/>
                  </a:moveTo>
                  <a:lnTo>
                    <a:pt x="0" y="357524"/>
                  </a:lnTo>
                  <a:lnTo>
                    <a:pt x="11342" y="357524"/>
                  </a:lnTo>
                  <a:lnTo>
                    <a:pt x="11342" y="0"/>
                  </a:lnTo>
                  <a:lnTo>
                    <a:pt x="34028" y="0"/>
                  </a:lnTo>
                  <a:lnTo>
                    <a:pt x="34028" y="357524"/>
                  </a:lnTo>
                  <a:lnTo>
                    <a:pt x="45725" y="357524"/>
                  </a:lnTo>
                  <a:lnTo>
                    <a:pt x="22685" y="380880"/>
                  </a:lnTo>
                  <a:close/>
                </a:path>
              </a:pathLst>
            </a:custGeom>
            <a:solidFill>
              <a:srgbClr val="000000"/>
            </a:solidFill>
          </p:spPr>
          <p:txBody>
            <a:bodyPr wrap="square" lIns="0" tIns="0" rIns="0" bIns="0" rtlCol="0"/>
            <a:lstStyle/>
            <a:p>
              <a:endParaRPr/>
            </a:p>
          </p:txBody>
        </p:sp>
        <p:sp>
          <p:nvSpPr>
            <p:cNvPr id="12" name="object 12"/>
            <p:cNvSpPr/>
            <p:nvPr/>
          </p:nvSpPr>
          <p:spPr>
            <a:xfrm>
              <a:off x="3962519" y="3352679"/>
              <a:ext cx="45720" cy="381000"/>
            </a:xfrm>
            <a:custGeom>
              <a:avLst/>
              <a:gdLst/>
              <a:ahLst/>
              <a:cxnLst/>
              <a:rect l="l" t="t" r="r" b="b"/>
              <a:pathLst>
                <a:path w="45720" h="381000">
                  <a:moveTo>
                    <a:pt x="11342" y="0"/>
                  </a:moveTo>
                  <a:lnTo>
                    <a:pt x="11342" y="357524"/>
                  </a:lnTo>
                  <a:lnTo>
                    <a:pt x="0" y="357524"/>
                  </a:lnTo>
                  <a:lnTo>
                    <a:pt x="22685" y="380880"/>
                  </a:lnTo>
                  <a:lnTo>
                    <a:pt x="45725" y="357524"/>
                  </a:lnTo>
                  <a:lnTo>
                    <a:pt x="34028" y="357524"/>
                  </a:lnTo>
                  <a:lnTo>
                    <a:pt x="34028" y="0"/>
                  </a:lnTo>
                  <a:lnTo>
                    <a:pt x="11342" y="0"/>
                  </a:lnTo>
                </a:path>
              </a:pathLst>
            </a:custGeom>
            <a:ln w="25549">
              <a:solidFill>
                <a:srgbClr val="000000"/>
              </a:solidFill>
            </a:ln>
          </p:spPr>
          <p:txBody>
            <a:bodyPr wrap="square" lIns="0" tIns="0" rIns="0" bIns="0" rtlCol="0"/>
            <a:lstStyle/>
            <a:p>
              <a:endParaRPr/>
            </a:p>
          </p:txBody>
        </p:sp>
      </p:grpSp>
      <p:sp>
        <p:nvSpPr>
          <p:cNvPr id="13" name="object 13"/>
          <p:cNvSpPr txBox="1"/>
          <p:nvPr/>
        </p:nvSpPr>
        <p:spPr>
          <a:xfrm>
            <a:off x="1219319" y="3962520"/>
            <a:ext cx="1828800" cy="609600"/>
          </a:xfrm>
          <a:prstGeom prst="rect">
            <a:avLst/>
          </a:prstGeom>
          <a:solidFill>
            <a:srgbClr val="4F81BD"/>
          </a:solidFill>
          <a:ln w="25549">
            <a:solidFill>
              <a:srgbClr val="375D8A"/>
            </a:solidFill>
          </a:ln>
        </p:spPr>
        <p:txBody>
          <a:bodyPr vert="horz" wrap="square" lIns="0" tIns="83820" rIns="0" bIns="0" rtlCol="0">
            <a:spAutoFit/>
          </a:bodyPr>
          <a:lstStyle/>
          <a:p>
            <a:pPr marL="732790" marR="263525" indent="-463550">
              <a:lnSpc>
                <a:spcPct val="100000"/>
              </a:lnSpc>
              <a:spcBef>
                <a:spcPts val="660"/>
              </a:spcBef>
            </a:pPr>
            <a:r>
              <a:rPr sz="1400" b="1" spc="-5" dirty="0">
                <a:latin typeface="Calibri"/>
                <a:cs typeface="Calibri"/>
              </a:rPr>
              <a:t>Condition</a:t>
            </a:r>
            <a:r>
              <a:rPr sz="1400" b="1" dirty="0">
                <a:latin typeface="Calibri"/>
                <a:cs typeface="Calibri"/>
              </a:rPr>
              <a:t>s</a:t>
            </a:r>
            <a:r>
              <a:rPr sz="1400" b="1" spc="-5" dirty="0">
                <a:latin typeface="Calibri"/>
                <a:cs typeface="Calibri"/>
              </a:rPr>
              <a:t> action  rules</a:t>
            </a:r>
            <a:endParaRPr sz="1400">
              <a:latin typeface="Calibri"/>
              <a:cs typeface="Calibri"/>
            </a:endParaRPr>
          </a:p>
        </p:txBody>
      </p:sp>
      <p:grpSp>
        <p:nvGrpSpPr>
          <p:cNvPr id="14" name="object 14"/>
          <p:cNvGrpSpPr/>
          <p:nvPr/>
        </p:nvGrpSpPr>
        <p:grpSpPr>
          <a:xfrm>
            <a:off x="3035102" y="2272982"/>
            <a:ext cx="940435" cy="1748789"/>
            <a:chOff x="3035102" y="2272982"/>
            <a:chExt cx="940435" cy="1748789"/>
          </a:xfrm>
        </p:grpSpPr>
        <p:sp>
          <p:nvSpPr>
            <p:cNvPr id="15" name="object 15"/>
            <p:cNvSpPr/>
            <p:nvPr/>
          </p:nvSpPr>
          <p:spPr>
            <a:xfrm>
              <a:off x="3048120" y="3962520"/>
              <a:ext cx="381000" cy="45720"/>
            </a:xfrm>
            <a:custGeom>
              <a:avLst/>
              <a:gdLst/>
              <a:ahLst/>
              <a:cxnLst/>
              <a:rect l="l" t="t" r="r" b="b"/>
              <a:pathLst>
                <a:path w="381000" h="45720">
                  <a:moveTo>
                    <a:pt x="357524" y="45725"/>
                  </a:moveTo>
                  <a:lnTo>
                    <a:pt x="357524" y="34028"/>
                  </a:lnTo>
                  <a:lnTo>
                    <a:pt x="0" y="34028"/>
                  </a:lnTo>
                  <a:lnTo>
                    <a:pt x="0" y="11342"/>
                  </a:lnTo>
                  <a:lnTo>
                    <a:pt x="357524" y="11342"/>
                  </a:lnTo>
                  <a:lnTo>
                    <a:pt x="357524" y="0"/>
                  </a:lnTo>
                  <a:lnTo>
                    <a:pt x="380520" y="22685"/>
                  </a:lnTo>
                  <a:lnTo>
                    <a:pt x="357524" y="45725"/>
                  </a:lnTo>
                  <a:close/>
                </a:path>
              </a:pathLst>
            </a:custGeom>
            <a:solidFill>
              <a:srgbClr val="4F81BD"/>
            </a:solidFill>
          </p:spPr>
          <p:txBody>
            <a:bodyPr wrap="square" lIns="0" tIns="0" rIns="0" bIns="0" rtlCol="0"/>
            <a:lstStyle/>
            <a:p>
              <a:endParaRPr/>
            </a:p>
          </p:txBody>
        </p:sp>
        <p:sp>
          <p:nvSpPr>
            <p:cNvPr id="16" name="object 16"/>
            <p:cNvSpPr/>
            <p:nvPr/>
          </p:nvSpPr>
          <p:spPr>
            <a:xfrm>
              <a:off x="3048120" y="3962520"/>
              <a:ext cx="381000" cy="45720"/>
            </a:xfrm>
            <a:custGeom>
              <a:avLst/>
              <a:gdLst/>
              <a:ahLst/>
              <a:cxnLst/>
              <a:rect l="l" t="t" r="r" b="b"/>
              <a:pathLst>
                <a:path w="381000" h="45720">
                  <a:moveTo>
                    <a:pt x="0" y="11342"/>
                  </a:moveTo>
                  <a:lnTo>
                    <a:pt x="357524" y="11342"/>
                  </a:lnTo>
                  <a:lnTo>
                    <a:pt x="357524" y="0"/>
                  </a:lnTo>
                  <a:lnTo>
                    <a:pt x="380520" y="22685"/>
                  </a:lnTo>
                  <a:lnTo>
                    <a:pt x="357524" y="45725"/>
                  </a:lnTo>
                  <a:lnTo>
                    <a:pt x="357524" y="34028"/>
                  </a:lnTo>
                  <a:lnTo>
                    <a:pt x="0" y="34028"/>
                  </a:lnTo>
                  <a:lnTo>
                    <a:pt x="0" y="11342"/>
                  </a:lnTo>
                </a:path>
              </a:pathLst>
            </a:custGeom>
            <a:ln w="25549">
              <a:solidFill>
                <a:srgbClr val="000000"/>
              </a:solidFill>
            </a:ln>
          </p:spPr>
          <p:txBody>
            <a:bodyPr wrap="square" lIns="0" tIns="0" rIns="0" bIns="0" rtlCol="0"/>
            <a:lstStyle/>
            <a:p>
              <a:endParaRPr/>
            </a:p>
          </p:txBody>
        </p:sp>
        <p:sp>
          <p:nvSpPr>
            <p:cNvPr id="17" name="object 17"/>
            <p:cNvSpPr/>
            <p:nvPr/>
          </p:nvSpPr>
          <p:spPr>
            <a:xfrm>
              <a:off x="3886200" y="2286000"/>
              <a:ext cx="76200" cy="304800"/>
            </a:xfrm>
            <a:custGeom>
              <a:avLst/>
              <a:gdLst/>
              <a:ahLst/>
              <a:cxnLst/>
              <a:rect l="l" t="t" r="r" b="b"/>
              <a:pathLst>
                <a:path w="76200" h="304800">
                  <a:moveTo>
                    <a:pt x="37980" y="304560"/>
                  </a:moveTo>
                  <a:lnTo>
                    <a:pt x="0" y="266490"/>
                  </a:lnTo>
                  <a:lnTo>
                    <a:pt x="18990" y="266490"/>
                  </a:lnTo>
                  <a:lnTo>
                    <a:pt x="18990" y="0"/>
                  </a:lnTo>
                  <a:lnTo>
                    <a:pt x="56970" y="0"/>
                  </a:lnTo>
                  <a:lnTo>
                    <a:pt x="56970" y="266490"/>
                  </a:lnTo>
                  <a:lnTo>
                    <a:pt x="75961" y="266490"/>
                  </a:lnTo>
                  <a:lnTo>
                    <a:pt x="37980" y="304560"/>
                  </a:lnTo>
                  <a:close/>
                </a:path>
              </a:pathLst>
            </a:custGeom>
            <a:solidFill>
              <a:srgbClr val="000000"/>
            </a:solidFill>
          </p:spPr>
          <p:txBody>
            <a:bodyPr wrap="square" lIns="0" tIns="0" rIns="0" bIns="0" rtlCol="0"/>
            <a:lstStyle/>
            <a:p>
              <a:endParaRPr/>
            </a:p>
          </p:txBody>
        </p:sp>
        <p:sp>
          <p:nvSpPr>
            <p:cNvPr id="18" name="object 18"/>
            <p:cNvSpPr/>
            <p:nvPr/>
          </p:nvSpPr>
          <p:spPr>
            <a:xfrm>
              <a:off x="3886200" y="2286000"/>
              <a:ext cx="76200" cy="304800"/>
            </a:xfrm>
            <a:custGeom>
              <a:avLst/>
              <a:gdLst/>
              <a:ahLst/>
              <a:cxnLst/>
              <a:rect l="l" t="t" r="r" b="b"/>
              <a:pathLst>
                <a:path w="76200" h="304800">
                  <a:moveTo>
                    <a:pt x="18990" y="0"/>
                  </a:moveTo>
                  <a:lnTo>
                    <a:pt x="18990" y="266490"/>
                  </a:lnTo>
                  <a:lnTo>
                    <a:pt x="0" y="266490"/>
                  </a:lnTo>
                  <a:lnTo>
                    <a:pt x="37980" y="304560"/>
                  </a:lnTo>
                  <a:lnTo>
                    <a:pt x="75961" y="266490"/>
                  </a:lnTo>
                  <a:lnTo>
                    <a:pt x="56970" y="266490"/>
                  </a:lnTo>
                  <a:lnTo>
                    <a:pt x="56970" y="0"/>
                  </a:lnTo>
                  <a:lnTo>
                    <a:pt x="18990" y="0"/>
                  </a:lnTo>
                </a:path>
              </a:pathLst>
            </a:custGeom>
            <a:ln w="25549">
              <a:solidFill>
                <a:srgbClr val="000000"/>
              </a:solidFill>
            </a:ln>
          </p:spPr>
          <p:txBody>
            <a:bodyPr wrap="square" lIns="0" tIns="0" rIns="0" bIns="0" rtlCol="0"/>
            <a:lstStyle/>
            <a:p>
              <a:endParaRPr/>
            </a:p>
          </p:txBody>
        </p:sp>
      </p:grpSp>
      <p:sp>
        <p:nvSpPr>
          <p:cNvPr id="19" name="object 19"/>
          <p:cNvSpPr txBox="1"/>
          <p:nvPr/>
        </p:nvSpPr>
        <p:spPr>
          <a:xfrm>
            <a:off x="4187825" y="2457584"/>
            <a:ext cx="5251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Sensors</a:t>
            </a:r>
            <a:endParaRPr sz="1200">
              <a:latin typeface="Times New Roman"/>
              <a:cs typeface="Times New Roman"/>
            </a:endParaRPr>
          </a:p>
        </p:txBody>
      </p:sp>
      <p:sp>
        <p:nvSpPr>
          <p:cNvPr id="20" name="object 20"/>
          <p:cNvSpPr txBox="1"/>
          <p:nvPr/>
        </p:nvSpPr>
        <p:spPr>
          <a:xfrm>
            <a:off x="6019920" y="2209680"/>
            <a:ext cx="266700" cy="2971800"/>
          </a:xfrm>
          <a:prstGeom prst="rect">
            <a:avLst/>
          </a:prstGeom>
          <a:solidFill>
            <a:srgbClr val="4F81BD"/>
          </a:solidFill>
          <a:ln w="25549">
            <a:solidFill>
              <a:srgbClr val="375D8A"/>
            </a:solidFill>
          </a:ln>
        </p:spPr>
        <p:txBody>
          <a:bodyPr vert="horz" wrap="square" lIns="0" tIns="136525" rIns="0" bIns="0" rtlCol="0">
            <a:spAutoFit/>
          </a:bodyPr>
          <a:lstStyle/>
          <a:p>
            <a:pPr marL="85725" marR="21590">
              <a:lnSpc>
                <a:spcPct val="100000"/>
              </a:lnSpc>
              <a:spcBef>
                <a:spcPts val="1075"/>
              </a:spcBef>
            </a:pPr>
            <a:r>
              <a:rPr sz="1600" b="1" dirty="0">
                <a:latin typeface="Calibri"/>
                <a:cs typeface="Calibri"/>
              </a:rPr>
              <a:t>E</a:t>
            </a:r>
            <a:endParaRPr sz="1600">
              <a:latin typeface="Calibri"/>
              <a:cs typeface="Calibri"/>
            </a:endParaRPr>
          </a:p>
          <a:p>
            <a:pPr marL="85725">
              <a:lnSpc>
                <a:spcPct val="100000"/>
              </a:lnSpc>
            </a:pPr>
            <a:r>
              <a:rPr sz="1600" b="1" dirty="0">
                <a:latin typeface="Calibri"/>
                <a:cs typeface="Calibri"/>
              </a:rPr>
              <a:t>n </a:t>
            </a:r>
            <a:r>
              <a:rPr sz="1600" b="1" spc="5" dirty="0">
                <a:latin typeface="Calibri"/>
                <a:cs typeface="Calibri"/>
              </a:rPr>
              <a:t> </a:t>
            </a:r>
            <a:r>
              <a:rPr sz="1600" b="1" dirty="0">
                <a:latin typeface="Calibri"/>
                <a:cs typeface="Calibri"/>
              </a:rPr>
              <a:t>v </a:t>
            </a:r>
            <a:r>
              <a:rPr sz="1600" b="1" spc="5" dirty="0">
                <a:latin typeface="Calibri"/>
                <a:cs typeface="Calibri"/>
              </a:rPr>
              <a:t> </a:t>
            </a:r>
            <a:r>
              <a:rPr sz="1600" b="1" dirty="0">
                <a:latin typeface="Calibri"/>
                <a:cs typeface="Calibri"/>
              </a:rPr>
              <a:t>i </a:t>
            </a:r>
            <a:r>
              <a:rPr sz="1600" b="1" spc="5" dirty="0">
                <a:latin typeface="Calibri"/>
                <a:cs typeface="Calibri"/>
              </a:rPr>
              <a:t> </a:t>
            </a:r>
            <a:r>
              <a:rPr sz="1600" b="1" dirty="0">
                <a:latin typeface="Calibri"/>
                <a:cs typeface="Calibri"/>
              </a:rPr>
              <a:t>o </a:t>
            </a:r>
            <a:r>
              <a:rPr sz="1600" b="1" spc="5" dirty="0">
                <a:latin typeface="Calibri"/>
                <a:cs typeface="Calibri"/>
              </a:rPr>
              <a:t> </a:t>
            </a:r>
            <a:r>
              <a:rPr sz="1600" b="1" dirty="0">
                <a:latin typeface="Calibri"/>
                <a:cs typeface="Calibri"/>
              </a:rPr>
              <a:t>r </a:t>
            </a:r>
            <a:r>
              <a:rPr sz="1600" b="1" spc="5" dirty="0">
                <a:latin typeface="Calibri"/>
                <a:cs typeface="Calibri"/>
              </a:rPr>
              <a:t> </a:t>
            </a:r>
            <a:r>
              <a:rPr sz="1600" b="1" dirty="0">
                <a:latin typeface="Calibri"/>
                <a:cs typeface="Calibri"/>
              </a:rPr>
              <a:t>n </a:t>
            </a:r>
            <a:r>
              <a:rPr sz="1600" b="1" spc="5" dirty="0">
                <a:latin typeface="Calibri"/>
                <a:cs typeface="Calibri"/>
              </a:rPr>
              <a:t> </a:t>
            </a:r>
            <a:r>
              <a:rPr sz="1600" b="1" dirty="0">
                <a:latin typeface="Calibri"/>
                <a:cs typeface="Calibri"/>
              </a:rPr>
              <a:t>m  e </a:t>
            </a:r>
            <a:r>
              <a:rPr sz="1600" b="1" spc="5" dirty="0">
                <a:latin typeface="Calibri"/>
                <a:cs typeface="Calibri"/>
              </a:rPr>
              <a:t> </a:t>
            </a:r>
            <a:r>
              <a:rPr sz="1600" b="1" dirty="0">
                <a:latin typeface="Calibri"/>
                <a:cs typeface="Calibri"/>
              </a:rPr>
              <a:t>n</a:t>
            </a:r>
            <a:endParaRPr sz="1600">
              <a:latin typeface="Calibri"/>
              <a:cs typeface="Calibri"/>
            </a:endParaRPr>
          </a:p>
        </p:txBody>
      </p:sp>
      <p:grpSp>
        <p:nvGrpSpPr>
          <p:cNvPr id="21" name="object 21"/>
          <p:cNvGrpSpPr/>
          <p:nvPr/>
        </p:nvGrpSpPr>
        <p:grpSpPr>
          <a:xfrm>
            <a:off x="3997212" y="2549271"/>
            <a:ext cx="2035810" cy="2143125"/>
            <a:chOff x="3997212" y="2549271"/>
            <a:chExt cx="2035810" cy="2143125"/>
          </a:xfrm>
        </p:grpSpPr>
        <p:sp>
          <p:nvSpPr>
            <p:cNvPr id="22" name="object 22"/>
            <p:cNvSpPr/>
            <p:nvPr/>
          </p:nvSpPr>
          <p:spPr>
            <a:xfrm>
              <a:off x="4963761" y="2590725"/>
              <a:ext cx="1056640" cy="2540"/>
            </a:xfrm>
            <a:custGeom>
              <a:avLst/>
              <a:gdLst/>
              <a:ahLst/>
              <a:cxnLst/>
              <a:rect l="l" t="t" r="r" b="b"/>
              <a:pathLst>
                <a:path w="1056639" h="2539">
                  <a:moveTo>
                    <a:pt x="1056158" y="1994"/>
                  </a:moveTo>
                  <a:lnTo>
                    <a:pt x="0" y="0"/>
                  </a:lnTo>
                </a:path>
              </a:pathLst>
            </a:custGeom>
            <a:ln w="25549">
              <a:solidFill>
                <a:srgbClr val="000000"/>
              </a:solidFill>
            </a:ln>
          </p:spPr>
          <p:txBody>
            <a:bodyPr wrap="square" lIns="0" tIns="0" rIns="0" bIns="0" rtlCol="0"/>
            <a:lstStyle/>
            <a:p>
              <a:endParaRPr/>
            </a:p>
          </p:txBody>
        </p:sp>
        <p:pic>
          <p:nvPicPr>
            <p:cNvPr id="23" name="object 23"/>
            <p:cNvPicPr/>
            <p:nvPr/>
          </p:nvPicPr>
          <p:blipFill>
            <a:blip r:embed="rId2" cstate="print"/>
            <a:stretch>
              <a:fillRect/>
            </a:stretch>
          </p:blipFill>
          <p:spPr>
            <a:xfrm>
              <a:off x="4900776" y="2549271"/>
              <a:ext cx="104547" cy="83016"/>
            </a:xfrm>
            <a:prstGeom prst="rect">
              <a:avLst/>
            </a:prstGeom>
          </p:spPr>
        </p:pic>
        <p:pic>
          <p:nvPicPr>
            <p:cNvPr id="24" name="object 24"/>
            <p:cNvPicPr/>
            <p:nvPr/>
          </p:nvPicPr>
          <p:blipFill>
            <a:blip r:embed="rId3" cstate="print"/>
            <a:stretch>
              <a:fillRect/>
            </a:stretch>
          </p:blipFill>
          <p:spPr>
            <a:xfrm>
              <a:off x="3997212" y="4178344"/>
              <a:ext cx="83014" cy="293479"/>
            </a:xfrm>
            <a:prstGeom prst="rect">
              <a:avLst/>
            </a:prstGeom>
          </p:spPr>
        </p:pic>
        <p:sp>
          <p:nvSpPr>
            <p:cNvPr id="25" name="object 25"/>
            <p:cNvSpPr/>
            <p:nvPr/>
          </p:nvSpPr>
          <p:spPr>
            <a:xfrm>
              <a:off x="4343039" y="4648319"/>
              <a:ext cx="1590040" cy="2540"/>
            </a:xfrm>
            <a:custGeom>
              <a:avLst/>
              <a:gdLst/>
              <a:ahLst/>
              <a:cxnLst/>
              <a:rect l="l" t="t" r="r" b="b"/>
              <a:pathLst>
                <a:path w="1590039" h="2539">
                  <a:moveTo>
                    <a:pt x="0" y="0"/>
                  </a:moveTo>
                  <a:lnTo>
                    <a:pt x="1589677" y="2047"/>
                  </a:lnTo>
                </a:path>
              </a:pathLst>
            </a:custGeom>
            <a:ln w="25549">
              <a:solidFill>
                <a:srgbClr val="000000"/>
              </a:solidFill>
            </a:ln>
          </p:spPr>
          <p:txBody>
            <a:bodyPr wrap="square" lIns="0" tIns="0" rIns="0" bIns="0" rtlCol="0"/>
            <a:lstStyle/>
            <a:p>
              <a:endParaRPr/>
            </a:p>
          </p:txBody>
        </p:sp>
        <p:pic>
          <p:nvPicPr>
            <p:cNvPr id="26" name="object 26"/>
            <p:cNvPicPr/>
            <p:nvPr/>
          </p:nvPicPr>
          <p:blipFill>
            <a:blip r:embed="rId4" cstate="print"/>
            <a:stretch>
              <a:fillRect/>
            </a:stretch>
          </p:blipFill>
          <p:spPr>
            <a:xfrm>
              <a:off x="5891172" y="4608822"/>
              <a:ext cx="104530" cy="83015"/>
            </a:xfrm>
            <a:prstGeom prst="rect">
              <a:avLst/>
            </a:prstGeom>
          </p:spPr>
        </p:pic>
      </p:grpSp>
      <p:sp>
        <p:nvSpPr>
          <p:cNvPr id="27" name="object 27"/>
          <p:cNvSpPr txBox="1"/>
          <p:nvPr/>
        </p:nvSpPr>
        <p:spPr>
          <a:xfrm>
            <a:off x="3502025" y="4513968"/>
            <a:ext cx="71691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Actuators</a:t>
            </a:r>
            <a:endParaRPr sz="1400">
              <a:latin typeface="Times New Roman"/>
              <a:cs typeface="Times New Roman"/>
            </a:endParaRPr>
          </a:p>
        </p:txBody>
      </p:sp>
      <p:sp>
        <p:nvSpPr>
          <p:cNvPr id="28" name="object 28"/>
          <p:cNvSpPr txBox="1"/>
          <p:nvPr/>
        </p:nvSpPr>
        <p:spPr>
          <a:xfrm>
            <a:off x="762120" y="2819519"/>
            <a:ext cx="1676400" cy="304800"/>
          </a:xfrm>
          <a:prstGeom prst="rect">
            <a:avLst/>
          </a:prstGeom>
          <a:solidFill>
            <a:srgbClr val="4F81BD"/>
          </a:solidFill>
          <a:ln w="25549">
            <a:solidFill>
              <a:srgbClr val="375D8A"/>
            </a:solidFill>
          </a:ln>
        </p:spPr>
        <p:txBody>
          <a:bodyPr vert="horz" wrap="square" lIns="0" tIns="54610" rIns="0" bIns="0" rtlCol="0">
            <a:spAutoFit/>
          </a:bodyPr>
          <a:lstStyle/>
          <a:p>
            <a:pPr marL="85725">
              <a:lnSpc>
                <a:spcPct val="100000"/>
              </a:lnSpc>
              <a:spcBef>
                <a:spcPts val="430"/>
              </a:spcBef>
            </a:pPr>
            <a:r>
              <a:rPr sz="1200" b="1" spc="-5" dirty="0">
                <a:latin typeface="Calibri"/>
                <a:cs typeface="Calibri"/>
              </a:rPr>
              <a:t>How</a:t>
            </a:r>
            <a:r>
              <a:rPr sz="1200" b="1" spc="-30" dirty="0">
                <a:latin typeface="Calibri"/>
                <a:cs typeface="Calibri"/>
              </a:rPr>
              <a:t> </a:t>
            </a:r>
            <a:r>
              <a:rPr sz="1200" b="1" spc="-5" dirty="0">
                <a:latin typeface="Calibri"/>
                <a:cs typeface="Calibri"/>
              </a:rPr>
              <a:t>world</a:t>
            </a:r>
            <a:r>
              <a:rPr sz="1200" b="1" spc="-30" dirty="0">
                <a:latin typeface="Calibri"/>
                <a:cs typeface="Calibri"/>
              </a:rPr>
              <a:t> </a:t>
            </a:r>
            <a:r>
              <a:rPr sz="1200" b="1" spc="-10" dirty="0">
                <a:latin typeface="Calibri"/>
                <a:cs typeface="Calibri"/>
              </a:rPr>
              <a:t>evolves</a:t>
            </a:r>
            <a:endParaRPr sz="1200">
              <a:latin typeface="Calibri"/>
              <a:cs typeface="Calibri"/>
            </a:endParaRPr>
          </a:p>
        </p:txBody>
      </p:sp>
      <p:sp>
        <p:nvSpPr>
          <p:cNvPr id="29" name="object 29"/>
          <p:cNvSpPr txBox="1"/>
          <p:nvPr/>
        </p:nvSpPr>
        <p:spPr>
          <a:xfrm>
            <a:off x="762120" y="3200400"/>
            <a:ext cx="1676400" cy="305435"/>
          </a:xfrm>
          <a:prstGeom prst="rect">
            <a:avLst/>
          </a:prstGeom>
          <a:solidFill>
            <a:srgbClr val="4F81BD"/>
          </a:solidFill>
          <a:ln w="25549">
            <a:solidFill>
              <a:srgbClr val="375D8A"/>
            </a:solidFill>
          </a:ln>
        </p:spPr>
        <p:txBody>
          <a:bodyPr vert="horz" wrap="square" lIns="0" tIns="54610" rIns="0" bIns="0" rtlCol="0">
            <a:spAutoFit/>
          </a:bodyPr>
          <a:lstStyle/>
          <a:p>
            <a:pPr marL="85725">
              <a:lnSpc>
                <a:spcPct val="100000"/>
              </a:lnSpc>
              <a:spcBef>
                <a:spcPts val="430"/>
              </a:spcBef>
            </a:pPr>
            <a:r>
              <a:rPr sz="1200" b="1" spc="-10" dirty="0">
                <a:latin typeface="Calibri"/>
                <a:cs typeface="Calibri"/>
              </a:rPr>
              <a:t>What</a:t>
            </a:r>
            <a:r>
              <a:rPr sz="1200" b="1" spc="-25" dirty="0">
                <a:latin typeface="Calibri"/>
                <a:cs typeface="Calibri"/>
              </a:rPr>
              <a:t> </a:t>
            </a:r>
            <a:r>
              <a:rPr sz="1200" b="1" spc="-15" dirty="0">
                <a:latin typeface="Calibri"/>
                <a:cs typeface="Calibri"/>
              </a:rPr>
              <a:t>my</a:t>
            </a:r>
            <a:r>
              <a:rPr sz="1200" b="1" spc="-20" dirty="0">
                <a:latin typeface="Calibri"/>
                <a:cs typeface="Calibri"/>
              </a:rPr>
              <a:t> </a:t>
            </a:r>
            <a:r>
              <a:rPr sz="1200" b="1" spc="-5" dirty="0">
                <a:latin typeface="Calibri"/>
                <a:cs typeface="Calibri"/>
              </a:rPr>
              <a:t>actions</a:t>
            </a:r>
            <a:r>
              <a:rPr sz="1200" b="1" spc="-20" dirty="0">
                <a:latin typeface="Calibri"/>
                <a:cs typeface="Calibri"/>
              </a:rPr>
              <a:t> </a:t>
            </a:r>
            <a:r>
              <a:rPr sz="1200" b="1" spc="-5" dirty="0">
                <a:latin typeface="Calibri"/>
                <a:cs typeface="Calibri"/>
              </a:rPr>
              <a:t>do</a:t>
            </a:r>
            <a:endParaRPr sz="1200">
              <a:latin typeface="Calibri"/>
              <a:cs typeface="Calibri"/>
            </a:endParaRPr>
          </a:p>
        </p:txBody>
      </p:sp>
      <p:grpSp>
        <p:nvGrpSpPr>
          <p:cNvPr id="30" name="object 30"/>
          <p:cNvGrpSpPr/>
          <p:nvPr/>
        </p:nvGrpSpPr>
        <p:grpSpPr>
          <a:xfrm>
            <a:off x="1053662" y="2501582"/>
            <a:ext cx="1093470" cy="254635"/>
            <a:chOff x="1053662" y="2501582"/>
            <a:chExt cx="1093470" cy="254635"/>
          </a:xfrm>
        </p:grpSpPr>
        <p:sp>
          <p:nvSpPr>
            <p:cNvPr id="31" name="object 31"/>
            <p:cNvSpPr/>
            <p:nvPr/>
          </p:nvSpPr>
          <p:spPr>
            <a:xfrm>
              <a:off x="1066680" y="2514600"/>
              <a:ext cx="1067435" cy="228600"/>
            </a:xfrm>
            <a:custGeom>
              <a:avLst/>
              <a:gdLst/>
              <a:ahLst/>
              <a:cxnLst/>
              <a:rect l="l" t="t" r="r" b="b"/>
              <a:pathLst>
                <a:path w="1067435" h="228600">
                  <a:moveTo>
                    <a:pt x="533519" y="228599"/>
                  </a:moveTo>
                  <a:lnTo>
                    <a:pt x="461124" y="227556"/>
                  </a:lnTo>
                  <a:lnTo>
                    <a:pt x="391689" y="224517"/>
                  </a:lnTo>
                  <a:lnTo>
                    <a:pt x="325849" y="219617"/>
                  </a:lnTo>
                  <a:lnTo>
                    <a:pt x="264242" y="212994"/>
                  </a:lnTo>
                  <a:lnTo>
                    <a:pt x="207501" y="204784"/>
                  </a:lnTo>
                  <a:lnTo>
                    <a:pt x="156264" y="195122"/>
                  </a:lnTo>
                  <a:lnTo>
                    <a:pt x="111165" y="184145"/>
                  </a:lnTo>
                  <a:lnTo>
                    <a:pt x="72841" y="171989"/>
                  </a:lnTo>
                  <a:lnTo>
                    <a:pt x="19057" y="144685"/>
                  </a:lnTo>
                  <a:lnTo>
                    <a:pt x="0" y="114299"/>
                  </a:lnTo>
                  <a:lnTo>
                    <a:pt x="4870" y="98790"/>
                  </a:lnTo>
                  <a:lnTo>
                    <a:pt x="41926" y="69809"/>
                  </a:lnTo>
                  <a:lnTo>
                    <a:pt x="111165" y="44454"/>
                  </a:lnTo>
                  <a:lnTo>
                    <a:pt x="156264" y="33477"/>
                  </a:lnTo>
                  <a:lnTo>
                    <a:pt x="207501" y="23815"/>
                  </a:lnTo>
                  <a:lnTo>
                    <a:pt x="264242" y="15605"/>
                  </a:lnTo>
                  <a:lnTo>
                    <a:pt x="325849" y="8982"/>
                  </a:lnTo>
                  <a:lnTo>
                    <a:pt x="391689" y="4082"/>
                  </a:lnTo>
                  <a:lnTo>
                    <a:pt x="461124" y="1043"/>
                  </a:lnTo>
                  <a:lnTo>
                    <a:pt x="533519" y="0"/>
                  </a:lnTo>
                  <a:lnTo>
                    <a:pt x="605915" y="1043"/>
                  </a:lnTo>
                  <a:lnTo>
                    <a:pt x="675350" y="4082"/>
                  </a:lnTo>
                  <a:lnTo>
                    <a:pt x="741190" y="8982"/>
                  </a:lnTo>
                  <a:lnTo>
                    <a:pt x="802797" y="15605"/>
                  </a:lnTo>
                  <a:lnTo>
                    <a:pt x="859538" y="23815"/>
                  </a:lnTo>
                  <a:lnTo>
                    <a:pt x="910775" y="33477"/>
                  </a:lnTo>
                  <a:lnTo>
                    <a:pt x="955874" y="44454"/>
                  </a:lnTo>
                  <a:lnTo>
                    <a:pt x="994198" y="56610"/>
                  </a:lnTo>
                  <a:lnTo>
                    <a:pt x="1047982" y="83914"/>
                  </a:lnTo>
                  <a:lnTo>
                    <a:pt x="1067039" y="114299"/>
                  </a:lnTo>
                  <a:lnTo>
                    <a:pt x="1062169" y="129809"/>
                  </a:lnTo>
                  <a:lnTo>
                    <a:pt x="1025113" y="158790"/>
                  </a:lnTo>
                  <a:lnTo>
                    <a:pt x="955874" y="184145"/>
                  </a:lnTo>
                  <a:lnTo>
                    <a:pt x="910775" y="195122"/>
                  </a:lnTo>
                  <a:lnTo>
                    <a:pt x="859538" y="204784"/>
                  </a:lnTo>
                  <a:lnTo>
                    <a:pt x="802797" y="212994"/>
                  </a:lnTo>
                  <a:lnTo>
                    <a:pt x="741190" y="219617"/>
                  </a:lnTo>
                  <a:lnTo>
                    <a:pt x="675350" y="224517"/>
                  </a:lnTo>
                  <a:lnTo>
                    <a:pt x="605915" y="227556"/>
                  </a:lnTo>
                  <a:lnTo>
                    <a:pt x="533519" y="228599"/>
                  </a:lnTo>
                  <a:close/>
                </a:path>
              </a:pathLst>
            </a:custGeom>
            <a:solidFill>
              <a:srgbClr val="4F81BD"/>
            </a:solidFill>
          </p:spPr>
          <p:txBody>
            <a:bodyPr wrap="square" lIns="0" tIns="0" rIns="0" bIns="0" rtlCol="0"/>
            <a:lstStyle/>
            <a:p>
              <a:endParaRPr/>
            </a:p>
          </p:txBody>
        </p:sp>
        <p:sp>
          <p:nvSpPr>
            <p:cNvPr id="32" name="object 32"/>
            <p:cNvSpPr/>
            <p:nvPr/>
          </p:nvSpPr>
          <p:spPr>
            <a:xfrm>
              <a:off x="1066680" y="2514600"/>
              <a:ext cx="1067435" cy="228600"/>
            </a:xfrm>
            <a:custGeom>
              <a:avLst/>
              <a:gdLst/>
              <a:ahLst/>
              <a:cxnLst/>
              <a:rect l="l" t="t" r="r" b="b"/>
              <a:pathLst>
                <a:path w="1067435" h="228600">
                  <a:moveTo>
                    <a:pt x="0" y="114299"/>
                  </a:moveTo>
                  <a:lnTo>
                    <a:pt x="4870" y="98790"/>
                  </a:lnTo>
                  <a:lnTo>
                    <a:pt x="19057" y="83914"/>
                  </a:lnTo>
                  <a:lnTo>
                    <a:pt x="72841" y="56610"/>
                  </a:lnTo>
                  <a:lnTo>
                    <a:pt x="111165" y="44454"/>
                  </a:lnTo>
                  <a:lnTo>
                    <a:pt x="156264" y="33477"/>
                  </a:lnTo>
                  <a:lnTo>
                    <a:pt x="207501" y="23815"/>
                  </a:lnTo>
                  <a:lnTo>
                    <a:pt x="264242" y="15605"/>
                  </a:lnTo>
                  <a:lnTo>
                    <a:pt x="325849" y="8982"/>
                  </a:lnTo>
                  <a:lnTo>
                    <a:pt x="391689" y="4082"/>
                  </a:lnTo>
                  <a:lnTo>
                    <a:pt x="461124" y="1043"/>
                  </a:lnTo>
                  <a:lnTo>
                    <a:pt x="533519" y="0"/>
                  </a:lnTo>
                  <a:lnTo>
                    <a:pt x="605915" y="1043"/>
                  </a:lnTo>
                  <a:lnTo>
                    <a:pt x="675350" y="4082"/>
                  </a:lnTo>
                  <a:lnTo>
                    <a:pt x="741190" y="8982"/>
                  </a:lnTo>
                  <a:lnTo>
                    <a:pt x="802797" y="15605"/>
                  </a:lnTo>
                  <a:lnTo>
                    <a:pt x="859538" y="23815"/>
                  </a:lnTo>
                  <a:lnTo>
                    <a:pt x="910775" y="33477"/>
                  </a:lnTo>
                  <a:lnTo>
                    <a:pt x="955874" y="44454"/>
                  </a:lnTo>
                  <a:lnTo>
                    <a:pt x="994198" y="56610"/>
                  </a:lnTo>
                  <a:lnTo>
                    <a:pt x="1047982" y="83914"/>
                  </a:lnTo>
                  <a:lnTo>
                    <a:pt x="1067039" y="114299"/>
                  </a:lnTo>
                  <a:lnTo>
                    <a:pt x="1025113" y="158790"/>
                  </a:lnTo>
                  <a:lnTo>
                    <a:pt x="955874" y="184145"/>
                  </a:lnTo>
                  <a:lnTo>
                    <a:pt x="910775" y="195122"/>
                  </a:lnTo>
                  <a:lnTo>
                    <a:pt x="859538" y="204784"/>
                  </a:lnTo>
                  <a:lnTo>
                    <a:pt x="802797" y="212994"/>
                  </a:lnTo>
                  <a:lnTo>
                    <a:pt x="741190" y="219617"/>
                  </a:lnTo>
                  <a:lnTo>
                    <a:pt x="675350" y="224517"/>
                  </a:lnTo>
                  <a:lnTo>
                    <a:pt x="605915" y="227556"/>
                  </a:lnTo>
                  <a:lnTo>
                    <a:pt x="533519" y="228599"/>
                  </a:lnTo>
                  <a:lnTo>
                    <a:pt x="461124" y="227556"/>
                  </a:lnTo>
                  <a:lnTo>
                    <a:pt x="391689" y="224517"/>
                  </a:lnTo>
                  <a:lnTo>
                    <a:pt x="325849" y="219617"/>
                  </a:lnTo>
                  <a:lnTo>
                    <a:pt x="264242" y="212994"/>
                  </a:lnTo>
                  <a:lnTo>
                    <a:pt x="207501" y="204784"/>
                  </a:lnTo>
                  <a:lnTo>
                    <a:pt x="156264" y="195122"/>
                  </a:lnTo>
                  <a:lnTo>
                    <a:pt x="111165" y="184145"/>
                  </a:lnTo>
                  <a:lnTo>
                    <a:pt x="72841" y="171989"/>
                  </a:lnTo>
                  <a:lnTo>
                    <a:pt x="19057" y="144685"/>
                  </a:lnTo>
                  <a:lnTo>
                    <a:pt x="4870" y="129809"/>
                  </a:lnTo>
                  <a:lnTo>
                    <a:pt x="0" y="114299"/>
                  </a:lnTo>
                  <a:close/>
                </a:path>
              </a:pathLst>
            </a:custGeom>
            <a:ln w="25549">
              <a:solidFill>
                <a:srgbClr val="375D8A"/>
              </a:solidFill>
            </a:ln>
          </p:spPr>
          <p:txBody>
            <a:bodyPr wrap="square" lIns="0" tIns="0" rIns="0" bIns="0" rtlCol="0"/>
            <a:lstStyle/>
            <a:p>
              <a:endParaRPr/>
            </a:p>
          </p:txBody>
        </p:sp>
      </p:grpSp>
      <p:sp>
        <p:nvSpPr>
          <p:cNvPr id="33" name="object 33"/>
          <p:cNvSpPr txBox="1"/>
          <p:nvPr/>
        </p:nvSpPr>
        <p:spPr>
          <a:xfrm>
            <a:off x="1435546" y="2518664"/>
            <a:ext cx="329565"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Calibri"/>
                <a:cs typeface="Calibri"/>
              </a:rPr>
              <a:t>s</a:t>
            </a:r>
            <a:r>
              <a:rPr sz="1200" spc="-20" dirty="0">
                <a:latin typeface="Calibri"/>
                <a:cs typeface="Calibri"/>
              </a:rPr>
              <a:t>t</a:t>
            </a:r>
            <a:r>
              <a:rPr sz="1200" spc="-15" dirty="0">
                <a:latin typeface="Calibri"/>
                <a:cs typeface="Calibri"/>
              </a:rPr>
              <a:t>at</a:t>
            </a:r>
            <a:r>
              <a:rPr sz="1200" dirty="0">
                <a:latin typeface="Calibri"/>
                <a:cs typeface="Calibri"/>
              </a:rPr>
              <a:t>e</a:t>
            </a:r>
            <a:endParaRPr sz="1200">
              <a:latin typeface="Calibri"/>
              <a:cs typeface="Calibri"/>
            </a:endParaRPr>
          </a:p>
        </p:txBody>
      </p:sp>
      <p:grpSp>
        <p:nvGrpSpPr>
          <p:cNvPr id="34" name="object 34"/>
          <p:cNvGrpSpPr/>
          <p:nvPr/>
        </p:nvGrpSpPr>
        <p:grpSpPr>
          <a:xfrm>
            <a:off x="1967944" y="2577784"/>
            <a:ext cx="1285240" cy="788035"/>
            <a:chOff x="1967944" y="2577784"/>
            <a:chExt cx="1285240" cy="788035"/>
          </a:xfrm>
        </p:grpSpPr>
        <p:pic>
          <p:nvPicPr>
            <p:cNvPr id="35" name="object 35"/>
            <p:cNvPicPr/>
            <p:nvPr/>
          </p:nvPicPr>
          <p:blipFill>
            <a:blip r:embed="rId5" cstate="print"/>
            <a:stretch>
              <a:fillRect/>
            </a:stretch>
          </p:blipFill>
          <p:spPr>
            <a:xfrm>
              <a:off x="2966677" y="3274440"/>
              <a:ext cx="225639" cy="83002"/>
            </a:xfrm>
            <a:prstGeom prst="rect">
              <a:avLst/>
            </a:prstGeom>
          </p:spPr>
        </p:pic>
        <p:sp>
          <p:nvSpPr>
            <p:cNvPr id="36" name="object 36"/>
            <p:cNvSpPr/>
            <p:nvPr/>
          </p:nvSpPr>
          <p:spPr>
            <a:xfrm>
              <a:off x="2438279" y="2940431"/>
              <a:ext cx="687070" cy="412750"/>
            </a:xfrm>
            <a:custGeom>
              <a:avLst/>
              <a:gdLst/>
              <a:ahLst/>
              <a:cxnLst/>
              <a:rect l="l" t="t" r="r" b="b"/>
              <a:pathLst>
                <a:path w="687069" h="412750">
                  <a:moveTo>
                    <a:pt x="0" y="412427"/>
                  </a:moveTo>
                  <a:lnTo>
                    <a:pt x="686929" y="0"/>
                  </a:lnTo>
                </a:path>
              </a:pathLst>
            </a:custGeom>
            <a:ln w="25549">
              <a:solidFill>
                <a:srgbClr val="000000"/>
              </a:solidFill>
            </a:ln>
          </p:spPr>
          <p:txBody>
            <a:bodyPr wrap="square" lIns="0" tIns="0" rIns="0" bIns="0" rtlCol="0"/>
            <a:lstStyle/>
            <a:p>
              <a:endParaRPr/>
            </a:p>
          </p:txBody>
        </p:sp>
        <p:pic>
          <p:nvPicPr>
            <p:cNvPr id="37" name="object 37"/>
            <p:cNvPicPr/>
            <p:nvPr/>
          </p:nvPicPr>
          <p:blipFill>
            <a:blip r:embed="rId6" cstate="print"/>
            <a:stretch>
              <a:fillRect/>
            </a:stretch>
          </p:blipFill>
          <p:spPr>
            <a:xfrm>
              <a:off x="3073010" y="2901811"/>
              <a:ext cx="108021" cy="90819"/>
            </a:xfrm>
            <a:prstGeom prst="rect">
              <a:avLst/>
            </a:prstGeom>
          </p:spPr>
        </p:pic>
        <p:sp>
          <p:nvSpPr>
            <p:cNvPr id="38" name="object 38"/>
            <p:cNvSpPr/>
            <p:nvPr/>
          </p:nvSpPr>
          <p:spPr>
            <a:xfrm>
              <a:off x="2437919" y="2819519"/>
              <a:ext cx="751840" cy="2540"/>
            </a:xfrm>
            <a:custGeom>
              <a:avLst/>
              <a:gdLst/>
              <a:ahLst/>
              <a:cxnLst/>
              <a:rect l="l" t="t" r="r" b="b"/>
              <a:pathLst>
                <a:path w="751839" h="2539">
                  <a:moveTo>
                    <a:pt x="0" y="0"/>
                  </a:moveTo>
                  <a:lnTo>
                    <a:pt x="751598" y="1934"/>
                  </a:lnTo>
                </a:path>
              </a:pathLst>
            </a:custGeom>
            <a:ln w="25549">
              <a:solidFill>
                <a:srgbClr val="000000"/>
              </a:solidFill>
            </a:ln>
          </p:spPr>
          <p:txBody>
            <a:bodyPr wrap="square" lIns="0" tIns="0" rIns="0" bIns="0" rtlCol="0"/>
            <a:lstStyle/>
            <a:p>
              <a:endParaRPr/>
            </a:p>
          </p:txBody>
        </p:sp>
        <p:pic>
          <p:nvPicPr>
            <p:cNvPr id="39" name="object 39"/>
            <p:cNvPicPr/>
            <p:nvPr/>
          </p:nvPicPr>
          <p:blipFill>
            <a:blip r:embed="rId7" cstate="print"/>
            <a:stretch>
              <a:fillRect/>
            </a:stretch>
          </p:blipFill>
          <p:spPr>
            <a:xfrm>
              <a:off x="3147936" y="2779872"/>
              <a:ext cx="104567" cy="83015"/>
            </a:xfrm>
            <a:prstGeom prst="rect">
              <a:avLst/>
            </a:prstGeom>
          </p:spPr>
        </p:pic>
        <p:sp>
          <p:nvSpPr>
            <p:cNvPr id="40" name="object 40"/>
            <p:cNvSpPr/>
            <p:nvPr/>
          </p:nvSpPr>
          <p:spPr>
            <a:xfrm>
              <a:off x="1980719" y="2590559"/>
              <a:ext cx="1209675" cy="142875"/>
            </a:xfrm>
            <a:custGeom>
              <a:avLst/>
              <a:gdLst/>
              <a:ahLst/>
              <a:cxnLst/>
              <a:rect l="l" t="t" r="r" b="b"/>
              <a:pathLst>
                <a:path w="1209675" h="142875">
                  <a:moveTo>
                    <a:pt x="0" y="0"/>
                  </a:moveTo>
                  <a:lnTo>
                    <a:pt x="1209401" y="142736"/>
                  </a:lnTo>
                </a:path>
              </a:pathLst>
            </a:custGeom>
            <a:ln w="25549">
              <a:solidFill>
                <a:srgbClr val="000000"/>
              </a:solidFill>
            </a:ln>
          </p:spPr>
          <p:txBody>
            <a:bodyPr wrap="square" lIns="0" tIns="0" rIns="0" bIns="0" rtlCol="0"/>
            <a:lstStyle/>
            <a:p>
              <a:endParaRPr/>
            </a:p>
          </p:txBody>
        </p:sp>
        <p:pic>
          <p:nvPicPr>
            <p:cNvPr id="41" name="object 41"/>
            <p:cNvPicPr/>
            <p:nvPr/>
          </p:nvPicPr>
          <p:blipFill>
            <a:blip r:embed="rId8" cstate="print"/>
            <a:stretch>
              <a:fillRect/>
            </a:stretch>
          </p:blipFill>
          <p:spPr>
            <a:xfrm>
              <a:off x="3145443" y="2688618"/>
              <a:ext cx="107317" cy="82619"/>
            </a:xfrm>
            <a:prstGeom prst="rect">
              <a:avLst/>
            </a:prstGeom>
          </p:spPr>
        </p:pic>
      </p:grpSp>
      <p:sp>
        <p:nvSpPr>
          <p:cNvPr id="42" name="object 42"/>
          <p:cNvSpPr txBox="1"/>
          <p:nvPr/>
        </p:nvSpPr>
        <p:spPr>
          <a:xfrm>
            <a:off x="6092945" y="4822831"/>
            <a:ext cx="95885" cy="228600"/>
          </a:xfrm>
          <a:prstGeom prst="rect">
            <a:avLst/>
          </a:prstGeom>
        </p:spPr>
        <p:txBody>
          <a:bodyPr vert="horz" wrap="square" lIns="0" tIns="0" rIns="0" bIns="0" rtlCol="0">
            <a:spAutoFit/>
          </a:bodyPr>
          <a:lstStyle/>
          <a:p>
            <a:pPr marL="12700">
              <a:lnSpc>
                <a:spcPts val="1620"/>
              </a:lnSpc>
            </a:pPr>
            <a:r>
              <a:rPr sz="1600" b="1" dirty="0">
                <a:latin typeface="Calibri"/>
                <a:cs typeface="Calibri"/>
              </a:rPr>
              <a:t>t</a:t>
            </a:r>
            <a:endParaRPr sz="1600">
              <a:latin typeface="Calibri"/>
              <a:cs typeface="Calibri"/>
            </a:endParaRPr>
          </a:p>
        </p:txBody>
      </p:sp>
      <p:sp>
        <p:nvSpPr>
          <p:cNvPr id="43" name="object 43"/>
          <p:cNvSpPr txBox="1"/>
          <p:nvPr/>
        </p:nvSpPr>
        <p:spPr>
          <a:xfrm>
            <a:off x="1520945" y="5218203"/>
            <a:ext cx="871219" cy="393065"/>
          </a:xfrm>
          <a:prstGeom prst="rect">
            <a:avLst/>
          </a:prstGeom>
        </p:spPr>
        <p:txBody>
          <a:bodyPr vert="horz" wrap="square" lIns="0" tIns="0" rIns="0" bIns="0" rtlCol="0">
            <a:spAutoFit/>
          </a:bodyPr>
          <a:lstStyle/>
          <a:p>
            <a:pPr marL="12700">
              <a:lnSpc>
                <a:spcPts val="2795"/>
              </a:lnSpc>
            </a:pPr>
            <a:r>
              <a:rPr sz="2400" b="1" spc="-5" dirty="0">
                <a:latin typeface="Palatino Linotype"/>
                <a:cs typeface="Palatino Linotype"/>
              </a:rPr>
              <a:t>Agent</a:t>
            </a:r>
            <a:endParaRPr sz="2400">
              <a:latin typeface="Palatino Linotype"/>
              <a:cs typeface="Palatino Linotype"/>
            </a:endParaRPr>
          </a:p>
        </p:txBody>
      </p:sp>
    </p:spTree>
    <p:extLst>
      <p:ext uri="{BB962C8B-B14F-4D97-AF65-F5344CB8AC3E}">
        <p14:creationId xmlns:p14="http://schemas.microsoft.com/office/powerpoint/2010/main" val="38645848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22261" y="86867"/>
            <a:ext cx="4218940" cy="695960"/>
          </a:xfrm>
          <a:prstGeom prst="rect">
            <a:avLst/>
          </a:prstGeom>
        </p:spPr>
        <p:txBody>
          <a:bodyPr vert="horz" wrap="square" lIns="0" tIns="12700" rIns="0" bIns="0" rtlCol="0">
            <a:spAutoFit/>
          </a:bodyPr>
          <a:lstStyle/>
          <a:p>
            <a:pPr marL="12700">
              <a:lnSpc>
                <a:spcPct val="100000"/>
              </a:lnSpc>
              <a:spcBef>
                <a:spcPts val="100"/>
              </a:spcBef>
            </a:pPr>
            <a:r>
              <a:rPr spc="-10" dirty="0"/>
              <a:t>Goal</a:t>
            </a:r>
            <a:r>
              <a:rPr spc="-45" dirty="0"/>
              <a:t> </a:t>
            </a:r>
            <a:r>
              <a:rPr spc="-5" dirty="0"/>
              <a:t>based</a:t>
            </a:r>
            <a:r>
              <a:rPr spc="-40" dirty="0"/>
              <a:t> </a:t>
            </a:r>
            <a:r>
              <a:rPr spc="-20" dirty="0"/>
              <a:t>Agents</a:t>
            </a:r>
          </a:p>
        </p:txBody>
      </p:sp>
      <p:sp>
        <p:nvSpPr>
          <p:cNvPr id="3" name="object 3"/>
          <p:cNvSpPr txBox="1"/>
          <p:nvPr/>
        </p:nvSpPr>
        <p:spPr>
          <a:xfrm>
            <a:off x="530225" y="652272"/>
            <a:ext cx="7991475" cy="1153160"/>
          </a:xfrm>
          <a:prstGeom prst="rect">
            <a:avLst/>
          </a:prstGeom>
        </p:spPr>
        <p:txBody>
          <a:bodyPr vert="horz" wrap="square" lIns="0" tIns="12700" rIns="0" bIns="0" rtlCol="0">
            <a:spAutoFit/>
          </a:bodyPr>
          <a:lstStyle/>
          <a:p>
            <a:pPr marL="12700" marR="4250055">
              <a:lnSpc>
                <a:spcPct val="120800"/>
              </a:lnSpc>
              <a:spcBef>
                <a:spcPts val="100"/>
              </a:spcBef>
            </a:pPr>
            <a:r>
              <a:rPr sz="1600" spc="-10" dirty="0">
                <a:latin typeface="Calibri"/>
                <a:cs typeface="Calibri"/>
              </a:rPr>
              <a:t>Information comes from sensors-</a:t>
            </a:r>
            <a:r>
              <a:rPr sz="1600" b="1" spc="-10" dirty="0">
                <a:latin typeface="Calibri"/>
                <a:cs typeface="Calibri"/>
              </a:rPr>
              <a:t>Percepts </a:t>
            </a:r>
            <a:r>
              <a:rPr sz="1600" b="1" spc="-5" dirty="0">
                <a:latin typeface="Calibri"/>
                <a:cs typeface="Calibri"/>
              </a:rPr>
              <a:t> </a:t>
            </a:r>
            <a:r>
              <a:rPr sz="1600" spc="-10" dirty="0">
                <a:latin typeface="Calibri"/>
                <a:cs typeface="Calibri"/>
              </a:rPr>
              <a:t>Changes </a:t>
            </a:r>
            <a:r>
              <a:rPr sz="1600" spc="-5" dirty="0">
                <a:latin typeface="Calibri"/>
                <a:cs typeface="Calibri"/>
              </a:rPr>
              <a:t>the </a:t>
            </a:r>
            <a:r>
              <a:rPr sz="1600" spc="-10" dirty="0">
                <a:latin typeface="Calibri"/>
                <a:cs typeface="Calibri"/>
              </a:rPr>
              <a:t>agent</a:t>
            </a:r>
            <a:r>
              <a:rPr sz="1600" spc="-5" dirty="0">
                <a:latin typeface="Calibri"/>
                <a:cs typeface="Calibri"/>
              </a:rPr>
              <a:t> </a:t>
            </a:r>
            <a:r>
              <a:rPr sz="1600" spc="-10" dirty="0">
                <a:latin typeface="Calibri"/>
                <a:cs typeface="Calibri"/>
              </a:rPr>
              <a:t>current</a:t>
            </a:r>
            <a:r>
              <a:rPr sz="1600" spc="15" dirty="0">
                <a:latin typeface="Calibri"/>
                <a:cs typeface="Calibri"/>
              </a:rPr>
              <a:t> </a:t>
            </a:r>
            <a:r>
              <a:rPr sz="1600" b="1" spc="-20" dirty="0">
                <a:latin typeface="Calibri"/>
                <a:cs typeface="Calibri"/>
              </a:rPr>
              <a:t>state</a:t>
            </a:r>
            <a:r>
              <a:rPr sz="1600" b="1" spc="-5" dirty="0">
                <a:latin typeface="Calibri"/>
                <a:cs typeface="Calibri"/>
              </a:rPr>
              <a:t> of the </a:t>
            </a:r>
            <a:r>
              <a:rPr sz="1600" b="1" spc="-10" dirty="0">
                <a:latin typeface="Calibri"/>
                <a:cs typeface="Calibri"/>
              </a:rPr>
              <a:t>world</a:t>
            </a:r>
            <a:endParaRPr sz="1600">
              <a:latin typeface="Calibri"/>
              <a:cs typeface="Calibri"/>
            </a:endParaRPr>
          </a:p>
          <a:p>
            <a:pPr marL="354965" marR="5080" indent="-312420">
              <a:lnSpc>
                <a:spcPct val="100000"/>
              </a:lnSpc>
              <a:spcBef>
                <a:spcPts val="400"/>
              </a:spcBef>
              <a:buFont typeface="Arial"/>
              <a:buChar char="•"/>
              <a:tabLst>
                <a:tab pos="354965" algn="l"/>
                <a:tab pos="355600" algn="l"/>
              </a:tabLst>
            </a:pPr>
            <a:r>
              <a:rPr sz="1600" b="1" spc="-5" dirty="0">
                <a:latin typeface="Calibri"/>
                <a:cs typeface="Calibri"/>
              </a:rPr>
              <a:t>Based on the </a:t>
            </a:r>
            <a:r>
              <a:rPr sz="1600" b="1" spc="-20" dirty="0">
                <a:latin typeface="Calibri"/>
                <a:cs typeface="Calibri"/>
              </a:rPr>
              <a:t>state</a:t>
            </a:r>
            <a:r>
              <a:rPr sz="1600" b="1" spc="-5" dirty="0">
                <a:latin typeface="Calibri"/>
                <a:cs typeface="Calibri"/>
              </a:rPr>
              <a:t> of the </a:t>
            </a:r>
            <a:r>
              <a:rPr sz="1600" b="1" spc="-10" dirty="0">
                <a:latin typeface="Calibri"/>
                <a:cs typeface="Calibri"/>
              </a:rPr>
              <a:t>world</a:t>
            </a:r>
            <a:r>
              <a:rPr sz="1600" b="1" spc="-5" dirty="0">
                <a:latin typeface="Calibri"/>
                <a:cs typeface="Calibri"/>
              </a:rPr>
              <a:t> and knowledge(memory), and </a:t>
            </a:r>
            <a:r>
              <a:rPr sz="1600" b="1" spc="-10" dirty="0">
                <a:latin typeface="Calibri"/>
                <a:cs typeface="Calibri"/>
              </a:rPr>
              <a:t>goals</a:t>
            </a:r>
            <a:r>
              <a:rPr sz="1600" b="1" spc="-5" dirty="0">
                <a:latin typeface="Calibri"/>
                <a:cs typeface="Calibri"/>
              </a:rPr>
              <a:t> </a:t>
            </a:r>
            <a:r>
              <a:rPr sz="1600" b="1" dirty="0">
                <a:latin typeface="Calibri"/>
                <a:cs typeface="Calibri"/>
              </a:rPr>
              <a:t>/</a:t>
            </a:r>
            <a:r>
              <a:rPr sz="1600" b="1" spc="-5" dirty="0">
                <a:latin typeface="Calibri"/>
                <a:cs typeface="Calibri"/>
              </a:rPr>
              <a:t> </a:t>
            </a:r>
            <a:r>
              <a:rPr sz="1600" b="1" spc="-10" dirty="0">
                <a:latin typeface="Calibri"/>
                <a:cs typeface="Calibri"/>
              </a:rPr>
              <a:t>intentions</a:t>
            </a:r>
            <a:r>
              <a:rPr sz="1600" b="1" spc="-5" dirty="0">
                <a:latin typeface="Calibri"/>
                <a:cs typeface="Calibri"/>
              </a:rPr>
              <a:t> it chooses </a:t>
            </a:r>
            <a:r>
              <a:rPr sz="1600" b="1" spc="-350" dirty="0">
                <a:latin typeface="Calibri"/>
                <a:cs typeface="Calibri"/>
              </a:rPr>
              <a:t> </a:t>
            </a:r>
            <a:r>
              <a:rPr sz="1600" b="1" spc="-5" dirty="0">
                <a:latin typeface="Calibri"/>
                <a:cs typeface="Calibri"/>
              </a:rPr>
              <a:t>actions</a:t>
            </a:r>
            <a:r>
              <a:rPr sz="1600" b="1" spc="-10" dirty="0">
                <a:latin typeface="Calibri"/>
                <a:cs typeface="Calibri"/>
              </a:rPr>
              <a:t> through</a:t>
            </a:r>
            <a:r>
              <a:rPr sz="1600" b="1" spc="-5" dirty="0">
                <a:latin typeface="Calibri"/>
                <a:cs typeface="Calibri"/>
              </a:rPr>
              <a:t> the </a:t>
            </a:r>
            <a:r>
              <a:rPr sz="1600" b="1" spc="-15" dirty="0">
                <a:latin typeface="Calibri"/>
                <a:cs typeface="Calibri"/>
              </a:rPr>
              <a:t>effectors.</a:t>
            </a:r>
            <a:endParaRPr sz="1600">
              <a:latin typeface="Calibri"/>
              <a:cs typeface="Calibri"/>
            </a:endParaRPr>
          </a:p>
        </p:txBody>
      </p:sp>
      <p:grpSp>
        <p:nvGrpSpPr>
          <p:cNvPr id="4" name="object 4"/>
          <p:cNvGrpSpPr/>
          <p:nvPr/>
        </p:nvGrpSpPr>
        <p:grpSpPr>
          <a:xfrm>
            <a:off x="520502" y="2196662"/>
            <a:ext cx="4826635" cy="3608070"/>
            <a:chOff x="520502" y="2196662"/>
            <a:chExt cx="4826635" cy="3608070"/>
          </a:xfrm>
        </p:grpSpPr>
        <p:sp>
          <p:nvSpPr>
            <p:cNvPr id="5" name="object 5"/>
            <p:cNvSpPr/>
            <p:nvPr/>
          </p:nvSpPr>
          <p:spPr>
            <a:xfrm>
              <a:off x="533519" y="2209679"/>
              <a:ext cx="4800600" cy="3582035"/>
            </a:xfrm>
            <a:custGeom>
              <a:avLst/>
              <a:gdLst/>
              <a:ahLst/>
              <a:cxnLst/>
              <a:rect l="l" t="t" r="r" b="b"/>
              <a:pathLst>
                <a:path w="4800600" h="3582035">
                  <a:moveTo>
                    <a:pt x="4800599" y="3581639"/>
                  </a:moveTo>
                  <a:lnTo>
                    <a:pt x="0" y="3581639"/>
                  </a:lnTo>
                  <a:lnTo>
                    <a:pt x="0" y="0"/>
                  </a:lnTo>
                  <a:lnTo>
                    <a:pt x="4800599" y="0"/>
                  </a:lnTo>
                  <a:lnTo>
                    <a:pt x="4800599" y="3581639"/>
                  </a:lnTo>
                  <a:close/>
                </a:path>
              </a:pathLst>
            </a:custGeom>
            <a:solidFill>
              <a:srgbClr val="4F81BD"/>
            </a:solidFill>
          </p:spPr>
          <p:txBody>
            <a:bodyPr wrap="square" lIns="0" tIns="0" rIns="0" bIns="0" rtlCol="0"/>
            <a:lstStyle/>
            <a:p>
              <a:endParaRPr/>
            </a:p>
          </p:txBody>
        </p:sp>
        <p:sp>
          <p:nvSpPr>
            <p:cNvPr id="6" name="object 6"/>
            <p:cNvSpPr/>
            <p:nvPr/>
          </p:nvSpPr>
          <p:spPr>
            <a:xfrm>
              <a:off x="533519" y="2209679"/>
              <a:ext cx="4800600" cy="3582035"/>
            </a:xfrm>
            <a:custGeom>
              <a:avLst/>
              <a:gdLst/>
              <a:ahLst/>
              <a:cxnLst/>
              <a:rect l="l" t="t" r="r" b="b"/>
              <a:pathLst>
                <a:path w="4800600" h="3582035">
                  <a:moveTo>
                    <a:pt x="0" y="0"/>
                  </a:moveTo>
                  <a:lnTo>
                    <a:pt x="4800599" y="0"/>
                  </a:lnTo>
                  <a:lnTo>
                    <a:pt x="4800599" y="3581639"/>
                  </a:lnTo>
                  <a:lnTo>
                    <a:pt x="0" y="3581639"/>
                  </a:lnTo>
                  <a:lnTo>
                    <a:pt x="0" y="0"/>
                  </a:lnTo>
                  <a:close/>
                </a:path>
                <a:path w="4800600" h="3582035">
                  <a:moveTo>
                    <a:pt x="2819159" y="457199"/>
                  </a:moveTo>
                  <a:lnTo>
                    <a:pt x="4724279" y="457199"/>
                  </a:lnTo>
                  <a:lnTo>
                    <a:pt x="4724279" y="838439"/>
                  </a:lnTo>
                  <a:lnTo>
                    <a:pt x="2819159" y="838439"/>
                  </a:lnTo>
                  <a:lnTo>
                    <a:pt x="2819159" y="457199"/>
                  </a:lnTo>
                  <a:close/>
                </a:path>
              </a:pathLst>
            </a:custGeom>
            <a:ln w="25549">
              <a:solidFill>
                <a:srgbClr val="375D8A"/>
              </a:solidFill>
            </a:ln>
          </p:spPr>
          <p:txBody>
            <a:bodyPr wrap="square" lIns="0" tIns="0" rIns="0" bIns="0" rtlCol="0"/>
            <a:lstStyle/>
            <a:p>
              <a:endParaRPr/>
            </a:p>
          </p:txBody>
        </p:sp>
      </p:grpSp>
      <p:sp>
        <p:nvSpPr>
          <p:cNvPr id="7" name="object 7"/>
          <p:cNvSpPr txBox="1"/>
          <p:nvPr/>
        </p:nvSpPr>
        <p:spPr>
          <a:xfrm>
            <a:off x="3601494" y="2640584"/>
            <a:ext cx="1405255" cy="421005"/>
          </a:xfrm>
          <a:prstGeom prst="rect">
            <a:avLst/>
          </a:prstGeom>
        </p:spPr>
        <p:txBody>
          <a:bodyPr vert="horz" wrap="square" lIns="0" tIns="12700" rIns="0" bIns="0" rtlCol="0">
            <a:spAutoFit/>
          </a:bodyPr>
          <a:lstStyle/>
          <a:p>
            <a:pPr marL="523875" marR="5080" indent="-511809">
              <a:lnSpc>
                <a:spcPct val="100000"/>
              </a:lnSpc>
              <a:spcBef>
                <a:spcPts val="100"/>
              </a:spcBef>
            </a:pPr>
            <a:r>
              <a:rPr sz="1200" b="1" spc="-10" dirty="0">
                <a:latin typeface="Calibri"/>
                <a:cs typeface="Calibri"/>
              </a:rPr>
              <a:t>What </a:t>
            </a:r>
            <a:r>
              <a:rPr sz="1200" b="1" spc="-5" dirty="0">
                <a:latin typeface="Calibri"/>
                <a:cs typeface="Calibri"/>
              </a:rPr>
              <a:t>the world is </a:t>
            </a:r>
            <a:r>
              <a:rPr sz="1200" b="1" spc="-15" dirty="0">
                <a:latin typeface="Calibri"/>
                <a:cs typeface="Calibri"/>
              </a:rPr>
              <a:t>like </a:t>
            </a:r>
            <a:r>
              <a:rPr sz="1200" b="1" spc="-260" dirty="0">
                <a:latin typeface="Calibri"/>
                <a:cs typeface="Calibri"/>
              </a:rPr>
              <a:t> </a:t>
            </a:r>
            <a:r>
              <a:rPr sz="1200" b="1" spc="-5" dirty="0">
                <a:latin typeface="Calibri"/>
                <a:cs typeface="Calibri"/>
              </a:rPr>
              <a:t>now</a:t>
            </a:r>
            <a:r>
              <a:rPr sz="1400" b="1" spc="-5" dirty="0">
                <a:latin typeface="Calibri"/>
                <a:cs typeface="Calibri"/>
              </a:rPr>
              <a:t>?</a:t>
            </a:r>
            <a:endParaRPr sz="1400">
              <a:latin typeface="Calibri"/>
              <a:cs typeface="Calibri"/>
            </a:endParaRPr>
          </a:p>
        </p:txBody>
      </p:sp>
      <p:sp>
        <p:nvSpPr>
          <p:cNvPr id="8" name="object 8"/>
          <p:cNvSpPr/>
          <p:nvPr/>
        </p:nvSpPr>
        <p:spPr>
          <a:xfrm>
            <a:off x="3429000" y="3733920"/>
            <a:ext cx="1828800" cy="457200"/>
          </a:xfrm>
          <a:custGeom>
            <a:avLst/>
            <a:gdLst/>
            <a:ahLst/>
            <a:cxnLst/>
            <a:rect l="l" t="t" r="r" b="b"/>
            <a:pathLst>
              <a:path w="1828800" h="457200">
                <a:moveTo>
                  <a:pt x="0" y="0"/>
                </a:moveTo>
                <a:lnTo>
                  <a:pt x="1828799" y="0"/>
                </a:lnTo>
                <a:lnTo>
                  <a:pt x="1828799" y="457199"/>
                </a:lnTo>
                <a:lnTo>
                  <a:pt x="0" y="457199"/>
                </a:lnTo>
                <a:lnTo>
                  <a:pt x="0" y="0"/>
                </a:lnTo>
                <a:close/>
              </a:path>
            </a:pathLst>
          </a:custGeom>
          <a:ln w="25549">
            <a:solidFill>
              <a:srgbClr val="375D8A"/>
            </a:solidFill>
          </a:ln>
        </p:spPr>
        <p:txBody>
          <a:bodyPr wrap="square" lIns="0" tIns="0" rIns="0" bIns="0" rtlCol="0"/>
          <a:lstStyle/>
          <a:p>
            <a:endParaRPr/>
          </a:p>
        </p:txBody>
      </p:sp>
      <p:sp>
        <p:nvSpPr>
          <p:cNvPr id="9" name="object 9"/>
          <p:cNvSpPr txBox="1"/>
          <p:nvPr/>
        </p:nvSpPr>
        <p:spPr>
          <a:xfrm>
            <a:off x="3567533" y="3805548"/>
            <a:ext cx="1549400" cy="452120"/>
          </a:xfrm>
          <a:prstGeom prst="rect">
            <a:avLst/>
          </a:prstGeom>
        </p:spPr>
        <p:txBody>
          <a:bodyPr vert="horz" wrap="square" lIns="0" tIns="12700" rIns="0" bIns="0" rtlCol="0">
            <a:spAutoFit/>
          </a:bodyPr>
          <a:lstStyle/>
          <a:p>
            <a:pPr marL="457200" marR="5080" indent="-445134">
              <a:lnSpc>
                <a:spcPct val="100000"/>
              </a:lnSpc>
              <a:spcBef>
                <a:spcPts val="100"/>
              </a:spcBef>
            </a:pPr>
            <a:r>
              <a:rPr sz="1400" b="1" spc="-10" dirty="0">
                <a:latin typeface="Calibri"/>
                <a:cs typeface="Calibri"/>
              </a:rPr>
              <a:t>What</a:t>
            </a:r>
            <a:r>
              <a:rPr sz="1400" b="1" spc="-30" dirty="0">
                <a:latin typeface="Calibri"/>
                <a:cs typeface="Calibri"/>
              </a:rPr>
              <a:t> </a:t>
            </a:r>
            <a:r>
              <a:rPr sz="1400" b="1" spc="-5" dirty="0">
                <a:latin typeface="Calibri"/>
                <a:cs typeface="Calibri"/>
              </a:rPr>
              <a:t>action</a:t>
            </a:r>
            <a:r>
              <a:rPr sz="1400" b="1" spc="-30" dirty="0">
                <a:latin typeface="Calibri"/>
                <a:cs typeface="Calibri"/>
              </a:rPr>
              <a:t> </a:t>
            </a:r>
            <a:r>
              <a:rPr sz="1400" b="1" spc="-5" dirty="0">
                <a:latin typeface="Calibri"/>
                <a:cs typeface="Calibri"/>
              </a:rPr>
              <a:t>should</a:t>
            </a:r>
            <a:r>
              <a:rPr sz="1400" b="1" spc="-25" dirty="0">
                <a:latin typeface="Calibri"/>
                <a:cs typeface="Calibri"/>
              </a:rPr>
              <a:t> </a:t>
            </a:r>
            <a:r>
              <a:rPr sz="1400" b="1" dirty="0">
                <a:latin typeface="Calibri"/>
                <a:cs typeface="Calibri"/>
              </a:rPr>
              <a:t>I </a:t>
            </a:r>
            <a:r>
              <a:rPr sz="1400" b="1" spc="-305" dirty="0">
                <a:latin typeface="Calibri"/>
                <a:cs typeface="Calibri"/>
              </a:rPr>
              <a:t> </a:t>
            </a:r>
            <a:r>
              <a:rPr sz="1400" b="1" spc="-5" dirty="0">
                <a:latin typeface="Calibri"/>
                <a:cs typeface="Calibri"/>
              </a:rPr>
              <a:t>do</a:t>
            </a:r>
            <a:r>
              <a:rPr sz="1400" b="1" spc="-15" dirty="0">
                <a:latin typeface="Calibri"/>
                <a:cs typeface="Calibri"/>
              </a:rPr>
              <a:t> </a:t>
            </a:r>
            <a:r>
              <a:rPr sz="1400" b="1" spc="-5" dirty="0">
                <a:latin typeface="Calibri"/>
                <a:cs typeface="Calibri"/>
              </a:rPr>
              <a:t>now?</a:t>
            </a:r>
            <a:endParaRPr sz="1400">
              <a:latin typeface="Calibri"/>
              <a:cs typeface="Calibri"/>
            </a:endParaRPr>
          </a:p>
        </p:txBody>
      </p:sp>
      <p:pic>
        <p:nvPicPr>
          <p:cNvPr id="10" name="object 10"/>
          <p:cNvPicPr/>
          <p:nvPr/>
        </p:nvPicPr>
        <p:blipFill>
          <a:blip r:embed="rId2" cstate="print"/>
          <a:stretch>
            <a:fillRect/>
          </a:stretch>
        </p:blipFill>
        <p:spPr>
          <a:xfrm>
            <a:off x="4025705" y="3035344"/>
            <a:ext cx="71275" cy="177471"/>
          </a:xfrm>
          <a:prstGeom prst="rect">
            <a:avLst/>
          </a:prstGeom>
        </p:spPr>
      </p:pic>
      <p:sp>
        <p:nvSpPr>
          <p:cNvPr id="11" name="object 11"/>
          <p:cNvSpPr txBox="1"/>
          <p:nvPr/>
        </p:nvSpPr>
        <p:spPr>
          <a:xfrm>
            <a:off x="1219319" y="3962520"/>
            <a:ext cx="1828800" cy="609600"/>
          </a:xfrm>
          <a:prstGeom prst="rect">
            <a:avLst/>
          </a:prstGeom>
          <a:solidFill>
            <a:srgbClr val="4F81BD"/>
          </a:solidFill>
          <a:ln w="25549">
            <a:solidFill>
              <a:srgbClr val="375D8A"/>
            </a:solidFill>
          </a:ln>
        </p:spPr>
        <p:txBody>
          <a:bodyPr vert="horz" wrap="square" lIns="0" tIns="635" rIns="0" bIns="0" rtlCol="0">
            <a:spAutoFit/>
          </a:bodyPr>
          <a:lstStyle/>
          <a:p>
            <a:pPr>
              <a:lnSpc>
                <a:spcPct val="100000"/>
              </a:lnSpc>
              <a:spcBef>
                <a:spcPts val="5"/>
              </a:spcBef>
            </a:pPr>
            <a:endParaRPr sz="1300">
              <a:latin typeface="Times New Roman"/>
              <a:cs typeface="Times New Roman"/>
            </a:endParaRPr>
          </a:p>
          <a:p>
            <a:pPr algn="ctr">
              <a:lnSpc>
                <a:spcPct val="100000"/>
              </a:lnSpc>
            </a:pPr>
            <a:r>
              <a:rPr sz="1400" b="1" spc="-10" dirty="0">
                <a:latin typeface="Calibri"/>
                <a:cs typeface="Calibri"/>
              </a:rPr>
              <a:t>GOALS</a:t>
            </a:r>
            <a:endParaRPr sz="1400">
              <a:latin typeface="Calibri"/>
              <a:cs typeface="Calibri"/>
            </a:endParaRPr>
          </a:p>
        </p:txBody>
      </p:sp>
      <p:grpSp>
        <p:nvGrpSpPr>
          <p:cNvPr id="12" name="object 12"/>
          <p:cNvGrpSpPr/>
          <p:nvPr/>
        </p:nvGrpSpPr>
        <p:grpSpPr>
          <a:xfrm>
            <a:off x="3035102" y="2196662"/>
            <a:ext cx="986155" cy="1824989"/>
            <a:chOff x="3035102" y="2196662"/>
            <a:chExt cx="986155" cy="1824989"/>
          </a:xfrm>
        </p:grpSpPr>
        <p:sp>
          <p:nvSpPr>
            <p:cNvPr id="13" name="object 13"/>
            <p:cNvSpPr/>
            <p:nvPr/>
          </p:nvSpPr>
          <p:spPr>
            <a:xfrm>
              <a:off x="3048120" y="3962519"/>
              <a:ext cx="381000" cy="45720"/>
            </a:xfrm>
            <a:custGeom>
              <a:avLst/>
              <a:gdLst/>
              <a:ahLst/>
              <a:cxnLst/>
              <a:rect l="l" t="t" r="r" b="b"/>
              <a:pathLst>
                <a:path w="381000" h="45720">
                  <a:moveTo>
                    <a:pt x="357524" y="45725"/>
                  </a:moveTo>
                  <a:lnTo>
                    <a:pt x="357524" y="34028"/>
                  </a:lnTo>
                  <a:lnTo>
                    <a:pt x="0" y="34028"/>
                  </a:lnTo>
                  <a:lnTo>
                    <a:pt x="0" y="11342"/>
                  </a:lnTo>
                  <a:lnTo>
                    <a:pt x="357524" y="11342"/>
                  </a:lnTo>
                  <a:lnTo>
                    <a:pt x="357524" y="0"/>
                  </a:lnTo>
                  <a:lnTo>
                    <a:pt x="380520" y="22685"/>
                  </a:lnTo>
                  <a:lnTo>
                    <a:pt x="357524" y="45725"/>
                  </a:lnTo>
                  <a:close/>
                </a:path>
              </a:pathLst>
            </a:custGeom>
            <a:solidFill>
              <a:srgbClr val="4F81BD"/>
            </a:solidFill>
          </p:spPr>
          <p:txBody>
            <a:bodyPr wrap="square" lIns="0" tIns="0" rIns="0" bIns="0" rtlCol="0"/>
            <a:lstStyle/>
            <a:p>
              <a:endParaRPr/>
            </a:p>
          </p:txBody>
        </p:sp>
        <p:sp>
          <p:nvSpPr>
            <p:cNvPr id="14" name="object 14"/>
            <p:cNvSpPr/>
            <p:nvPr/>
          </p:nvSpPr>
          <p:spPr>
            <a:xfrm>
              <a:off x="3048120" y="3962519"/>
              <a:ext cx="381000" cy="45720"/>
            </a:xfrm>
            <a:custGeom>
              <a:avLst/>
              <a:gdLst/>
              <a:ahLst/>
              <a:cxnLst/>
              <a:rect l="l" t="t" r="r" b="b"/>
              <a:pathLst>
                <a:path w="381000" h="45720">
                  <a:moveTo>
                    <a:pt x="0" y="11342"/>
                  </a:moveTo>
                  <a:lnTo>
                    <a:pt x="357524" y="11342"/>
                  </a:lnTo>
                  <a:lnTo>
                    <a:pt x="357524" y="0"/>
                  </a:lnTo>
                  <a:lnTo>
                    <a:pt x="380520" y="22685"/>
                  </a:lnTo>
                  <a:lnTo>
                    <a:pt x="357524" y="45725"/>
                  </a:lnTo>
                  <a:lnTo>
                    <a:pt x="357524" y="34028"/>
                  </a:lnTo>
                  <a:lnTo>
                    <a:pt x="0" y="34028"/>
                  </a:lnTo>
                  <a:lnTo>
                    <a:pt x="0" y="11342"/>
                  </a:lnTo>
                </a:path>
              </a:pathLst>
            </a:custGeom>
            <a:ln w="25549">
              <a:solidFill>
                <a:srgbClr val="000000"/>
              </a:solidFill>
            </a:ln>
          </p:spPr>
          <p:txBody>
            <a:bodyPr wrap="square" lIns="0" tIns="0" rIns="0" bIns="0" rtlCol="0"/>
            <a:lstStyle/>
            <a:p>
              <a:endParaRPr/>
            </a:p>
          </p:txBody>
        </p:sp>
        <p:sp>
          <p:nvSpPr>
            <p:cNvPr id="15" name="object 15"/>
            <p:cNvSpPr/>
            <p:nvPr/>
          </p:nvSpPr>
          <p:spPr>
            <a:xfrm>
              <a:off x="3962520" y="2209679"/>
              <a:ext cx="45720" cy="381000"/>
            </a:xfrm>
            <a:custGeom>
              <a:avLst/>
              <a:gdLst/>
              <a:ahLst/>
              <a:cxnLst/>
              <a:rect l="l" t="t" r="r" b="b"/>
              <a:pathLst>
                <a:path w="45720" h="381000">
                  <a:moveTo>
                    <a:pt x="22685" y="380880"/>
                  </a:moveTo>
                  <a:lnTo>
                    <a:pt x="0" y="357524"/>
                  </a:lnTo>
                  <a:lnTo>
                    <a:pt x="11342" y="357524"/>
                  </a:lnTo>
                  <a:lnTo>
                    <a:pt x="11342" y="0"/>
                  </a:lnTo>
                  <a:lnTo>
                    <a:pt x="34028" y="0"/>
                  </a:lnTo>
                  <a:lnTo>
                    <a:pt x="34028" y="357524"/>
                  </a:lnTo>
                  <a:lnTo>
                    <a:pt x="45725" y="357524"/>
                  </a:lnTo>
                  <a:lnTo>
                    <a:pt x="22685" y="380880"/>
                  </a:lnTo>
                  <a:close/>
                </a:path>
              </a:pathLst>
            </a:custGeom>
            <a:solidFill>
              <a:srgbClr val="000000"/>
            </a:solidFill>
          </p:spPr>
          <p:txBody>
            <a:bodyPr wrap="square" lIns="0" tIns="0" rIns="0" bIns="0" rtlCol="0"/>
            <a:lstStyle/>
            <a:p>
              <a:endParaRPr/>
            </a:p>
          </p:txBody>
        </p:sp>
        <p:sp>
          <p:nvSpPr>
            <p:cNvPr id="16" name="object 16"/>
            <p:cNvSpPr/>
            <p:nvPr/>
          </p:nvSpPr>
          <p:spPr>
            <a:xfrm>
              <a:off x="3962520" y="2209679"/>
              <a:ext cx="45720" cy="381000"/>
            </a:xfrm>
            <a:custGeom>
              <a:avLst/>
              <a:gdLst/>
              <a:ahLst/>
              <a:cxnLst/>
              <a:rect l="l" t="t" r="r" b="b"/>
              <a:pathLst>
                <a:path w="45720" h="381000">
                  <a:moveTo>
                    <a:pt x="11342" y="0"/>
                  </a:moveTo>
                  <a:lnTo>
                    <a:pt x="11342" y="357524"/>
                  </a:lnTo>
                  <a:lnTo>
                    <a:pt x="0" y="357524"/>
                  </a:lnTo>
                  <a:lnTo>
                    <a:pt x="22685" y="380880"/>
                  </a:lnTo>
                  <a:lnTo>
                    <a:pt x="45725" y="357524"/>
                  </a:lnTo>
                  <a:lnTo>
                    <a:pt x="34028" y="357524"/>
                  </a:lnTo>
                  <a:lnTo>
                    <a:pt x="34028" y="0"/>
                  </a:lnTo>
                  <a:lnTo>
                    <a:pt x="11342" y="0"/>
                  </a:lnTo>
                </a:path>
              </a:pathLst>
            </a:custGeom>
            <a:ln w="25549">
              <a:solidFill>
                <a:srgbClr val="000000"/>
              </a:solidFill>
            </a:ln>
          </p:spPr>
          <p:txBody>
            <a:bodyPr wrap="square" lIns="0" tIns="0" rIns="0" bIns="0" rtlCol="0"/>
            <a:lstStyle/>
            <a:p>
              <a:endParaRPr/>
            </a:p>
          </p:txBody>
        </p:sp>
      </p:grpSp>
      <p:sp>
        <p:nvSpPr>
          <p:cNvPr id="17" name="object 17"/>
          <p:cNvSpPr txBox="1"/>
          <p:nvPr/>
        </p:nvSpPr>
        <p:spPr>
          <a:xfrm>
            <a:off x="4187825" y="2457584"/>
            <a:ext cx="5251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Sensors</a:t>
            </a:r>
            <a:endParaRPr sz="1200">
              <a:latin typeface="Times New Roman"/>
              <a:cs typeface="Times New Roman"/>
            </a:endParaRPr>
          </a:p>
        </p:txBody>
      </p:sp>
      <p:sp>
        <p:nvSpPr>
          <p:cNvPr id="18" name="object 18"/>
          <p:cNvSpPr txBox="1"/>
          <p:nvPr/>
        </p:nvSpPr>
        <p:spPr>
          <a:xfrm>
            <a:off x="6019920" y="2209680"/>
            <a:ext cx="266700" cy="2971800"/>
          </a:xfrm>
          <a:prstGeom prst="rect">
            <a:avLst/>
          </a:prstGeom>
          <a:solidFill>
            <a:srgbClr val="4F81BD"/>
          </a:solidFill>
          <a:ln w="25549">
            <a:solidFill>
              <a:srgbClr val="375D8A"/>
            </a:solidFill>
          </a:ln>
        </p:spPr>
        <p:txBody>
          <a:bodyPr vert="horz" wrap="square" lIns="0" tIns="136525" rIns="0" bIns="0" rtlCol="0">
            <a:spAutoFit/>
          </a:bodyPr>
          <a:lstStyle/>
          <a:p>
            <a:pPr marL="85725" marR="21590">
              <a:lnSpc>
                <a:spcPct val="100000"/>
              </a:lnSpc>
              <a:spcBef>
                <a:spcPts val="1075"/>
              </a:spcBef>
            </a:pPr>
            <a:r>
              <a:rPr sz="1600" b="1" dirty="0">
                <a:latin typeface="Calibri"/>
                <a:cs typeface="Calibri"/>
              </a:rPr>
              <a:t>E</a:t>
            </a:r>
            <a:endParaRPr sz="1600">
              <a:latin typeface="Calibri"/>
              <a:cs typeface="Calibri"/>
            </a:endParaRPr>
          </a:p>
          <a:p>
            <a:pPr marL="85725">
              <a:lnSpc>
                <a:spcPct val="100000"/>
              </a:lnSpc>
            </a:pPr>
            <a:r>
              <a:rPr sz="1600" b="1" dirty="0">
                <a:latin typeface="Calibri"/>
                <a:cs typeface="Calibri"/>
              </a:rPr>
              <a:t>n </a:t>
            </a:r>
            <a:r>
              <a:rPr sz="1600" b="1" spc="5" dirty="0">
                <a:latin typeface="Calibri"/>
                <a:cs typeface="Calibri"/>
              </a:rPr>
              <a:t> </a:t>
            </a:r>
            <a:r>
              <a:rPr sz="1600" b="1" dirty="0">
                <a:latin typeface="Calibri"/>
                <a:cs typeface="Calibri"/>
              </a:rPr>
              <a:t>v </a:t>
            </a:r>
            <a:r>
              <a:rPr sz="1600" b="1" spc="5" dirty="0">
                <a:latin typeface="Calibri"/>
                <a:cs typeface="Calibri"/>
              </a:rPr>
              <a:t> </a:t>
            </a:r>
            <a:r>
              <a:rPr sz="1600" b="1" dirty="0">
                <a:latin typeface="Calibri"/>
                <a:cs typeface="Calibri"/>
              </a:rPr>
              <a:t>i </a:t>
            </a:r>
            <a:r>
              <a:rPr sz="1600" b="1" spc="5" dirty="0">
                <a:latin typeface="Calibri"/>
                <a:cs typeface="Calibri"/>
              </a:rPr>
              <a:t> </a:t>
            </a:r>
            <a:r>
              <a:rPr sz="1600" b="1" dirty="0">
                <a:latin typeface="Calibri"/>
                <a:cs typeface="Calibri"/>
              </a:rPr>
              <a:t>o </a:t>
            </a:r>
            <a:r>
              <a:rPr sz="1600" b="1" spc="5" dirty="0">
                <a:latin typeface="Calibri"/>
                <a:cs typeface="Calibri"/>
              </a:rPr>
              <a:t> </a:t>
            </a:r>
            <a:r>
              <a:rPr sz="1600" b="1" dirty="0">
                <a:latin typeface="Calibri"/>
                <a:cs typeface="Calibri"/>
              </a:rPr>
              <a:t>r </a:t>
            </a:r>
            <a:r>
              <a:rPr sz="1600" b="1" spc="5" dirty="0">
                <a:latin typeface="Calibri"/>
                <a:cs typeface="Calibri"/>
              </a:rPr>
              <a:t> </a:t>
            </a:r>
            <a:r>
              <a:rPr sz="1600" b="1" dirty="0">
                <a:latin typeface="Calibri"/>
                <a:cs typeface="Calibri"/>
              </a:rPr>
              <a:t>n </a:t>
            </a:r>
            <a:r>
              <a:rPr sz="1600" b="1" spc="5" dirty="0">
                <a:latin typeface="Calibri"/>
                <a:cs typeface="Calibri"/>
              </a:rPr>
              <a:t> </a:t>
            </a:r>
            <a:r>
              <a:rPr sz="1600" b="1" dirty="0">
                <a:latin typeface="Calibri"/>
                <a:cs typeface="Calibri"/>
              </a:rPr>
              <a:t>m  e </a:t>
            </a:r>
            <a:r>
              <a:rPr sz="1600" b="1" spc="5" dirty="0">
                <a:latin typeface="Calibri"/>
                <a:cs typeface="Calibri"/>
              </a:rPr>
              <a:t> </a:t>
            </a:r>
            <a:r>
              <a:rPr sz="1600" b="1" dirty="0">
                <a:latin typeface="Calibri"/>
                <a:cs typeface="Calibri"/>
              </a:rPr>
              <a:t>n</a:t>
            </a:r>
            <a:endParaRPr sz="1600">
              <a:latin typeface="Calibri"/>
              <a:cs typeface="Calibri"/>
            </a:endParaRPr>
          </a:p>
        </p:txBody>
      </p:sp>
      <p:grpSp>
        <p:nvGrpSpPr>
          <p:cNvPr id="19" name="object 19"/>
          <p:cNvGrpSpPr/>
          <p:nvPr/>
        </p:nvGrpSpPr>
        <p:grpSpPr>
          <a:xfrm>
            <a:off x="749102" y="2549271"/>
            <a:ext cx="5283835" cy="2143125"/>
            <a:chOff x="749102" y="2549271"/>
            <a:chExt cx="5283835" cy="2143125"/>
          </a:xfrm>
        </p:grpSpPr>
        <p:sp>
          <p:nvSpPr>
            <p:cNvPr id="20" name="object 20"/>
            <p:cNvSpPr/>
            <p:nvPr/>
          </p:nvSpPr>
          <p:spPr>
            <a:xfrm>
              <a:off x="4963761" y="2590725"/>
              <a:ext cx="1056640" cy="2540"/>
            </a:xfrm>
            <a:custGeom>
              <a:avLst/>
              <a:gdLst/>
              <a:ahLst/>
              <a:cxnLst/>
              <a:rect l="l" t="t" r="r" b="b"/>
              <a:pathLst>
                <a:path w="1056639" h="2539">
                  <a:moveTo>
                    <a:pt x="1056158" y="1994"/>
                  </a:moveTo>
                  <a:lnTo>
                    <a:pt x="0" y="0"/>
                  </a:lnTo>
                </a:path>
              </a:pathLst>
            </a:custGeom>
            <a:ln w="25549">
              <a:solidFill>
                <a:srgbClr val="000000"/>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4900776" y="2549271"/>
              <a:ext cx="104547" cy="83016"/>
            </a:xfrm>
            <a:prstGeom prst="rect">
              <a:avLst/>
            </a:prstGeom>
          </p:spPr>
        </p:pic>
        <p:pic>
          <p:nvPicPr>
            <p:cNvPr id="22" name="object 22"/>
            <p:cNvPicPr/>
            <p:nvPr/>
          </p:nvPicPr>
          <p:blipFill>
            <a:blip r:embed="rId4" cstate="print"/>
            <a:stretch>
              <a:fillRect/>
            </a:stretch>
          </p:blipFill>
          <p:spPr>
            <a:xfrm>
              <a:off x="3997212" y="4178344"/>
              <a:ext cx="83014" cy="293479"/>
            </a:xfrm>
            <a:prstGeom prst="rect">
              <a:avLst/>
            </a:prstGeom>
          </p:spPr>
        </p:pic>
        <p:sp>
          <p:nvSpPr>
            <p:cNvPr id="23" name="object 23"/>
            <p:cNvSpPr/>
            <p:nvPr/>
          </p:nvSpPr>
          <p:spPr>
            <a:xfrm>
              <a:off x="4343040" y="4648319"/>
              <a:ext cx="1590040" cy="2540"/>
            </a:xfrm>
            <a:custGeom>
              <a:avLst/>
              <a:gdLst/>
              <a:ahLst/>
              <a:cxnLst/>
              <a:rect l="l" t="t" r="r" b="b"/>
              <a:pathLst>
                <a:path w="1590039" h="2539">
                  <a:moveTo>
                    <a:pt x="0" y="0"/>
                  </a:moveTo>
                  <a:lnTo>
                    <a:pt x="1589677" y="2047"/>
                  </a:lnTo>
                </a:path>
              </a:pathLst>
            </a:custGeom>
            <a:ln w="25549">
              <a:solidFill>
                <a:srgbClr val="000000"/>
              </a:solidFill>
            </a:ln>
          </p:spPr>
          <p:txBody>
            <a:bodyPr wrap="square" lIns="0" tIns="0" rIns="0" bIns="0" rtlCol="0"/>
            <a:lstStyle/>
            <a:p>
              <a:endParaRPr/>
            </a:p>
          </p:txBody>
        </p:sp>
        <p:pic>
          <p:nvPicPr>
            <p:cNvPr id="24" name="object 24"/>
            <p:cNvPicPr/>
            <p:nvPr/>
          </p:nvPicPr>
          <p:blipFill>
            <a:blip r:embed="rId5" cstate="print"/>
            <a:stretch>
              <a:fillRect/>
            </a:stretch>
          </p:blipFill>
          <p:spPr>
            <a:xfrm>
              <a:off x="5891173" y="4608822"/>
              <a:ext cx="104530" cy="83015"/>
            </a:xfrm>
            <a:prstGeom prst="rect">
              <a:avLst/>
            </a:prstGeom>
          </p:spPr>
        </p:pic>
        <p:sp>
          <p:nvSpPr>
            <p:cNvPr id="25" name="object 25"/>
            <p:cNvSpPr/>
            <p:nvPr/>
          </p:nvSpPr>
          <p:spPr>
            <a:xfrm>
              <a:off x="762119" y="2819520"/>
              <a:ext cx="1676400" cy="304800"/>
            </a:xfrm>
            <a:custGeom>
              <a:avLst/>
              <a:gdLst/>
              <a:ahLst/>
              <a:cxnLst/>
              <a:rect l="l" t="t" r="r" b="b"/>
              <a:pathLst>
                <a:path w="1676400" h="304800">
                  <a:moveTo>
                    <a:pt x="0" y="0"/>
                  </a:moveTo>
                  <a:lnTo>
                    <a:pt x="1676159" y="0"/>
                  </a:lnTo>
                  <a:lnTo>
                    <a:pt x="1676159" y="304559"/>
                  </a:lnTo>
                  <a:lnTo>
                    <a:pt x="0" y="304559"/>
                  </a:lnTo>
                  <a:lnTo>
                    <a:pt x="0" y="0"/>
                  </a:lnTo>
                  <a:close/>
                </a:path>
              </a:pathLst>
            </a:custGeom>
            <a:ln w="25549">
              <a:solidFill>
                <a:srgbClr val="375D8A"/>
              </a:solidFill>
            </a:ln>
          </p:spPr>
          <p:txBody>
            <a:bodyPr wrap="square" lIns="0" tIns="0" rIns="0" bIns="0" rtlCol="0"/>
            <a:lstStyle/>
            <a:p>
              <a:endParaRPr/>
            </a:p>
          </p:txBody>
        </p:sp>
      </p:grpSp>
      <p:sp>
        <p:nvSpPr>
          <p:cNvPr id="26" name="object 26"/>
          <p:cNvSpPr txBox="1"/>
          <p:nvPr/>
        </p:nvSpPr>
        <p:spPr>
          <a:xfrm>
            <a:off x="3502025" y="4513968"/>
            <a:ext cx="71691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Actuators</a:t>
            </a:r>
            <a:endParaRPr sz="1400">
              <a:latin typeface="Times New Roman"/>
              <a:cs typeface="Times New Roman"/>
            </a:endParaRPr>
          </a:p>
        </p:txBody>
      </p:sp>
      <p:sp>
        <p:nvSpPr>
          <p:cNvPr id="27" name="object 27"/>
          <p:cNvSpPr txBox="1"/>
          <p:nvPr/>
        </p:nvSpPr>
        <p:spPr>
          <a:xfrm>
            <a:off x="835145" y="2861564"/>
            <a:ext cx="122682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Calibri"/>
                <a:cs typeface="Calibri"/>
              </a:rPr>
              <a:t>How</a:t>
            </a:r>
            <a:r>
              <a:rPr sz="1200" b="1" spc="-40" dirty="0">
                <a:latin typeface="Calibri"/>
                <a:cs typeface="Calibri"/>
              </a:rPr>
              <a:t> </a:t>
            </a:r>
            <a:r>
              <a:rPr sz="1200" b="1" spc="-5" dirty="0">
                <a:latin typeface="Calibri"/>
                <a:cs typeface="Calibri"/>
              </a:rPr>
              <a:t>world</a:t>
            </a:r>
            <a:r>
              <a:rPr sz="1200" b="1" spc="-40" dirty="0">
                <a:latin typeface="Calibri"/>
                <a:cs typeface="Calibri"/>
              </a:rPr>
              <a:t> </a:t>
            </a:r>
            <a:r>
              <a:rPr sz="1200" b="1" spc="-10" dirty="0">
                <a:latin typeface="Calibri"/>
                <a:cs typeface="Calibri"/>
              </a:rPr>
              <a:t>evolves</a:t>
            </a:r>
            <a:endParaRPr sz="1200">
              <a:latin typeface="Calibri"/>
              <a:cs typeface="Calibri"/>
            </a:endParaRPr>
          </a:p>
        </p:txBody>
      </p:sp>
      <p:sp>
        <p:nvSpPr>
          <p:cNvPr id="28" name="object 28"/>
          <p:cNvSpPr txBox="1"/>
          <p:nvPr/>
        </p:nvSpPr>
        <p:spPr>
          <a:xfrm>
            <a:off x="762120" y="3200400"/>
            <a:ext cx="1676400" cy="305435"/>
          </a:xfrm>
          <a:prstGeom prst="rect">
            <a:avLst/>
          </a:prstGeom>
          <a:solidFill>
            <a:srgbClr val="4F81BD"/>
          </a:solidFill>
          <a:ln w="25549">
            <a:solidFill>
              <a:srgbClr val="375D8A"/>
            </a:solidFill>
          </a:ln>
        </p:spPr>
        <p:txBody>
          <a:bodyPr vert="horz" wrap="square" lIns="0" tIns="54610" rIns="0" bIns="0" rtlCol="0">
            <a:spAutoFit/>
          </a:bodyPr>
          <a:lstStyle/>
          <a:p>
            <a:pPr marL="85725">
              <a:lnSpc>
                <a:spcPct val="100000"/>
              </a:lnSpc>
              <a:spcBef>
                <a:spcPts val="430"/>
              </a:spcBef>
            </a:pPr>
            <a:r>
              <a:rPr sz="1200" b="1" spc="-10" dirty="0">
                <a:latin typeface="Calibri"/>
                <a:cs typeface="Calibri"/>
              </a:rPr>
              <a:t>What</a:t>
            </a:r>
            <a:r>
              <a:rPr sz="1200" b="1" spc="-25" dirty="0">
                <a:latin typeface="Calibri"/>
                <a:cs typeface="Calibri"/>
              </a:rPr>
              <a:t> </a:t>
            </a:r>
            <a:r>
              <a:rPr sz="1200" b="1" spc="-15" dirty="0">
                <a:latin typeface="Calibri"/>
                <a:cs typeface="Calibri"/>
              </a:rPr>
              <a:t>my</a:t>
            </a:r>
            <a:r>
              <a:rPr sz="1200" b="1" spc="-20" dirty="0">
                <a:latin typeface="Calibri"/>
                <a:cs typeface="Calibri"/>
              </a:rPr>
              <a:t> </a:t>
            </a:r>
            <a:r>
              <a:rPr sz="1200" b="1" spc="-5" dirty="0">
                <a:latin typeface="Calibri"/>
                <a:cs typeface="Calibri"/>
              </a:rPr>
              <a:t>actions</a:t>
            </a:r>
            <a:r>
              <a:rPr sz="1200" b="1" spc="-20" dirty="0">
                <a:latin typeface="Calibri"/>
                <a:cs typeface="Calibri"/>
              </a:rPr>
              <a:t> </a:t>
            </a:r>
            <a:r>
              <a:rPr sz="1200" b="1" spc="-5" dirty="0">
                <a:latin typeface="Calibri"/>
                <a:cs typeface="Calibri"/>
              </a:rPr>
              <a:t>do</a:t>
            </a:r>
            <a:endParaRPr sz="1200">
              <a:latin typeface="Calibri"/>
              <a:cs typeface="Calibri"/>
            </a:endParaRPr>
          </a:p>
        </p:txBody>
      </p:sp>
      <p:grpSp>
        <p:nvGrpSpPr>
          <p:cNvPr id="29" name="object 29"/>
          <p:cNvGrpSpPr/>
          <p:nvPr/>
        </p:nvGrpSpPr>
        <p:grpSpPr>
          <a:xfrm>
            <a:off x="977702" y="2425262"/>
            <a:ext cx="1092835" cy="254635"/>
            <a:chOff x="977702" y="2425262"/>
            <a:chExt cx="1092835" cy="254635"/>
          </a:xfrm>
        </p:grpSpPr>
        <p:sp>
          <p:nvSpPr>
            <p:cNvPr id="30" name="object 30"/>
            <p:cNvSpPr/>
            <p:nvPr/>
          </p:nvSpPr>
          <p:spPr>
            <a:xfrm>
              <a:off x="990720" y="2438279"/>
              <a:ext cx="1066800" cy="228600"/>
            </a:xfrm>
            <a:custGeom>
              <a:avLst/>
              <a:gdLst/>
              <a:ahLst/>
              <a:cxnLst/>
              <a:rect l="l" t="t" r="r" b="b"/>
              <a:pathLst>
                <a:path w="1066800" h="228600">
                  <a:moveTo>
                    <a:pt x="533339" y="228599"/>
                  </a:moveTo>
                  <a:lnTo>
                    <a:pt x="460968" y="227556"/>
                  </a:lnTo>
                  <a:lnTo>
                    <a:pt x="391557" y="224517"/>
                  </a:lnTo>
                  <a:lnTo>
                    <a:pt x="325740" y="219617"/>
                  </a:lnTo>
                  <a:lnTo>
                    <a:pt x="264153" y="212994"/>
                  </a:lnTo>
                  <a:lnTo>
                    <a:pt x="207431" y="204784"/>
                  </a:lnTo>
                  <a:lnTo>
                    <a:pt x="156211" y="195122"/>
                  </a:lnTo>
                  <a:lnTo>
                    <a:pt x="111128" y="184145"/>
                  </a:lnTo>
                  <a:lnTo>
                    <a:pt x="72816" y="171989"/>
                  </a:lnTo>
                  <a:lnTo>
                    <a:pt x="19051" y="144685"/>
                  </a:lnTo>
                  <a:lnTo>
                    <a:pt x="0" y="114299"/>
                  </a:lnTo>
                  <a:lnTo>
                    <a:pt x="4868" y="98790"/>
                  </a:lnTo>
                  <a:lnTo>
                    <a:pt x="41912" y="69809"/>
                  </a:lnTo>
                  <a:lnTo>
                    <a:pt x="111128" y="44454"/>
                  </a:lnTo>
                  <a:lnTo>
                    <a:pt x="156211" y="33477"/>
                  </a:lnTo>
                  <a:lnTo>
                    <a:pt x="207431" y="23815"/>
                  </a:lnTo>
                  <a:lnTo>
                    <a:pt x="264153" y="15605"/>
                  </a:lnTo>
                  <a:lnTo>
                    <a:pt x="325740" y="8982"/>
                  </a:lnTo>
                  <a:lnTo>
                    <a:pt x="391557" y="4082"/>
                  </a:lnTo>
                  <a:lnTo>
                    <a:pt x="460968" y="1043"/>
                  </a:lnTo>
                  <a:lnTo>
                    <a:pt x="533339" y="0"/>
                  </a:lnTo>
                  <a:lnTo>
                    <a:pt x="605711" y="1043"/>
                  </a:lnTo>
                  <a:lnTo>
                    <a:pt x="675122" y="4082"/>
                  </a:lnTo>
                  <a:lnTo>
                    <a:pt x="740940" y="8982"/>
                  </a:lnTo>
                  <a:lnTo>
                    <a:pt x="802526" y="15605"/>
                  </a:lnTo>
                  <a:lnTo>
                    <a:pt x="859248" y="23815"/>
                  </a:lnTo>
                  <a:lnTo>
                    <a:pt x="910468" y="33477"/>
                  </a:lnTo>
                  <a:lnTo>
                    <a:pt x="955551" y="44454"/>
                  </a:lnTo>
                  <a:lnTo>
                    <a:pt x="993863" y="56610"/>
                  </a:lnTo>
                  <a:lnTo>
                    <a:pt x="1047628" y="83914"/>
                  </a:lnTo>
                  <a:lnTo>
                    <a:pt x="1066679" y="114299"/>
                  </a:lnTo>
                  <a:lnTo>
                    <a:pt x="1061811" y="129809"/>
                  </a:lnTo>
                  <a:lnTo>
                    <a:pt x="1024767" y="158790"/>
                  </a:lnTo>
                  <a:lnTo>
                    <a:pt x="955551" y="184145"/>
                  </a:lnTo>
                  <a:lnTo>
                    <a:pt x="910468" y="195122"/>
                  </a:lnTo>
                  <a:lnTo>
                    <a:pt x="859248" y="204784"/>
                  </a:lnTo>
                  <a:lnTo>
                    <a:pt x="802526" y="212994"/>
                  </a:lnTo>
                  <a:lnTo>
                    <a:pt x="740940" y="219617"/>
                  </a:lnTo>
                  <a:lnTo>
                    <a:pt x="675122" y="224517"/>
                  </a:lnTo>
                  <a:lnTo>
                    <a:pt x="605711" y="227556"/>
                  </a:lnTo>
                  <a:lnTo>
                    <a:pt x="533339" y="228599"/>
                  </a:lnTo>
                  <a:close/>
                </a:path>
              </a:pathLst>
            </a:custGeom>
            <a:solidFill>
              <a:srgbClr val="4F81BD"/>
            </a:solidFill>
          </p:spPr>
          <p:txBody>
            <a:bodyPr wrap="square" lIns="0" tIns="0" rIns="0" bIns="0" rtlCol="0"/>
            <a:lstStyle/>
            <a:p>
              <a:endParaRPr/>
            </a:p>
          </p:txBody>
        </p:sp>
        <p:sp>
          <p:nvSpPr>
            <p:cNvPr id="31" name="object 31"/>
            <p:cNvSpPr/>
            <p:nvPr/>
          </p:nvSpPr>
          <p:spPr>
            <a:xfrm>
              <a:off x="990720" y="2438279"/>
              <a:ext cx="1066800" cy="228600"/>
            </a:xfrm>
            <a:custGeom>
              <a:avLst/>
              <a:gdLst/>
              <a:ahLst/>
              <a:cxnLst/>
              <a:rect l="l" t="t" r="r" b="b"/>
              <a:pathLst>
                <a:path w="1066800" h="228600">
                  <a:moveTo>
                    <a:pt x="0" y="114299"/>
                  </a:moveTo>
                  <a:lnTo>
                    <a:pt x="4868" y="98790"/>
                  </a:lnTo>
                  <a:lnTo>
                    <a:pt x="19051" y="83914"/>
                  </a:lnTo>
                  <a:lnTo>
                    <a:pt x="72816" y="56610"/>
                  </a:lnTo>
                  <a:lnTo>
                    <a:pt x="111128" y="44454"/>
                  </a:lnTo>
                  <a:lnTo>
                    <a:pt x="156211" y="33477"/>
                  </a:lnTo>
                  <a:lnTo>
                    <a:pt x="207431" y="23815"/>
                  </a:lnTo>
                  <a:lnTo>
                    <a:pt x="264153" y="15605"/>
                  </a:lnTo>
                  <a:lnTo>
                    <a:pt x="325740" y="8982"/>
                  </a:lnTo>
                  <a:lnTo>
                    <a:pt x="391557" y="4082"/>
                  </a:lnTo>
                  <a:lnTo>
                    <a:pt x="460968" y="1043"/>
                  </a:lnTo>
                  <a:lnTo>
                    <a:pt x="533339" y="0"/>
                  </a:lnTo>
                  <a:lnTo>
                    <a:pt x="605711" y="1043"/>
                  </a:lnTo>
                  <a:lnTo>
                    <a:pt x="675122" y="4082"/>
                  </a:lnTo>
                  <a:lnTo>
                    <a:pt x="740940" y="8982"/>
                  </a:lnTo>
                  <a:lnTo>
                    <a:pt x="802526" y="15605"/>
                  </a:lnTo>
                  <a:lnTo>
                    <a:pt x="859248" y="23815"/>
                  </a:lnTo>
                  <a:lnTo>
                    <a:pt x="910468" y="33477"/>
                  </a:lnTo>
                  <a:lnTo>
                    <a:pt x="955551" y="44454"/>
                  </a:lnTo>
                  <a:lnTo>
                    <a:pt x="993863" y="56610"/>
                  </a:lnTo>
                  <a:lnTo>
                    <a:pt x="1047628" y="83914"/>
                  </a:lnTo>
                  <a:lnTo>
                    <a:pt x="1066679" y="114299"/>
                  </a:lnTo>
                  <a:lnTo>
                    <a:pt x="1024767" y="158790"/>
                  </a:lnTo>
                  <a:lnTo>
                    <a:pt x="955551" y="184145"/>
                  </a:lnTo>
                  <a:lnTo>
                    <a:pt x="910468" y="195122"/>
                  </a:lnTo>
                  <a:lnTo>
                    <a:pt x="859248" y="204784"/>
                  </a:lnTo>
                  <a:lnTo>
                    <a:pt x="802526" y="212994"/>
                  </a:lnTo>
                  <a:lnTo>
                    <a:pt x="740940" y="219617"/>
                  </a:lnTo>
                  <a:lnTo>
                    <a:pt x="675122" y="224517"/>
                  </a:lnTo>
                  <a:lnTo>
                    <a:pt x="605711" y="227556"/>
                  </a:lnTo>
                  <a:lnTo>
                    <a:pt x="533339" y="228599"/>
                  </a:lnTo>
                  <a:lnTo>
                    <a:pt x="460968" y="227556"/>
                  </a:lnTo>
                  <a:lnTo>
                    <a:pt x="391557" y="224517"/>
                  </a:lnTo>
                  <a:lnTo>
                    <a:pt x="325740" y="219617"/>
                  </a:lnTo>
                  <a:lnTo>
                    <a:pt x="264153" y="212994"/>
                  </a:lnTo>
                  <a:lnTo>
                    <a:pt x="207431" y="204784"/>
                  </a:lnTo>
                  <a:lnTo>
                    <a:pt x="156211" y="195122"/>
                  </a:lnTo>
                  <a:lnTo>
                    <a:pt x="111128" y="184145"/>
                  </a:lnTo>
                  <a:lnTo>
                    <a:pt x="72816" y="171989"/>
                  </a:lnTo>
                  <a:lnTo>
                    <a:pt x="19051" y="144685"/>
                  </a:lnTo>
                  <a:lnTo>
                    <a:pt x="4868" y="129809"/>
                  </a:lnTo>
                  <a:lnTo>
                    <a:pt x="0" y="114299"/>
                  </a:lnTo>
                  <a:close/>
                </a:path>
              </a:pathLst>
            </a:custGeom>
            <a:ln w="25549">
              <a:solidFill>
                <a:srgbClr val="375D8A"/>
              </a:solidFill>
            </a:ln>
          </p:spPr>
          <p:txBody>
            <a:bodyPr wrap="square" lIns="0" tIns="0" rIns="0" bIns="0" rtlCol="0"/>
            <a:lstStyle/>
            <a:p>
              <a:endParaRPr/>
            </a:p>
          </p:txBody>
        </p:sp>
      </p:grpSp>
      <p:sp>
        <p:nvSpPr>
          <p:cNvPr id="32" name="object 32"/>
          <p:cNvSpPr txBox="1"/>
          <p:nvPr/>
        </p:nvSpPr>
        <p:spPr>
          <a:xfrm>
            <a:off x="1359406" y="2442343"/>
            <a:ext cx="329565"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Calibri"/>
                <a:cs typeface="Calibri"/>
              </a:rPr>
              <a:t>s</a:t>
            </a:r>
            <a:r>
              <a:rPr sz="1200" spc="-20" dirty="0">
                <a:latin typeface="Calibri"/>
                <a:cs typeface="Calibri"/>
              </a:rPr>
              <a:t>t</a:t>
            </a:r>
            <a:r>
              <a:rPr sz="1200" spc="-15" dirty="0">
                <a:latin typeface="Calibri"/>
                <a:cs typeface="Calibri"/>
              </a:rPr>
              <a:t>at</a:t>
            </a:r>
            <a:r>
              <a:rPr sz="1200" dirty="0">
                <a:latin typeface="Calibri"/>
                <a:cs typeface="Calibri"/>
              </a:rPr>
              <a:t>e</a:t>
            </a:r>
            <a:endParaRPr sz="1200">
              <a:latin typeface="Calibri"/>
              <a:cs typeface="Calibri"/>
            </a:endParaRPr>
          </a:p>
        </p:txBody>
      </p:sp>
      <p:grpSp>
        <p:nvGrpSpPr>
          <p:cNvPr id="33" name="object 33"/>
          <p:cNvGrpSpPr/>
          <p:nvPr/>
        </p:nvGrpSpPr>
        <p:grpSpPr>
          <a:xfrm>
            <a:off x="2044382" y="2577542"/>
            <a:ext cx="3226435" cy="1017269"/>
            <a:chOff x="2044382" y="2577542"/>
            <a:chExt cx="3226435" cy="1017269"/>
          </a:xfrm>
        </p:grpSpPr>
        <p:pic>
          <p:nvPicPr>
            <p:cNvPr id="34" name="object 34"/>
            <p:cNvPicPr/>
            <p:nvPr/>
          </p:nvPicPr>
          <p:blipFill>
            <a:blip r:embed="rId6" cstate="print"/>
            <a:stretch>
              <a:fillRect/>
            </a:stretch>
          </p:blipFill>
          <p:spPr>
            <a:xfrm>
              <a:off x="2966677" y="3274440"/>
              <a:ext cx="225639" cy="83002"/>
            </a:xfrm>
            <a:prstGeom prst="rect">
              <a:avLst/>
            </a:prstGeom>
          </p:spPr>
        </p:pic>
        <p:sp>
          <p:nvSpPr>
            <p:cNvPr id="35" name="object 35"/>
            <p:cNvSpPr/>
            <p:nvPr/>
          </p:nvSpPr>
          <p:spPr>
            <a:xfrm>
              <a:off x="2457360" y="2972463"/>
              <a:ext cx="836930" cy="419100"/>
            </a:xfrm>
            <a:custGeom>
              <a:avLst/>
              <a:gdLst/>
              <a:ahLst/>
              <a:cxnLst/>
              <a:rect l="l" t="t" r="r" b="b"/>
              <a:pathLst>
                <a:path w="836929" h="419100">
                  <a:moveTo>
                    <a:pt x="0" y="418736"/>
                  </a:moveTo>
                  <a:lnTo>
                    <a:pt x="836814" y="0"/>
                  </a:lnTo>
                </a:path>
              </a:pathLst>
            </a:custGeom>
            <a:ln w="25549">
              <a:solidFill>
                <a:srgbClr val="000000"/>
              </a:solidFill>
            </a:ln>
          </p:spPr>
          <p:txBody>
            <a:bodyPr wrap="square" lIns="0" tIns="0" rIns="0" bIns="0" rtlCol="0"/>
            <a:lstStyle/>
            <a:p>
              <a:endParaRPr/>
            </a:p>
          </p:txBody>
        </p:sp>
        <p:pic>
          <p:nvPicPr>
            <p:cNvPr id="36" name="object 36"/>
            <p:cNvPicPr/>
            <p:nvPr/>
          </p:nvPicPr>
          <p:blipFill>
            <a:blip r:embed="rId7" cstate="print"/>
            <a:stretch>
              <a:fillRect/>
            </a:stretch>
          </p:blipFill>
          <p:spPr>
            <a:xfrm>
              <a:off x="3242845" y="2937219"/>
              <a:ext cx="109006" cy="86572"/>
            </a:xfrm>
            <a:prstGeom prst="rect">
              <a:avLst/>
            </a:prstGeom>
          </p:spPr>
        </p:pic>
        <p:sp>
          <p:nvSpPr>
            <p:cNvPr id="37" name="object 37"/>
            <p:cNvSpPr/>
            <p:nvPr/>
          </p:nvSpPr>
          <p:spPr>
            <a:xfrm>
              <a:off x="2438280" y="2903681"/>
              <a:ext cx="828040" cy="68580"/>
            </a:xfrm>
            <a:custGeom>
              <a:avLst/>
              <a:gdLst/>
              <a:ahLst/>
              <a:cxnLst/>
              <a:rect l="l" t="t" r="r" b="b"/>
              <a:pathLst>
                <a:path w="828039" h="68580">
                  <a:moveTo>
                    <a:pt x="0" y="68118"/>
                  </a:moveTo>
                  <a:lnTo>
                    <a:pt x="827732" y="0"/>
                  </a:lnTo>
                </a:path>
              </a:pathLst>
            </a:custGeom>
            <a:ln w="25549">
              <a:solidFill>
                <a:srgbClr val="000000"/>
              </a:solidFill>
            </a:ln>
          </p:spPr>
          <p:txBody>
            <a:bodyPr wrap="square" lIns="0" tIns="0" rIns="0" bIns="0" rtlCol="0"/>
            <a:lstStyle/>
            <a:p>
              <a:endParaRPr/>
            </a:p>
          </p:txBody>
        </p:sp>
        <p:pic>
          <p:nvPicPr>
            <p:cNvPr id="38" name="object 38"/>
            <p:cNvPicPr/>
            <p:nvPr/>
          </p:nvPicPr>
          <p:blipFill>
            <a:blip r:embed="rId8" cstate="print"/>
            <a:stretch>
              <a:fillRect/>
            </a:stretch>
          </p:blipFill>
          <p:spPr>
            <a:xfrm>
              <a:off x="3222245" y="2864626"/>
              <a:ext cx="106584" cy="82822"/>
            </a:xfrm>
            <a:prstGeom prst="rect">
              <a:avLst/>
            </a:prstGeom>
          </p:spPr>
        </p:pic>
        <p:sp>
          <p:nvSpPr>
            <p:cNvPr id="39" name="object 39"/>
            <p:cNvSpPr/>
            <p:nvPr/>
          </p:nvSpPr>
          <p:spPr>
            <a:xfrm>
              <a:off x="2057400" y="2590559"/>
              <a:ext cx="1286510" cy="250825"/>
            </a:xfrm>
            <a:custGeom>
              <a:avLst/>
              <a:gdLst/>
              <a:ahLst/>
              <a:cxnLst/>
              <a:rect l="l" t="t" r="r" b="b"/>
              <a:pathLst>
                <a:path w="1286510" h="250825">
                  <a:moveTo>
                    <a:pt x="0" y="0"/>
                  </a:moveTo>
                  <a:lnTo>
                    <a:pt x="1286370" y="250390"/>
                  </a:lnTo>
                </a:path>
              </a:pathLst>
            </a:custGeom>
            <a:ln w="25549">
              <a:solidFill>
                <a:srgbClr val="000000"/>
              </a:solidFill>
            </a:ln>
          </p:spPr>
          <p:txBody>
            <a:bodyPr wrap="square" lIns="0" tIns="0" rIns="0" bIns="0" rtlCol="0"/>
            <a:lstStyle/>
            <a:p>
              <a:endParaRPr/>
            </a:p>
          </p:txBody>
        </p:sp>
        <p:pic>
          <p:nvPicPr>
            <p:cNvPr id="40" name="object 40"/>
            <p:cNvPicPr/>
            <p:nvPr/>
          </p:nvPicPr>
          <p:blipFill>
            <a:blip r:embed="rId9" cstate="print"/>
            <a:stretch>
              <a:fillRect/>
            </a:stretch>
          </p:blipFill>
          <p:spPr>
            <a:xfrm>
              <a:off x="3297302" y="2794481"/>
              <a:ext cx="108528" cy="81957"/>
            </a:xfrm>
            <a:prstGeom prst="rect">
              <a:avLst/>
            </a:prstGeom>
          </p:spPr>
        </p:pic>
        <p:sp>
          <p:nvSpPr>
            <p:cNvPr id="41" name="object 41"/>
            <p:cNvSpPr/>
            <p:nvPr/>
          </p:nvSpPr>
          <p:spPr>
            <a:xfrm>
              <a:off x="3352680" y="3200399"/>
              <a:ext cx="1905635" cy="381000"/>
            </a:xfrm>
            <a:custGeom>
              <a:avLst/>
              <a:gdLst/>
              <a:ahLst/>
              <a:cxnLst/>
              <a:rect l="l" t="t" r="r" b="b"/>
              <a:pathLst>
                <a:path w="1905635" h="381000">
                  <a:moveTo>
                    <a:pt x="1905119" y="380879"/>
                  </a:moveTo>
                  <a:lnTo>
                    <a:pt x="0" y="380879"/>
                  </a:lnTo>
                  <a:lnTo>
                    <a:pt x="0" y="0"/>
                  </a:lnTo>
                  <a:lnTo>
                    <a:pt x="1905119" y="0"/>
                  </a:lnTo>
                  <a:lnTo>
                    <a:pt x="1905119" y="380879"/>
                  </a:lnTo>
                  <a:close/>
                </a:path>
              </a:pathLst>
            </a:custGeom>
            <a:solidFill>
              <a:srgbClr val="4F81BD"/>
            </a:solidFill>
          </p:spPr>
          <p:txBody>
            <a:bodyPr wrap="square" lIns="0" tIns="0" rIns="0" bIns="0" rtlCol="0"/>
            <a:lstStyle/>
            <a:p>
              <a:endParaRPr/>
            </a:p>
          </p:txBody>
        </p:sp>
        <p:sp>
          <p:nvSpPr>
            <p:cNvPr id="42" name="object 42"/>
            <p:cNvSpPr/>
            <p:nvPr/>
          </p:nvSpPr>
          <p:spPr>
            <a:xfrm>
              <a:off x="3352680" y="3200399"/>
              <a:ext cx="1905635" cy="381000"/>
            </a:xfrm>
            <a:custGeom>
              <a:avLst/>
              <a:gdLst/>
              <a:ahLst/>
              <a:cxnLst/>
              <a:rect l="l" t="t" r="r" b="b"/>
              <a:pathLst>
                <a:path w="1905635" h="381000">
                  <a:moveTo>
                    <a:pt x="0" y="0"/>
                  </a:moveTo>
                  <a:lnTo>
                    <a:pt x="1905119" y="0"/>
                  </a:lnTo>
                  <a:lnTo>
                    <a:pt x="1905119" y="380879"/>
                  </a:lnTo>
                  <a:lnTo>
                    <a:pt x="0" y="380879"/>
                  </a:lnTo>
                  <a:lnTo>
                    <a:pt x="0" y="0"/>
                  </a:lnTo>
                  <a:close/>
                </a:path>
              </a:pathLst>
            </a:custGeom>
            <a:ln w="25549">
              <a:solidFill>
                <a:srgbClr val="375D8A"/>
              </a:solidFill>
            </a:ln>
          </p:spPr>
          <p:txBody>
            <a:bodyPr wrap="square" lIns="0" tIns="0" rIns="0" bIns="0" rtlCol="0"/>
            <a:lstStyle/>
            <a:p>
              <a:endParaRPr/>
            </a:p>
          </p:txBody>
        </p:sp>
      </p:grpSp>
      <p:sp>
        <p:nvSpPr>
          <p:cNvPr id="43" name="object 43"/>
          <p:cNvSpPr txBox="1"/>
          <p:nvPr/>
        </p:nvSpPr>
        <p:spPr>
          <a:xfrm>
            <a:off x="3352679" y="3200400"/>
            <a:ext cx="1905635" cy="381000"/>
          </a:xfrm>
          <a:prstGeom prst="rect">
            <a:avLst/>
          </a:prstGeom>
          <a:ln w="25549">
            <a:solidFill>
              <a:srgbClr val="375D8A"/>
            </a:solidFill>
          </a:ln>
        </p:spPr>
        <p:txBody>
          <a:bodyPr vert="horz" wrap="square" lIns="0" tIns="1270" rIns="0" bIns="0" rtlCol="0">
            <a:spAutoFit/>
          </a:bodyPr>
          <a:lstStyle/>
          <a:p>
            <a:pPr marL="692150" marR="160655" indent="-527050">
              <a:lnSpc>
                <a:spcPct val="100000"/>
              </a:lnSpc>
              <a:spcBef>
                <a:spcPts val="10"/>
              </a:spcBef>
            </a:pPr>
            <a:r>
              <a:rPr sz="1200" b="1" spc="-10" dirty="0">
                <a:latin typeface="Calibri"/>
                <a:cs typeface="Calibri"/>
              </a:rPr>
              <a:t>What </a:t>
            </a:r>
            <a:r>
              <a:rPr sz="1200" b="1" spc="-5" dirty="0">
                <a:latin typeface="Calibri"/>
                <a:cs typeface="Calibri"/>
              </a:rPr>
              <a:t>it will be </a:t>
            </a:r>
            <a:r>
              <a:rPr sz="1200" b="1" spc="-15" dirty="0">
                <a:latin typeface="Calibri"/>
                <a:cs typeface="Calibri"/>
              </a:rPr>
              <a:t>like </a:t>
            </a:r>
            <a:r>
              <a:rPr sz="1200" b="1" spc="-5" dirty="0">
                <a:latin typeface="Calibri"/>
                <a:cs typeface="Calibri"/>
              </a:rPr>
              <a:t>if </a:t>
            </a:r>
            <a:r>
              <a:rPr sz="1200" b="1" dirty="0">
                <a:latin typeface="Calibri"/>
                <a:cs typeface="Calibri"/>
              </a:rPr>
              <a:t>I </a:t>
            </a:r>
            <a:r>
              <a:rPr sz="1200" b="1" spc="-5" dirty="0">
                <a:latin typeface="Calibri"/>
                <a:cs typeface="Calibri"/>
              </a:rPr>
              <a:t>do </a:t>
            </a:r>
            <a:r>
              <a:rPr sz="1200" b="1" spc="-260" dirty="0">
                <a:latin typeface="Calibri"/>
                <a:cs typeface="Calibri"/>
              </a:rPr>
              <a:t> </a:t>
            </a:r>
            <a:r>
              <a:rPr sz="1200" b="1" spc="-5" dirty="0">
                <a:latin typeface="Calibri"/>
                <a:cs typeface="Calibri"/>
              </a:rPr>
              <a:t>action</a:t>
            </a:r>
            <a:r>
              <a:rPr sz="1200" b="1" spc="-15" dirty="0">
                <a:latin typeface="Calibri"/>
                <a:cs typeface="Calibri"/>
              </a:rPr>
              <a:t> </a:t>
            </a:r>
            <a:r>
              <a:rPr sz="1200" b="1" dirty="0">
                <a:latin typeface="Calibri"/>
                <a:cs typeface="Calibri"/>
              </a:rPr>
              <a:t>A</a:t>
            </a:r>
            <a:endParaRPr sz="1200">
              <a:latin typeface="Calibri"/>
              <a:cs typeface="Calibri"/>
            </a:endParaRPr>
          </a:p>
        </p:txBody>
      </p:sp>
      <p:grpSp>
        <p:nvGrpSpPr>
          <p:cNvPr id="44" name="object 44"/>
          <p:cNvGrpSpPr/>
          <p:nvPr/>
        </p:nvGrpSpPr>
        <p:grpSpPr>
          <a:xfrm>
            <a:off x="1915685" y="2281408"/>
            <a:ext cx="3728720" cy="1464945"/>
            <a:chOff x="1915685" y="2281408"/>
            <a:chExt cx="3728720" cy="1464945"/>
          </a:xfrm>
        </p:grpSpPr>
        <p:pic>
          <p:nvPicPr>
            <p:cNvPr id="45" name="object 45"/>
            <p:cNvPicPr/>
            <p:nvPr/>
          </p:nvPicPr>
          <p:blipFill>
            <a:blip r:embed="rId10" cstate="print"/>
            <a:stretch>
              <a:fillRect/>
            </a:stretch>
          </p:blipFill>
          <p:spPr>
            <a:xfrm>
              <a:off x="4102025" y="3568504"/>
              <a:ext cx="71275" cy="177831"/>
            </a:xfrm>
            <a:prstGeom prst="rect">
              <a:avLst/>
            </a:prstGeom>
          </p:spPr>
        </p:pic>
        <p:sp>
          <p:nvSpPr>
            <p:cNvPr id="46" name="object 46"/>
            <p:cNvSpPr/>
            <p:nvPr/>
          </p:nvSpPr>
          <p:spPr>
            <a:xfrm>
              <a:off x="2438279" y="3428639"/>
              <a:ext cx="904240" cy="1270"/>
            </a:xfrm>
            <a:custGeom>
              <a:avLst/>
              <a:gdLst/>
              <a:ahLst/>
              <a:cxnLst/>
              <a:rect l="l" t="t" r="r" b="b"/>
              <a:pathLst>
                <a:path w="904239" h="1270">
                  <a:moveTo>
                    <a:pt x="0" y="0"/>
                  </a:moveTo>
                  <a:lnTo>
                    <a:pt x="903877" y="984"/>
                  </a:lnTo>
                </a:path>
              </a:pathLst>
            </a:custGeom>
            <a:ln w="25549">
              <a:solidFill>
                <a:srgbClr val="000000"/>
              </a:solidFill>
            </a:ln>
          </p:spPr>
          <p:txBody>
            <a:bodyPr wrap="square" lIns="0" tIns="0" rIns="0" bIns="0" rtlCol="0"/>
            <a:lstStyle/>
            <a:p>
              <a:endParaRPr/>
            </a:p>
          </p:txBody>
        </p:sp>
        <p:pic>
          <p:nvPicPr>
            <p:cNvPr id="47" name="object 47"/>
            <p:cNvPicPr/>
            <p:nvPr/>
          </p:nvPicPr>
          <p:blipFill>
            <a:blip r:embed="rId11" cstate="print"/>
            <a:stretch>
              <a:fillRect/>
            </a:stretch>
          </p:blipFill>
          <p:spPr>
            <a:xfrm>
              <a:off x="3300618" y="3388084"/>
              <a:ext cx="104524" cy="83016"/>
            </a:xfrm>
            <a:prstGeom prst="rect">
              <a:avLst/>
            </a:prstGeom>
          </p:spPr>
        </p:pic>
        <p:sp>
          <p:nvSpPr>
            <p:cNvPr id="48" name="object 48"/>
            <p:cNvSpPr/>
            <p:nvPr/>
          </p:nvSpPr>
          <p:spPr>
            <a:xfrm>
              <a:off x="2438279" y="2971800"/>
              <a:ext cx="908050" cy="280035"/>
            </a:xfrm>
            <a:custGeom>
              <a:avLst/>
              <a:gdLst/>
              <a:ahLst/>
              <a:cxnLst/>
              <a:rect l="l" t="t" r="r" b="b"/>
              <a:pathLst>
                <a:path w="908050" h="280035">
                  <a:moveTo>
                    <a:pt x="0" y="0"/>
                  </a:moveTo>
                  <a:lnTo>
                    <a:pt x="907824" y="279901"/>
                  </a:lnTo>
                </a:path>
              </a:pathLst>
            </a:custGeom>
            <a:ln w="25549">
              <a:solidFill>
                <a:srgbClr val="000000"/>
              </a:solidFill>
            </a:ln>
          </p:spPr>
          <p:txBody>
            <a:bodyPr wrap="square" lIns="0" tIns="0" rIns="0" bIns="0" rtlCol="0"/>
            <a:lstStyle/>
            <a:p>
              <a:endParaRPr/>
            </a:p>
          </p:txBody>
        </p:sp>
        <p:pic>
          <p:nvPicPr>
            <p:cNvPr id="49" name="object 49"/>
            <p:cNvPicPr/>
            <p:nvPr/>
          </p:nvPicPr>
          <p:blipFill>
            <a:blip r:embed="rId12" cstate="print"/>
            <a:stretch>
              <a:fillRect/>
            </a:stretch>
          </p:blipFill>
          <p:spPr>
            <a:xfrm>
              <a:off x="3297406" y="3203002"/>
              <a:ext cx="109454" cy="80465"/>
            </a:xfrm>
            <a:prstGeom prst="rect">
              <a:avLst/>
            </a:prstGeom>
          </p:spPr>
        </p:pic>
        <p:sp>
          <p:nvSpPr>
            <p:cNvPr id="50" name="object 50"/>
            <p:cNvSpPr/>
            <p:nvPr/>
          </p:nvSpPr>
          <p:spPr>
            <a:xfrm>
              <a:off x="3733919" y="2362319"/>
              <a:ext cx="1905635" cy="76200"/>
            </a:xfrm>
            <a:custGeom>
              <a:avLst/>
              <a:gdLst/>
              <a:ahLst/>
              <a:cxnLst/>
              <a:rect l="l" t="t" r="r" b="b"/>
              <a:pathLst>
                <a:path w="1905635" h="76200">
                  <a:moveTo>
                    <a:pt x="0" y="0"/>
                  </a:moveTo>
                  <a:lnTo>
                    <a:pt x="82640" y="70"/>
                  </a:lnTo>
                  <a:lnTo>
                    <a:pt x="164380" y="278"/>
                  </a:lnTo>
                  <a:lnTo>
                    <a:pt x="245151" y="623"/>
                  </a:lnTo>
                  <a:lnTo>
                    <a:pt x="324879" y="1100"/>
                  </a:lnTo>
                  <a:lnTo>
                    <a:pt x="403493" y="1706"/>
                  </a:lnTo>
                  <a:lnTo>
                    <a:pt x="480922" y="2440"/>
                  </a:lnTo>
                  <a:lnTo>
                    <a:pt x="557094" y="3299"/>
                  </a:lnTo>
                  <a:lnTo>
                    <a:pt x="631938" y="4278"/>
                  </a:lnTo>
                  <a:lnTo>
                    <a:pt x="705383" y="5376"/>
                  </a:lnTo>
                  <a:lnTo>
                    <a:pt x="777356" y="6590"/>
                  </a:lnTo>
                  <a:lnTo>
                    <a:pt x="847787" y="7916"/>
                  </a:lnTo>
                  <a:lnTo>
                    <a:pt x="916604" y="9353"/>
                  </a:lnTo>
                  <a:lnTo>
                    <a:pt x="983735" y="10897"/>
                  </a:lnTo>
                  <a:lnTo>
                    <a:pt x="1049109" y="12544"/>
                  </a:lnTo>
                  <a:lnTo>
                    <a:pt x="1112655" y="14294"/>
                  </a:lnTo>
                  <a:lnTo>
                    <a:pt x="1174301" y="16141"/>
                  </a:lnTo>
                  <a:lnTo>
                    <a:pt x="1233975" y="18085"/>
                  </a:lnTo>
                  <a:lnTo>
                    <a:pt x="1291606" y="20121"/>
                  </a:lnTo>
                  <a:lnTo>
                    <a:pt x="1347123" y="22248"/>
                  </a:lnTo>
                  <a:lnTo>
                    <a:pt x="1400453" y="24461"/>
                  </a:lnTo>
                  <a:lnTo>
                    <a:pt x="1451527" y="26759"/>
                  </a:lnTo>
                  <a:lnTo>
                    <a:pt x="1500271" y="29138"/>
                  </a:lnTo>
                  <a:lnTo>
                    <a:pt x="1546615" y="31596"/>
                  </a:lnTo>
                  <a:lnTo>
                    <a:pt x="1590487" y="34130"/>
                  </a:lnTo>
                  <a:lnTo>
                    <a:pt x="1631816" y="36736"/>
                  </a:lnTo>
                  <a:lnTo>
                    <a:pt x="1670530" y="39413"/>
                  </a:lnTo>
                  <a:lnTo>
                    <a:pt x="1739827" y="44965"/>
                  </a:lnTo>
                  <a:lnTo>
                    <a:pt x="1797808" y="50763"/>
                  </a:lnTo>
                  <a:lnTo>
                    <a:pt x="1843899" y="56784"/>
                  </a:lnTo>
                  <a:lnTo>
                    <a:pt x="1889493" y="66185"/>
                  </a:lnTo>
                  <a:lnTo>
                    <a:pt x="1905119" y="75959"/>
                  </a:lnTo>
                  <a:lnTo>
                    <a:pt x="0" y="75959"/>
                  </a:lnTo>
                  <a:lnTo>
                    <a:pt x="0" y="0"/>
                  </a:lnTo>
                  <a:close/>
                </a:path>
                <a:path w="1905635" h="76200">
                  <a:moveTo>
                    <a:pt x="0" y="0"/>
                  </a:moveTo>
                  <a:lnTo>
                    <a:pt x="82640" y="70"/>
                  </a:lnTo>
                  <a:lnTo>
                    <a:pt x="164380" y="278"/>
                  </a:lnTo>
                  <a:lnTo>
                    <a:pt x="245151" y="623"/>
                  </a:lnTo>
                  <a:lnTo>
                    <a:pt x="324879" y="1100"/>
                  </a:lnTo>
                  <a:lnTo>
                    <a:pt x="403493" y="1706"/>
                  </a:lnTo>
                  <a:lnTo>
                    <a:pt x="480922" y="2440"/>
                  </a:lnTo>
                  <a:lnTo>
                    <a:pt x="557094" y="3299"/>
                  </a:lnTo>
                  <a:lnTo>
                    <a:pt x="631938" y="4278"/>
                  </a:lnTo>
                  <a:lnTo>
                    <a:pt x="705383" y="5376"/>
                  </a:lnTo>
                  <a:lnTo>
                    <a:pt x="777356" y="6590"/>
                  </a:lnTo>
                  <a:lnTo>
                    <a:pt x="847787" y="7916"/>
                  </a:lnTo>
                  <a:lnTo>
                    <a:pt x="916604" y="9353"/>
                  </a:lnTo>
                  <a:lnTo>
                    <a:pt x="983735" y="10897"/>
                  </a:lnTo>
                  <a:lnTo>
                    <a:pt x="1049109" y="12544"/>
                  </a:lnTo>
                  <a:lnTo>
                    <a:pt x="1112655" y="14294"/>
                  </a:lnTo>
                  <a:lnTo>
                    <a:pt x="1174301" y="16141"/>
                  </a:lnTo>
                  <a:lnTo>
                    <a:pt x="1233975" y="18085"/>
                  </a:lnTo>
                  <a:lnTo>
                    <a:pt x="1291606" y="20121"/>
                  </a:lnTo>
                  <a:lnTo>
                    <a:pt x="1347123" y="22248"/>
                  </a:lnTo>
                  <a:lnTo>
                    <a:pt x="1400453" y="24461"/>
                  </a:lnTo>
                  <a:lnTo>
                    <a:pt x="1451527" y="26759"/>
                  </a:lnTo>
                  <a:lnTo>
                    <a:pt x="1500271" y="29138"/>
                  </a:lnTo>
                  <a:lnTo>
                    <a:pt x="1546615" y="31596"/>
                  </a:lnTo>
                  <a:lnTo>
                    <a:pt x="1590487" y="34130"/>
                  </a:lnTo>
                  <a:lnTo>
                    <a:pt x="1631816" y="36736"/>
                  </a:lnTo>
                  <a:lnTo>
                    <a:pt x="1670530" y="39413"/>
                  </a:lnTo>
                  <a:lnTo>
                    <a:pt x="1739827" y="44965"/>
                  </a:lnTo>
                  <a:lnTo>
                    <a:pt x="1797808" y="50763"/>
                  </a:lnTo>
                  <a:lnTo>
                    <a:pt x="1843899" y="56784"/>
                  </a:lnTo>
                  <a:lnTo>
                    <a:pt x="1889493" y="66185"/>
                  </a:lnTo>
                  <a:lnTo>
                    <a:pt x="1903359" y="72665"/>
                  </a:lnTo>
                  <a:lnTo>
                    <a:pt x="1905119" y="75959"/>
                  </a:lnTo>
                </a:path>
              </a:pathLst>
            </a:custGeom>
            <a:ln w="9524">
              <a:solidFill>
                <a:srgbClr val="4A7EBB"/>
              </a:solidFill>
            </a:ln>
          </p:spPr>
          <p:txBody>
            <a:bodyPr wrap="square" lIns="0" tIns="0" rIns="0" bIns="0" rtlCol="0"/>
            <a:lstStyle/>
            <a:p>
              <a:endParaRPr/>
            </a:p>
          </p:txBody>
        </p:sp>
        <p:sp>
          <p:nvSpPr>
            <p:cNvPr id="51" name="object 51"/>
            <p:cNvSpPr/>
            <p:nvPr/>
          </p:nvSpPr>
          <p:spPr>
            <a:xfrm>
              <a:off x="1920447" y="2286171"/>
              <a:ext cx="2134235" cy="604520"/>
            </a:xfrm>
            <a:custGeom>
              <a:avLst/>
              <a:gdLst/>
              <a:ahLst/>
              <a:cxnLst/>
              <a:rect l="l" t="t" r="r" b="b"/>
              <a:pathLst>
                <a:path w="2134235" h="604519">
                  <a:moveTo>
                    <a:pt x="0" y="289790"/>
                  </a:moveTo>
                  <a:lnTo>
                    <a:pt x="30249" y="265079"/>
                  </a:lnTo>
                  <a:lnTo>
                    <a:pt x="62542" y="241310"/>
                  </a:lnTo>
                  <a:lnTo>
                    <a:pt x="96797" y="218507"/>
                  </a:lnTo>
                  <a:lnTo>
                    <a:pt x="132932" y="196693"/>
                  </a:lnTo>
                  <a:lnTo>
                    <a:pt x="170864" y="175892"/>
                  </a:lnTo>
                  <a:lnTo>
                    <a:pt x="210511" y="156127"/>
                  </a:lnTo>
                  <a:lnTo>
                    <a:pt x="251793" y="137422"/>
                  </a:lnTo>
                  <a:lnTo>
                    <a:pt x="294625" y="119801"/>
                  </a:lnTo>
                  <a:lnTo>
                    <a:pt x="338928" y="103286"/>
                  </a:lnTo>
                  <a:lnTo>
                    <a:pt x="384617" y="87902"/>
                  </a:lnTo>
                  <a:lnTo>
                    <a:pt x="431613" y="73671"/>
                  </a:lnTo>
                  <a:lnTo>
                    <a:pt x="479831" y="60618"/>
                  </a:lnTo>
                  <a:lnTo>
                    <a:pt x="529192" y="48766"/>
                  </a:lnTo>
                  <a:lnTo>
                    <a:pt x="579611" y="38138"/>
                  </a:lnTo>
                  <a:lnTo>
                    <a:pt x="631008" y="28758"/>
                  </a:lnTo>
                  <a:lnTo>
                    <a:pt x="683300" y="20649"/>
                  </a:lnTo>
                  <a:lnTo>
                    <a:pt x="736406" y="13836"/>
                  </a:lnTo>
                  <a:lnTo>
                    <a:pt x="790243" y="8340"/>
                  </a:lnTo>
                  <a:lnTo>
                    <a:pt x="844730" y="4187"/>
                  </a:lnTo>
                  <a:lnTo>
                    <a:pt x="899783" y="1399"/>
                  </a:lnTo>
                  <a:lnTo>
                    <a:pt x="955322" y="0"/>
                  </a:lnTo>
                  <a:lnTo>
                    <a:pt x="1011264" y="13"/>
                  </a:lnTo>
                  <a:lnTo>
                    <a:pt x="1073264" y="1681"/>
                  </a:lnTo>
                  <a:lnTo>
                    <a:pt x="1134340" y="5038"/>
                  </a:lnTo>
                  <a:lnTo>
                    <a:pt x="1194409" y="10040"/>
                  </a:lnTo>
                  <a:lnTo>
                    <a:pt x="1253388" y="16641"/>
                  </a:lnTo>
                  <a:lnTo>
                    <a:pt x="1311195" y="24799"/>
                  </a:lnTo>
                  <a:lnTo>
                    <a:pt x="1367748" y="34467"/>
                  </a:lnTo>
                  <a:lnTo>
                    <a:pt x="1422963" y="45601"/>
                  </a:lnTo>
                  <a:lnTo>
                    <a:pt x="1476758" y="58158"/>
                  </a:lnTo>
                  <a:lnTo>
                    <a:pt x="1529050" y="72092"/>
                  </a:lnTo>
                  <a:lnTo>
                    <a:pt x="1579757" y="87360"/>
                  </a:lnTo>
                  <a:lnTo>
                    <a:pt x="1628796" y="103916"/>
                  </a:lnTo>
                  <a:lnTo>
                    <a:pt x="1676085" y="121716"/>
                  </a:lnTo>
                  <a:lnTo>
                    <a:pt x="1721540" y="140716"/>
                  </a:lnTo>
                  <a:lnTo>
                    <a:pt x="1765080" y="160871"/>
                  </a:lnTo>
                  <a:lnTo>
                    <a:pt x="1806621" y="182137"/>
                  </a:lnTo>
                  <a:lnTo>
                    <a:pt x="1846081" y="204468"/>
                  </a:lnTo>
                  <a:lnTo>
                    <a:pt x="1883377" y="227822"/>
                  </a:lnTo>
                  <a:lnTo>
                    <a:pt x="1918426" y="252153"/>
                  </a:lnTo>
                  <a:lnTo>
                    <a:pt x="1951147" y="277417"/>
                  </a:lnTo>
                  <a:lnTo>
                    <a:pt x="1981456" y="303569"/>
                  </a:lnTo>
                  <a:lnTo>
                    <a:pt x="2009270" y="330565"/>
                  </a:lnTo>
                  <a:lnTo>
                    <a:pt x="2057085" y="386910"/>
                  </a:lnTo>
                  <a:lnTo>
                    <a:pt x="2093932" y="446096"/>
                  </a:lnTo>
                  <a:lnTo>
                    <a:pt x="2119148" y="507769"/>
                  </a:lnTo>
                  <a:lnTo>
                    <a:pt x="2132073" y="571571"/>
                  </a:lnTo>
                  <a:lnTo>
                    <a:pt x="2133719" y="604159"/>
                  </a:lnTo>
                  <a:lnTo>
                    <a:pt x="982876" y="604159"/>
                  </a:lnTo>
                  <a:lnTo>
                    <a:pt x="0" y="289790"/>
                  </a:lnTo>
                  <a:close/>
                </a:path>
                <a:path w="2134235" h="604519">
                  <a:moveTo>
                    <a:pt x="0" y="289790"/>
                  </a:moveTo>
                  <a:lnTo>
                    <a:pt x="30249" y="265079"/>
                  </a:lnTo>
                  <a:lnTo>
                    <a:pt x="62542" y="241310"/>
                  </a:lnTo>
                  <a:lnTo>
                    <a:pt x="96797" y="218507"/>
                  </a:lnTo>
                  <a:lnTo>
                    <a:pt x="132932" y="196693"/>
                  </a:lnTo>
                  <a:lnTo>
                    <a:pt x="170864" y="175892"/>
                  </a:lnTo>
                  <a:lnTo>
                    <a:pt x="210511" y="156127"/>
                  </a:lnTo>
                  <a:lnTo>
                    <a:pt x="251793" y="137422"/>
                  </a:lnTo>
                  <a:lnTo>
                    <a:pt x="294625" y="119801"/>
                  </a:lnTo>
                  <a:lnTo>
                    <a:pt x="338928" y="103286"/>
                  </a:lnTo>
                  <a:lnTo>
                    <a:pt x="384617" y="87902"/>
                  </a:lnTo>
                  <a:lnTo>
                    <a:pt x="431613" y="73671"/>
                  </a:lnTo>
                  <a:lnTo>
                    <a:pt x="479831" y="60618"/>
                  </a:lnTo>
                  <a:lnTo>
                    <a:pt x="529192" y="48766"/>
                  </a:lnTo>
                  <a:lnTo>
                    <a:pt x="579611" y="38138"/>
                  </a:lnTo>
                  <a:lnTo>
                    <a:pt x="631008" y="28758"/>
                  </a:lnTo>
                  <a:lnTo>
                    <a:pt x="683300" y="20649"/>
                  </a:lnTo>
                  <a:lnTo>
                    <a:pt x="736406" y="13836"/>
                  </a:lnTo>
                  <a:lnTo>
                    <a:pt x="790243" y="8340"/>
                  </a:lnTo>
                  <a:lnTo>
                    <a:pt x="844730" y="4187"/>
                  </a:lnTo>
                  <a:lnTo>
                    <a:pt x="899783" y="1399"/>
                  </a:lnTo>
                  <a:lnTo>
                    <a:pt x="955322" y="0"/>
                  </a:lnTo>
                  <a:lnTo>
                    <a:pt x="1011264" y="13"/>
                  </a:lnTo>
                  <a:lnTo>
                    <a:pt x="1073264" y="1681"/>
                  </a:lnTo>
                  <a:lnTo>
                    <a:pt x="1134340" y="5038"/>
                  </a:lnTo>
                  <a:lnTo>
                    <a:pt x="1194409" y="10040"/>
                  </a:lnTo>
                  <a:lnTo>
                    <a:pt x="1253388" y="16641"/>
                  </a:lnTo>
                  <a:lnTo>
                    <a:pt x="1311195" y="24799"/>
                  </a:lnTo>
                  <a:lnTo>
                    <a:pt x="1367748" y="34467"/>
                  </a:lnTo>
                  <a:lnTo>
                    <a:pt x="1422963" y="45601"/>
                  </a:lnTo>
                  <a:lnTo>
                    <a:pt x="1476758" y="58158"/>
                  </a:lnTo>
                  <a:lnTo>
                    <a:pt x="1529050" y="72092"/>
                  </a:lnTo>
                  <a:lnTo>
                    <a:pt x="1579757" y="87360"/>
                  </a:lnTo>
                  <a:lnTo>
                    <a:pt x="1628796" y="103916"/>
                  </a:lnTo>
                  <a:lnTo>
                    <a:pt x="1676085" y="121716"/>
                  </a:lnTo>
                  <a:lnTo>
                    <a:pt x="1721540" y="140716"/>
                  </a:lnTo>
                  <a:lnTo>
                    <a:pt x="1765080" y="160871"/>
                  </a:lnTo>
                  <a:lnTo>
                    <a:pt x="1806621" y="182137"/>
                  </a:lnTo>
                  <a:lnTo>
                    <a:pt x="1846081" y="204468"/>
                  </a:lnTo>
                  <a:lnTo>
                    <a:pt x="1883377" y="227822"/>
                  </a:lnTo>
                  <a:lnTo>
                    <a:pt x="1918426" y="252153"/>
                  </a:lnTo>
                  <a:lnTo>
                    <a:pt x="1951147" y="277417"/>
                  </a:lnTo>
                  <a:lnTo>
                    <a:pt x="1981456" y="303569"/>
                  </a:lnTo>
                  <a:lnTo>
                    <a:pt x="2009270" y="330565"/>
                  </a:lnTo>
                  <a:lnTo>
                    <a:pt x="2057085" y="386910"/>
                  </a:lnTo>
                  <a:lnTo>
                    <a:pt x="2093932" y="446096"/>
                  </a:lnTo>
                  <a:lnTo>
                    <a:pt x="2119148" y="507769"/>
                  </a:lnTo>
                  <a:lnTo>
                    <a:pt x="2132073" y="571571"/>
                  </a:lnTo>
                  <a:lnTo>
                    <a:pt x="2133719" y="604159"/>
                  </a:lnTo>
                </a:path>
              </a:pathLst>
            </a:custGeom>
            <a:ln w="9524">
              <a:solidFill>
                <a:srgbClr val="000000"/>
              </a:solidFill>
            </a:ln>
          </p:spPr>
          <p:txBody>
            <a:bodyPr wrap="square" lIns="0" tIns="0" rIns="0" bIns="0" rtlCol="0"/>
            <a:lstStyle/>
            <a:p>
              <a:endParaRPr/>
            </a:p>
          </p:txBody>
        </p:sp>
      </p:grpSp>
      <p:sp>
        <p:nvSpPr>
          <p:cNvPr id="52" name="object 52"/>
          <p:cNvSpPr txBox="1"/>
          <p:nvPr/>
        </p:nvSpPr>
        <p:spPr>
          <a:xfrm>
            <a:off x="6092945" y="4822831"/>
            <a:ext cx="95885" cy="228600"/>
          </a:xfrm>
          <a:prstGeom prst="rect">
            <a:avLst/>
          </a:prstGeom>
        </p:spPr>
        <p:txBody>
          <a:bodyPr vert="horz" wrap="square" lIns="0" tIns="0" rIns="0" bIns="0" rtlCol="0">
            <a:spAutoFit/>
          </a:bodyPr>
          <a:lstStyle/>
          <a:p>
            <a:pPr marL="12700">
              <a:lnSpc>
                <a:spcPts val="1620"/>
              </a:lnSpc>
            </a:pPr>
            <a:r>
              <a:rPr sz="1600" b="1" dirty="0">
                <a:latin typeface="Calibri"/>
                <a:cs typeface="Calibri"/>
              </a:rPr>
              <a:t>t</a:t>
            </a:r>
            <a:endParaRPr sz="1600">
              <a:latin typeface="Calibri"/>
              <a:cs typeface="Calibri"/>
            </a:endParaRPr>
          </a:p>
        </p:txBody>
      </p:sp>
      <p:sp>
        <p:nvSpPr>
          <p:cNvPr id="53" name="object 53"/>
          <p:cNvSpPr txBox="1"/>
          <p:nvPr/>
        </p:nvSpPr>
        <p:spPr>
          <a:xfrm>
            <a:off x="1520945" y="5218203"/>
            <a:ext cx="871219" cy="393065"/>
          </a:xfrm>
          <a:prstGeom prst="rect">
            <a:avLst/>
          </a:prstGeom>
        </p:spPr>
        <p:txBody>
          <a:bodyPr vert="horz" wrap="square" lIns="0" tIns="0" rIns="0" bIns="0" rtlCol="0">
            <a:spAutoFit/>
          </a:bodyPr>
          <a:lstStyle/>
          <a:p>
            <a:pPr marL="12700">
              <a:lnSpc>
                <a:spcPts val="2795"/>
              </a:lnSpc>
            </a:pPr>
            <a:r>
              <a:rPr sz="2400" b="1" spc="-5" dirty="0">
                <a:latin typeface="Palatino Linotype"/>
                <a:cs typeface="Palatino Linotype"/>
              </a:rPr>
              <a:t>Agent</a:t>
            </a:r>
            <a:endParaRPr sz="2400">
              <a:latin typeface="Palatino Linotype"/>
              <a:cs typeface="Palatino Linotype"/>
            </a:endParaRPr>
          </a:p>
        </p:txBody>
      </p:sp>
    </p:spTree>
    <p:extLst>
      <p:ext uri="{BB962C8B-B14F-4D97-AF65-F5344CB8AC3E}">
        <p14:creationId xmlns:p14="http://schemas.microsoft.com/office/powerpoint/2010/main" val="23674804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8579" y="86867"/>
            <a:ext cx="4545330" cy="695960"/>
          </a:xfrm>
          <a:prstGeom prst="rect">
            <a:avLst/>
          </a:prstGeom>
        </p:spPr>
        <p:txBody>
          <a:bodyPr vert="horz" wrap="square" lIns="0" tIns="12700" rIns="0" bIns="0" rtlCol="0">
            <a:spAutoFit/>
          </a:bodyPr>
          <a:lstStyle/>
          <a:p>
            <a:pPr marL="12700">
              <a:lnSpc>
                <a:spcPct val="100000"/>
              </a:lnSpc>
              <a:spcBef>
                <a:spcPts val="100"/>
              </a:spcBef>
            </a:pPr>
            <a:r>
              <a:rPr spc="-10" dirty="0"/>
              <a:t>Utility</a:t>
            </a:r>
            <a:r>
              <a:rPr spc="-45" dirty="0"/>
              <a:t> </a:t>
            </a:r>
            <a:r>
              <a:rPr spc="-5" dirty="0"/>
              <a:t>based</a:t>
            </a:r>
            <a:r>
              <a:rPr spc="-35" dirty="0"/>
              <a:t> </a:t>
            </a:r>
            <a:r>
              <a:rPr spc="-20" dirty="0"/>
              <a:t>Agents</a:t>
            </a:r>
          </a:p>
        </p:txBody>
      </p:sp>
      <p:sp>
        <p:nvSpPr>
          <p:cNvPr id="3" name="object 3"/>
          <p:cNvSpPr txBox="1"/>
          <p:nvPr/>
        </p:nvSpPr>
        <p:spPr>
          <a:xfrm>
            <a:off x="530225" y="652272"/>
            <a:ext cx="7991475" cy="1153160"/>
          </a:xfrm>
          <a:prstGeom prst="rect">
            <a:avLst/>
          </a:prstGeom>
        </p:spPr>
        <p:txBody>
          <a:bodyPr vert="horz" wrap="square" lIns="0" tIns="12700" rIns="0" bIns="0" rtlCol="0">
            <a:spAutoFit/>
          </a:bodyPr>
          <a:lstStyle/>
          <a:p>
            <a:pPr marL="12700" marR="4250055">
              <a:lnSpc>
                <a:spcPct val="120800"/>
              </a:lnSpc>
              <a:spcBef>
                <a:spcPts val="100"/>
              </a:spcBef>
            </a:pPr>
            <a:r>
              <a:rPr sz="1600" spc="-10" dirty="0">
                <a:latin typeface="Calibri"/>
                <a:cs typeface="Calibri"/>
              </a:rPr>
              <a:t>Information comes from sensors-</a:t>
            </a:r>
            <a:r>
              <a:rPr sz="1600" b="1" spc="-10" dirty="0">
                <a:latin typeface="Calibri"/>
                <a:cs typeface="Calibri"/>
              </a:rPr>
              <a:t>Percepts </a:t>
            </a:r>
            <a:r>
              <a:rPr sz="1600" b="1" spc="-5" dirty="0">
                <a:latin typeface="Calibri"/>
                <a:cs typeface="Calibri"/>
              </a:rPr>
              <a:t> </a:t>
            </a:r>
            <a:r>
              <a:rPr sz="1600" spc="-10" dirty="0">
                <a:latin typeface="Calibri"/>
                <a:cs typeface="Calibri"/>
              </a:rPr>
              <a:t>Changes </a:t>
            </a:r>
            <a:r>
              <a:rPr sz="1600" spc="-5" dirty="0">
                <a:latin typeface="Calibri"/>
                <a:cs typeface="Calibri"/>
              </a:rPr>
              <a:t>the </a:t>
            </a:r>
            <a:r>
              <a:rPr sz="1600" spc="-10" dirty="0">
                <a:latin typeface="Calibri"/>
                <a:cs typeface="Calibri"/>
              </a:rPr>
              <a:t>agent</a:t>
            </a:r>
            <a:r>
              <a:rPr sz="1600" spc="-5" dirty="0">
                <a:latin typeface="Calibri"/>
                <a:cs typeface="Calibri"/>
              </a:rPr>
              <a:t> </a:t>
            </a:r>
            <a:r>
              <a:rPr sz="1600" spc="-10" dirty="0">
                <a:latin typeface="Calibri"/>
                <a:cs typeface="Calibri"/>
              </a:rPr>
              <a:t>current</a:t>
            </a:r>
            <a:r>
              <a:rPr sz="1600" spc="15" dirty="0">
                <a:latin typeface="Calibri"/>
                <a:cs typeface="Calibri"/>
              </a:rPr>
              <a:t> </a:t>
            </a:r>
            <a:r>
              <a:rPr sz="1600" b="1" spc="-20" dirty="0">
                <a:latin typeface="Calibri"/>
                <a:cs typeface="Calibri"/>
              </a:rPr>
              <a:t>state</a:t>
            </a:r>
            <a:r>
              <a:rPr sz="1600" b="1" spc="-5" dirty="0">
                <a:latin typeface="Calibri"/>
                <a:cs typeface="Calibri"/>
              </a:rPr>
              <a:t> of the </a:t>
            </a:r>
            <a:r>
              <a:rPr sz="1600" b="1" spc="-10" dirty="0">
                <a:latin typeface="Calibri"/>
                <a:cs typeface="Calibri"/>
              </a:rPr>
              <a:t>world</a:t>
            </a:r>
            <a:endParaRPr sz="1600">
              <a:latin typeface="Calibri"/>
              <a:cs typeface="Calibri"/>
            </a:endParaRPr>
          </a:p>
          <a:p>
            <a:pPr marL="354965" marR="5080" indent="-312420">
              <a:lnSpc>
                <a:spcPct val="100000"/>
              </a:lnSpc>
              <a:spcBef>
                <a:spcPts val="400"/>
              </a:spcBef>
              <a:buFont typeface="Arial"/>
              <a:buChar char="•"/>
              <a:tabLst>
                <a:tab pos="354965" algn="l"/>
                <a:tab pos="355600" algn="l"/>
              </a:tabLst>
            </a:pPr>
            <a:r>
              <a:rPr sz="1600" b="1" spc="-5" dirty="0">
                <a:latin typeface="Calibri"/>
                <a:cs typeface="Calibri"/>
              </a:rPr>
              <a:t>Based on the </a:t>
            </a:r>
            <a:r>
              <a:rPr sz="1600" b="1" spc="-20" dirty="0">
                <a:latin typeface="Calibri"/>
                <a:cs typeface="Calibri"/>
              </a:rPr>
              <a:t>state</a:t>
            </a:r>
            <a:r>
              <a:rPr sz="1600" b="1" spc="-5" dirty="0">
                <a:latin typeface="Calibri"/>
                <a:cs typeface="Calibri"/>
              </a:rPr>
              <a:t> of the </a:t>
            </a:r>
            <a:r>
              <a:rPr sz="1600" b="1" spc="-10" dirty="0">
                <a:latin typeface="Calibri"/>
                <a:cs typeface="Calibri"/>
              </a:rPr>
              <a:t>world</a:t>
            </a:r>
            <a:r>
              <a:rPr sz="1600" b="1" spc="-5" dirty="0">
                <a:latin typeface="Calibri"/>
                <a:cs typeface="Calibri"/>
              </a:rPr>
              <a:t> and knowledge(memory), and </a:t>
            </a:r>
            <a:r>
              <a:rPr sz="1600" b="1" spc="-10" dirty="0">
                <a:latin typeface="Calibri"/>
                <a:cs typeface="Calibri"/>
              </a:rPr>
              <a:t>goals</a:t>
            </a:r>
            <a:r>
              <a:rPr sz="1600" b="1" spc="-5" dirty="0">
                <a:latin typeface="Calibri"/>
                <a:cs typeface="Calibri"/>
              </a:rPr>
              <a:t> </a:t>
            </a:r>
            <a:r>
              <a:rPr sz="1600" b="1" dirty="0">
                <a:latin typeface="Calibri"/>
                <a:cs typeface="Calibri"/>
              </a:rPr>
              <a:t>/</a:t>
            </a:r>
            <a:r>
              <a:rPr sz="1600" b="1" spc="-5" dirty="0">
                <a:latin typeface="Calibri"/>
                <a:cs typeface="Calibri"/>
              </a:rPr>
              <a:t> </a:t>
            </a:r>
            <a:r>
              <a:rPr sz="1600" b="1" spc="-10" dirty="0">
                <a:latin typeface="Calibri"/>
                <a:cs typeface="Calibri"/>
              </a:rPr>
              <a:t>intentions</a:t>
            </a:r>
            <a:r>
              <a:rPr sz="1600" b="1" spc="-5" dirty="0">
                <a:latin typeface="Calibri"/>
                <a:cs typeface="Calibri"/>
              </a:rPr>
              <a:t> it chooses </a:t>
            </a:r>
            <a:r>
              <a:rPr sz="1600" b="1" spc="-350" dirty="0">
                <a:latin typeface="Calibri"/>
                <a:cs typeface="Calibri"/>
              </a:rPr>
              <a:t> </a:t>
            </a:r>
            <a:r>
              <a:rPr sz="1600" b="1" spc="-5" dirty="0">
                <a:latin typeface="Calibri"/>
                <a:cs typeface="Calibri"/>
              </a:rPr>
              <a:t>actions</a:t>
            </a:r>
            <a:r>
              <a:rPr sz="1600" b="1" spc="-10" dirty="0">
                <a:latin typeface="Calibri"/>
                <a:cs typeface="Calibri"/>
              </a:rPr>
              <a:t> through</a:t>
            </a:r>
            <a:r>
              <a:rPr sz="1600" b="1" spc="-5" dirty="0">
                <a:latin typeface="Calibri"/>
                <a:cs typeface="Calibri"/>
              </a:rPr>
              <a:t> the </a:t>
            </a:r>
            <a:r>
              <a:rPr sz="1600" b="1" spc="-15" dirty="0">
                <a:latin typeface="Calibri"/>
                <a:cs typeface="Calibri"/>
              </a:rPr>
              <a:t>effectors.</a:t>
            </a:r>
            <a:endParaRPr sz="1600">
              <a:latin typeface="Calibri"/>
              <a:cs typeface="Calibri"/>
            </a:endParaRPr>
          </a:p>
        </p:txBody>
      </p:sp>
      <p:grpSp>
        <p:nvGrpSpPr>
          <p:cNvPr id="4" name="object 4"/>
          <p:cNvGrpSpPr/>
          <p:nvPr/>
        </p:nvGrpSpPr>
        <p:grpSpPr>
          <a:xfrm>
            <a:off x="520502" y="2196662"/>
            <a:ext cx="4826635" cy="3608070"/>
            <a:chOff x="520502" y="2196662"/>
            <a:chExt cx="4826635" cy="3608070"/>
          </a:xfrm>
        </p:grpSpPr>
        <p:sp>
          <p:nvSpPr>
            <p:cNvPr id="5" name="object 5"/>
            <p:cNvSpPr/>
            <p:nvPr/>
          </p:nvSpPr>
          <p:spPr>
            <a:xfrm>
              <a:off x="533519" y="2209679"/>
              <a:ext cx="4800600" cy="3582035"/>
            </a:xfrm>
            <a:custGeom>
              <a:avLst/>
              <a:gdLst/>
              <a:ahLst/>
              <a:cxnLst/>
              <a:rect l="l" t="t" r="r" b="b"/>
              <a:pathLst>
                <a:path w="4800600" h="3582035">
                  <a:moveTo>
                    <a:pt x="4800599" y="3581639"/>
                  </a:moveTo>
                  <a:lnTo>
                    <a:pt x="0" y="3581639"/>
                  </a:lnTo>
                  <a:lnTo>
                    <a:pt x="0" y="0"/>
                  </a:lnTo>
                  <a:lnTo>
                    <a:pt x="4800599" y="0"/>
                  </a:lnTo>
                  <a:lnTo>
                    <a:pt x="4800599" y="3581639"/>
                  </a:lnTo>
                  <a:close/>
                </a:path>
              </a:pathLst>
            </a:custGeom>
            <a:solidFill>
              <a:srgbClr val="4F81BD"/>
            </a:solidFill>
          </p:spPr>
          <p:txBody>
            <a:bodyPr wrap="square" lIns="0" tIns="0" rIns="0" bIns="0" rtlCol="0"/>
            <a:lstStyle/>
            <a:p>
              <a:endParaRPr/>
            </a:p>
          </p:txBody>
        </p:sp>
        <p:sp>
          <p:nvSpPr>
            <p:cNvPr id="6" name="object 6"/>
            <p:cNvSpPr/>
            <p:nvPr/>
          </p:nvSpPr>
          <p:spPr>
            <a:xfrm>
              <a:off x="533519" y="2209679"/>
              <a:ext cx="4800600" cy="3582035"/>
            </a:xfrm>
            <a:custGeom>
              <a:avLst/>
              <a:gdLst/>
              <a:ahLst/>
              <a:cxnLst/>
              <a:rect l="l" t="t" r="r" b="b"/>
              <a:pathLst>
                <a:path w="4800600" h="3582035">
                  <a:moveTo>
                    <a:pt x="0" y="0"/>
                  </a:moveTo>
                  <a:lnTo>
                    <a:pt x="4800599" y="0"/>
                  </a:lnTo>
                  <a:lnTo>
                    <a:pt x="4800599" y="3581639"/>
                  </a:lnTo>
                  <a:lnTo>
                    <a:pt x="0" y="3581639"/>
                  </a:lnTo>
                  <a:lnTo>
                    <a:pt x="0" y="0"/>
                  </a:lnTo>
                  <a:close/>
                </a:path>
              </a:pathLst>
            </a:custGeom>
            <a:ln w="25549">
              <a:solidFill>
                <a:srgbClr val="375D8A"/>
              </a:solidFill>
            </a:ln>
          </p:spPr>
          <p:txBody>
            <a:bodyPr wrap="square" lIns="0" tIns="0" rIns="0" bIns="0" rtlCol="0"/>
            <a:lstStyle/>
            <a:p>
              <a:endParaRPr/>
            </a:p>
          </p:txBody>
        </p:sp>
      </p:grpSp>
      <p:sp>
        <p:nvSpPr>
          <p:cNvPr id="7" name="object 7"/>
          <p:cNvSpPr txBox="1"/>
          <p:nvPr/>
        </p:nvSpPr>
        <p:spPr>
          <a:xfrm>
            <a:off x="3352679" y="2666880"/>
            <a:ext cx="1905635" cy="381635"/>
          </a:xfrm>
          <a:prstGeom prst="rect">
            <a:avLst/>
          </a:prstGeom>
          <a:ln w="25549">
            <a:solidFill>
              <a:srgbClr val="375D8A"/>
            </a:solidFill>
          </a:ln>
        </p:spPr>
        <p:txBody>
          <a:bodyPr vert="horz" wrap="square" lIns="0" tIns="0" rIns="0" bIns="0" rtlCol="0">
            <a:spAutoFit/>
          </a:bodyPr>
          <a:lstStyle/>
          <a:p>
            <a:pPr algn="ctr">
              <a:lnSpc>
                <a:spcPts val="1330"/>
              </a:lnSpc>
            </a:pPr>
            <a:r>
              <a:rPr sz="1200" b="1" spc="-10" dirty="0">
                <a:latin typeface="Calibri"/>
                <a:cs typeface="Calibri"/>
              </a:rPr>
              <a:t>What</a:t>
            </a:r>
            <a:r>
              <a:rPr sz="1200" b="1" spc="-20" dirty="0">
                <a:latin typeface="Calibri"/>
                <a:cs typeface="Calibri"/>
              </a:rPr>
              <a:t> </a:t>
            </a:r>
            <a:r>
              <a:rPr sz="1200" b="1" spc="-5" dirty="0">
                <a:latin typeface="Calibri"/>
                <a:cs typeface="Calibri"/>
              </a:rPr>
              <a:t>the</a:t>
            </a:r>
            <a:r>
              <a:rPr sz="1200" b="1" spc="-15" dirty="0">
                <a:latin typeface="Calibri"/>
                <a:cs typeface="Calibri"/>
              </a:rPr>
              <a:t> </a:t>
            </a:r>
            <a:r>
              <a:rPr sz="1200" b="1" spc="-5" dirty="0">
                <a:latin typeface="Calibri"/>
                <a:cs typeface="Calibri"/>
              </a:rPr>
              <a:t>world</a:t>
            </a:r>
            <a:r>
              <a:rPr sz="1200" b="1" spc="-15" dirty="0">
                <a:latin typeface="Calibri"/>
                <a:cs typeface="Calibri"/>
              </a:rPr>
              <a:t> </a:t>
            </a:r>
            <a:r>
              <a:rPr sz="1200" b="1" spc="-5" dirty="0">
                <a:latin typeface="Calibri"/>
                <a:cs typeface="Calibri"/>
              </a:rPr>
              <a:t>is</a:t>
            </a:r>
            <a:r>
              <a:rPr sz="1200" b="1" spc="-15" dirty="0">
                <a:latin typeface="Calibri"/>
                <a:cs typeface="Calibri"/>
              </a:rPr>
              <a:t> like</a:t>
            </a:r>
            <a:endParaRPr sz="1200">
              <a:latin typeface="Calibri"/>
              <a:cs typeface="Calibri"/>
            </a:endParaRPr>
          </a:p>
          <a:p>
            <a:pPr algn="ctr">
              <a:lnSpc>
                <a:spcPts val="1675"/>
              </a:lnSpc>
            </a:pPr>
            <a:r>
              <a:rPr sz="1200" b="1" spc="-5" dirty="0">
                <a:latin typeface="Calibri"/>
                <a:cs typeface="Calibri"/>
              </a:rPr>
              <a:t>now</a:t>
            </a:r>
            <a:r>
              <a:rPr sz="1400" b="1" spc="-5" dirty="0">
                <a:latin typeface="Calibri"/>
                <a:cs typeface="Calibri"/>
              </a:rPr>
              <a:t>?</a:t>
            </a:r>
            <a:endParaRPr sz="1400">
              <a:latin typeface="Calibri"/>
              <a:cs typeface="Calibri"/>
            </a:endParaRPr>
          </a:p>
        </p:txBody>
      </p:sp>
      <p:sp>
        <p:nvSpPr>
          <p:cNvPr id="8" name="object 8"/>
          <p:cNvSpPr/>
          <p:nvPr/>
        </p:nvSpPr>
        <p:spPr>
          <a:xfrm>
            <a:off x="3429000" y="3733920"/>
            <a:ext cx="1828800" cy="457200"/>
          </a:xfrm>
          <a:custGeom>
            <a:avLst/>
            <a:gdLst/>
            <a:ahLst/>
            <a:cxnLst/>
            <a:rect l="l" t="t" r="r" b="b"/>
            <a:pathLst>
              <a:path w="1828800" h="457200">
                <a:moveTo>
                  <a:pt x="0" y="0"/>
                </a:moveTo>
                <a:lnTo>
                  <a:pt x="1828799" y="0"/>
                </a:lnTo>
                <a:lnTo>
                  <a:pt x="1828799" y="457199"/>
                </a:lnTo>
                <a:lnTo>
                  <a:pt x="0" y="457199"/>
                </a:lnTo>
                <a:lnTo>
                  <a:pt x="0" y="0"/>
                </a:lnTo>
                <a:close/>
              </a:path>
            </a:pathLst>
          </a:custGeom>
          <a:ln w="25549">
            <a:solidFill>
              <a:srgbClr val="375D8A"/>
            </a:solidFill>
          </a:ln>
        </p:spPr>
        <p:txBody>
          <a:bodyPr wrap="square" lIns="0" tIns="0" rIns="0" bIns="0" rtlCol="0"/>
          <a:lstStyle/>
          <a:p>
            <a:endParaRPr/>
          </a:p>
        </p:txBody>
      </p:sp>
      <p:sp>
        <p:nvSpPr>
          <p:cNvPr id="9" name="object 9"/>
          <p:cNvSpPr txBox="1"/>
          <p:nvPr/>
        </p:nvSpPr>
        <p:spPr>
          <a:xfrm>
            <a:off x="3514647" y="3729348"/>
            <a:ext cx="1656714"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Calibri"/>
                <a:cs typeface="Calibri"/>
              </a:rPr>
              <a:t>How</a:t>
            </a:r>
            <a:r>
              <a:rPr sz="1400" b="1" spc="-25" dirty="0">
                <a:latin typeface="Calibri"/>
                <a:cs typeface="Calibri"/>
              </a:rPr>
              <a:t> </a:t>
            </a:r>
            <a:r>
              <a:rPr sz="1400" b="1" spc="-5" dirty="0">
                <a:latin typeface="Calibri"/>
                <a:cs typeface="Calibri"/>
              </a:rPr>
              <a:t>happy</a:t>
            </a:r>
            <a:r>
              <a:rPr sz="1400" b="1" spc="-20" dirty="0">
                <a:latin typeface="Calibri"/>
                <a:cs typeface="Calibri"/>
              </a:rPr>
              <a:t> </a:t>
            </a:r>
            <a:r>
              <a:rPr sz="1400" b="1" dirty="0">
                <a:latin typeface="Calibri"/>
                <a:cs typeface="Calibri"/>
              </a:rPr>
              <a:t>I</a:t>
            </a:r>
            <a:r>
              <a:rPr sz="1400" b="1" spc="-20" dirty="0">
                <a:latin typeface="Calibri"/>
                <a:cs typeface="Calibri"/>
              </a:rPr>
              <a:t> </a:t>
            </a:r>
            <a:r>
              <a:rPr sz="1400" b="1" spc="-5" dirty="0">
                <a:latin typeface="Calibri"/>
                <a:cs typeface="Calibri"/>
              </a:rPr>
              <a:t>will</a:t>
            </a:r>
            <a:r>
              <a:rPr sz="1400" b="1" spc="-20" dirty="0">
                <a:latin typeface="Calibri"/>
                <a:cs typeface="Calibri"/>
              </a:rPr>
              <a:t> </a:t>
            </a:r>
            <a:r>
              <a:rPr sz="1400" b="1" spc="-5" dirty="0">
                <a:latin typeface="Calibri"/>
                <a:cs typeface="Calibri"/>
              </a:rPr>
              <a:t>be</a:t>
            </a:r>
            <a:r>
              <a:rPr sz="1400" b="1" spc="-20" dirty="0">
                <a:latin typeface="Calibri"/>
                <a:cs typeface="Calibri"/>
              </a:rPr>
              <a:t> </a:t>
            </a:r>
            <a:r>
              <a:rPr sz="1400" b="1" spc="-5" dirty="0">
                <a:latin typeface="Calibri"/>
                <a:cs typeface="Calibri"/>
              </a:rPr>
              <a:t>in</a:t>
            </a:r>
            <a:endParaRPr sz="1400">
              <a:latin typeface="Calibri"/>
              <a:cs typeface="Calibri"/>
            </a:endParaRPr>
          </a:p>
        </p:txBody>
      </p:sp>
      <p:sp>
        <p:nvSpPr>
          <p:cNvPr id="10" name="object 10"/>
          <p:cNvSpPr txBox="1"/>
          <p:nvPr/>
        </p:nvSpPr>
        <p:spPr>
          <a:xfrm>
            <a:off x="3896819" y="3942708"/>
            <a:ext cx="892175"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Calibri"/>
                <a:cs typeface="Calibri"/>
              </a:rPr>
              <a:t>such</a:t>
            </a:r>
            <a:r>
              <a:rPr sz="1400" b="1" spc="-45" dirty="0">
                <a:latin typeface="Calibri"/>
                <a:cs typeface="Calibri"/>
              </a:rPr>
              <a:t> </a:t>
            </a:r>
            <a:r>
              <a:rPr sz="1400" b="1" dirty="0">
                <a:latin typeface="Calibri"/>
                <a:cs typeface="Calibri"/>
              </a:rPr>
              <a:t>a</a:t>
            </a:r>
            <a:r>
              <a:rPr sz="1400" b="1" spc="-45" dirty="0">
                <a:latin typeface="Calibri"/>
                <a:cs typeface="Calibri"/>
              </a:rPr>
              <a:t> </a:t>
            </a:r>
            <a:r>
              <a:rPr sz="1400" b="1" spc="-15" dirty="0">
                <a:latin typeface="Calibri"/>
                <a:cs typeface="Calibri"/>
              </a:rPr>
              <a:t>state</a:t>
            </a:r>
            <a:endParaRPr sz="1400">
              <a:latin typeface="Calibri"/>
              <a:cs typeface="Calibri"/>
            </a:endParaRPr>
          </a:p>
        </p:txBody>
      </p:sp>
      <p:grpSp>
        <p:nvGrpSpPr>
          <p:cNvPr id="11" name="object 11"/>
          <p:cNvGrpSpPr/>
          <p:nvPr/>
        </p:nvGrpSpPr>
        <p:grpSpPr>
          <a:xfrm>
            <a:off x="1206302" y="3035344"/>
            <a:ext cx="2891155" cy="1550035"/>
            <a:chOff x="1206302" y="3035344"/>
            <a:chExt cx="2891155" cy="1550035"/>
          </a:xfrm>
        </p:grpSpPr>
        <p:pic>
          <p:nvPicPr>
            <p:cNvPr id="12" name="object 12"/>
            <p:cNvPicPr/>
            <p:nvPr/>
          </p:nvPicPr>
          <p:blipFill>
            <a:blip r:embed="rId2" cstate="print"/>
            <a:stretch>
              <a:fillRect/>
            </a:stretch>
          </p:blipFill>
          <p:spPr>
            <a:xfrm>
              <a:off x="4025705" y="3035344"/>
              <a:ext cx="71275" cy="177471"/>
            </a:xfrm>
            <a:prstGeom prst="rect">
              <a:avLst/>
            </a:prstGeom>
          </p:spPr>
        </p:pic>
        <p:sp>
          <p:nvSpPr>
            <p:cNvPr id="13" name="object 13"/>
            <p:cNvSpPr/>
            <p:nvPr/>
          </p:nvSpPr>
          <p:spPr>
            <a:xfrm>
              <a:off x="1219320" y="3962519"/>
              <a:ext cx="1828800" cy="609600"/>
            </a:xfrm>
            <a:custGeom>
              <a:avLst/>
              <a:gdLst/>
              <a:ahLst/>
              <a:cxnLst/>
              <a:rect l="l" t="t" r="r" b="b"/>
              <a:pathLst>
                <a:path w="1828800" h="609600">
                  <a:moveTo>
                    <a:pt x="0" y="0"/>
                  </a:moveTo>
                  <a:lnTo>
                    <a:pt x="1828799" y="0"/>
                  </a:lnTo>
                  <a:lnTo>
                    <a:pt x="1828799" y="609479"/>
                  </a:lnTo>
                  <a:lnTo>
                    <a:pt x="0" y="609479"/>
                  </a:lnTo>
                  <a:lnTo>
                    <a:pt x="0" y="0"/>
                  </a:lnTo>
                  <a:close/>
                </a:path>
              </a:pathLst>
            </a:custGeom>
            <a:ln w="25549">
              <a:solidFill>
                <a:srgbClr val="375D8A"/>
              </a:solidFill>
            </a:ln>
          </p:spPr>
          <p:txBody>
            <a:bodyPr wrap="square" lIns="0" tIns="0" rIns="0" bIns="0" rtlCol="0"/>
            <a:lstStyle/>
            <a:p>
              <a:endParaRPr/>
            </a:p>
          </p:txBody>
        </p:sp>
      </p:grpSp>
      <p:sp>
        <p:nvSpPr>
          <p:cNvPr id="14" name="object 14"/>
          <p:cNvSpPr txBox="1"/>
          <p:nvPr/>
        </p:nvSpPr>
        <p:spPr>
          <a:xfrm>
            <a:off x="1893861" y="4140768"/>
            <a:ext cx="479425"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Calibri"/>
                <a:cs typeface="Calibri"/>
              </a:rPr>
              <a:t>Utility</a:t>
            </a:r>
            <a:endParaRPr sz="1400">
              <a:latin typeface="Calibri"/>
              <a:cs typeface="Calibri"/>
            </a:endParaRPr>
          </a:p>
        </p:txBody>
      </p:sp>
      <p:grpSp>
        <p:nvGrpSpPr>
          <p:cNvPr id="15" name="object 15"/>
          <p:cNvGrpSpPr/>
          <p:nvPr/>
        </p:nvGrpSpPr>
        <p:grpSpPr>
          <a:xfrm>
            <a:off x="3035102" y="2196662"/>
            <a:ext cx="3213735" cy="2985135"/>
            <a:chOff x="3035102" y="2196662"/>
            <a:chExt cx="3213735" cy="2985135"/>
          </a:xfrm>
        </p:grpSpPr>
        <p:sp>
          <p:nvSpPr>
            <p:cNvPr id="16" name="object 16"/>
            <p:cNvSpPr/>
            <p:nvPr/>
          </p:nvSpPr>
          <p:spPr>
            <a:xfrm>
              <a:off x="3048120" y="3962519"/>
              <a:ext cx="381000" cy="45720"/>
            </a:xfrm>
            <a:custGeom>
              <a:avLst/>
              <a:gdLst/>
              <a:ahLst/>
              <a:cxnLst/>
              <a:rect l="l" t="t" r="r" b="b"/>
              <a:pathLst>
                <a:path w="381000" h="45720">
                  <a:moveTo>
                    <a:pt x="357524" y="45725"/>
                  </a:moveTo>
                  <a:lnTo>
                    <a:pt x="357524" y="34028"/>
                  </a:lnTo>
                  <a:lnTo>
                    <a:pt x="0" y="34028"/>
                  </a:lnTo>
                  <a:lnTo>
                    <a:pt x="0" y="11342"/>
                  </a:lnTo>
                  <a:lnTo>
                    <a:pt x="357524" y="11342"/>
                  </a:lnTo>
                  <a:lnTo>
                    <a:pt x="357524" y="0"/>
                  </a:lnTo>
                  <a:lnTo>
                    <a:pt x="380520" y="22685"/>
                  </a:lnTo>
                  <a:lnTo>
                    <a:pt x="357524" y="45725"/>
                  </a:lnTo>
                  <a:close/>
                </a:path>
              </a:pathLst>
            </a:custGeom>
            <a:solidFill>
              <a:srgbClr val="4F81BD"/>
            </a:solidFill>
          </p:spPr>
          <p:txBody>
            <a:bodyPr wrap="square" lIns="0" tIns="0" rIns="0" bIns="0" rtlCol="0"/>
            <a:lstStyle/>
            <a:p>
              <a:endParaRPr/>
            </a:p>
          </p:txBody>
        </p:sp>
        <p:sp>
          <p:nvSpPr>
            <p:cNvPr id="17" name="object 17"/>
            <p:cNvSpPr/>
            <p:nvPr/>
          </p:nvSpPr>
          <p:spPr>
            <a:xfrm>
              <a:off x="3048120" y="3962519"/>
              <a:ext cx="381000" cy="45720"/>
            </a:xfrm>
            <a:custGeom>
              <a:avLst/>
              <a:gdLst/>
              <a:ahLst/>
              <a:cxnLst/>
              <a:rect l="l" t="t" r="r" b="b"/>
              <a:pathLst>
                <a:path w="381000" h="45720">
                  <a:moveTo>
                    <a:pt x="0" y="11342"/>
                  </a:moveTo>
                  <a:lnTo>
                    <a:pt x="357524" y="11342"/>
                  </a:lnTo>
                  <a:lnTo>
                    <a:pt x="357524" y="0"/>
                  </a:lnTo>
                  <a:lnTo>
                    <a:pt x="380520" y="22685"/>
                  </a:lnTo>
                  <a:lnTo>
                    <a:pt x="357524" y="45725"/>
                  </a:lnTo>
                  <a:lnTo>
                    <a:pt x="357524" y="34028"/>
                  </a:lnTo>
                  <a:lnTo>
                    <a:pt x="0" y="34028"/>
                  </a:lnTo>
                  <a:lnTo>
                    <a:pt x="0" y="11342"/>
                  </a:lnTo>
                </a:path>
              </a:pathLst>
            </a:custGeom>
            <a:ln w="25549">
              <a:solidFill>
                <a:srgbClr val="000000"/>
              </a:solidFill>
            </a:ln>
          </p:spPr>
          <p:txBody>
            <a:bodyPr wrap="square" lIns="0" tIns="0" rIns="0" bIns="0" rtlCol="0"/>
            <a:lstStyle/>
            <a:p>
              <a:endParaRPr/>
            </a:p>
          </p:txBody>
        </p:sp>
        <p:sp>
          <p:nvSpPr>
            <p:cNvPr id="18" name="object 18"/>
            <p:cNvSpPr/>
            <p:nvPr/>
          </p:nvSpPr>
          <p:spPr>
            <a:xfrm>
              <a:off x="3962520" y="2209679"/>
              <a:ext cx="45720" cy="381000"/>
            </a:xfrm>
            <a:custGeom>
              <a:avLst/>
              <a:gdLst/>
              <a:ahLst/>
              <a:cxnLst/>
              <a:rect l="l" t="t" r="r" b="b"/>
              <a:pathLst>
                <a:path w="45720" h="381000">
                  <a:moveTo>
                    <a:pt x="22685" y="380880"/>
                  </a:moveTo>
                  <a:lnTo>
                    <a:pt x="0" y="357524"/>
                  </a:lnTo>
                  <a:lnTo>
                    <a:pt x="11342" y="357524"/>
                  </a:lnTo>
                  <a:lnTo>
                    <a:pt x="11342" y="0"/>
                  </a:lnTo>
                  <a:lnTo>
                    <a:pt x="34028" y="0"/>
                  </a:lnTo>
                  <a:lnTo>
                    <a:pt x="34028" y="357524"/>
                  </a:lnTo>
                  <a:lnTo>
                    <a:pt x="45725" y="357524"/>
                  </a:lnTo>
                  <a:lnTo>
                    <a:pt x="22685" y="380880"/>
                  </a:lnTo>
                  <a:close/>
                </a:path>
              </a:pathLst>
            </a:custGeom>
            <a:solidFill>
              <a:srgbClr val="000000"/>
            </a:solidFill>
          </p:spPr>
          <p:txBody>
            <a:bodyPr wrap="square" lIns="0" tIns="0" rIns="0" bIns="0" rtlCol="0"/>
            <a:lstStyle/>
            <a:p>
              <a:endParaRPr/>
            </a:p>
          </p:txBody>
        </p:sp>
        <p:sp>
          <p:nvSpPr>
            <p:cNvPr id="19" name="object 19"/>
            <p:cNvSpPr/>
            <p:nvPr/>
          </p:nvSpPr>
          <p:spPr>
            <a:xfrm>
              <a:off x="3962520" y="2209679"/>
              <a:ext cx="45720" cy="381000"/>
            </a:xfrm>
            <a:custGeom>
              <a:avLst/>
              <a:gdLst/>
              <a:ahLst/>
              <a:cxnLst/>
              <a:rect l="l" t="t" r="r" b="b"/>
              <a:pathLst>
                <a:path w="45720" h="381000">
                  <a:moveTo>
                    <a:pt x="11342" y="0"/>
                  </a:moveTo>
                  <a:lnTo>
                    <a:pt x="11342" y="357524"/>
                  </a:lnTo>
                  <a:lnTo>
                    <a:pt x="0" y="357524"/>
                  </a:lnTo>
                  <a:lnTo>
                    <a:pt x="22685" y="380880"/>
                  </a:lnTo>
                  <a:lnTo>
                    <a:pt x="45725" y="357524"/>
                  </a:lnTo>
                  <a:lnTo>
                    <a:pt x="34028" y="357524"/>
                  </a:lnTo>
                  <a:lnTo>
                    <a:pt x="34028" y="0"/>
                  </a:lnTo>
                  <a:lnTo>
                    <a:pt x="11342" y="0"/>
                  </a:lnTo>
                </a:path>
              </a:pathLst>
            </a:custGeom>
            <a:ln w="25549">
              <a:solidFill>
                <a:srgbClr val="000000"/>
              </a:solidFill>
            </a:ln>
          </p:spPr>
          <p:txBody>
            <a:bodyPr wrap="square" lIns="0" tIns="0" rIns="0" bIns="0" rtlCol="0"/>
            <a:lstStyle/>
            <a:p>
              <a:endParaRPr/>
            </a:p>
          </p:txBody>
        </p:sp>
        <p:sp>
          <p:nvSpPr>
            <p:cNvPr id="20" name="object 20"/>
            <p:cNvSpPr/>
            <p:nvPr/>
          </p:nvSpPr>
          <p:spPr>
            <a:xfrm>
              <a:off x="6019919" y="2209679"/>
              <a:ext cx="228600" cy="2971800"/>
            </a:xfrm>
            <a:custGeom>
              <a:avLst/>
              <a:gdLst/>
              <a:ahLst/>
              <a:cxnLst/>
              <a:rect l="l" t="t" r="r" b="b"/>
              <a:pathLst>
                <a:path w="228600" h="2971800">
                  <a:moveTo>
                    <a:pt x="228599" y="2971799"/>
                  </a:moveTo>
                  <a:lnTo>
                    <a:pt x="0" y="2971799"/>
                  </a:lnTo>
                  <a:lnTo>
                    <a:pt x="0" y="0"/>
                  </a:lnTo>
                  <a:lnTo>
                    <a:pt x="228599" y="0"/>
                  </a:lnTo>
                  <a:lnTo>
                    <a:pt x="228599" y="2971799"/>
                  </a:lnTo>
                  <a:close/>
                </a:path>
              </a:pathLst>
            </a:custGeom>
            <a:solidFill>
              <a:srgbClr val="4F81BD"/>
            </a:solidFill>
          </p:spPr>
          <p:txBody>
            <a:bodyPr wrap="square" lIns="0" tIns="0" rIns="0" bIns="0" rtlCol="0"/>
            <a:lstStyle/>
            <a:p>
              <a:endParaRPr/>
            </a:p>
          </p:txBody>
        </p:sp>
      </p:grpSp>
      <p:sp>
        <p:nvSpPr>
          <p:cNvPr id="21" name="object 21"/>
          <p:cNvSpPr txBox="1"/>
          <p:nvPr/>
        </p:nvSpPr>
        <p:spPr>
          <a:xfrm>
            <a:off x="4187825" y="2457584"/>
            <a:ext cx="52514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Times New Roman"/>
                <a:cs typeface="Times New Roman"/>
              </a:rPr>
              <a:t>Sensors</a:t>
            </a:r>
            <a:endParaRPr sz="1200">
              <a:latin typeface="Times New Roman"/>
              <a:cs typeface="Times New Roman"/>
            </a:endParaRPr>
          </a:p>
        </p:txBody>
      </p:sp>
      <p:sp>
        <p:nvSpPr>
          <p:cNvPr id="22" name="object 22"/>
          <p:cNvSpPr txBox="1"/>
          <p:nvPr/>
        </p:nvSpPr>
        <p:spPr>
          <a:xfrm>
            <a:off x="6019920" y="2209680"/>
            <a:ext cx="266700" cy="2971800"/>
          </a:xfrm>
          <a:prstGeom prst="rect">
            <a:avLst/>
          </a:prstGeom>
          <a:ln w="25549">
            <a:solidFill>
              <a:srgbClr val="375D8A"/>
            </a:solidFill>
          </a:ln>
        </p:spPr>
        <p:txBody>
          <a:bodyPr vert="horz" wrap="square" lIns="0" tIns="136525" rIns="0" bIns="0" rtlCol="0">
            <a:spAutoFit/>
          </a:bodyPr>
          <a:lstStyle/>
          <a:p>
            <a:pPr marL="85725" marR="21590">
              <a:lnSpc>
                <a:spcPct val="100000"/>
              </a:lnSpc>
              <a:spcBef>
                <a:spcPts val="1075"/>
              </a:spcBef>
            </a:pPr>
            <a:r>
              <a:rPr sz="1600" b="1" dirty="0">
                <a:latin typeface="Calibri"/>
                <a:cs typeface="Calibri"/>
              </a:rPr>
              <a:t>E</a:t>
            </a:r>
            <a:endParaRPr sz="1600">
              <a:latin typeface="Calibri"/>
              <a:cs typeface="Calibri"/>
            </a:endParaRPr>
          </a:p>
          <a:p>
            <a:pPr marL="85725">
              <a:lnSpc>
                <a:spcPct val="100000"/>
              </a:lnSpc>
            </a:pPr>
            <a:r>
              <a:rPr sz="1600" b="1" dirty="0">
                <a:latin typeface="Calibri"/>
                <a:cs typeface="Calibri"/>
              </a:rPr>
              <a:t>n </a:t>
            </a:r>
            <a:r>
              <a:rPr sz="1600" b="1" spc="5" dirty="0">
                <a:latin typeface="Calibri"/>
                <a:cs typeface="Calibri"/>
              </a:rPr>
              <a:t> </a:t>
            </a:r>
            <a:r>
              <a:rPr sz="1600" b="1" dirty="0">
                <a:latin typeface="Calibri"/>
                <a:cs typeface="Calibri"/>
              </a:rPr>
              <a:t>v </a:t>
            </a:r>
            <a:r>
              <a:rPr sz="1600" b="1" spc="5" dirty="0">
                <a:latin typeface="Calibri"/>
                <a:cs typeface="Calibri"/>
              </a:rPr>
              <a:t> </a:t>
            </a:r>
            <a:r>
              <a:rPr sz="1600" b="1" dirty="0">
                <a:latin typeface="Calibri"/>
                <a:cs typeface="Calibri"/>
              </a:rPr>
              <a:t>i </a:t>
            </a:r>
            <a:r>
              <a:rPr sz="1600" b="1" spc="5" dirty="0">
                <a:latin typeface="Calibri"/>
                <a:cs typeface="Calibri"/>
              </a:rPr>
              <a:t> </a:t>
            </a:r>
            <a:r>
              <a:rPr sz="1600" b="1" dirty="0">
                <a:latin typeface="Calibri"/>
                <a:cs typeface="Calibri"/>
              </a:rPr>
              <a:t>o </a:t>
            </a:r>
            <a:r>
              <a:rPr sz="1600" b="1" spc="5" dirty="0">
                <a:latin typeface="Calibri"/>
                <a:cs typeface="Calibri"/>
              </a:rPr>
              <a:t> </a:t>
            </a:r>
            <a:r>
              <a:rPr sz="1600" b="1" dirty="0">
                <a:latin typeface="Calibri"/>
                <a:cs typeface="Calibri"/>
              </a:rPr>
              <a:t>r </a:t>
            </a:r>
            <a:r>
              <a:rPr sz="1600" b="1" spc="5" dirty="0">
                <a:latin typeface="Calibri"/>
                <a:cs typeface="Calibri"/>
              </a:rPr>
              <a:t> </a:t>
            </a:r>
            <a:r>
              <a:rPr sz="1600" b="1" dirty="0">
                <a:latin typeface="Calibri"/>
                <a:cs typeface="Calibri"/>
              </a:rPr>
              <a:t>n </a:t>
            </a:r>
            <a:r>
              <a:rPr sz="1600" b="1" spc="5" dirty="0">
                <a:latin typeface="Calibri"/>
                <a:cs typeface="Calibri"/>
              </a:rPr>
              <a:t> </a:t>
            </a:r>
            <a:r>
              <a:rPr sz="1600" b="1" dirty="0">
                <a:latin typeface="Calibri"/>
                <a:cs typeface="Calibri"/>
              </a:rPr>
              <a:t>m  e </a:t>
            </a:r>
            <a:r>
              <a:rPr sz="1600" b="1" spc="5" dirty="0">
                <a:latin typeface="Calibri"/>
                <a:cs typeface="Calibri"/>
              </a:rPr>
              <a:t> </a:t>
            </a:r>
            <a:r>
              <a:rPr sz="1600" b="1" dirty="0">
                <a:latin typeface="Calibri"/>
                <a:cs typeface="Calibri"/>
              </a:rPr>
              <a:t>n </a:t>
            </a:r>
            <a:r>
              <a:rPr sz="1600" b="1" spc="5" dirty="0">
                <a:latin typeface="Calibri"/>
                <a:cs typeface="Calibri"/>
              </a:rPr>
              <a:t> </a:t>
            </a:r>
            <a:r>
              <a:rPr sz="1600" b="1" dirty="0">
                <a:latin typeface="Calibri"/>
                <a:cs typeface="Calibri"/>
              </a:rPr>
              <a:t>t</a:t>
            </a:r>
            <a:endParaRPr sz="1600">
              <a:latin typeface="Calibri"/>
              <a:cs typeface="Calibri"/>
            </a:endParaRPr>
          </a:p>
        </p:txBody>
      </p:sp>
      <p:grpSp>
        <p:nvGrpSpPr>
          <p:cNvPr id="23" name="object 23"/>
          <p:cNvGrpSpPr/>
          <p:nvPr/>
        </p:nvGrpSpPr>
        <p:grpSpPr>
          <a:xfrm>
            <a:off x="3997212" y="2549271"/>
            <a:ext cx="2075180" cy="2218690"/>
            <a:chOff x="3997212" y="2549271"/>
            <a:chExt cx="2075180" cy="2218690"/>
          </a:xfrm>
        </p:grpSpPr>
        <p:sp>
          <p:nvSpPr>
            <p:cNvPr id="24" name="object 24"/>
            <p:cNvSpPr/>
            <p:nvPr/>
          </p:nvSpPr>
          <p:spPr>
            <a:xfrm>
              <a:off x="4963761" y="2590725"/>
              <a:ext cx="1056640" cy="2540"/>
            </a:xfrm>
            <a:custGeom>
              <a:avLst/>
              <a:gdLst/>
              <a:ahLst/>
              <a:cxnLst/>
              <a:rect l="l" t="t" r="r" b="b"/>
              <a:pathLst>
                <a:path w="1056639" h="2539">
                  <a:moveTo>
                    <a:pt x="1056158" y="1994"/>
                  </a:moveTo>
                  <a:lnTo>
                    <a:pt x="0" y="0"/>
                  </a:lnTo>
                </a:path>
              </a:pathLst>
            </a:custGeom>
            <a:ln w="25549">
              <a:solidFill>
                <a:srgbClr val="000000"/>
              </a:solidFill>
            </a:ln>
          </p:spPr>
          <p:txBody>
            <a:bodyPr wrap="square" lIns="0" tIns="0" rIns="0" bIns="0" rtlCol="0"/>
            <a:lstStyle/>
            <a:p>
              <a:endParaRPr/>
            </a:p>
          </p:txBody>
        </p:sp>
        <p:pic>
          <p:nvPicPr>
            <p:cNvPr id="25" name="object 25"/>
            <p:cNvPicPr/>
            <p:nvPr/>
          </p:nvPicPr>
          <p:blipFill>
            <a:blip r:embed="rId3" cstate="print"/>
            <a:stretch>
              <a:fillRect/>
            </a:stretch>
          </p:blipFill>
          <p:spPr>
            <a:xfrm>
              <a:off x="4900776" y="2549271"/>
              <a:ext cx="104547" cy="83016"/>
            </a:xfrm>
            <a:prstGeom prst="rect">
              <a:avLst/>
            </a:prstGeom>
          </p:spPr>
        </p:pic>
        <p:pic>
          <p:nvPicPr>
            <p:cNvPr id="26" name="object 26"/>
            <p:cNvPicPr/>
            <p:nvPr/>
          </p:nvPicPr>
          <p:blipFill>
            <a:blip r:embed="rId4" cstate="print"/>
            <a:stretch>
              <a:fillRect/>
            </a:stretch>
          </p:blipFill>
          <p:spPr>
            <a:xfrm>
              <a:off x="3997212" y="4178344"/>
              <a:ext cx="83014" cy="293479"/>
            </a:xfrm>
            <a:prstGeom prst="rect">
              <a:avLst/>
            </a:prstGeom>
          </p:spPr>
        </p:pic>
        <p:sp>
          <p:nvSpPr>
            <p:cNvPr id="27" name="object 27"/>
            <p:cNvSpPr/>
            <p:nvPr/>
          </p:nvSpPr>
          <p:spPr>
            <a:xfrm>
              <a:off x="5181479" y="4723919"/>
              <a:ext cx="828040" cy="2540"/>
            </a:xfrm>
            <a:custGeom>
              <a:avLst/>
              <a:gdLst/>
              <a:ahLst/>
              <a:cxnLst/>
              <a:rect l="l" t="t" r="r" b="b"/>
              <a:pathLst>
                <a:path w="828039" h="2539">
                  <a:moveTo>
                    <a:pt x="0" y="0"/>
                  </a:moveTo>
                  <a:lnTo>
                    <a:pt x="827558" y="2278"/>
                  </a:lnTo>
                </a:path>
              </a:pathLst>
            </a:custGeom>
            <a:ln w="25549">
              <a:solidFill>
                <a:srgbClr val="000000"/>
              </a:solidFill>
            </a:ln>
          </p:spPr>
          <p:txBody>
            <a:bodyPr wrap="square" lIns="0" tIns="0" rIns="0" bIns="0" rtlCol="0"/>
            <a:lstStyle/>
            <a:p>
              <a:endParaRPr/>
            </a:p>
          </p:txBody>
        </p:sp>
        <p:pic>
          <p:nvPicPr>
            <p:cNvPr id="28" name="object 28"/>
            <p:cNvPicPr/>
            <p:nvPr/>
          </p:nvPicPr>
          <p:blipFill>
            <a:blip r:embed="rId5" cstate="print"/>
            <a:stretch>
              <a:fillRect/>
            </a:stretch>
          </p:blipFill>
          <p:spPr>
            <a:xfrm>
              <a:off x="5967451" y="4684611"/>
              <a:ext cx="104572" cy="83015"/>
            </a:xfrm>
            <a:prstGeom prst="rect">
              <a:avLst/>
            </a:prstGeom>
          </p:spPr>
        </p:pic>
      </p:grpSp>
      <p:sp>
        <p:nvSpPr>
          <p:cNvPr id="29" name="object 29"/>
          <p:cNvSpPr txBox="1"/>
          <p:nvPr/>
        </p:nvSpPr>
        <p:spPr>
          <a:xfrm>
            <a:off x="762120" y="2819519"/>
            <a:ext cx="1676400" cy="304800"/>
          </a:xfrm>
          <a:prstGeom prst="rect">
            <a:avLst/>
          </a:prstGeom>
          <a:ln w="25549">
            <a:solidFill>
              <a:srgbClr val="375D8A"/>
            </a:solidFill>
          </a:ln>
        </p:spPr>
        <p:txBody>
          <a:bodyPr vert="horz" wrap="square" lIns="0" tIns="54610" rIns="0" bIns="0" rtlCol="0">
            <a:spAutoFit/>
          </a:bodyPr>
          <a:lstStyle/>
          <a:p>
            <a:pPr marL="85725">
              <a:lnSpc>
                <a:spcPct val="100000"/>
              </a:lnSpc>
              <a:spcBef>
                <a:spcPts val="430"/>
              </a:spcBef>
            </a:pPr>
            <a:r>
              <a:rPr sz="1200" b="1" spc="-5" dirty="0">
                <a:latin typeface="Calibri"/>
                <a:cs typeface="Calibri"/>
              </a:rPr>
              <a:t>How</a:t>
            </a:r>
            <a:r>
              <a:rPr sz="1200" b="1" spc="-30" dirty="0">
                <a:latin typeface="Calibri"/>
                <a:cs typeface="Calibri"/>
              </a:rPr>
              <a:t> </a:t>
            </a:r>
            <a:r>
              <a:rPr sz="1200" b="1" spc="-5" dirty="0">
                <a:latin typeface="Calibri"/>
                <a:cs typeface="Calibri"/>
              </a:rPr>
              <a:t>world</a:t>
            </a:r>
            <a:r>
              <a:rPr sz="1200" b="1" spc="-30" dirty="0">
                <a:latin typeface="Calibri"/>
                <a:cs typeface="Calibri"/>
              </a:rPr>
              <a:t> </a:t>
            </a:r>
            <a:r>
              <a:rPr sz="1200" b="1" spc="-10" dirty="0">
                <a:latin typeface="Calibri"/>
                <a:cs typeface="Calibri"/>
              </a:rPr>
              <a:t>evolves</a:t>
            </a:r>
            <a:endParaRPr sz="1200">
              <a:latin typeface="Calibri"/>
              <a:cs typeface="Calibri"/>
            </a:endParaRPr>
          </a:p>
        </p:txBody>
      </p:sp>
      <p:sp>
        <p:nvSpPr>
          <p:cNvPr id="30" name="object 30"/>
          <p:cNvSpPr txBox="1"/>
          <p:nvPr/>
        </p:nvSpPr>
        <p:spPr>
          <a:xfrm>
            <a:off x="762120" y="3200400"/>
            <a:ext cx="1676400" cy="305435"/>
          </a:xfrm>
          <a:prstGeom prst="rect">
            <a:avLst/>
          </a:prstGeom>
          <a:solidFill>
            <a:srgbClr val="4F81BD"/>
          </a:solidFill>
          <a:ln w="25549">
            <a:solidFill>
              <a:srgbClr val="375D8A"/>
            </a:solidFill>
          </a:ln>
        </p:spPr>
        <p:txBody>
          <a:bodyPr vert="horz" wrap="square" lIns="0" tIns="54610" rIns="0" bIns="0" rtlCol="0">
            <a:spAutoFit/>
          </a:bodyPr>
          <a:lstStyle/>
          <a:p>
            <a:pPr marL="85725">
              <a:lnSpc>
                <a:spcPct val="100000"/>
              </a:lnSpc>
              <a:spcBef>
                <a:spcPts val="430"/>
              </a:spcBef>
            </a:pPr>
            <a:r>
              <a:rPr sz="1200" b="1" spc="-10" dirty="0">
                <a:latin typeface="Calibri"/>
                <a:cs typeface="Calibri"/>
              </a:rPr>
              <a:t>What</a:t>
            </a:r>
            <a:r>
              <a:rPr sz="1200" b="1" spc="-25" dirty="0">
                <a:latin typeface="Calibri"/>
                <a:cs typeface="Calibri"/>
              </a:rPr>
              <a:t> </a:t>
            </a:r>
            <a:r>
              <a:rPr sz="1200" b="1" spc="-15" dirty="0">
                <a:latin typeface="Calibri"/>
                <a:cs typeface="Calibri"/>
              </a:rPr>
              <a:t>my</a:t>
            </a:r>
            <a:r>
              <a:rPr sz="1200" b="1" spc="-20" dirty="0">
                <a:latin typeface="Calibri"/>
                <a:cs typeface="Calibri"/>
              </a:rPr>
              <a:t> </a:t>
            </a:r>
            <a:r>
              <a:rPr sz="1200" b="1" spc="-5" dirty="0">
                <a:latin typeface="Calibri"/>
                <a:cs typeface="Calibri"/>
              </a:rPr>
              <a:t>actions</a:t>
            </a:r>
            <a:r>
              <a:rPr sz="1200" b="1" spc="-20" dirty="0">
                <a:latin typeface="Calibri"/>
                <a:cs typeface="Calibri"/>
              </a:rPr>
              <a:t> </a:t>
            </a:r>
            <a:r>
              <a:rPr sz="1200" b="1" spc="-5" dirty="0">
                <a:latin typeface="Calibri"/>
                <a:cs typeface="Calibri"/>
              </a:rPr>
              <a:t>do</a:t>
            </a:r>
            <a:endParaRPr sz="1200">
              <a:latin typeface="Calibri"/>
              <a:cs typeface="Calibri"/>
            </a:endParaRPr>
          </a:p>
        </p:txBody>
      </p:sp>
      <p:grpSp>
        <p:nvGrpSpPr>
          <p:cNvPr id="31" name="object 31"/>
          <p:cNvGrpSpPr/>
          <p:nvPr/>
        </p:nvGrpSpPr>
        <p:grpSpPr>
          <a:xfrm>
            <a:off x="1053662" y="2501582"/>
            <a:ext cx="1093470" cy="254635"/>
            <a:chOff x="1053662" y="2501582"/>
            <a:chExt cx="1093470" cy="254635"/>
          </a:xfrm>
        </p:grpSpPr>
        <p:sp>
          <p:nvSpPr>
            <p:cNvPr id="32" name="object 32"/>
            <p:cNvSpPr/>
            <p:nvPr/>
          </p:nvSpPr>
          <p:spPr>
            <a:xfrm>
              <a:off x="1066680" y="2514600"/>
              <a:ext cx="1067435" cy="228600"/>
            </a:xfrm>
            <a:custGeom>
              <a:avLst/>
              <a:gdLst/>
              <a:ahLst/>
              <a:cxnLst/>
              <a:rect l="l" t="t" r="r" b="b"/>
              <a:pathLst>
                <a:path w="1067435" h="228600">
                  <a:moveTo>
                    <a:pt x="533519" y="228599"/>
                  </a:moveTo>
                  <a:lnTo>
                    <a:pt x="461124" y="227556"/>
                  </a:lnTo>
                  <a:lnTo>
                    <a:pt x="391689" y="224517"/>
                  </a:lnTo>
                  <a:lnTo>
                    <a:pt x="325849" y="219617"/>
                  </a:lnTo>
                  <a:lnTo>
                    <a:pt x="264242" y="212994"/>
                  </a:lnTo>
                  <a:lnTo>
                    <a:pt x="207501" y="204784"/>
                  </a:lnTo>
                  <a:lnTo>
                    <a:pt x="156264" y="195122"/>
                  </a:lnTo>
                  <a:lnTo>
                    <a:pt x="111165" y="184145"/>
                  </a:lnTo>
                  <a:lnTo>
                    <a:pt x="72841" y="171989"/>
                  </a:lnTo>
                  <a:lnTo>
                    <a:pt x="19057" y="144685"/>
                  </a:lnTo>
                  <a:lnTo>
                    <a:pt x="0" y="114299"/>
                  </a:lnTo>
                  <a:lnTo>
                    <a:pt x="4870" y="98790"/>
                  </a:lnTo>
                  <a:lnTo>
                    <a:pt x="41926" y="69809"/>
                  </a:lnTo>
                  <a:lnTo>
                    <a:pt x="111165" y="44454"/>
                  </a:lnTo>
                  <a:lnTo>
                    <a:pt x="156264" y="33477"/>
                  </a:lnTo>
                  <a:lnTo>
                    <a:pt x="207501" y="23815"/>
                  </a:lnTo>
                  <a:lnTo>
                    <a:pt x="264242" y="15605"/>
                  </a:lnTo>
                  <a:lnTo>
                    <a:pt x="325849" y="8982"/>
                  </a:lnTo>
                  <a:lnTo>
                    <a:pt x="391689" y="4082"/>
                  </a:lnTo>
                  <a:lnTo>
                    <a:pt x="461124" y="1043"/>
                  </a:lnTo>
                  <a:lnTo>
                    <a:pt x="533519" y="0"/>
                  </a:lnTo>
                  <a:lnTo>
                    <a:pt x="605915" y="1043"/>
                  </a:lnTo>
                  <a:lnTo>
                    <a:pt x="675350" y="4082"/>
                  </a:lnTo>
                  <a:lnTo>
                    <a:pt x="741190" y="8982"/>
                  </a:lnTo>
                  <a:lnTo>
                    <a:pt x="802797" y="15605"/>
                  </a:lnTo>
                  <a:lnTo>
                    <a:pt x="859538" y="23815"/>
                  </a:lnTo>
                  <a:lnTo>
                    <a:pt x="910775" y="33477"/>
                  </a:lnTo>
                  <a:lnTo>
                    <a:pt x="955874" y="44454"/>
                  </a:lnTo>
                  <a:lnTo>
                    <a:pt x="994198" y="56610"/>
                  </a:lnTo>
                  <a:lnTo>
                    <a:pt x="1047982" y="83914"/>
                  </a:lnTo>
                  <a:lnTo>
                    <a:pt x="1067039" y="114299"/>
                  </a:lnTo>
                  <a:lnTo>
                    <a:pt x="1062169" y="129809"/>
                  </a:lnTo>
                  <a:lnTo>
                    <a:pt x="1025113" y="158790"/>
                  </a:lnTo>
                  <a:lnTo>
                    <a:pt x="955874" y="184145"/>
                  </a:lnTo>
                  <a:lnTo>
                    <a:pt x="910775" y="195122"/>
                  </a:lnTo>
                  <a:lnTo>
                    <a:pt x="859538" y="204784"/>
                  </a:lnTo>
                  <a:lnTo>
                    <a:pt x="802797" y="212994"/>
                  </a:lnTo>
                  <a:lnTo>
                    <a:pt x="741190" y="219617"/>
                  </a:lnTo>
                  <a:lnTo>
                    <a:pt x="675350" y="224517"/>
                  </a:lnTo>
                  <a:lnTo>
                    <a:pt x="605915" y="227556"/>
                  </a:lnTo>
                  <a:lnTo>
                    <a:pt x="533519" y="228599"/>
                  </a:lnTo>
                  <a:close/>
                </a:path>
              </a:pathLst>
            </a:custGeom>
            <a:solidFill>
              <a:srgbClr val="4F81BD"/>
            </a:solidFill>
          </p:spPr>
          <p:txBody>
            <a:bodyPr wrap="square" lIns="0" tIns="0" rIns="0" bIns="0" rtlCol="0"/>
            <a:lstStyle/>
            <a:p>
              <a:endParaRPr/>
            </a:p>
          </p:txBody>
        </p:sp>
        <p:sp>
          <p:nvSpPr>
            <p:cNvPr id="33" name="object 33"/>
            <p:cNvSpPr/>
            <p:nvPr/>
          </p:nvSpPr>
          <p:spPr>
            <a:xfrm>
              <a:off x="1066680" y="2514600"/>
              <a:ext cx="1067435" cy="228600"/>
            </a:xfrm>
            <a:custGeom>
              <a:avLst/>
              <a:gdLst/>
              <a:ahLst/>
              <a:cxnLst/>
              <a:rect l="l" t="t" r="r" b="b"/>
              <a:pathLst>
                <a:path w="1067435" h="228600">
                  <a:moveTo>
                    <a:pt x="0" y="114299"/>
                  </a:moveTo>
                  <a:lnTo>
                    <a:pt x="4870" y="98790"/>
                  </a:lnTo>
                  <a:lnTo>
                    <a:pt x="19057" y="83914"/>
                  </a:lnTo>
                  <a:lnTo>
                    <a:pt x="72841" y="56610"/>
                  </a:lnTo>
                  <a:lnTo>
                    <a:pt x="111165" y="44454"/>
                  </a:lnTo>
                  <a:lnTo>
                    <a:pt x="156264" y="33477"/>
                  </a:lnTo>
                  <a:lnTo>
                    <a:pt x="207501" y="23815"/>
                  </a:lnTo>
                  <a:lnTo>
                    <a:pt x="264242" y="15605"/>
                  </a:lnTo>
                  <a:lnTo>
                    <a:pt x="325849" y="8982"/>
                  </a:lnTo>
                  <a:lnTo>
                    <a:pt x="391689" y="4082"/>
                  </a:lnTo>
                  <a:lnTo>
                    <a:pt x="461124" y="1043"/>
                  </a:lnTo>
                  <a:lnTo>
                    <a:pt x="533519" y="0"/>
                  </a:lnTo>
                  <a:lnTo>
                    <a:pt x="605915" y="1043"/>
                  </a:lnTo>
                  <a:lnTo>
                    <a:pt x="675350" y="4082"/>
                  </a:lnTo>
                  <a:lnTo>
                    <a:pt x="741190" y="8982"/>
                  </a:lnTo>
                  <a:lnTo>
                    <a:pt x="802797" y="15605"/>
                  </a:lnTo>
                  <a:lnTo>
                    <a:pt x="859538" y="23815"/>
                  </a:lnTo>
                  <a:lnTo>
                    <a:pt x="910775" y="33477"/>
                  </a:lnTo>
                  <a:lnTo>
                    <a:pt x="955874" y="44454"/>
                  </a:lnTo>
                  <a:lnTo>
                    <a:pt x="994198" y="56610"/>
                  </a:lnTo>
                  <a:lnTo>
                    <a:pt x="1047982" y="83914"/>
                  </a:lnTo>
                  <a:lnTo>
                    <a:pt x="1067039" y="114299"/>
                  </a:lnTo>
                  <a:lnTo>
                    <a:pt x="1025113" y="158790"/>
                  </a:lnTo>
                  <a:lnTo>
                    <a:pt x="955874" y="184145"/>
                  </a:lnTo>
                  <a:lnTo>
                    <a:pt x="910775" y="195122"/>
                  </a:lnTo>
                  <a:lnTo>
                    <a:pt x="859538" y="204784"/>
                  </a:lnTo>
                  <a:lnTo>
                    <a:pt x="802797" y="212994"/>
                  </a:lnTo>
                  <a:lnTo>
                    <a:pt x="741190" y="219617"/>
                  </a:lnTo>
                  <a:lnTo>
                    <a:pt x="675350" y="224517"/>
                  </a:lnTo>
                  <a:lnTo>
                    <a:pt x="605915" y="227556"/>
                  </a:lnTo>
                  <a:lnTo>
                    <a:pt x="533519" y="228599"/>
                  </a:lnTo>
                  <a:lnTo>
                    <a:pt x="461124" y="227556"/>
                  </a:lnTo>
                  <a:lnTo>
                    <a:pt x="391689" y="224517"/>
                  </a:lnTo>
                  <a:lnTo>
                    <a:pt x="325849" y="219617"/>
                  </a:lnTo>
                  <a:lnTo>
                    <a:pt x="264242" y="212994"/>
                  </a:lnTo>
                  <a:lnTo>
                    <a:pt x="207501" y="204784"/>
                  </a:lnTo>
                  <a:lnTo>
                    <a:pt x="156264" y="195122"/>
                  </a:lnTo>
                  <a:lnTo>
                    <a:pt x="111165" y="184145"/>
                  </a:lnTo>
                  <a:lnTo>
                    <a:pt x="72841" y="171989"/>
                  </a:lnTo>
                  <a:lnTo>
                    <a:pt x="19057" y="144685"/>
                  </a:lnTo>
                  <a:lnTo>
                    <a:pt x="4870" y="129809"/>
                  </a:lnTo>
                  <a:lnTo>
                    <a:pt x="0" y="114299"/>
                  </a:lnTo>
                  <a:close/>
                </a:path>
              </a:pathLst>
            </a:custGeom>
            <a:ln w="25549">
              <a:solidFill>
                <a:srgbClr val="375D8A"/>
              </a:solidFill>
            </a:ln>
          </p:spPr>
          <p:txBody>
            <a:bodyPr wrap="square" lIns="0" tIns="0" rIns="0" bIns="0" rtlCol="0"/>
            <a:lstStyle/>
            <a:p>
              <a:endParaRPr/>
            </a:p>
          </p:txBody>
        </p:sp>
      </p:grpSp>
      <p:sp>
        <p:nvSpPr>
          <p:cNvPr id="34" name="object 34"/>
          <p:cNvSpPr txBox="1"/>
          <p:nvPr/>
        </p:nvSpPr>
        <p:spPr>
          <a:xfrm>
            <a:off x="1435546" y="2518664"/>
            <a:ext cx="329565"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Calibri"/>
                <a:cs typeface="Calibri"/>
              </a:rPr>
              <a:t>s</a:t>
            </a:r>
            <a:r>
              <a:rPr sz="1200" spc="-20" dirty="0">
                <a:latin typeface="Calibri"/>
                <a:cs typeface="Calibri"/>
              </a:rPr>
              <a:t>t</a:t>
            </a:r>
            <a:r>
              <a:rPr sz="1200" spc="-15" dirty="0">
                <a:latin typeface="Calibri"/>
                <a:cs typeface="Calibri"/>
              </a:rPr>
              <a:t>at</a:t>
            </a:r>
            <a:r>
              <a:rPr sz="1200" dirty="0">
                <a:latin typeface="Calibri"/>
                <a:cs typeface="Calibri"/>
              </a:rPr>
              <a:t>e</a:t>
            </a:r>
            <a:endParaRPr sz="1200">
              <a:latin typeface="Calibri"/>
              <a:cs typeface="Calibri"/>
            </a:endParaRPr>
          </a:p>
        </p:txBody>
      </p:sp>
      <p:grpSp>
        <p:nvGrpSpPr>
          <p:cNvPr id="35" name="object 35"/>
          <p:cNvGrpSpPr/>
          <p:nvPr/>
        </p:nvGrpSpPr>
        <p:grpSpPr>
          <a:xfrm>
            <a:off x="2044382" y="2577542"/>
            <a:ext cx="3226435" cy="1017269"/>
            <a:chOff x="2044382" y="2577542"/>
            <a:chExt cx="3226435" cy="1017269"/>
          </a:xfrm>
        </p:grpSpPr>
        <p:pic>
          <p:nvPicPr>
            <p:cNvPr id="36" name="object 36"/>
            <p:cNvPicPr/>
            <p:nvPr/>
          </p:nvPicPr>
          <p:blipFill>
            <a:blip r:embed="rId6" cstate="print"/>
            <a:stretch>
              <a:fillRect/>
            </a:stretch>
          </p:blipFill>
          <p:spPr>
            <a:xfrm>
              <a:off x="2966677" y="3274440"/>
              <a:ext cx="225639" cy="83002"/>
            </a:xfrm>
            <a:prstGeom prst="rect">
              <a:avLst/>
            </a:prstGeom>
          </p:spPr>
        </p:pic>
        <p:sp>
          <p:nvSpPr>
            <p:cNvPr id="37" name="object 37"/>
            <p:cNvSpPr/>
            <p:nvPr/>
          </p:nvSpPr>
          <p:spPr>
            <a:xfrm>
              <a:off x="2457360" y="2972463"/>
              <a:ext cx="836930" cy="419100"/>
            </a:xfrm>
            <a:custGeom>
              <a:avLst/>
              <a:gdLst/>
              <a:ahLst/>
              <a:cxnLst/>
              <a:rect l="l" t="t" r="r" b="b"/>
              <a:pathLst>
                <a:path w="836929" h="419100">
                  <a:moveTo>
                    <a:pt x="0" y="418736"/>
                  </a:moveTo>
                  <a:lnTo>
                    <a:pt x="836814" y="0"/>
                  </a:lnTo>
                </a:path>
              </a:pathLst>
            </a:custGeom>
            <a:ln w="25549">
              <a:solidFill>
                <a:srgbClr val="000000"/>
              </a:solidFill>
            </a:ln>
          </p:spPr>
          <p:txBody>
            <a:bodyPr wrap="square" lIns="0" tIns="0" rIns="0" bIns="0" rtlCol="0"/>
            <a:lstStyle/>
            <a:p>
              <a:endParaRPr/>
            </a:p>
          </p:txBody>
        </p:sp>
        <p:pic>
          <p:nvPicPr>
            <p:cNvPr id="38" name="object 38"/>
            <p:cNvPicPr/>
            <p:nvPr/>
          </p:nvPicPr>
          <p:blipFill>
            <a:blip r:embed="rId7" cstate="print"/>
            <a:stretch>
              <a:fillRect/>
            </a:stretch>
          </p:blipFill>
          <p:spPr>
            <a:xfrm>
              <a:off x="3242845" y="2937219"/>
              <a:ext cx="109006" cy="86572"/>
            </a:xfrm>
            <a:prstGeom prst="rect">
              <a:avLst/>
            </a:prstGeom>
          </p:spPr>
        </p:pic>
        <p:sp>
          <p:nvSpPr>
            <p:cNvPr id="39" name="object 39"/>
            <p:cNvSpPr/>
            <p:nvPr/>
          </p:nvSpPr>
          <p:spPr>
            <a:xfrm>
              <a:off x="2438280" y="2903681"/>
              <a:ext cx="828040" cy="68580"/>
            </a:xfrm>
            <a:custGeom>
              <a:avLst/>
              <a:gdLst/>
              <a:ahLst/>
              <a:cxnLst/>
              <a:rect l="l" t="t" r="r" b="b"/>
              <a:pathLst>
                <a:path w="828039" h="68580">
                  <a:moveTo>
                    <a:pt x="0" y="68118"/>
                  </a:moveTo>
                  <a:lnTo>
                    <a:pt x="827732" y="0"/>
                  </a:lnTo>
                </a:path>
              </a:pathLst>
            </a:custGeom>
            <a:ln w="25549">
              <a:solidFill>
                <a:srgbClr val="000000"/>
              </a:solidFill>
            </a:ln>
          </p:spPr>
          <p:txBody>
            <a:bodyPr wrap="square" lIns="0" tIns="0" rIns="0" bIns="0" rtlCol="0"/>
            <a:lstStyle/>
            <a:p>
              <a:endParaRPr/>
            </a:p>
          </p:txBody>
        </p:sp>
        <p:pic>
          <p:nvPicPr>
            <p:cNvPr id="40" name="object 40"/>
            <p:cNvPicPr/>
            <p:nvPr/>
          </p:nvPicPr>
          <p:blipFill>
            <a:blip r:embed="rId8" cstate="print"/>
            <a:stretch>
              <a:fillRect/>
            </a:stretch>
          </p:blipFill>
          <p:spPr>
            <a:xfrm>
              <a:off x="3222245" y="2864626"/>
              <a:ext cx="106584" cy="82822"/>
            </a:xfrm>
            <a:prstGeom prst="rect">
              <a:avLst/>
            </a:prstGeom>
          </p:spPr>
        </p:pic>
        <p:sp>
          <p:nvSpPr>
            <p:cNvPr id="41" name="object 41"/>
            <p:cNvSpPr/>
            <p:nvPr/>
          </p:nvSpPr>
          <p:spPr>
            <a:xfrm>
              <a:off x="2057400" y="2590559"/>
              <a:ext cx="1286510" cy="250825"/>
            </a:xfrm>
            <a:custGeom>
              <a:avLst/>
              <a:gdLst/>
              <a:ahLst/>
              <a:cxnLst/>
              <a:rect l="l" t="t" r="r" b="b"/>
              <a:pathLst>
                <a:path w="1286510" h="250825">
                  <a:moveTo>
                    <a:pt x="0" y="0"/>
                  </a:moveTo>
                  <a:lnTo>
                    <a:pt x="1286370" y="250390"/>
                  </a:lnTo>
                </a:path>
              </a:pathLst>
            </a:custGeom>
            <a:ln w="25549">
              <a:solidFill>
                <a:srgbClr val="000000"/>
              </a:solidFill>
            </a:ln>
          </p:spPr>
          <p:txBody>
            <a:bodyPr wrap="square" lIns="0" tIns="0" rIns="0" bIns="0" rtlCol="0"/>
            <a:lstStyle/>
            <a:p>
              <a:endParaRPr/>
            </a:p>
          </p:txBody>
        </p:sp>
        <p:pic>
          <p:nvPicPr>
            <p:cNvPr id="42" name="object 42"/>
            <p:cNvPicPr/>
            <p:nvPr/>
          </p:nvPicPr>
          <p:blipFill>
            <a:blip r:embed="rId9" cstate="print"/>
            <a:stretch>
              <a:fillRect/>
            </a:stretch>
          </p:blipFill>
          <p:spPr>
            <a:xfrm>
              <a:off x="3297302" y="2794481"/>
              <a:ext cx="108528" cy="81957"/>
            </a:xfrm>
            <a:prstGeom prst="rect">
              <a:avLst/>
            </a:prstGeom>
          </p:spPr>
        </p:pic>
        <p:sp>
          <p:nvSpPr>
            <p:cNvPr id="43" name="object 43"/>
            <p:cNvSpPr/>
            <p:nvPr/>
          </p:nvSpPr>
          <p:spPr>
            <a:xfrm>
              <a:off x="3352680" y="3200399"/>
              <a:ext cx="1905635" cy="381000"/>
            </a:xfrm>
            <a:custGeom>
              <a:avLst/>
              <a:gdLst/>
              <a:ahLst/>
              <a:cxnLst/>
              <a:rect l="l" t="t" r="r" b="b"/>
              <a:pathLst>
                <a:path w="1905635" h="381000">
                  <a:moveTo>
                    <a:pt x="1905119" y="380879"/>
                  </a:moveTo>
                  <a:lnTo>
                    <a:pt x="0" y="380879"/>
                  </a:lnTo>
                  <a:lnTo>
                    <a:pt x="0" y="0"/>
                  </a:lnTo>
                  <a:lnTo>
                    <a:pt x="1905119" y="0"/>
                  </a:lnTo>
                  <a:lnTo>
                    <a:pt x="1905119" y="380879"/>
                  </a:lnTo>
                  <a:close/>
                </a:path>
              </a:pathLst>
            </a:custGeom>
            <a:solidFill>
              <a:srgbClr val="4F81BD"/>
            </a:solidFill>
          </p:spPr>
          <p:txBody>
            <a:bodyPr wrap="square" lIns="0" tIns="0" rIns="0" bIns="0" rtlCol="0"/>
            <a:lstStyle/>
            <a:p>
              <a:endParaRPr/>
            </a:p>
          </p:txBody>
        </p:sp>
        <p:sp>
          <p:nvSpPr>
            <p:cNvPr id="44" name="object 44"/>
            <p:cNvSpPr/>
            <p:nvPr/>
          </p:nvSpPr>
          <p:spPr>
            <a:xfrm>
              <a:off x="3352680" y="3200399"/>
              <a:ext cx="1905635" cy="381000"/>
            </a:xfrm>
            <a:custGeom>
              <a:avLst/>
              <a:gdLst/>
              <a:ahLst/>
              <a:cxnLst/>
              <a:rect l="l" t="t" r="r" b="b"/>
              <a:pathLst>
                <a:path w="1905635" h="381000">
                  <a:moveTo>
                    <a:pt x="0" y="0"/>
                  </a:moveTo>
                  <a:lnTo>
                    <a:pt x="1905119" y="0"/>
                  </a:lnTo>
                  <a:lnTo>
                    <a:pt x="1905119" y="380879"/>
                  </a:lnTo>
                  <a:lnTo>
                    <a:pt x="0" y="380879"/>
                  </a:lnTo>
                  <a:lnTo>
                    <a:pt x="0" y="0"/>
                  </a:lnTo>
                  <a:close/>
                </a:path>
              </a:pathLst>
            </a:custGeom>
            <a:ln w="25549">
              <a:solidFill>
                <a:srgbClr val="375D8A"/>
              </a:solidFill>
            </a:ln>
          </p:spPr>
          <p:txBody>
            <a:bodyPr wrap="square" lIns="0" tIns="0" rIns="0" bIns="0" rtlCol="0"/>
            <a:lstStyle/>
            <a:p>
              <a:endParaRPr/>
            </a:p>
          </p:txBody>
        </p:sp>
      </p:grpSp>
      <p:sp>
        <p:nvSpPr>
          <p:cNvPr id="45" name="object 45"/>
          <p:cNvSpPr txBox="1"/>
          <p:nvPr/>
        </p:nvSpPr>
        <p:spPr>
          <a:xfrm>
            <a:off x="3352679" y="3200400"/>
            <a:ext cx="1905635" cy="381000"/>
          </a:xfrm>
          <a:prstGeom prst="rect">
            <a:avLst/>
          </a:prstGeom>
          <a:ln w="25549">
            <a:solidFill>
              <a:srgbClr val="375D8A"/>
            </a:solidFill>
          </a:ln>
        </p:spPr>
        <p:txBody>
          <a:bodyPr vert="horz" wrap="square" lIns="0" tIns="1270" rIns="0" bIns="0" rtlCol="0">
            <a:spAutoFit/>
          </a:bodyPr>
          <a:lstStyle/>
          <a:p>
            <a:pPr marL="692150" marR="160655" indent="-527050">
              <a:lnSpc>
                <a:spcPct val="100000"/>
              </a:lnSpc>
              <a:spcBef>
                <a:spcPts val="10"/>
              </a:spcBef>
            </a:pPr>
            <a:r>
              <a:rPr sz="1200" b="1" spc="-10" dirty="0">
                <a:latin typeface="Calibri"/>
                <a:cs typeface="Calibri"/>
              </a:rPr>
              <a:t>What </a:t>
            </a:r>
            <a:r>
              <a:rPr sz="1200" b="1" spc="-5" dirty="0">
                <a:latin typeface="Calibri"/>
                <a:cs typeface="Calibri"/>
              </a:rPr>
              <a:t>it will be </a:t>
            </a:r>
            <a:r>
              <a:rPr sz="1200" b="1" spc="-15" dirty="0">
                <a:latin typeface="Calibri"/>
                <a:cs typeface="Calibri"/>
              </a:rPr>
              <a:t>like </a:t>
            </a:r>
            <a:r>
              <a:rPr sz="1200" b="1" spc="-5" dirty="0">
                <a:latin typeface="Calibri"/>
                <a:cs typeface="Calibri"/>
              </a:rPr>
              <a:t>if </a:t>
            </a:r>
            <a:r>
              <a:rPr sz="1200" b="1" dirty="0">
                <a:latin typeface="Calibri"/>
                <a:cs typeface="Calibri"/>
              </a:rPr>
              <a:t>I </a:t>
            </a:r>
            <a:r>
              <a:rPr sz="1200" b="1" spc="-5" dirty="0">
                <a:latin typeface="Calibri"/>
                <a:cs typeface="Calibri"/>
              </a:rPr>
              <a:t>do </a:t>
            </a:r>
            <a:r>
              <a:rPr sz="1200" b="1" spc="-260" dirty="0">
                <a:latin typeface="Calibri"/>
                <a:cs typeface="Calibri"/>
              </a:rPr>
              <a:t> </a:t>
            </a:r>
            <a:r>
              <a:rPr sz="1200" b="1" spc="-5" dirty="0">
                <a:latin typeface="Calibri"/>
                <a:cs typeface="Calibri"/>
              </a:rPr>
              <a:t>action</a:t>
            </a:r>
            <a:r>
              <a:rPr sz="1200" b="1" spc="-15" dirty="0">
                <a:latin typeface="Calibri"/>
                <a:cs typeface="Calibri"/>
              </a:rPr>
              <a:t> </a:t>
            </a:r>
            <a:r>
              <a:rPr sz="1200" b="1" dirty="0">
                <a:latin typeface="Calibri"/>
                <a:cs typeface="Calibri"/>
              </a:rPr>
              <a:t>A</a:t>
            </a:r>
            <a:endParaRPr sz="1200">
              <a:latin typeface="Calibri"/>
              <a:cs typeface="Calibri"/>
            </a:endParaRPr>
          </a:p>
        </p:txBody>
      </p:sp>
      <p:grpSp>
        <p:nvGrpSpPr>
          <p:cNvPr id="46" name="object 46"/>
          <p:cNvGrpSpPr/>
          <p:nvPr/>
        </p:nvGrpSpPr>
        <p:grpSpPr>
          <a:xfrm>
            <a:off x="2425262" y="2958782"/>
            <a:ext cx="2693670" cy="2007235"/>
            <a:chOff x="2425262" y="2958782"/>
            <a:chExt cx="2693670" cy="2007235"/>
          </a:xfrm>
        </p:grpSpPr>
        <p:pic>
          <p:nvPicPr>
            <p:cNvPr id="47" name="object 47"/>
            <p:cNvPicPr/>
            <p:nvPr/>
          </p:nvPicPr>
          <p:blipFill>
            <a:blip r:embed="rId10" cstate="print"/>
            <a:stretch>
              <a:fillRect/>
            </a:stretch>
          </p:blipFill>
          <p:spPr>
            <a:xfrm>
              <a:off x="4102025" y="3568505"/>
              <a:ext cx="71275" cy="177831"/>
            </a:xfrm>
            <a:prstGeom prst="rect">
              <a:avLst/>
            </a:prstGeom>
          </p:spPr>
        </p:pic>
        <p:sp>
          <p:nvSpPr>
            <p:cNvPr id="48" name="object 48"/>
            <p:cNvSpPr/>
            <p:nvPr/>
          </p:nvSpPr>
          <p:spPr>
            <a:xfrm>
              <a:off x="2438279" y="3428640"/>
              <a:ext cx="904240" cy="1270"/>
            </a:xfrm>
            <a:custGeom>
              <a:avLst/>
              <a:gdLst/>
              <a:ahLst/>
              <a:cxnLst/>
              <a:rect l="l" t="t" r="r" b="b"/>
              <a:pathLst>
                <a:path w="904239" h="1270">
                  <a:moveTo>
                    <a:pt x="0" y="0"/>
                  </a:moveTo>
                  <a:lnTo>
                    <a:pt x="903877" y="984"/>
                  </a:lnTo>
                </a:path>
              </a:pathLst>
            </a:custGeom>
            <a:ln w="25549">
              <a:solidFill>
                <a:srgbClr val="000000"/>
              </a:solidFill>
            </a:ln>
          </p:spPr>
          <p:txBody>
            <a:bodyPr wrap="square" lIns="0" tIns="0" rIns="0" bIns="0" rtlCol="0"/>
            <a:lstStyle/>
            <a:p>
              <a:endParaRPr/>
            </a:p>
          </p:txBody>
        </p:sp>
        <p:pic>
          <p:nvPicPr>
            <p:cNvPr id="49" name="object 49"/>
            <p:cNvPicPr/>
            <p:nvPr/>
          </p:nvPicPr>
          <p:blipFill>
            <a:blip r:embed="rId11" cstate="print"/>
            <a:stretch>
              <a:fillRect/>
            </a:stretch>
          </p:blipFill>
          <p:spPr>
            <a:xfrm>
              <a:off x="3300618" y="3388085"/>
              <a:ext cx="104524" cy="83016"/>
            </a:xfrm>
            <a:prstGeom prst="rect">
              <a:avLst/>
            </a:prstGeom>
          </p:spPr>
        </p:pic>
        <p:sp>
          <p:nvSpPr>
            <p:cNvPr id="50" name="object 50"/>
            <p:cNvSpPr/>
            <p:nvPr/>
          </p:nvSpPr>
          <p:spPr>
            <a:xfrm>
              <a:off x="2438279" y="2971800"/>
              <a:ext cx="908050" cy="280035"/>
            </a:xfrm>
            <a:custGeom>
              <a:avLst/>
              <a:gdLst/>
              <a:ahLst/>
              <a:cxnLst/>
              <a:rect l="l" t="t" r="r" b="b"/>
              <a:pathLst>
                <a:path w="908050" h="280035">
                  <a:moveTo>
                    <a:pt x="0" y="0"/>
                  </a:moveTo>
                  <a:lnTo>
                    <a:pt x="907824" y="279901"/>
                  </a:lnTo>
                </a:path>
              </a:pathLst>
            </a:custGeom>
            <a:ln w="25549">
              <a:solidFill>
                <a:srgbClr val="000000"/>
              </a:solidFill>
            </a:ln>
          </p:spPr>
          <p:txBody>
            <a:bodyPr wrap="square" lIns="0" tIns="0" rIns="0" bIns="0" rtlCol="0"/>
            <a:lstStyle/>
            <a:p>
              <a:endParaRPr/>
            </a:p>
          </p:txBody>
        </p:sp>
        <p:pic>
          <p:nvPicPr>
            <p:cNvPr id="51" name="object 51"/>
            <p:cNvPicPr/>
            <p:nvPr/>
          </p:nvPicPr>
          <p:blipFill>
            <a:blip r:embed="rId12" cstate="print"/>
            <a:stretch>
              <a:fillRect/>
            </a:stretch>
          </p:blipFill>
          <p:spPr>
            <a:xfrm>
              <a:off x="3297406" y="3203002"/>
              <a:ext cx="109454" cy="80465"/>
            </a:xfrm>
            <a:prstGeom prst="rect">
              <a:avLst/>
            </a:prstGeom>
          </p:spPr>
        </p:pic>
        <p:sp>
          <p:nvSpPr>
            <p:cNvPr id="52" name="object 52"/>
            <p:cNvSpPr/>
            <p:nvPr/>
          </p:nvSpPr>
          <p:spPr>
            <a:xfrm>
              <a:off x="3276719" y="4495680"/>
              <a:ext cx="1828800" cy="457200"/>
            </a:xfrm>
            <a:custGeom>
              <a:avLst/>
              <a:gdLst/>
              <a:ahLst/>
              <a:cxnLst/>
              <a:rect l="l" t="t" r="r" b="b"/>
              <a:pathLst>
                <a:path w="1828800" h="457200">
                  <a:moveTo>
                    <a:pt x="0" y="0"/>
                  </a:moveTo>
                  <a:lnTo>
                    <a:pt x="1828799" y="0"/>
                  </a:lnTo>
                  <a:lnTo>
                    <a:pt x="1828799" y="457199"/>
                  </a:lnTo>
                  <a:lnTo>
                    <a:pt x="0" y="457199"/>
                  </a:lnTo>
                  <a:lnTo>
                    <a:pt x="0" y="0"/>
                  </a:lnTo>
                  <a:close/>
                </a:path>
              </a:pathLst>
            </a:custGeom>
            <a:ln w="25549">
              <a:solidFill>
                <a:srgbClr val="375D8A"/>
              </a:solidFill>
            </a:ln>
          </p:spPr>
          <p:txBody>
            <a:bodyPr wrap="square" lIns="0" tIns="0" rIns="0" bIns="0" rtlCol="0"/>
            <a:lstStyle/>
            <a:p>
              <a:endParaRPr/>
            </a:p>
          </p:txBody>
        </p:sp>
      </p:grpSp>
      <p:sp>
        <p:nvSpPr>
          <p:cNvPr id="53" name="object 53"/>
          <p:cNvSpPr txBox="1"/>
          <p:nvPr/>
        </p:nvSpPr>
        <p:spPr>
          <a:xfrm>
            <a:off x="3415252" y="4567308"/>
            <a:ext cx="1549400"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Calibri"/>
                <a:cs typeface="Calibri"/>
              </a:rPr>
              <a:t>What</a:t>
            </a:r>
            <a:r>
              <a:rPr sz="1400" b="1" spc="-30" dirty="0">
                <a:latin typeface="Calibri"/>
                <a:cs typeface="Calibri"/>
              </a:rPr>
              <a:t> </a:t>
            </a:r>
            <a:r>
              <a:rPr sz="1400" b="1" spc="-5" dirty="0">
                <a:latin typeface="Calibri"/>
                <a:cs typeface="Calibri"/>
              </a:rPr>
              <a:t>action</a:t>
            </a:r>
            <a:r>
              <a:rPr sz="1400" b="1" spc="-25" dirty="0">
                <a:latin typeface="Calibri"/>
                <a:cs typeface="Calibri"/>
              </a:rPr>
              <a:t> </a:t>
            </a:r>
            <a:r>
              <a:rPr sz="1400" b="1" spc="-5" dirty="0">
                <a:latin typeface="Calibri"/>
                <a:cs typeface="Calibri"/>
              </a:rPr>
              <a:t>should</a:t>
            </a:r>
            <a:r>
              <a:rPr sz="1400" b="1" spc="-25" dirty="0">
                <a:latin typeface="Calibri"/>
                <a:cs typeface="Calibri"/>
              </a:rPr>
              <a:t> </a:t>
            </a:r>
            <a:r>
              <a:rPr sz="1400" b="1" dirty="0">
                <a:latin typeface="Calibri"/>
                <a:cs typeface="Calibri"/>
              </a:rPr>
              <a:t>I</a:t>
            </a:r>
            <a:endParaRPr sz="1400">
              <a:latin typeface="Calibri"/>
              <a:cs typeface="Calibri"/>
            </a:endParaRPr>
          </a:p>
        </p:txBody>
      </p:sp>
      <p:sp>
        <p:nvSpPr>
          <p:cNvPr id="54" name="object 54"/>
          <p:cNvSpPr txBox="1"/>
          <p:nvPr/>
        </p:nvSpPr>
        <p:spPr>
          <a:xfrm>
            <a:off x="3860241" y="4780668"/>
            <a:ext cx="66167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Calibri"/>
                <a:cs typeface="Calibri"/>
              </a:rPr>
              <a:t>do</a:t>
            </a:r>
            <a:r>
              <a:rPr sz="1400" b="1" spc="-75" dirty="0">
                <a:latin typeface="Calibri"/>
                <a:cs typeface="Calibri"/>
              </a:rPr>
              <a:t> </a:t>
            </a:r>
            <a:r>
              <a:rPr sz="1400" b="1" spc="-5" dirty="0">
                <a:latin typeface="Calibri"/>
                <a:cs typeface="Calibri"/>
              </a:rPr>
              <a:t>now?</a:t>
            </a:r>
            <a:endParaRPr sz="1400">
              <a:latin typeface="Calibri"/>
              <a:cs typeface="Calibri"/>
            </a:endParaRPr>
          </a:p>
        </p:txBody>
      </p:sp>
      <p:grpSp>
        <p:nvGrpSpPr>
          <p:cNvPr id="55" name="object 55"/>
          <p:cNvGrpSpPr/>
          <p:nvPr/>
        </p:nvGrpSpPr>
        <p:grpSpPr>
          <a:xfrm>
            <a:off x="4025705" y="4940105"/>
            <a:ext cx="71755" cy="407034"/>
            <a:chOff x="4025705" y="4940105"/>
            <a:chExt cx="71755" cy="407034"/>
          </a:xfrm>
        </p:grpSpPr>
        <p:sp>
          <p:nvSpPr>
            <p:cNvPr id="56" name="object 56"/>
            <p:cNvSpPr/>
            <p:nvPr/>
          </p:nvSpPr>
          <p:spPr>
            <a:xfrm>
              <a:off x="4038480" y="4952880"/>
              <a:ext cx="45720" cy="381000"/>
            </a:xfrm>
            <a:custGeom>
              <a:avLst/>
              <a:gdLst/>
              <a:ahLst/>
              <a:cxnLst/>
              <a:rect l="l" t="t" r="r" b="b"/>
              <a:pathLst>
                <a:path w="45720" h="381000">
                  <a:moveTo>
                    <a:pt x="22685" y="380880"/>
                  </a:moveTo>
                  <a:lnTo>
                    <a:pt x="0" y="357524"/>
                  </a:lnTo>
                  <a:lnTo>
                    <a:pt x="11342" y="357524"/>
                  </a:lnTo>
                  <a:lnTo>
                    <a:pt x="11342" y="0"/>
                  </a:lnTo>
                  <a:lnTo>
                    <a:pt x="34028" y="0"/>
                  </a:lnTo>
                  <a:lnTo>
                    <a:pt x="34028" y="357524"/>
                  </a:lnTo>
                  <a:lnTo>
                    <a:pt x="45725" y="357524"/>
                  </a:lnTo>
                  <a:lnTo>
                    <a:pt x="22685" y="380880"/>
                  </a:lnTo>
                  <a:close/>
                </a:path>
              </a:pathLst>
            </a:custGeom>
            <a:solidFill>
              <a:srgbClr val="000000"/>
            </a:solidFill>
          </p:spPr>
          <p:txBody>
            <a:bodyPr wrap="square" lIns="0" tIns="0" rIns="0" bIns="0" rtlCol="0"/>
            <a:lstStyle/>
            <a:p>
              <a:endParaRPr/>
            </a:p>
          </p:txBody>
        </p:sp>
        <p:sp>
          <p:nvSpPr>
            <p:cNvPr id="57" name="object 57"/>
            <p:cNvSpPr/>
            <p:nvPr/>
          </p:nvSpPr>
          <p:spPr>
            <a:xfrm>
              <a:off x="4038480" y="4952880"/>
              <a:ext cx="45720" cy="381000"/>
            </a:xfrm>
            <a:custGeom>
              <a:avLst/>
              <a:gdLst/>
              <a:ahLst/>
              <a:cxnLst/>
              <a:rect l="l" t="t" r="r" b="b"/>
              <a:pathLst>
                <a:path w="45720" h="381000">
                  <a:moveTo>
                    <a:pt x="11342" y="0"/>
                  </a:moveTo>
                  <a:lnTo>
                    <a:pt x="11342" y="357524"/>
                  </a:lnTo>
                  <a:lnTo>
                    <a:pt x="0" y="357524"/>
                  </a:lnTo>
                  <a:lnTo>
                    <a:pt x="22685" y="380880"/>
                  </a:lnTo>
                  <a:lnTo>
                    <a:pt x="45725" y="357524"/>
                  </a:lnTo>
                  <a:lnTo>
                    <a:pt x="34028" y="357524"/>
                  </a:lnTo>
                  <a:lnTo>
                    <a:pt x="34028" y="0"/>
                  </a:lnTo>
                  <a:lnTo>
                    <a:pt x="11342" y="0"/>
                  </a:lnTo>
                </a:path>
              </a:pathLst>
            </a:custGeom>
            <a:ln w="25549">
              <a:solidFill>
                <a:srgbClr val="000000"/>
              </a:solidFill>
            </a:ln>
          </p:spPr>
          <p:txBody>
            <a:bodyPr wrap="square" lIns="0" tIns="0" rIns="0" bIns="0" rtlCol="0"/>
            <a:lstStyle/>
            <a:p>
              <a:endParaRPr/>
            </a:p>
          </p:txBody>
        </p:sp>
      </p:grpSp>
      <p:sp>
        <p:nvSpPr>
          <p:cNvPr id="58" name="object 58"/>
          <p:cNvSpPr txBox="1"/>
          <p:nvPr/>
        </p:nvSpPr>
        <p:spPr>
          <a:xfrm>
            <a:off x="1520945" y="5218203"/>
            <a:ext cx="871219" cy="393065"/>
          </a:xfrm>
          <a:prstGeom prst="rect">
            <a:avLst/>
          </a:prstGeom>
        </p:spPr>
        <p:txBody>
          <a:bodyPr vert="horz" wrap="square" lIns="0" tIns="0" rIns="0" bIns="0" rtlCol="0">
            <a:spAutoFit/>
          </a:bodyPr>
          <a:lstStyle/>
          <a:p>
            <a:pPr marL="12700">
              <a:lnSpc>
                <a:spcPts val="2795"/>
              </a:lnSpc>
            </a:pPr>
            <a:r>
              <a:rPr sz="2400" b="1" spc="-5" dirty="0">
                <a:latin typeface="Palatino Linotype"/>
                <a:cs typeface="Palatino Linotype"/>
              </a:rPr>
              <a:t>Agent</a:t>
            </a:r>
            <a:endParaRPr sz="2400">
              <a:latin typeface="Palatino Linotype"/>
              <a:cs typeface="Palatino Linotype"/>
            </a:endParaRPr>
          </a:p>
        </p:txBody>
      </p:sp>
      <p:sp>
        <p:nvSpPr>
          <p:cNvPr id="59" name="object 59"/>
          <p:cNvSpPr txBox="1"/>
          <p:nvPr/>
        </p:nvSpPr>
        <p:spPr>
          <a:xfrm>
            <a:off x="3273425" y="5371768"/>
            <a:ext cx="716915" cy="222885"/>
          </a:xfrm>
          <a:prstGeom prst="rect">
            <a:avLst/>
          </a:prstGeom>
        </p:spPr>
        <p:txBody>
          <a:bodyPr vert="horz" wrap="square" lIns="0" tIns="0" rIns="0" bIns="0" rtlCol="0">
            <a:spAutoFit/>
          </a:bodyPr>
          <a:lstStyle/>
          <a:p>
            <a:pPr marL="12700">
              <a:lnSpc>
                <a:spcPts val="1630"/>
              </a:lnSpc>
            </a:pPr>
            <a:r>
              <a:rPr sz="1400" spc="-5" dirty="0">
                <a:latin typeface="Times New Roman"/>
                <a:cs typeface="Times New Roman"/>
              </a:rPr>
              <a:t>Actuators</a:t>
            </a:r>
            <a:endParaRPr sz="1400">
              <a:latin typeface="Times New Roman"/>
              <a:cs typeface="Times New Roman"/>
            </a:endParaRPr>
          </a:p>
        </p:txBody>
      </p:sp>
    </p:spTree>
    <p:extLst>
      <p:ext uri="{BB962C8B-B14F-4D97-AF65-F5344CB8AC3E}">
        <p14:creationId xmlns:p14="http://schemas.microsoft.com/office/powerpoint/2010/main" val="16830500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5436" y="475487"/>
            <a:ext cx="4288790" cy="695960"/>
          </a:xfrm>
          <a:prstGeom prst="rect">
            <a:avLst/>
          </a:prstGeom>
        </p:spPr>
        <p:txBody>
          <a:bodyPr vert="horz" wrap="square" lIns="0" tIns="12700" rIns="0" bIns="0" rtlCol="0">
            <a:spAutoFit/>
          </a:bodyPr>
          <a:lstStyle/>
          <a:p>
            <a:pPr marL="12700">
              <a:lnSpc>
                <a:spcPct val="100000"/>
              </a:lnSpc>
              <a:spcBef>
                <a:spcPts val="100"/>
              </a:spcBef>
            </a:pPr>
            <a:r>
              <a:rPr spc="-25" dirty="0"/>
              <a:t>Environment</a:t>
            </a:r>
            <a:r>
              <a:rPr spc="-60" dirty="0"/>
              <a:t> </a:t>
            </a:r>
            <a:r>
              <a:rPr spc="-5" dirty="0"/>
              <a:t>types</a:t>
            </a:r>
          </a:p>
        </p:txBody>
      </p:sp>
      <p:sp>
        <p:nvSpPr>
          <p:cNvPr id="3" name="object 3"/>
          <p:cNvSpPr txBox="1"/>
          <p:nvPr/>
        </p:nvSpPr>
        <p:spPr>
          <a:xfrm>
            <a:off x="575915" y="1584147"/>
            <a:ext cx="7908925" cy="5006975"/>
          </a:xfrm>
          <a:prstGeom prst="rect">
            <a:avLst/>
          </a:prstGeom>
        </p:spPr>
        <p:txBody>
          <a:bodyPr vert="horz" wrap="square" lIns="0" tIns="53975" rIns="0" bIns="0" rtlCol="0">
            <a:spAutoFit/>
          </a:bodyPr>
          <a:lstStyle/>
          <a:p>
            <a:pPr marL="309245" marR="55880" indent="-297180">
              <a:lnSpc>
                <a:spcPts val="2590"/>
              </a:lnSpc>
              <a:spcBef>
                <a:spcPts val="425"/>
              </a:spcBef>
              <a:buFont typeface="Arial MT"/>
              <a:buChar char="•"/>
              <a:tabLst>
                <a:tab pos="309245" algn="l"/>
                <a:tab pos="309880" algn="l"/>
              </a:tabLst>
            </a:pPr>
            <a:r>
              <a:rPr sz="2400" spc="-5" dirty="0">
                <a:solidFill>
                  <a:srgbClr val="FF0000"/>
                </a:solidFill>
                <a:latin typeface="Calibri"/>
                <a:cs typeface="Calibri"/>
              </a:rPr>
              <a:t>Fully observable </a:t>
            </a:r>
            <a:r>
              <a:rPr sz="2400" spc="-10" dirty="0">
                <a:latin typeface="Calibri"/>
                <a:cs typeface="Calibri"/>
              </a:rPr>
              <a:t>(vs. </a:t>
            </a:r>
            <a:r>
              <a:rPr sz="2400" spc="-5" dirty="0">
                <a:latin typeface="Calibri"/>
                <a:cs typeface="Calibri"/>
              </a:rPr>
              <a:t>partially observable): An </a:t>
            </a:r>
            <a:r>
              <a:rPr sz="2400" spc="-10" dirty="0">
                <a:latin typeface="Calibri"/>
                <a:cs typeface="Calibri"/>
              </a:rPr>
              <a:t>agent's sensors </a:t>
            </a:r>
            <a:r>
              <a:rPr sz="2400" spc="-530" dirty="0">
                <a:latin typeface="Calibri"/>
                <a:cs typeface="Calibri"/>
              </a:rPr>
              <a:t> </a:t>
            </a:r>
            <a:r>
              <a:rPr sz="2400" spc="-10" dirty="0">
                <a:latin typeface="Calibri"/>
                <a:cs typeface="Calibri"/>
              </a:rPr>
              <a:t>give </a:t>
            </a:r>
            <a:r>
              <a:rPr sz="2400" spc="-5" dirty="0">
                <a:latin typeface="Calibri"/>
                <a:cs typeface="Calibri"/>
              </a:rPr>
              <a:t>it </a:t>
            </a:r>
            <a:r>
              <a:rPr sz="2400" dirty="0">
                <a:latin typeface="Calibri"/>
                <a:cs typeface="Calibri"/>
              </a:rPr>
              <a:t>access</a:t>
            </a:r>
            <a:r>
              <a:rPr sz="2400" spc="-5" dirty="0">
                <a:latin typeface="Calibri"/>
                <a:cs typeface="Calibri"/>
              </a:rPr>
              <a:t> </a:t>
            </a:r>
            <a:r>
              <a:rPr sz="2400" spc="-15" dirty="0">
                <a:latin typeface="Calibri"/>
                <a:cs typeface="Calibri"/>
              </a:rPr>
              <a:t>to</a:t>
            </a:r>
            <a:r>
              <a:rPr sz="2400" spc="-5" dirty="0">
                <a:latin typeface="Calibri"/>
                <a:cs typeface="Calibri"/>
              </a:rPr>
              <a:t> the </a:t>
            </a:r>
            <a:r>
              <a:rPr sz="2400" spc="-15" dirty="0">
                <a:latin typeface="Calibri"/>
                <a:cs typeface="Calibri"/>
              </a:rPr>
              <a:t>complete</a:t>
            </a:r>
            <a:r>
              <a:rPr sz="2400" spc="-5" dirty="0">
                <a:latin typeface="Calibri"/>
                <a:cs typeface="Calibri"/>
              </a:rPr>
              <a:t> </a:t>
            </a:r>
            <a:r>
              <a:rPr sz="2400" spc="-25" dirty="0">
                <a:latin typeface="Calibri"/>
                <a:cs typeface="Calibri"/>
              </a:rPr>
              <a:t>state</a:t>
            </a:r>
            <a:r>
              <a:rPr sz="2400" spc="-5" dirty="0">
                <a:latin typeface="Calibri"/>
                <a:cs typeface="Calibri"/>
              </a:rPr>
              <a:t> of the </a:t>
            </a:r>
            <a:r>
              <a:rPr sz="2400" spc="-15" dirty="0">
                <a:latin typeface="Calibri"/>
                <a:cs typeface="Calibri"/>
              </a:rPr>
              <a:t>environment</a:t>
            </a:r>
            <a:r>
              <a:rPr sz="2400" spc="-5" dirty="0">
                <a:latin typeface="Calibri"/>
                <a:cs typeface="Calibri"/>
              </a:rPr>
              <a:t> </a:t>
            </a:r>
            <a:r>
              <a:rPr sz="2400" spc="-15" dirty="0">
                <a:latin typeface="Calibri"/>
                <a:cs typeface="Calibri"/>
              </a:rPr>
              <a:t>at </a:t>
            </a:r>
            <a:r>
              <a:rPr sz="2400" spc="-10" dirty="0">
                <a:latin typeface="Calibri"/>
                <a:cs typeface="Calibri"/>
              </a:rPr>
              <a:t> </a:t>
            </a:r>
            <a:r>
              <a:rPr sz="2400" spc="-5" dirty="0">
                <a:latin typeface="Calibri"/>
                <a:cs typeface="Calibri"/>
              </a:rPr>
              <a:t>each</a:t>
            </a:r>
            <a:r>
              <a:rPr sz="2400" spc="-10" dirty="0">
                <a:latin typeface="Calibri"/>
                <a:cs typeface="Calibri"/>
              </a:rPr>
              <a:t> point</a:t>
            </a:r>
            <a:r>
              <a:rPr sz="2400" spc="-5" dirty="0">
                <a:latin typeface="Calibri"/>
                <a:cs typeface="Calibri"/>
              </a:rPr>
              <a:t> in time.</a:t>
            </a:r>
            <a:endParaRPr sz="2400">
              <a:latin typeface="Calibri"/>
              <a:cs typeface="Calibri"/>
            </a:endParaRPr>
          </a:p>
          <a:p>
            <a:pPr marL="309245" marR="73660" indent="-297180">
              <a:lnSpc>
                <a:spcPts val="2590"/>
              </a:lnSpc>
              <a:spcBef>
                <a:spcPts val="605"/>
              </a:spcBef>
              <a:buFont typeface="Arial MT"/>
              <a:buChar char="•"/>
              <a:tabLst>
                <a:tab pos="309245" algn="l"/>
                <a:tab pos="309880" algn="l"/>
              </a:tabLst>
            </a:pPr>
            <a:r>
              <a:rPr sz="2400" spc="-10" dirty="0">
                <a:solidFill>
                  <a:srgbClr val="FF0000"/>
                </a:solidFill>
                <a:latin typeface="Calibri"/>
                <a:cs typeface="Calibri"/>
              </a:rPr>
              <a:t>Deterministic</a:t>
            </a:r>
            <a:r>
              <a:rPr sz="2400" spc="10" dirty="0">
                <a:solidFill>
                  <a:srgbClr val="FF0000"/>
                </a:solidFill>
                <a:latin typeface="Calibri"/>
                <a:cs typeface="Calibri"/>
              </a:rPr>
              <a:t> </a:t>
            </a:r>
            <a:r>
              <a:rPr sz="2400" spc="-10" dirty="0">
                <a:latin typeface="Calibri"/>
                <a:cs typeface="Calibri"/>
              </a:rPr>
              <a:t>(vs.</a:t>
            </a:r>
            <a:r>
              <a:rPr sz="2400" spc="-5" dirty="0">
                <a:latin typeface="Calibri"/>
                <a:cs typeface="Calibri"/>
              </a:rPr>
              <a:t> </a:t>
            </a:r>
            <a:r>
              <a:rPr sz="2400" spc="-15" dirty="0">
                <a:latin typeface="Calibri"/>
                <a:cs typeface="Calibri"/>
              </a:rPr>
              <a:t>stochastic):</a:t>
            </a:r>
            <a:r>
              <a:rPr sz="2400" spc="-5" dirty="0">
                <a:latin typeface="Calibri"/>
                <a:cs typeface="Calibri"/>
              </a:rPr>
              <a:t> The </a:t>
            </a:r>
            <a:r>
              <a:rPr sz="2400" spc="-15" dirty="0">
                <a:latin typeface="Calibri"/>
                <a:cs typeface="Calibri"/>
              </a:rPr>
              <a:t>next</a:t>
            </a:r>
            <a:r>
              <a:rPr sz="2400" spc="-5" dirty="0">
                <a:latin typeface="Calibri"/>
                <a:cs typeface="Calibri"/>
              </a:rPr>
              <a:t> </a:t>
            </a:r>
            <a:r>
              <a:rPr sz="2400" spc="-25" dirty="0">
                <a:latin typeface="Calibri"/>
                <a:cs typeface="Calibri"/>
              </a:rPr>
              <a:t>state</a:t>
            </a:r>
            <a:r>
              <a:rPr sz="2400" spc="-5" dirty="0">
                <a:latin typeface="Calibri"/>
                <a:cs typeface="Calibri"/>
              </a:rPr>
              <a:t> of the </a:t>
            </a:r>
            <a:r>
              <a:rPr sz="2400" dirty="0">
                <a:latin typeface="Calibri"/>
                <a:cs typeface="Calibri"/>
              </a:rPr>
              <a:t> </a:t>
            </a:r>
            <a:r>
              <a:rPr sz="2400" spc="-15" dirty="0">
                <a:latin typeface="Calibri"/>
                <a:cs typeface="Calibri"/>
              </a:rPr>
              <a:t>environment</a:t>
            </a:r>
            <a:r>
              <a:rPr sz="2400" spc="-10" dirty="0">
                <a:latin typeface="Calibri"/>
                <a:cs typeface="Calibri"/>
              </a:rPr>
              <a:t> </a:t>
            </a:r>
            <a:r>
              <a:rPr sz="2400" spc="-5" dirty="0">
                <a:latin typeface="Calibri"/>
                <a:cs typeface="Calibri"/>
              </a:rPr>
              <a:t>is </a:t>
            </a:r>
            <a:r>
              <a:rPr sz="2400" spc="-10" dirty="0">
                <a:latin typeface="Calibri"/>
                <a:cs typeface="Calibri"/>
              </a:rPr>
              <a:t>completely</a:t>
            </a:r>
            <a:r>
              <a:rPr sz="2400" spc="-5" dirty="0">
                <a:latin typeface="Calibri"/>
                <a:cs typeface="Calibri"/>
              </a:rPr>
              <a:t> </a:t>
            </a:r>
            <a:r>
              <a:rPr sz="2400" spc="-10" dirty="0">
                <a:latin typeface="Calibri"/>
                <a:cs typeface="Calibri"/>
              </a:rPr>
              <a:t>determined</a:t>
            </a:r>
            <a:r>
              <a:rPr sz="2400" spc="-5" dirty="0">
                <a:latin typeface="Calibri"/>
                <a:cs typeface="Calibri"/>
              </a:rPr>
              <a:t> </a:t>
            </a:r>
            <a:r>
              <a:rPr sz="2400" spc="-10" dirty="0">
                <a:latin typeface="Calibri"/>
                <a:cs typeface="Calibri"/>
              </a:rPr>
              <a:t>by</a:t>
            </a:r>
            <a:r>
              <a:rPr sz="2400" spc="-5" dirty="0">
                <a:latin typeface="Calibri"/>
                <a:cs typeface="Calibri"/>
              </a:rPr>
              <a:t> the</a:t>
            </a:r>
            <a:r>
              <a:rPr sz="2400" spc="-10" dirty="0">
                <a:latin typeface="Calibri"/>
                <a:cs typeface="Calibri"/>
              </a:rPr>
              <a:t> </a:t>
            </a:r>
            <a:r>
              <a:rPr sz="2400" spc="-15" dirty="0">
                <a:latin typeface="Calibri"/>
                <a:cs typeface="Calibri"/>
              </a:rPr>
              <a:t>current</a:t>
            </a:r>
            <a:r>
              <a:rPr sz="2400" spc="-5" dirty="0">
                <a:latin typeface="Calibri"/>
                <a:cs typeface="Calibri"/>
              </a:rPr>
              <a:t> </a:t>
            </a:r>
            <a:r>
              <a:rPr sz="2400" spc="-25" dirty="0">
                <a:latin typeface="Calibri"/>
                <a:cs typeface="Calibri"/>
              </a:rPr>
              <a:t>state </a:t>
            </a:r>
            <a:r>
              <a:rPr sz="2400" spc="-20" dirty="0">
                <a:latin typeface="Calibri"/>
                <a:cs typeface="Calibri"/>
              </a:rPr>
              <a:t> </a:t>
            </a:r>
            <a:r>
              <a:rPr sz="2400" dirty="0">
                <a:latin typeface="Calibri"/>
                <a:cs typeface="Calibri"/>
              </a:rPr>
              <a:t>and </a:t>
            </a:r>
            <a:r>
              <a:rPr sz="2400" spc="-5" dirty="0">
                <a:latin typeface="Calibri"/>
                <a:cs typeface="Calibri"/>
              </a:rPr>
              <a:t>the </a:t>
            </a:r>
            <a:r>
              <a:rPr sz="2400" dirty="0">
                <a:latin typeface="Calibri"/>
                <a:cs typeface="Calibri"/>
              </a:rPr>
              <a:t>action </a:t>
            </a:r>
            <a:r>
              <a:rPr sz="2400" spc="-20" dirty="0">
                <a:latin typeface="Calibri"/>
                <a:cs typeface="Calibri"/>
              </a:rPr>
              <a:t>executed </a:t>
            </a:r>
            <a:r>
              <a:rPr sz="2400" spc="-10" dirty="0">
                <a:latin typeface="Calibri"/>
                <a:cs typeface="Calibri"/>
              </a:rPr>
              <a:t>by </a:t>
            </a:r>
            <a:r>
              <a:rPr sz="2400" spc="-5" dirty="0">
                <a:latin typeface="Calibri"/>
                <a:cs typeface="Calibri"/>
              </a:rPr>
              <a:t>the </a:t>
            </a:r>
            <a:r>
              <a:rPr sz="2400" spc="-10" dirty="0">
                <a:latin typeface="Calibri"/>
                <a:cs typeface="Calibri"/>
              </a:rPr>
              <a:t>agent. </a:t>
            </a:r>
            <a:r>
              <a:rPr sz="2400" spc="-5" dirty="0">
                <a:latin typeface="Calibri"/>
                <a:cs typeface="Calibri"/>
              </a:rPr>
              <a:t>(If the </a:t>
            </a:r>
            <a:r>
              <a:rPr sz="2400" spc="-15" dirty="0">
                <a:latin typeface="Calibri"/>
                <a:cs typeface="Calibri"/>
              </a:rPr>
              <a:t>environment </a:t>
            </a:r>
            <a:r>
              <a:rPr sz="2400" spc="-5" dirty="0">
                <a:latin typeface="Calibri"/>
                <a:cs typeface="Calibri"/>
              </a:rPr>
              <a:t>is </a:t>
            </a:r>
            <a:r>
              <a:rPr sz="2400" dirty="0">
                <a:latin typeface="Calibri"/>
                <a:cs typeface="Calibri"/>
              </a:rPr>
              <a:t> </a:t>
            </a:r>
            <a:r>
              <a:rPr sz="2400" spc="-10" dirty="0">
                <a:latin typeface="Calibri"/>
                <a:cs typeface="Calibri"/>
              </a:rPr>
              <a:t>deterministic </a:t>
            </a:r>
            <a:r>
              <a:rPr sz="2400" spc="-20" dirty="0">
                <a:latin typeface="Calibri"/>
                <a:cs typeface="Calibri"/>
              </a:rPr>
              <a:t>except for </a:t>
            </a:r>
            <a:r>
              <a:rPr sz="2400" spc="-5" dirty="0">
                <a:latin typeface="Calibri"/>
                <a:cs typeface="Calibri"/>
              </a:rPr>
              <a:t>the </a:t>
            </a:r>
            <a:r>
              <a:rPr sz="2400" dirty="0">
                <a:latin typeface="Calibri"/>
                <a:cs typeface="Calibri"/>
              </a:rPr>
              <a:t>actions </a:t>
            </a:r>
            <a:r>
              <a:rPr sz="2400" spc="-5" dirty="0">
                <a:latin typeface="Calibri"/>
                <a:cs typeface="Calibri"/>
              </a:rPr>
              <a:t>of other </a:t>
            </a:r>
            <a:r>
              <a:rPr sz="2400" spc="-10" dirty="0">
                <a:latin typeface="Calibri"/>
                <a:cs typeface="Calibri"/>
              </a:rPr>
              <a:t>agents, </a:t>
            </a:r>
            <a:r>
              <a:rPr sz="2400" spc="-5" dirty="0">
                <a:latin typeface="Calibri"/>
                <a:cs typeface="Calibri"/>
              </a:rPr>
              <a:t>then the </a:t>
            </a:r>
            <a:r>
              <a:rPr sz="2400" spc="-530" dirty="0">
                <a:latin typeface="Calibri"/>
                <a:cs typeface="Calibri"/>
              </a:rPr>
              <a:t> </a:t>
            </a:r>
            <a:r>
              <a:rPr sz="2400" spc="-15" dirty="0">
                <a:latin typeface="Calibri"/>
                <a:cs typeface="Calibri"/>
              </a:rPr>
              <a:t>environment</a:t>
            </a:r>
            <a:r>
              <a:rPr sz="2400" spc="-10" dirty="0">
                <a:latin typeface="Calibri"/>
                <a:cs typeface="Calibri"/>
              </a:rPr>
              <a:t> </a:t>
            </a:r>
            <a:r>
              <a:rPr sz="2400" spc="-5" dirty="0">
                <a:latin typeface="Calibri"/>
                <a:cs typeface="Calibri"/>
              </a:rPr>
              <a:t>is</a:t>
            </a:r>
            <a:r>
              <a:rPr sz="2400" spc="15" dirty="0">
                <a:latin typeface="Calibri"/>
                <a:cs typeface="Calibri"/>
              </a:rPr>
              <a:t> </a:t>
            </a:r>
            <a:r>
              <a:rPr sz="2400" spc="-20" dirty="0">
                <a:solidFill>
                  <a:srgbClr val="FF0000"/>
                </a:solidFill>
                <a:latin typeface="Calibri"/>
                <a:cs typeface="Calibri"/>
              </a:rPr>
              <a:t>strategic</a:t>
            </a:r>
            <a:r>
              <a:rPr sz="2400" spc="-20" dirty="0">
                <a:latin typeface="Calibri"/>
                <a:cs typeface="Calibri"/>
              </a:rPr>
              <a:t>)</a:t>
            </a:r>
            <a:endParaRPr sz="2400">
              <a:latin typeface="Calibri"/>
              <a:cs typeface="Calibri"/>
            </a:endParaRPr>
          </a:p>
          <a:p>
            <a:pPr marL="309245" marR="5080" indent="-297180">
              <a:lnSpc>
                <a:spcPts val="2590"/>
              </a:lnSpc>
              <a:spcBef>
                <a:spcPts val="610"/>
              </a:spcBef>
              <a:buFont typeface="Arial MT"/>
              <a:buChar char="•"/>
              <a:tabLst>
                <a:tab pos="309245" algn="l"/>
                <a:tab pos="309880" algn="l"/>
              </a:tabLst>
            </a:pPr>
            <a:r>
              <a:rPr sz="2400" spc="-5" dirty="0">
                <a:solidFill>
                  <a:srgbClr val="FF0000"/>
                </a:solidFill>
                <a:latin typeface="Calibri"/>
                <a:cs typeface="Calibri"/>
              </a:rPr>
              <a:t>Episodic</a:t>
            </a:r>
            <a:r>
              <a:rPr sz="2400" spc="5" dirty="0">
                <a:solidFill>
                  <a:srgbClr val="FF0000"/>
                </a:solidFill>
                <a:latin typeface="Calibri"/>
                <a:cs typeface="Calibri"/>
              </a:rPr>
              <a:t> </a:t>
            </a:r>
            <a:r>
              <a:rPr sz="2400" spc="-10" dirty="0">
                <a:latin typeface="Calibri"/>
                <a:cs typeface="Calibri"/>
              </a:rPr>
              <a:t>(vs.</a:t>
            </a:r>
            <a:r>
              <a:rPr sz="2400" spc="-5" dirty="0">
                <a:latin typeface="Calibri"/>
                <a:cs typeface="Calibri"/>
              </a:rPr>
              <a:t> </a:t>
            </a:r>
            <a:r>
              <a:rPr sz="2400" spc="-10" dirty="0">
                <a:latin typeface="Calibri"/>
                <a:cs typeface="Calibri"/>
              </a:rPr>
              <a:t>sequential):</a:t>
            </a:r>
            <a:r>
              <a:rPr sz="2400" spc="-5" dirty="0">
                <a:latin typeface="Calibri"/>
                <a:cs typeface="Calibri"/>
              </a:rPr>
              <a:t> The </a:t>
            </a:r>
            <a:r>
              <a:rPr sz="2400" spc="-10" dirty="0">
                <a:latin typeface="Calibri"/>
                <a:cs typeface="Calibri"/>
              </a:rPr>
              <a:t>agent's</a:t>
            </a:r>
            <a:r>
              <a:rPr sz="2400" spc="-5" dirty="0">
                <a:latin typeface="Calibri"/>
                <a:cs typeface="Calibri"/>
              </a:rPr>
              <a:t> </a:t>
            </a:r>
            <a:r>
              <a:rPr sz="2400" spc="-10" dirty="0">
                <a:latin typeface="Calibri"/>
                <a:cs typeface="Calibri"/>
              </a:rPr>
              <a:t>experience</a:t>
            </a:r>
            <a:r>
              <a:rPr sz="2400" spc="-5" dirty="0">
                <a:latin typeface="Calibri"/>
                <a:cs typeface="Calibri"/>
              </a:rPr>
              <a:t> is divided </a:t>
            </a:r>
            <a:r>
              <a:rPr sz="2400" dirty="0">
                <a:latin typeface="Calibri"/>
                <a:cs typeface="Calibri"/>
              </a:rPr>
              <a:t> </a:t>
            </a:r>
            <a:r>
              <a:rPr sz="2400" spc="-15" dirty="0">
                <a:latin typeface="Calibri"/>
                <a:cs typeface="Calibri"/>
              </a:rPr>
              <a:t>into atomic </a:t>
            </a:r>
            <a:r>
              <a:rPr sz="2400" spc="-5" dirty="0">
                <a:latin typeface="Calibri"/>
                <a:cs typeface="Calibri"/>
              </a:rPr>
              <a:t>"episodes" (each episode </a:t>
            </a:r>
            <a:r>
              <a:rPr sz="2400" spc="-10" dirty="0">
                <a:latin typeface="Calibri"/>
                <a:cs typeface="Calibri"/>
              </a:rPr>
              <a:t>consists </a:t>
            </a:r>
            <a:r>
              <a:rPr sz="2400" spc="-5" dirty="0">
                <a:latin typeface="Calibri"/>
                <a:cs typeface="Calibri"/>
              </a:rPr>
              <a:t>of the </a:t>
            </a:r>
            <a:r>
              <a:rPr sz="2400" spc="-10" dirty="0">
                <a:latin typeface="Calibri"/>
                <a:cs typeface="Calibri"/>
              </a:rPr>
              <a:t>agent </a:t>
            </a:r>
            <a:r>
              <a:rPr sz="2400" spc="-5" dirty="0">
                <a:latin typeface="Calibri"/>
                <a:cs typeface="Calibri"/>
              </a:rPr>
              <a:t> </a:t>
            </a:r>
            <a:r>
              <a:rPr sz="2400" spc="-10" dirty="0">
                <a:latin typeface="Calibri"/>
                <a:cs typeface="Calibri"/>
              </a:rPr>
              <a:t>perceiving </a:t>
            </a:r>
            <a:r>
              <a:rPr sz="2400" dirty="0">
                <a:latin typeface="Calibri"/>
                <a:cs typeface="Calibri"/>
              </a:rPr>
              <a:t>and </a:t>
            </a:r>
            <a:r>
              <a:rPr sz="2400" spc="-5" dirty="0">
                <a:latin typeface="Calibri"/>
                <a:cs typeface="Calibri"/>
              </a:rPr>
              <a:t>then </a:t>
            </a:r>
            <a:r>
              <a:rPr sz="2400" spc="-10" dirty="0">
                <a:latin typeface="Calibri"/>
                <a:cs typeface="Calibri"/>
              </a:rPr>
              <a:t>performing </a:t>
            </a:r>
            <a:r>
              <a:rPr sz="2400" dirty="0">
                <a:latin typeface="Calibri"/>
                <a:cs typeface="Calibri"/>
              </a:rPr>
              <a:t>a </a:t>
            </a:r>
            <a:r>
              <a:rPr sz="2400" spc="-5" dirty="0">
                <a:latin typeface="Calibri"/>
                <a:cs typeface="Calibri"/>
              </a:rPr>
              <a:t>single </a:t>
            </a:r>
            <a:r>
              <a:rPr sz="2400" dirty="0">
                <a:latin typeface="Calibri"/>
                <a:cs typeface="Calibri"/>
              </a:rPr>
              <a:t>action), and </a:t>
            </a:r>
            <a:r>
              <a:rPr sz="2400" spc="-5" dirty="0">
                <a:latin typeface="Calibri"/>
                <a:cs typeface="Calibri"/>
              </a:rPr>
              <a:t>the </a:t>
            </a:r>
            <a:r>
              <a:rPr sz="2400" dirty="0">
                <a:latin typeface="Calibri"/>
                <a:cs typeface="Calibri"/>
              </a:rPr>
              <a:t> </a:t>
            </a:r>
            <a:r>
              <a:rPr sz="2400" spc="-5" dirty="0">
                <a:latin typeface="Calibri"/>
                <a:cs typeface="Calibri"/>
              </a:rPr>
              <a:t>choice of </a:t>
            </a:r>
            <a:r>
              <a:rPr sz="2400" dirty="0">
                <a:latin typeface="Calibri"/>
                <a:cs typeface="Calibri"/>
              </a:rPr>
              <a:t>action </a:t>
            </a:r>
            <a:r>
              <a:rPr sz="2400" spc="-5" dirty="0">
                <a:latin typeface="Calibri"/>
                <a:cs typeface="Calibri"/>
              </a:rPr>
              <a:t>in each episode depends only on the episode </a:t>
            </a:r>
            <a:r>
              <a:rPr sz="2400" spc="-530" dirty="0">
                <a:latin typeface="Calibri"/>
                <a:cs typeface="Calibri"/>
              </a:rPr>
              <a:t> </a:t>
            </a:r>
            <a:r>
              <a:rPr sz="2400" spc="-30" dirty="0">
                <a:latin typeface="Calibri"/>
                <a:cs typeface="Calibri"/>
              </a:rPr>
              <a:t>itself.</a:t>
            </a:r>
            <a:endParaRPr sz="2400">
              <a:latin typeface="Calibri"/>
              <a:cs typeface="Calibri"/>
            </a:endParaRPr>
          </a:p>
          <a:p>
            <a:pPr marL="27940">
              <a:lnSpc>
                <a:spcPct val="100000"/>
              </a:lnSpc>
              <a:spcBef>
                <a:spcPts val="170"/>
              </a:spcBef>
            </a:pPr>
            <a:r>
              <a:rPr sz="3200" dirty="0">
                <a:solidFill>
                  <a:srgbClr val="FF0000"/>
                </a:solidFill>
                <a:latin typeface="Arial MT"/>
                <a:cs typeface="Arial MT"/>
              </a:rPr>
              <a:t>•</a:t>
            </a:r>
            <a:endParaRPr sz="3200">
              <a:latin typeface="Arial MT"/>
              <a:cs typeface="Arial MT"/>
            </a:endParaRPr>
          </a:p>
        </p:txBody>
      </p:sp>
    </p:spTree>
    <p:extLst>
      <p:ext uri="{BB962C8B-B14F-4D97-AF65-F5344CB8AC3E}">
        <p14:creationId xmlns:p14="http://schemas.microsoft.com/office/powerpoint/2010/main" val="34349282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5436" y="475487"/>
            <a:ext cx="4288790" cy="695960"/>
          </a:xfrm>
          <a:prstGeom prst="rect">
            <a:avLst/>
          </a:prstGeom>
        </p:spPr>
        <p:txBody>
          <a:bodyPr vert="horz" wrap="square" lIns="0" tIns="12700" rIns="0" bIns="0" rtlCol="0">
            <a:spAutoFit/>
          </a:bodyPr>
          <a:lstStyle/>
          <a:p>
            <a:pPr marL="12700">
              <a:lnSpc>
                <a:spcPct val="100000"/>
              </a:lnSpc>
              <a:spcBef>
                <a:spcPts val="100"/>
              </a:spcBef>
            </a:pPr>
            <a:r>
              <a:rPr spc="-25" dirty="0"/>
              <a:t>Environment</a:t>
            </a:r>
            <a:r>
              <a:rPr spc="-60" dirty="0"/>
              <a:t> </a:t>
            </a:r>
            <a:r>
              <a:rPr spc="-5" dirty="0"/>
              <a:t>types</a:t>
            </a:r>
          </a:p>
        </p:txBody>
      </p:sp>
      <p:sp>
        <p:nvSpPr>
          <p:cNvPr id="3" name="object 3"/>
          <p:cNvSpPr txBox="1"/>
          <p:nvPr/>
        </p:nvSpPr>
        <p:spPr>
          <a:xfrm>
            <a:off x="596247" y="1611376"/>
            <a:ext cx="7724140" cy="4617085"/>
          </a:xfrm>
          <a:prstGeom prst="rect">
            <a:avLst/>
          </a:prstGeom>
        </p:spPr>
        <p:txBody>
          <a:bodyPr vert="horz" wrap="square" lIns="0" tIns="12700" rIns="0" bIns="0" rtlCol="0">
            <a:spAutoFit/>
          </a:bodyPr>
          <a:lstStyle/>
          <a:p>
            <a:pPr marL="288925" marR="26034" indent="-289560">
              <a:lnSpc>
                <a:spcPct val="100000"/>
              </a:lnSpc>
              <a:spcBef>
                <a:spcPts val="100"/>
              </a:spcBef>
              <a:buFont typeface="Arial MT"/>
              <a:buChar char="•"/>
              <a:tabLst>
                <a:tab pos="288925" algn="l"/>
                <a:tab pos="289560" algn="l"/>
              </a:tabLst>
            </a:pPr>
            <a:r>
              <a:rPr sz="2800" spc="-15" dirty="0">
                <a:solidFill>
                  <a:srgbClr val="FF0000"/>
                </a:solidFill>
                <a:latin typeface="Calibri"/>
                <a:cs typeface="Calibri"/>
              </a:rPr>
              <a:t>Static </a:t>
            </a:r>
            <a:r>
              <a:rPr sz="2800" spc="-10" dirty="0">
                <a:latin typeface="Calibri"/>
                <a:cs typeface="Calibri"/>
              </a:rPr>
              <a:t>(vs. </a:t>
            </a:r>
            <a:r>
              <a:rPr sz="2800" spc="-5" dirty="0">
                <a:latin typeface="Calibri"/>
                <a:cs typeface="Calibri"/>
              </a:rPr>
              <a:t>dynamic): The </a:t>
            </a:r>
            <a:r>
              <a:rPr sz="2800" spc="-15" dirty="0">
                <a:latin typeface="Calibri"/>
                <a:cs typeface="Calibri"/>
              </a:rPr>
              <a:t>environment </a:t>
            </a:r>
            <a:r>
              <a:rPr sz="2800" spc="-5" dirty="0">
                <a:latin typeface="Calibri"/>
                <a:cs typeface="Calibri"/>
              </a:rPr>
              <a:t>is </a:t>
            </a:r>
            <a:r>
              <a:rPr sz="2800" spc="-10" dirty="0">
                <a:latin typeface="Calibri"/>
                <a:cs typeface="Calibri"/>
              </a:rPr>
              <a:t>unchanged </a:t>
            </a:r>
            <a:r>
              <a:rPr sz="2800" spc="-620" dirty="0">
                <a:latin typeface="Calibri"/>
                <a:cs typeface="Calibri"/>
              </a:rPr>
              <a:t> </a:t>
            </a:r>
            <a:r>
              <a:rPr sz="2800" spc="-5" dirty="0">
                <a:latin typeface="Calibri"/>
                <a:cs typeface="Calibri"/>
              </a:rPr>
              <a:t>while </a:t>
            </a:r>
            <a:r>
              <a:rPr sz="2800" dirty="0">
                <a:latin typeface="Calibri"/>
                <a:cs typeface="Calibri"/>
              </a:rPr>
              <a:t>an </a:t>
            </a:r>
            <a:r>
              <a:rPr sz="2800" spc="-15" dirty="0">
                <a:latin typeface="Calibri"/>
                <a:cs typeface="Calibri"/>
              </a:rPr>
              <a:t>agent </a:t>
            </a:r>
            <a:r>
              <a:rPr sz="2800" spc="-5" dirty="0">
                <a:latin typeface="Calibri"/>
                <a:cs typeface="Calibri"/>
              </a:rPr>
              <a:t>is </a:t>
            </a:r>
            <a:r>
              <a:rPr sz="2800" spc="-15" dirty="0">
                <a:latin typeface="Calibri"/>
                <a:cs typeface="Calibri"/>
              </a:rPr>
              <a:t>deliberating. </a:t>
            </a:r>
            <a:r>
              <a:rPr sz="2800" spc="-5" dirty="0">
                <a:latin typeface="Calibri"/>
                <a:cs typeface="Calibri"/>
              </a:rPr>
              <a:t>(The </a:t>
            </a:r>
            <a:r>
              <a:rPr sz="2800" spc="-15" dirty="0">
                <a:latin typeface="Calibri"/>
                <a:cs typeface="Calibri"/>
              </a:rPr>
              <a:t>environment </a:t>
            </a:r>
            <a:r>
              <a:rPr sz="2800" spc="-5" dirty="0">
                <a:latin typeface="Calibri"/>
                <a:cs typeface="Calibri"/>
              </a:rPr>
              <a:t>is </a:t>
            </a:r>
            <a:r>
              <a:rPr sz="2800" dirty="0">
                <a:latin typeface="Calibri"/>
                <a:cs typeface="Calibri"/>
              </a:rPr>
              <a:t> </a:t>
            </a:r>
            <a:r>
              <a:rPr sz="2800" spc="-5" dirty="0">
                <a:solidFill>
                  <a:srgbClr val="FF0000"/>
                </a:solidFill>
                <a:latin typeface="Calibri"/>
                <a:cs typeface="Calibri"/>
              </a:rPr>
              <a:t>semidynamic </a:t>
            </a:r>
            <a:r>
              <a:rPr sz="2800" spc="-5" dirty="0">
                <a:latin typeface="Calibri"/>
                <a:cs typeface="Calibri"/>
              </a:rPr>
              <a:t>if </a:t>
            </a:r>
            <a:r>
              <a:rPr sz="2800" spc="-10" dirty="0">
                <a:latin typeface="Calibri"/>
                <a:cs typeface="Calibri"/>
              </a:rPr>
              <a:t>the </a:t>
            </a:r>
            <a:r>
              <a:rPr sz="2800" spc="-15" dirty="0">
                <a:latin typeface="Calibri"/>
                <a:cs typeface="Calibri"/>
              </a:rPr>
              <a:t>environment </a:t>
            </a:r>
            <a:r>
              <a:rPr sz="2800" spc="-5" dirty="0">
                <a:latin typeface="Calibri"/>
                <a:cs typeface="Calibri"/>
              </a:rPr>
              <a:t>itself does not </a:t>
            </a:r>
            <a:r>
              <a:rPr sz="2800" dirty="0">
                <a:latin typeface="Calibri"/>
                <a:cs typeface="Calibri"/>
              </a:rPr>
              <a:t> </a:t>
            </a:r>
            <a:r>
              <a:rPr sz="2800" spc="-10" dirty="0">
                <a:latin typeface="Calibri"/>
                <a:cs typeface="Calibri"/>
              </a:rPr>
              <a:t>change </a:t>
            </a:r>
            <a:r>
              <a:rPr sz="2800" spc="-5" dirty="0">
                <a:latin typeface="Calibri"/>
                <a:cs typeface="Calibri"/>
              </a:rPr>
              <a:t>with </a:t>
            </a:r>
            <a:r>
              <a:rPr sz="2800" spc="-10" dirty="0">
                <a:latin typeface="Calibri"/>
                <a:cs typeface="Calibri"/>
              </a:rPr>
              <a:t>the passage</a:t>
            </a:r>
            <a:r>
              <a:rPr sz="2800" spc="-5" dirty="0">
                <a:latin typeface="Calibri"/>
                <a:cs typeface="Calibri"/>
              </a:rPr>
              <a:t> of </a:t>
            </a:r>
            <a:r>
              <a:rPr sz="2800" spc="-10" dirty="0">
                <a:latin typeface="Calibri"/>
                <a:cs typeface="Calibri"/>
              </a:rPr>
              <a:t>time </a:t>
            </a:r>
            <a:r>
              <a:rPr sz="2800" spc="-5" dirty="0">
                <a:latin typeface="Calibri"/>
                <a:cs typeface="Calibri"/>
              </a:rPr>
              <a:t>but </a:t>
            </a:r>
            <a:r>
              <a:rPr sz="2800" spc="-10" dirty="0">
                <a:latin typeface="Calibri"/>
                <a:cs typeface="Calibri"/>
              </a:rPr>
              <a:t>the </a:t>
            </a:r>
            <a:r>
              <a:rPr sz="2800" spc="-15" dirty="0">
                <a:latin typeface="Calibri"/>
                <a:cs typeface="Calibri"/>
              </a:rPr>
              <a:t>agent's </a:t>
            </a:r>
            <a:r>
              <a:rPr sz="2800" spc="-10" dirty="0">
                <a:latin typeface="Calibri"/>
                <a:cs typeface="Calibri"/>
              </a:rPr>
              <a:t> performance </a:t>
            </a:r>
            <a:r>
              <a:rPr sz="2800" spc="-15" dirty="0">
                <a:latin typeface="Calibri"/>
                <a:cs typeface="Calibri"/>
              </a:rPr>
              <a:t>score</a:t>
            </a:r>
            <a:r>
              <a:rPr sz="2800" spc="-5" dirty="0">
                <a:latin typeface="Calibri"/>
                <a:cs typeface="Calibri"/>
              </a:rPr>
              <a:t> does)</a:t>
            </a:r>
            <a:endParaRPr sz="2800">
              <a:latin typeface="Calibri"/>
              <a:cs typeface="Calibri"/>
            </a:endParaRPr>
          </a:p>
          <a:p>
            <a:pPr marL="288925" marR="818515" indent="-289560">
              <a:lnSpc>
                <a:spcPct val="100000"/>
              </a:lnSpc>
              <a:spcBef>
                <a:spcPts val="695"/>
              </a:spcBef>
              <a:buFont typeface="Arial MT"/>
              <a:buChar char="•"/>
              <a:tabLst>
                <a:tab pos="288925" algn="l"/>
                <a:tab pos="289560" algn="l"/>
              </a:tabLst>
            </a:pPr>
            <a:r>
              <a:rPr sz="2800" spc="-15" dirty="0">
                <a:solidFill>
                  <a:srgbClr val="FF0000"/>
                </a:solidFill>
                <a:latin typeface="Calibri"/>
                <a:cs typeface="Calibri"/>
              </a:rPr>
              <a:t>Discrete</a:t>
            </a:r>
            <a:r>
              <a:rPr sz="2800" spc="-5" dirty="0">
                <a:solidFill>
                  <a:srgbClr val="FF0000"/>
                </a:solidFill>
                <a:latin typeface="Calibri"/>
                <a:cs typeface="Calibri"/>
              </a:rPr>
              <a:t> </a:t>
            </a:r>
            <a:r>
              <a:rPr sz="2800" spc="-10" dirty="0">
                <a:latin typeface="Calibri"/>
                <a:cs typeface="Calibri"/>
              </a:rPr>
              <a:t>(vs. </a:t>
            </a:r>
            <a:r>
              <a:rPr sz="2800" spc="-15" dirty="0">
                <a:latin typeface="Calibri"/>
                <a:cs typeface="Calibri"/>
              </a:rPr>
              <a:t>continuous):</a:t>
            </a:r>
            <a:r>
              <a:rPr sz="2800" spc="-10" dirty="0">
                <a:latin typeface="Calibri"/>
                <a:cs typeface="Calibri"/>
              </a:rPr>
              <a:t> </a:t>
            </a:r>
            <a:r>
              <a:rPr sz="2800" dirty="0">
                <a:latin typeface="Calibri"/>
                <a:cs typeface="Calibri"/>
              </a:rPr>
              <a:t>A</a:t>
            </a:r>
            <a:r>
              <a:rPr sz="2800" spc="-10" dirty="0">
                <a:latin typeface="Calibri"/>
                <a:cs typeface="Calibri"/>
              </a:rPr>
              <a:t> limited </a:t>
            </a:r>
            <a:r>
              <a:rPr sz="2800" spc="-5" dirty="0">
                <a:latin typeface="Calibri"/>
                <a:cs typeface="Calibri"/>
              </a:rPr>
              <a:t>number of </a:t>
            </a:r>
            <a:r>
              <a:rPr sz="2800" spc="-620" dirty="0">
                <a:latin typeface="Calibri"/>
                <a:cs typeface="Calibri"/>
              </a:rPr>
              <a:t> </a:t>
            </a:r>
            <a:r>
              <a:rPr sz="2800" spc="-15" dirty="0">
                <a:latin typeface="Calibri"/>
                <a:cs typeface="Calibri"/>
              </a:rPr>
              <a:t>distinct, </a:t>
            </a:r>
            <a:r>
              <a:rPr sz="2800" spc="-5" dirty="0">
                <a:latin typeface="Calibri"/>
                <a:cs typeface="Calibri"/>
              </a:rPr>
              <a:t>clearly </a:t>
            </a:r>
            <a:r>
              <a:rPr sz="2800" spc="-10" dirty="0">
                <a:latin typeface="Calibri"/>
                <a:cs typeface="Calibri"/>
              </a:rPr>
              <a:t>defined</a:t>
            </a:r>
            <a:r>
              <a:rPr sz="2800" spc="-5" dirty="0">
                <a:latin typeface="Calibri"/>
                <a:cs typeface="Calibri"/>
              </a:rPr>
              <a:t> </a:t>
            </a:r>
            <a:r>
              <a:rPr sz="2800" spc="-15" dirty="0">
                <a:latin typeface="Calibri"/>
                <a:cs typeface="Calibri"/>
              </a:rPr>
              <a:t>percepts</a:t>
            </a:r>
            <a:r>
              <a:rPr sz="2800" spc="-10" dirty="0">
                <a:latin typeface="Calibri"/>
                <a:cs typeface="Calibri"/>
              </a:rPr>
              <a:t> </a:t>
            </a:r>
            <a:r>
              <a:rPr sz="2800" dirty="0">
                <a:latin typeface="Calibri"/>
                <a:cs typeface="Calibri"/>
              </a:rPr>
              <a:t>and</a:t>
            </a:r>
            <a:r>
              <a:rPr sz="2800" spc="-5" dirty="0">
                <a:latin typeface="Calibri"/>
                <a:cs typeface="Calibri"/>
              </a:rPr>
              <a:t> </a:t>
            </a:r>
            <a:r>
              <a:rPr sz="2800" dirty="0">
                <a:latin typeface="Calibri"/>
                <a:cs typeface="Calibri"/>
              </a:rPr>
              <a:t>actions.</a:t>
            </a:r>
            <a:endParaRPr sz="2800">
              <a:latin typeface="Calibri"/>
              <a:cs typeface="Calibri"/>
            </a:endParaRPr>
          </a:p>
          <a:p>
            <a:pPr marL="288925" indent="-289560">
              <a:lnSpc>
                <a:spcPct val="100000"/>
              </a:lnSpc>
              <a:spcBef>
                <a:spcPts val="695"/>
              </a:spcBef>
              <a:buFont typeface="Arial MT"/>
              <a:buChar char="•"/>
              <a:tabLst>
                <a:tab pos="288925" algn="l"/>
                <a:tab pos="289560" algn="l"/>
              </a:tabLst>
            </a:pPr>
            <a:r>
              <a:rPr sz="2800" spc="-5" dirty="0">
                <a:solidFill>
                  <a:srgbClr val="FF0000"/>
                </a:solidFill>
                <a:latin typeface="Calibri"/>
                <a:cs typeface="Calibri"/>
              </a:rPr>
              <a:t>Single</a:t>
            </a:r>
            <a:r>
              <a:rPr sz="2800" spc="-10" dirty="0">
                <a:solidFill>
                  <a:srgbClr val="FF0000"/>
                </a:solidFill>
                <a:latin typeface="Calibri"/>
                <a:cs typeface="Calibri"/>
              </a:rPr>
              <a:t> </a:t>
            </a:r>
            <a:r>
              <a:rPr sz="2800" spc="-15" dirty="0">
                <a:solidFill>
                  <a:srgbClr val="FF0000"/>
                </a:solidFill>
                <a:latin typeface="Calibri"/>
                <a:cs typeface="Calibri"/>
              </a:rPr>
              <a:t>agent</a:t>
            </a:r>
            <a:r>
              <a:rPr sz="2800" spc="10" dirty="0">
                <a:solidFill>
                  <a:srgbClr val="FF0000"/>
                </a:solidFill>
                <a:latin typeface="Calibri"/>
                <a:cs typeface="Calibri"/>
              </a:rPr>
              <a:t> </a:t>
            </a:r>
            <a:r>
              <a:rPr sz="2800" spc="-10" dirty="0">
                <a:latin typeface="Calibri"/>
                <a:cs typeface="Calibri"/>
              </a:rPr>
              <a:t>(vs. multiagent):</a:t>
            </a:r>
            <a:r>
              <a:rPr sz="2800" spc="-15" dirty="0">
                <a:latin typeface="Calibri"/>
                <a:cs typeface="Calibri"/>
              </a:rPr>
              <a:t> </a:t>
            </a:r>
            <a:r>
              <a:rPr sz="2800" spc="-5" dirty="0">
                <a:latin typeface="Calibri"/>
                <a:cs typeface="Calibri"/>
              </a:rPr>
              <a:t>An</a:t>
            </a:r>
            <a:r>
              <a:rPr sz="2800" spc="-10" dirty="0">
                <a:latin typeface="Calibri"/>
                <a:cs typeface="Calibri"/>
              </a:rPr>
              <a:t> </a:t>
            </a:r>
            <a:r>
              <a:rPr sz="2800" spc="-15" dirty="0">
                <a:latin typeface="Calibri"/>
                <a:cs typeface="Calibri"/>
              </a:rPr>
              <a:t>agent</a:t>
            </a:r>
            <a:r>
              <a:rPr sz="2800" spc="-10" dirty="0">
                <a:latin typeface="Calibri"/>
                <a:cs typeface="Calibri"/>
              </a:rPr>
              <a:t> </a:t>
            </a:r>
            <a:r>
              <a:rPr sz="2800" spc="-15" dirty="0">
                <a:latin typeface="Calibri"/>
                <a:cs typeface="Calibri"/>
              </a:rPr>
              <a:t>operating </a:t>
            </a:r>
            <a:r>
              <a:rPr sz="2800" spc="-10" dirty="0">
                <a:latin typeface="Calibri"/>
                <a:cs typeface="Calibri"/>
              </a:rPr>
              <a:t>by </a:t>
            </a:r>
            <a:r>
              <a:rPr sz="2800" spc="-620" dirty="0">
                <a:latin typeface="Calibri"/>
                <a:cs typeface="Calibri"/>
              </a:rPr>
              <a:t> </a:t>
            </a:r>
            <a:r>
              <a:rPr sz="2800" spc="-5" dirty="0">
                <a:latin typeface="Calibri"/>
                <a:cs typeface="Calibri"/>
              </a:rPr>
              <a:t>itself</a:t>
            </a:r>
            <a:r>
              <a:rPr sz="2800" spc="-10" dirty="0">
                <a:latin typeface="Calibri"/>
                <a:cs typeface="Calibri"/>
              </a:rPr>
              <a:t> </a:t>
            </a:r>
            <a:r>
              <a:rPr sz="2800" spc="-5" dirty="0">
                <a:latin typeface="Calibri"/>
                <a:cs typeface="Calibri"/>
              </a:rPr>
              <a:t>in </a:t>
            </a:r>
            <a:r>
              <a:rPr sz="2800" dirty="0">
                <a:latin typeface="Calibri"/>
                <a:cs typeface="Calibri"/>
              </a:rPr>
              <a:t>an</a:t>
            </a:r>
            <a:r>
              <a:rPr sz="2800" spc="-5" dirty="0">
                <a:latin typeface="Calibri"/>
                <a:cs typeface="Calibri"/>
              </a:rPr>
              <a:t> </a:t>
            </a:r>
            <a:r>
              <a:rPr sz="2800" spc="-15" dirty="0">
                <a:latin typeface="Calibri"/>
                <a:cs typeface="Calibri"/>
              </a:rPr>
              <a:t>environment.</a:t>
            </a:r>
            <a:endParaRPr sz="2800">
              <a:latin typeface="Calibri"/>
              <a:cs typeface="Calibri"/>
            </a:endParaRPr>
          </a:p>
          <a:p>
            <a:pPr marL="7620">
              <a:lnSpc>
                <a:spcPct val="100000"/>
              </a:lnSpc>
              <a:spcBef>
                <a:spcPts val="685"/>
              </a:spcBef>
            </a:pPr>
            <a:r>
              <a:rPr sz="3200" dirty="0">
                <a:solidFill>
                  <a:srgbClr val="FF0000"/>
                </a:solidFill>
                <a:latin typeface="Arial MT"/>
                <a:cs typeface="Arial MT"/>
              </a:rPr>
              <a:t>•</a:t>
            </a:r>
            <a:endParaRPr sz="3200">
              <a:latin typeface="Arial MT"/>
              <a:cs typeface="Arial MT"/>
            </a:endParaRPr>
          </a:p>
        </p:txBody>
      </p:sp>
    </p:spTree>
    <p:extLst>
      <p:ext uri="{BB962C8B-B14F-4D97-AF65-F5344CB8AC3E}">
        <p14:creationId xmlns:p14="http://schemas.microsoft.com/office/powerpoint/2010/main" val="8517057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2104" y="2808859"/>
            <a:ext cx="4674235" cy="635000"/>
          </a:xfrm>
          <a:prstGeom prst="rect">
            <a:avLst/>
          </a:prstGeom>
        </p:spPr>
        <p:txBody>
          <a:bodyPr vert="horz" wrap="square" lIns="0" tIns="12700" rIns="0" bIns="0" rtlCol="0">
            <a:spAutoFit/>
          </a:bodyPr>
          <a:lstStyle/>
          <a:p>
            <a:pPr marL="12700">
              <a:lnSpc>
                <a:spcPct val="100000"/>
              </a:lnSpc>
              <a:spcBef>
                <a:spcPts val="100"/>
              </a:spcBef>
            </a:pPr>
            <a:r>
              <a:rPr sz="4000" spc="-15" dirty="0"/>
              <a:t>Problem</a:t>
            </a:r>
            <a:r>
              <a:rPr sz="4000" spc="-40" dirty="0"/>
              <a:t> </a:t>
            </a:r>
            <a:r>
              <a:rPr sz="4000" spc="-5" dirty="0"/>
              <a:t>Solving</a:t>
            </a:r>
            <a:r>
              <a:rPr sz="4000" spc="-35" dirty="0"/>
              <a:t> </a:t>
            </a:r>
            <a:r>
              <a:rPr sz="4000" spc="-20" dirty="0"/>
              <a:t>Agent</a:t>
            </a:r>
            <a:endParaRPr sz="4000"/>
          </a:p>
        </p:txBody>
      </p:sp>
    </p:spTree>
    <p:extLst>
      <p:ext uri="{BB962C8B-B14F-4D97-AF65-F5344CB8AC3E}">
        <p14:creationId xmlns:p14="http://schemas.microsoft.com/office/powerpoint/2010/main" val="20039963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1080" y="475487"/>
            <a:ext cx="4237990" cy="695960"/>
          </a:xfrm>
          <a:prstGeom prst="rect">
            <a:avLst/>
          </a:prstGeom>
        </p:spPr>
        <p:txBody>
          <a:bodyPr vert="horz" wrap="square" lIns="0" tIns="12700" rIns="0" bIns="0" rtlCol="0">
            <a:spAutoFit/>
          </a:bodyPr>
          <a:lstStyle/>
          <a:p>
            <a:pPr marL="12700">
              <a:lnSpc>
                <a:spcPct val="100000"/>
              </a:lnSpc>
              <a:spcBef>
                <a:spcPts val="100"/>
              </a:spcBef>
            </a:pPr>
            <a:r>
              <a:rPr spc="-50" dirty="0"/>
              <a:t>Types</a:t>
            </a:r>
            <a:r>
              <a:rPr spc="-45" dirty="0"/>
              <a:t> </a:t>
            </a:r>
            <a:r>
              <a:rPr spc="-5" dirty="0"/>
              <a:t>Of</a:t>
            </a:r>
            <a:r>
              <a:rPr spc="-35" dirty="0"/>
              <a:t> </a:t>
            </a:r>
            <a:r>
              <a:rPr spc="-15" dirty="0"/>
              <a:t>Problems</a:t>
            </a:r>
          </a:p>
        </p:txBody>
      </p:sp>
      <p:pic>
        <p:nvPicPr>
          <p:cNvPr id="3" name="object 3"/>
          <p:cNvPicPr/>
          <p:nvPr/>
        </p:nvPicPr>
        <p:blipFill>
          <a:blip r:embed="rId2" cstate="print"/>
          <a:stretch>
            <a:fillRect/>
          </a:stretch>
        </p:blipFill>
        <p:spPr>
          <a:xfrm>
            <a:off x="395280" y="1461960"/>
            <a:ext cx="8424719" cy="4631039"/>
          </a:xfrm>
          <a:prstGeom prst="rect">
            <a:avLst/>
          </a:prstGeom>
        </p:spPr>
      </p:pic>
    </p:spTree>
    <p:extLst>
      <p:ext uri="{BB962C8B-B14F-4D97-AF65-F5344CB8AC3E}">
        <p14:creationId xmlns:p14="http://schemas.microsoft.com/office/powerpoint/2010/main" val="28607442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0618" y="475487"/>
            <a:ext cx="1662430" cy="695960"/>
          </a:xfrm>
          <a:prstGeom prst="rect">
            <a:avLst/>
          </a:prstGeom>
        </p:spPr>
        <p:txBody>
          <a:bodyPr vert="horz" wrap="square" lIns="0" tIns="12700" rIns="0" bIns="0" rtlCol="0">
            <a:spAutoFit/>
          </a:bodyPr>
          <a:lstStyle/>
          <a:p>
            <a:pPr marL="12700">
              <a:lnSpc>
                <a:spcPct val="100000"/>
              </a:lnSpc>
              <a:spcBef>
                <a:spcPts val="100"/>
              </a:spcBef>
            </a:pPr>
            <a:r>
              <a:rPr spc="-20" dirty="0"/>
              <a:t>Contd..</a:t>
            </a:r>
          </a:p>
        </p:txBody>
      </p:sp>
      <p:pic>
        <p:nvPicPr>
          <p:cNvPr id="3" name="object 3"/>
          <p:cNvPicPr/>
          <p:nvPr/>
        </p:nvPicPr>
        <p:blipFill>
          <a:blip r:embed="rId2" cstate="print"/>
          <a:stretch>
            <a:fillRect/>
          </a:stretch>
        </p:blipFill>
        <p:spPr>
          <a:xfrm>
            <a:off x="468360" y="1409760"/>
            <a:ext cx="8280359" cy="4827599"/>
          </a:xfrm>
          <a:prstGeom prst="rect">
            <a:avLst/>
          </a:prstGeom>
        </p:spPr>
      </p:pic>
    </p:spTree>
    <p:extLst>
      <p:ext uri="{BB962C8B-B14F-4D97-AF65-F5344CB8AC3E}">
        <p14:creationId xmlns:p14="http://schemas.microsoft.com/office/powerpoint/2010/main" val="23777988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0618" y="475487"/>
            <a:ext cx="1662430" cy="695960"/>
          </a:xfrm>
          <a:prstGeom prst="rect">
            <a:avLst/>
          </a:prstGeom>
        </p:spPr>
        <p:txBody>
          <a:bodyPr vert="horz" wrap="square" lIns="0" tIns="12700" rIns="0" bIns="0" rtlCol="0">
            <a:spAutoFit/>
          </a:bodyPr>
          <a:lstStyle/>
          <a:p>
            <a:pPr marL="12700">
              <a:lnSpc>
                <a:spcPct val="100000"/>
              </a:lnSpc>
              <a:spcBef>
                <a:spcPts val="100"/>
              </a:spcBef>
            </a:pPr>
            <a:r>
              <a:rPr spc="-20" dirty="0"/>
              <a:t>Contd..</a:t>
            </a:r>
          </a:p>
        </p:txBody>
      </p:sp>
      <p:pic>
        <p:nvPicPr>
          <p:cNvPr id="3" name="object 3"/>
          <p:cNvPicPr/>
          <p:nvPr/>
        </p:nvPicPr>
        <p:blipFill>
          <a:blip r:embed="rId2" cstate="print"/>
          <a:stretch>
            <a:fillRect/>
          </a:stretch>
        </p:blipFill>
        <p:spPr>
          <a:xfrm>
            <a:off x="611280" y="1409760"/>
            <a:ext cx="8064359" cy="4683239"/>
          </a:xfrm>
          <a:prstGeom prst="rect">
            <a:avLst/>
          </a:prstGeom>
        </p:spPr>
      </p:pic>
    </p:spTree>
    <p:extLst>
      <p:ext uri="{BB962C8B-B14F-4D97-AF65-F5344CB8AC3E}">
        <p14:creationId xmlns:p14="http://schemas.microsoft.com/office/powerpoint/2010/main" val="425842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8360" y="476280"/>
            <a:ext cx="8207279" cy="5616719"/>
          </a:xfrm>
          <a:prstGeom prst="rect">
            <a:avLst/>
          </a:prstGeom>
        </p:spPr>
      </p:pic>
    </p:spTree>
    <p:extLst>
      <p:ext uri="{BB962C8B-B14F-4D97-AF65-F5344CB8AC3E}">
        <p14:creationId xmlns:p14="http://schemas.microsoft.com/office/powerpoint/2010/main" val="304974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8360" y="476280"/>
            <a:ext cx="8135999" cy="5616719"/>
          </a:xfrm>
          <a:prstGeom prst="rect">
            <a:avLst/>
          </a:prstGeom>
        </p:spPr>
      </p:pic>
    </p:spTree>
    <p:extLst>
      <p:ext uri="{BB962C8B-B14F-4D97-AF65-F5344CB8AC3E}">
        <p14:creationId xmlns:p14="http://schemas.microsoft.com/office/powerpoint/2010/main" val="4209733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5280" y="476280"/>
            <a:ext cx="8209079" cy="5256359"/>
          </a:xfrm>
          <a:prstGeom prst="rect">
            <a:avLst/>
          </a:prstGeom>
        </p:spPr>
      </p:pic>
    </p:spTree>
    <p:extLst>
      <p:ext uri="{BB962C8B-B14F-4D97-AF65-F5344CB8AC3E}">
        <p14:creationId xmlns:p14="http://schemas.microsoft.com/office/powerpoint/2010/main" val="32912207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67962" y="262008"/>
            <a:ext cx="5401945" cy="695960"/>
          </a:xfrm>
          <a:prstGeom prst="rect">
            <a:avLst/>
          </a:prstGeom>
        </p:spPr>
        <p:txBody>
          <a:bodyPr vert="horz" wrap="square" lIns="0" tIns="12700" rIns="0" bIns="0" rtlCol="0">
            <a:spAutoFit/>
          </a:bodyPr>
          <a:lstStyle/>
          <a:p>
            <a:pPr marL="12700">
              <a:lnSpc>
                <a:spcPct val="100000"/>
              </a:lnSpc>
              <a:spcBef>
                <a:spcPts val="100"/>
              </a:spcBef>
            </a:pPr>
            <a:r>
              <a:rPr spc="-10" dirty="0"/>
              <a:t>Problem-Solving</a:t>
            </a:r>
            <a:r>
              <a:rPr spc="-75" dirty="0"/>
              <a:t> </a:t>
            </a:r>
            <a:r>
              <a:rPr spc="-20" dirty="0"/>
              <a:t>Agents</a:t>
            </a:r>
          </a:p>
        </p:txBody>
      </p:sp>
      <p:sp>
        <p:nvSpPr>
          <p:cNvPr id="3" name="object 3"/>
          <p:cNvSpPr txBox="1"/>
          <p:nvPr/>
        </p:nvSpPr>
        <p:spPr>
          <a:xfrm>
            <a:off x="591180" y="1500874"/>
            <a:ext cx="7535545" cy="3734435"/>
          </a:xfrm>
          <a:prstGeom prst="rect">
            <a:avLst/>
          </a:prstGeom>
        </p:spPr>
        <p:txBody>
          <a:bodyPr vert="horz" wrap="square" lIns="0" tIns="67310" rIns="0" bIns="0" rtlCol="0">
            <a:spAutoFit/>
          </a:bodyPr>
          <a:lstStyle/>
          <a:p>
            <a:pPr marL="294005" marR="653415" indent="-281940">
              <a:lnSpc>
                <a:spcPts val="3460"/>
              </a:lnSpc>
              <a:spcBef>
                <a:spcPts val="530"/>
              </a:spcBef>
              <a:buFont typeface="Arial MT"/>
              <a:buChar char="•"/>
              <a:tabLst>
                <a:tab pos="294640" algn="l"/>
              </a:tabLst>
            </a:pPr>
            <a:r>
              <a:rPr sz="3200" spc="-20" dirty="0">
                <a:latin typeface="Calibri"/>
                <a:cs typeface="Calibri"/>
              </a:rPr>
              <a:t>Intelligent</a:t>
            </a:r>
            <a:r>
              <a:rPr sz="3200" spc="-10" dirty="0">
                <a:latin typeface="Calibri"/>
                <a:cs typeface="Calibri"/>
              </a:rPr>
              <a:t> </a:t>
            </a:r>
            <a:r>
              <a:rPr sz="3200" spc="-15" dirty="0">
                <a:latin typeface="Calibri"/>
                <a:cs typeface="Calibri"/>
              </a:rPr>
              <a:t>agents</a:t>
            </a:r>
            <a:r>
              <a:rPr sz="3200" spc="-10" dirty="0">
                <a:latin typeface="Calibri"/>
                <a:cs typeface="Calibri"/>
              </a:rPr>
              <a:t> can</a:t>
            </a:r>
            <a:r>
              <a:rPr sz="3200" spc="-5" dirty="0">
                <a:latin typeface="Calibri"/>
                <a:cs typeface="Calibri"/>
              </a:rPr>
              <a:t> </a:t>
            </a:r>
            <a:r>
              <a:rPr sz="3200" spc="-10" dirty="0">
                <a:latin typeface="Calibri"/>
                <a:cs typeface="Calibri"/>
              </a:rPr>
              <a:t>solve</a:t>
            </a:r>
            <a:r>
              <a:rPr sz="3200" spc="-5" dirty="0">
                <a:latin typeface="Calibri"/>
                <a:cs typeface="Calibri"/>
              </a:rPr>
              <a:t> </a:t>
            </a:r>
            <a:r>
              <a:rPr sz="3200" spc="-15" dirty="0">
                <a:latin typeface="Calibri"/>
                <a:cs typeface="Calibri"/>
              </a:rPr>
              <a:t>problems</a:t>
            </a:r>
            <a:r>
              <a:rPr sz="3200" spc="-5" dirty="0">
                <a:latin typeface="Calibri"/>
                <a:cs typeface="Calibri"/>
              </a:rPr>
              <a:t> </a:t>
            </a:r>
            <a:r>
              <a:rPr sz="3200" spc="-10" dirty="0">
                <a:latin typeface="Calibri"/>
                <a:cs typeface="Calibri"/>
              </a:rPr>
              <a:t>by </a:t>
            </a:r>
            <a:r>
              <a:rPr sz="3200" spc="-705" dirty="0">
                <a:latin typeface="Calibri"/>
                <a:cs typeface="Calibri"/>
              </a:rPr>
              <a:t> </a:t>
            </a:r>
            <a:r>
              <a:rPr sz="3200" spc="-15" dirty="0">
                <a:latin typeface="Calibri"/>
                <a:cs typeface="Calibri"/>
              </a:rPr>
              <a:t>searching </a:t>
            </a:r>
            <a:r>
              <a:rPr sz="3200" dirty="0">
                <a:latin typeface="Calibri"/>
                <a:cs typeface="Calibri"/>
              </a:rPr>
              <a:t>a</a:t>
            </a:r>
            <a:r>
              <a:rPr sz="3200" spc="-5" dirty="0">
                <a:latin typeface="Calibri"/>
                <a:cs typeface="Calibri"/>
              </a:rPr>
              <a:t> </a:t>
            </a:r>
            <a:r>
              <a:rPr sz="3200" spc="-20" dirty="0">
                <a:latin typeface="Calibri"/>
                <a:cs typeface="Calibri"/>
              </a:rPr>
              <a:t>state-space</a:t>
            </a:r>
            <a:endParaRPr sz="3200">
              <a:latin typeface="Calibri"/>
              <a:cs typeface="Calibri"/>
            </a:endParaRPr>
          </a:p>
          <a:p>
            <a:pPr>
              <a:lnSpc>
                <a:spcPct val="100000"/>
              </a:lnSpc>
              <a:spcBef>
                <a:spcPts val="30"/>
              </a:spcBef>
              <a:buFont typeface="Arial MT"/>
              <a:buChar char="•"/>
            </a:pPr>
            <a:endParaRPr sz="3100">
              <a:latin typeface="Calibri"/>
              <a:cs typeface="Calibri"/>
            </a:endParaRPr>
          </a:p>
          <a:p>
            <a:pPr marL="386080" indent="-374015">
              <a:lnSpc>
                <a:spcPct val="100000"/>
              </a:lnSpc>
              <a:buFont typeface="Arial MT"/>
              <a:buChar char="•"/>
              <a:tabLst>
                <a:tab pos="386080" algn="l"/>
                <a:tab pos="386715" algn="l"/>
              </a:tabLst>
            </a:pPr>
            <a:r>
              <a:rPr sz="3200" spc="-15" dirty="0">
                <a:latin typeface="Calibri"/>
                <a:cs typeface="Calibri"/>
              </a:rPr>
              <a:t>State-space</a:t>
            </a:r>
            <a:r>
              <a:rPr sz="3200" spc="-40" dirty="0">
                <a:latin typeface="Calibri"/>
                <a:cs typeface="Calibri"/>
              </a:rPr>
              <a:t> </a:t>
            </a:r>
            <a:r>
              <a:rPr sz="3200" spc="-5" dirty="0">
                <a:latin typeface="Calibri"/>
                <a:cs typeface="Calibri"/>
              </a:rPr>
              <a:t>Model</a:t>
            </a:r>
            <a:endParaRPr sz="3200">
              <a:latin typeface="Calibri"/>
              <a:cs typeface="Calibri"/>
            </a:endParaRPr>
          </a:p>
          <a:p>
            <a:pPr marL="694055" lvl="1" indent="-306070">
              <a:lnSpc>
                <a:spcPct val="100000"/>
              </a:lnSpc>
              <a:spcBef>
                <a:spcPts val="370"/>
              </a:spcBef>
              <a:buFont typeface="Arial MT"/>
              <a:buChar char="–"/>
              <a:tabLst>
                <a:tab pos="694690" algn="l"/>
              </a:tabLst>
            </a:pPr>
            <a:r>
              <a:rPr sz="2800" spc="-10" dirty="0">
                <a:latin typeface="Calibri"/>
                <a:cs typeface="Calibri"/>
              </a:rPr>
              <a:t>the</a:t>
            </a:r>
            <a:r>
              <a:rPr sz="2800" spc="-20" dirty="0">
                <a:latin typeface="Calibri"/>
                <a:cs typeface="Calibri"/>
              </a:rPr>
              <a:t> </a:t>
            </a:r>
            <a:r>
              <a:rPr sz="2800" spc="-25" dirty="0">
                <a:latin typeface="Calibri"/>
                <a:cs typeface="Calibri"/>
              </a:rPr>
              <a:t>agent’s</a:t>
            </a:r>
            <a:r>
              <a:rPr sz="2800" spc="-10" dirty="0">
                <a:latin typeface="Calibri"/>
                <a:cs typeface="Calibri"/>
              </a:rPr>
              <a:t> </a:t>
            </a:r>
            <a:r>
              <a:rPr sz="2800" spc="-5" dirty="0">
                <a:latin typeface="Calibri"/>
                <a:cs typeface="Calibri"/>
              </a:rPr>
              <a:t>model</a:t>
            </a:r>
            <a:r>
              <a:rPr sz="2800" spc="-10" dirty="0">
                <a:latin typeface="Calibri"/>
                <a:cs typeface="Calibri"/>
              </a:rPr>
              <a:t> </a:t>
            </a:r>
            <a:r>
              <a:rPr sz="2800" spc="-5" dirty="0">
                <a:latin typeface="Calibri"/>
                <a:cs typeface="Calibri"/>
              </a:rPr>
              <a:t>of</a:t>
            </a:r>
            <a:r>
              <a:rPr sz="2800" spc="-10" dirty="0">
                <a:latin typeface="Calibri"/>
                <a:cs typeface="Calibri"/>
              </a:rPr>
              <a:t> the</a:t>
            </a:r>
            <a:r>
              <a:rPr sz="2800" spc="-20" dirty="0">
                <a:latin typeface="Calibri"/>
                <a:cs typeface="Calibri"/>
              </a:rPr>
              <a:t> </a:t>
            </a:r>
            <a:r>
              <a:rPr sz="2800" spc="-10" dirty="0">
                <a:latin typeface="Calibri"/>
                <a:cs typeface="Calibri"/>
              </a:rPr>
              <a:t>world</a:t>
            </a:r>
            <a:endParaRPr sz="2800">
              <a:latin typeface="Calibri"/>
              <a:cs typeface="Calibri"/>
            </a:endParaRPr>
          </a:p>
          <a:p>
            <a:pPr marL="694055" lvl="1" indent="-306070">
              <a:lnSpc>
                <a:spcPct val="100000"/>
              </a:lnSpc>
              <a:spcBef>
                <a:spcPts val="360"/>
              </a:spcBef>
              <a:buFont typeface="Arial MT"/>
              <a:buChar char="–"/>
              <a:tabLst>
                <a:tab pos="694690" algn="l"/>
              </a:tabLst>
            </a:pPr>
            <a:r>
              <a:rPr sz="2800" spc="-5" dirty="0">
                <a:latin typeface="Calibri"/>
                <a:cs typeface="Calibri"/>
              </a:rPr>
              <a:t>usually</a:t>
            </a:r>
            <a:r>
              <a:rPr sz="2800" spc="-20" dirty="0">
                <a:latin typeface="Calibri"/>
                <a:cs typeface="Calibri"/>
              </a:rPr>
              <a:t> </a:t>
            </a:r>
            <a:r>
              <a:rPr sz="2800" dirty="0">
                <a:latin typeface="Calibri"/>
                <a:cs typeface="Calibri"/>
              </a:rPr>
              <a:t>a</a:t>
            </a:r>
            <a:r>
              <a:rPr sz="2800" spc="-15" dirty="0">
                <a:latin typeface="Calibri"/>
                <a:cs typeface="Calibri"/>
              </a:rPr>
              <a:t> </a:t>
            </a:r>
            <a:r>
              <a:rPr sz="2800" spc="-10" dirty="0">
                <a:latin typeface="Calibri"/>
                <a:cs typeface="Calibri"/>
              </a:rPr>
              <a:t>set</a:t>
            </a:r>
            <a:r>
              <a:rPr sz="2800" spc="-20" dirty="0">
                <a:latin typeface="Calibri"/>
                <a:cs typeface="Calibri"/>
              </a:rPr>
              <a:t> </a:t>
            </a:r>
            <a:r>
              <a:rPr sz="2800" spc="-5" dirty="0">
                <a:latin typeface="Calibri"/>
                <a:cs typeface="Calibri"/>
              </a:rPr>
              <a:t>of</a:t>
            </a:r>
            <a:r>
              <a:rPr sz="2800" spc="-20" dirty="0">
                <a:latin typeface="Calibri"/>
                <a:cs typeface="Calibri"/>
              </a:rPr>
              <a:t> </a:t>
            </a:r>
            <a:r>
              <a:rPr sz="2800" spc="-15" dirty="0">
                <a:latin typeface="Calibri"/>
                <a:cs typeface="Calibri"/>
              </a:rPr>
              <a:t>discrete </a:t>
            </a:r>
            <a:r>
              <a:rPr sz="2800" spc="-25" dirty="0">
                <a:latin typeface="Calibri"/>
                <a:cs typeface="Calibri"/>
              </a:rPr>
              <a:t>states</a:t>
            </a:r>
            <a:endParaRPr sz="2800">
              <a:latin typeface="Calibri"/>
              <a:cs typeface="Calibri"/>
            </a:endParaRPr>
          </a:p>
          <a:p>
            <a:pPr marL="694055" marR="5080" lvl="1" indent="-305435">
              <a:lnSpc>
                <a:spcPts val="3020"/>
              </a:lnSpc>
              <a:spcBef>
                <a:spcPts val="745"/>
              </a:spcBef>
              <a:buFont typeface="Arial MT"/>
              <a:buChar char="–"/>
              <a:tabLst>
                <a:tab pos="694690" algn="l"/>
              </a:tabLst>
            </a:pPr>
            <a:r>
              <a:rPr sz="2800" dirty="0">
                <a:latin typeface="Calibri"/>
                <a:cs typeface="Calibri"/>
              </a:rPr>
              <a:t>e.g.,</a:t>
            </a:r>
            <a:r>
              <a:rPr sz="2800" spc="-10" dirty="0">
                <a:latin typeface="Calibri"/>
                <a:cs typeface="Calibri"/>
              </a:rPr>
              <a:t> </a:t>
            </a:r>
            <a:r>
              <a:rPr sz="2800" spc="-5" dirty="0">
                <a:latin typeface="Calibri"/>
                <a:cs typeface="Calibri"/>
              </a:rPr>
              <a:t>in driving, </a:t>
            </a:r>
            <a:r>
              <a:rPr sz="2800" spc="-10" dirty="0">
                <a:latin typeface="Calibri"/>
                <a:cs typeface="Calibri"/>
              </a:rPr>
              <a:t>the </a:t>
            </a:r>
            <a:r>
              <a:rPr sz="2800" spc="-25" dirty="0">
                <a:latin typeface="Calibri"/>
                <a:cs typeface="Calibri"/>
              </a:rPr>
              <a:t>states</a:t>
            </a:r>
            <a:r>
              <a:rPr sz="2800" spc="-5" dirty="0">
                <a:latin typeface="Calibri"/>
                <a:cs typeface="Calibri"/>
              </a:rPr>
              <a:t> in </a:t>
            </a:r>
            <a:r>
              <a:rPr sz="2800" spc="-10" dirty="0">
                <a:latin typeface="Calibri"/>
                <a:cs typeface="Calibri"/>
              </a:rPr>
              <a:t>the </a:t>
            </a:r>
            <a:r>
              <a:rPr sz="2800" spc="-5" dirty="0">
                <a:latin typeface="Calibri"/>
                <a:cs typeface="Calibri"/>
              </a:rPr>
              <a:t>model </a:t>
            </a:r>
            <a:r>
              <a:rPr sz="2800" spc="-10" dirty="0">
                <a:latin typeface="Calibri"/>
                <a:cs typeface="Calibri"/>
              </a:rPr>
              <a:t>could</a:t>
            </a:r>
            <a:r>
              <a:rPr sz="2800" spc="-5" dirty="0">
                <a:latin typeface="Calibri"/>
                <a:cs typeface="Calibri"/>
              </a:rPr>
              <a:t> be </a:t>
            </a:r>
            <a:r>
              <a:rPr sz="2800" spc="-620" dirty="0">
                <a:latin typeface="Calibri"/>
                <a:cs typeface="Calibri"/>
              </a:rPr>
              <a:t> </a:t>
            </a:r>
            <a:r>
              <a:rPr sz="2800" spc="-15" dirty="0">
                <a:latin typeface="Calibri"/>
                <a:cs typeface="Calibri"/>
              </a:rPr>
              <a:t>towns/cities</a:t>
            </a:r>
            <a:endParaRPr sz="2800">
              <a:latin typeface="Calibri"/>
              <a:cs typeface="Calibri"/>
            </a:endParaRPr>
          </a:p>
        </p:txBody>
      </p:sp>
    </p:spTree>
    <p:extLst>
      <p:ext uri="{BB962C8B-B14F-4D97-AF65-F5344CB8AC3E}">
        <p14:creationId xmlns:p14="http://schemas.microsoft.com/office/powerpoint/2010/main" val="24541871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24000" y="260280"/>
            <a:ext cx="8496300" cy="5833110"/>
            <a:chOff x="324000" y="260280"/>
            <a:chExt cx="8496300" cy="5833110"/>
          </a:xfrm>
        </p:grpSpPr>
        <p:pic>
          <p:nvPicPr>
            <p:cNvPr id="3" name="object 3"/>
            <p:cNvPicPr/>
            <p:nvPr/>
          </p:nvPicPr>
          <p:blipFill>
            <a:blip r:embed="rId2" cstate="print"/>
            <a:stretch>
              <a:fillRect/>
            </a:stretch>
          </p:blipFill>
          <p:spPr>
            <a:xfrm>
              <a:off x="324000" y="260280"/>
              <a:ext cx="8495999" cy="2724119"/>
            </a:xfrm>
            <a:prstGeom prst="rect">
              <a:avLst/>
            </a:prstGeom>
          </p:spPr>
        </p:pic>
        <p:pic>
          <p:nvPicPr>
            <p:cNvPr id="4" name="object 4"/>
            <p:cNvPicPr/>
            <p:nvPr/>
          </p:nvPicPr>
          <p:blipFill>
            <a:blip r:embed="rId3" cstate="print"/>
            <a:stretch>
              <a:fillRect/>
            </a:stretch>
          </p:blipFill>
          <p:spPr>
            <a:xfrm>
              <a:off x="1116000" y="2984400"/>
              <a:ext cx="4652999" cy="3108599"/>
            </a:xfrm>
            <a:prstGeom prst="rect">
              <a:avLst/>
            </a:prstGeom>
          </p:spPr>
        </p:pic>
      </p:grpSp>
    </p:spTree>
    <p:extLst>
      <p:ext uri="{BB962C8B-B14F-4D97-AF65-F5344CB8AC3E}">
        <p14:creationId xmlns:p14="http://schemas.microsoft.com/office/powerpoint/2010/main" val="39643549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8313" y="333360"/>
            <a:ext cx="8177326" cy="5832359"/>
          </a:xfrm>
          <a:prstGeom prst="rect">
            <a:avLst/>
          </a:prstGeom>
        </p:spPr>
      </p:pic>
    </p:spTree>
    <p:extLst>
      <p:ext uri="{BB962C8B-B14F-4D97-AF65-F5344CB8AC3E}">
        <p14:creationId xmlns:p14="http://schemas.microsoft.com/office/powerpoint/2010/main" val="24310691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0920" y="0"/>
            <a:ext cx="8424719" cy="6830999"/>
          </a:xfrm>
          <a:prstGeom prst="rect">
            <a:avLst/>
          </a:prstGeom>
        </p:spPr>
      </p:pic>
    </p:spTree>
    <p:extLst>
      <p:ext uri="{BB962C8B-B14F-4D97-AF65-F5344CB8AC3E}">
        <p14:creationId xmlns:p14="http://schemas.microsoft.com/office/powerpoint/2010/main" val="30623185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1180" y="297323"/>
            <a:ext cx="7694295" cy="4906010"/>
          </a:xfrm>
          <a:prstGeom prst="rect">
            <a:avLst/>
          </a:prstGeom>
        </p:spPr>
        <p:txBody>
          <a:bodyPr vert="horz" wrap="square" lIns="0" tIns="66040" rIns="0" bIns="0" rtlCol="0">
            <a:spAutoFit/>
          </a:bodyPr>
          <a:lstStyle/>
          <a:p>
            <a:pPr marL="294005" indent="-281940">
              <a:lnSpc>
                <a:spcPct val="100000"/>
              </a:lnSpc>
              <a:spcBef>
                <a:spcPts val="520"/>
              </a:spcBef>
              <a:buFont typeface="Arial MT"/>
              <a:buChar char="•"/>
              <a:tabLst>
                <a:tab pos="294640" algn="l"/>
              </a:tabLst>
            </a:pPr>
            <a:r>
              <a:rPr sz="3200" spc="-10" dirty="0">
                <a:latin typeface="Calibri"/>
                <a:cs typeface="Calibri"/>
              </a:rPr>
              <a:t>Goal</a:t>
            </a:r>
            <a:r>
              <a:rPr sz="3200" spc="-40" dirty="0">
                <a:latin typeface="Calibri"/>
                <a:cs typeface="Calibri"/>
              </a:rPr>
              <a:t> </a:t>
            </a:r>
            <a:r>
              <a:rPr sz="3200" spc="-20" dirty="0">
                <a:latin typeface="Calibri"/>
                <a:cs typeface="Calibri"/>
              </a:rPr>
              <a:t>State(s)</a:t>
            </a:r>
            <a:endParaRPr sz="3200">
              <a:latin typeface="Calibri"/>
              <a:cs typeface="Calibri"/>
            </a:endParaRPr>
          </a:p>
          <a:p>
            <a:pPr marL="694055" lvl="1" indent="-306070">
              <a:lnSpc>
                <a:spcPct val="100000"/>
              </a:lnSpc>
              <a:spcBef>
                <a:spcPts val="365"/>
              </a:spcBef>
              <a:buFont typeface="Arial MT"/>
              <a:buChar char="–"/>
              <a:tabLst>
                <a:tab pos="694690" algn="l"/>
              </a:tabLst>
            </a:pPr>
            <a:r>
              <a:rPr sz="2800" dirty="0">
                <a:latin typeface="Calibri"/>
                <a:cs typeface="Calibri"/>
              </a:rPr>
              <a:t>a</a:t>
            </a:r>
            <a:r>
              <a:rPr sz="2800" spc="-10" dirty="0">
                <a:latin typeface="Calibri"/>
                <a:cs typeface="Calibri"/>
              </a:rPr>
              <a:t> goal</a:t>
            </a:r>
            <a:r>
              <a:rPr sz="2800" spc="-5" dirty="0">
                <a:latin typeface="Calibri"/>
                <a:cs typeface="Calibri"/>
              </a:rPr>
              <a:t> is</a:t>
            </a:r>
            <a:r>
              <a:rPr sz="2800" spc="-10" dirty="0">
                <a:latin typeface="Calibri"/>
                <a:cs typeface="Calibri"/>
              </a:rPr>
              <a:t> defined</a:t>
            </a:r>
            <a:r>
              <a:rPr sz="2800" spc="-5" dirty="0">
                <a:latin typeface="Calibri"/>
                <a:cs typeface="Calibri"/>
              </a:rPr>
              <a:t> </a:t>
            </a:r>
            <a:r>
              <a:rPr sz="2800" dirty="0">
                <a:latin typeface="Calibri"/>
                <a:cs typeface="Calibri"/>
              </a:rPr>
              <a:t>as</a:t>
            </a:r>
            <a:r>
              <a:rPr sz="2800" spc="-5" dirty="0">
                <a:latin typeface="Calibri"/>
                <a:cs typeface="Calibri"/>
              </a:rPr>
              <a:t> </a:t>
            </a:r>
            <a:r>
              <a:rPr sz="2800" dirty="0">
                <a:latin typeface="Calibri"/>
                <a:cs typeface="Calibri"/>
              </a:rPr>
              <a:t>a</a:t>
            </a:r>
            <a:r>
              <a:rPr sz="2800" spc="-10" dirty="0">
                <a:latin typeface="Calibri"/>
                <a:cs typeface="Calibri"/>
              </a:rPr>
              <a:t> desirable</a:t>
            </a:r>
            <a:r>
              <a:rPr sz="2800" spc="-5" dirty="0">
                <a:latin typeface="Calibri"/>
                <a:cs typeface="Calibri"/>
              </a:rPr>
              <a:t> </a:t>
            </a:r>
            <a:r>
              <a:rPr sz="2800" spc="-30" dirty="0">
                <a:latin typeface="Calibri"/>
                <a:cs typeface="Calibri"/>
              </a:rPr>
              <a:t>state</a:t>
            </a:r>
            <a:r>
              <a:rPr sz="2800" spc="-10" dirty="0">
                <a:latin typeface="Calibri"/>
                <a:cs typeface="Calibri"/>
              </a:rPr>
              <a:t> </a:t>
            </a:r>
            <a:r>
              <a:rPr sz="2800" spc="-25" dirty="0">
                <a:latin typeface="Calibri"/>
                <a:cs typeface="Calibri"/>
              </a:rPr>
              <a:t>for</a:t>
            </a:r>
            <a:r>
              <a:rPr sz="2800" spc="-5" dirty="0">
                <a:latin typeface="Calibri"/>
                <a:cs typeface="Calibri"/>
              </a:rPr>
              <a:t> </a:t>
            </a:r>
            <a:r>
              <a:rPr sz="2800" dirty="0">
                <a:latin typeface="Calibri"/>
                <a:cs typeface="Calibri"/>
              </a:rPr>
              <a:t>an</a:t>
            </a:r>
            <a:r>
              <a:rPr sz="2800" spc="-5" dirty="0">
                <a:latin typeface="Calibri"/>
                <a:cs typeface="Calibri"/>
              </a:rPr>
              <a:t> </a:t>
            </a:r>
            <a:r>
              <a:rPr sz="2800" spc="-15" dirty="0">
                <a:latin typeface="Calibri"/>
                <a:cs typeface="Calibri"/>
              </a:rPr>
              <a:t>agent</a:t>
            </a:r>
            <a:endParaRPr sz="2800">
              <a:latin typeface="Calibri"/>
              <a:cs typeface="Calibri"/>
            </a:endParaRPr>
          </a:p>
          <a:p>
            <a:pPr marL="694055" marR="104775" lvl="1" indent="-305435">
              <a:lnSpc>
                <a:spcPts val="3020"/>
              </a:lnSpc>
              <a:spcBef>
                <a:spcPts val="745"/>
              </a:spcBef>
              <a:buFont typeface="Arial MT"/>
              <a:buChar char="–"/>
              <a:tabLst>
                <a:tab pos="694690" algn="l"/>
              </a:tabLst>
            </a:pPr>
            <a:r>
              <a:rPr sz="2800" spc="-15" dirty="0">
                <a:latin typeface="Calibri"/>
                <a:cs typeface="Calibri"/>
              </a:rPr>
              <a:t>there</a:t>
            </a:r>
            <a:r>
              <a:rPr sz="2800" spc="-10" dirty="0">
                <a:latin typeface="Calibri"/>
                <a:cs typeface="Calibri"/>
              </a:rPr>
              <a:t> </a:t>
            </a:r>
            <a:r>
              <a:rPr sz="2800" spc="-20" dirty="0">
                <a:latin typeface="Calibri"/>
                <a:cs typeface="Calibri"/>
              </a:rPr>
              <a:t>may</a:t>
            </a:r>
            <a:r>
              <a:rPr sz="2800" spc="-10" dirty="0">
                <a:latin typeface="Calibri"/>
                <a:cs typeface="Calibri"/>
              </a:rPr>
              <a:t> </a:t>
            </a:r>
            <a:r>
              <a:rPr sz="2800" spc="-5" dirty="0">
                <a:latin typeface="Calibri"/>
                <a:cs typeface="Calibri"/>
              </a:rPr>
              <a:t>be</a:t>
            </a:r>
            <a:r>
              <a:rPr sz="2800" spc="-10" dirty="0">
                <a:latin typeface="Calibri"/>
                <a:cs typeface="Calibri"/>
              </a:rPr>
              <a:t> </a:t>
            </a:r>
            <a:r>
              <a:rPr sz="2800" spc="-20" dirty="0">
                <a:latin typeface="Calibri"/>
                <a:cs typeface="Calibri"/>
              </a:rPr>
              <a:t>many</a:t>
            </a:r>
            <a:r>
              <a:rPr sz="2800" spc="-5" dirty="0">
                <a:latin typeface="Calibri"/>
                <a:cs typeface="Calibri"/>
              </a:rPr>
              <a:t> </a:t>
            </a:r>
            <a:r>
              <a:rPr sz="2800" spc="-25" dirty="0">
                <a:latin typeface="Calibri"/>
                <a:cs typeface="Calibri"/>
              </a:rPr>
              <a:t>states</a:t>
            </a:r>
            <a:r>
              <a:rPr sz="2800" spc="-10" dirty="0">
                <a:latin typeface="Calibri"/>
                <a:cs typeface="Calibri"/>
              </a:rPr>
              <a:t> </a:t>
            </a:r>
            <a:r>
              <a:rPr sz="2800" spc="-5" dirty="0">
                <a:latin typeface="Calibri"/>
                <a:cs typeface="Calibri"/>
              </a:rPr>
              <a:t>which</a:t>
            </a:r>
            <a:r>
              <a:rPr sz="2800" spc="-10" dirty="0">
                <a:latin typeface="Calibri"/>
                <a:cs typeface="Calibri"/>
              </a:rPr>
              <a:t> satisfy the goal </a:t>
            </a:r>
            <a:r>
              <a:rPr sz="2800" spc="-620" dirty="0">
                <a:latin typeface="Calibri"/>
                <a:cs typeface="Calibri"/>
              </a:rPr>
              <a:t> </a:t>
            </a:r>
            <a:r>
              <a:rPr sz="2800" spc="-20" dirty="0">
                <a:latin typeface="Calibri"/>
                <a:cs typeface="Calibri"/>
              </a:rPr>
              <a:t>test</a:t>
            </a:r>
            <a:endParaRPr sz="2800">
              <a:latin typeface="Calibri"/>
              <a:cs typeface="Calibri"/>
            </a:endParaRPr>
          </a:p>
          <a:p>
            <a:pPr marL="1094740" lvl="2" indent="-183515">
              <a:lnSpc>
                <a:spcPct val="100000"/>
              </a:lnSpc>
              <a:spcBef>
                <a:spcPts val="275"/>
              </a:spcBef>
              <a:buFont typeface="Arial MT"/>
              <a:buChar char="•"/>
              <a:tabLst>
                <a:tab pos="1094740" algn="l"/>
              </a:tabLst>
            </a:pPr>
            <a:r>
              <a:rPr sz="2400" dirty="0">
                <a:latin typeface="Calibri"/>
                <a:cs typeface="Calibri"/>
              </a:rPr>
              <a:t>e.g.,</a:t>
            </a:r>
            <a:r>
              <a:rPr sz="2400" spc="-15" dirty="0">
                <a:latin typeface="Calibri"/>
                <a:cs typeface="Calibri"/>
              </a:rPr>
              <a:t> </a:t>
            </a:r>
            <a:r>
              <a:rPr sz="2400" spc="-10" dirty="0">
                <a:latin typeface="Calibri"/>
                <a:cs typeface="Calibri"/>
              </a:rPr>
              <a:t>drive </a:t>
            </a:r>
            <a:r>
              <a:rPr sz="2400" spc="-15" dirty="0">
                <a:latin typeface="Calibri"/>
                <a:cs typeface="Calibri"/>
              </a:rPr>
              <a:t>to</a:t>
            </a:r>
            <a:r>
              <a:rPr sz="2400" spc="-10" dirty="0">
                <a:latin typeface="Calibri"/>
                <a:cs typeface="Calibri"/>
              </a:rPr>
              <a:t> </a:t>
            </a:r>
            <a:r>
              <a:rPr sz="2400" dirty="0">
                <a:latin typeface="Calibri"/>
                <a:cs typeface="Calibri"/>
              </a:rPr>
              <a:t>a</a:t>
            </a:r>
            <a:r>
              <a:rPr sz="2400" spc="-15" dirty="0">
                <a:latin typeface="Calibri"/>
                <a:cs typeface="Calibri"/>
              </a:rPr>
              <a:t> </a:t>
            </a:r>
            <a:r>
              <a:rPr sz="2400" spc="-10" dirty="0">
                <a:latin typeface="Calibri"/>
                <a:cs typeface="Calibri"/>
              </a:rPr>
              <a:t>town </a:t>
            </a:r>
            <a:r>
              <a:rPr sz="2400" spc="-5" dirty="0">
                <a:latin typeface="Calibri"/>
                <a:cs typeface="Calibri"/>
              </a:rPr>
              <a:t>with</a:t>
            </a:r>
            <a:r>
              <a:rPr sz="2400" spc="-10" dirty="0">
                <a:latin typeface="Calibri"/>
                <a:cs typeface="Calibri"/>
              </a:rPr>
              <a:t> </a:t>
            </a:r>
            <a:r>
              <a:rPr sz="2400" dirty="0">
                <a:latin typeface="Calibri"/>
                <a:cs typeface="Calibri"/>
              </a:rPr>
              <a:t>a</a:t>
            </a:r>
            <a:r>
              <a:rPr sz="2400" spc="-15" dirty="0">
                <a:latin typeface="Calibri"/>
                <a:cs typeface="Calibri"/>
              </a:rPr>
              <a:t> </a:t>
            </a:r>
            <a:r>
              <a:rPr sz="2400" spc="-10" dirty="0">
                <a:latin typeface="Calibri"/>
                <a:cs typeface="Calibri"/>
              </a:rPr>
              <a:t>ski-resort</a:t>
            </a:r>
            <a:endParaRPr sz="2400">
              <a:latin typeface="Calibri"/>
              <a:cs typeface="Calibri"/>
            </a:endParaRPr>
          </a:p>
          <a:p>
            <a:pPr marL="694055" lvl="1" indent="-306070">
              <a:lnSpc>
                <a:spcPct val="100000"/>
              </a:lnSpc>
              <a:spcBef>
                <a:spcPts val="355"/>
              </a:spcBef>
              <a:buFont typeface="Arial MT"/>
              <a:buChar char="–"/>
              <a:tabLst>
                <a:tab pos="694690" algn="l"/>
              </a:tabLst>
            </a:pPr>
            <a:r>
              <a:rPr sz="2800" spc="-5" dirty="0">
                <a:latin typeface="Calibri"/>
                <a:cs typeface="Calibri"/>
              </a:rPr>
              <a:t>or</a:t>
            </a:r>
            <a:r>
              <a:rPr sz="2800" spc="-15" dirty="0">
                <a:latin typeface="Calibri"/>
                <a:cs typeface="Calibri"/>
              </a:rPr>
              <a:t> just </a:t>
            </a:r>
            <a:r>
              <a:rPr sz="2800" spc="-5" dirty="0">
                <a:latin typeface="Calibri"/>
                <a:cs typeface="Calibri"/>
              </a:rPr>
              <a:t>one</a:t>
            </a:r>
            <a:r>
              <a:rPr sz="2800" spc="-10" dirty="0">
                <a:latin typeface="Calibri"/>
                <a:cs typeface="Calibri"/>
              </a:rPr>
              <a:t> </a:t>
            </a:r>
            <a:r>
              <a:rPr sz="2800" spc="-30" dirty="0">
                <a:latin typeface="Calibri"/>
                <a:cs typeface="Calibri"/>
              </a:rPr>
              <a:t>state</a:t>
            </a:r>
            <a:r>
              <a:rPr sz="2800" spc="-10" dirty="0">
                <a:latin typeface="Calibri"/>
                <a:cs typeface="Calibri"/>
              </a:rPr>
              <a:t> </a:t>
            </a:r>
            <a:r>
              <a:rPr sz="2800" spc="-5" dirty="0">
                <a:latin typeface="Calibri"/>
                <a:cs typeface="Calibri"/>
              </a:rPr>
              <a:t>which</a:t>
            </a:r>
            <a:r>
              <a:rPr sz="2800" spc="-10" dirty="0">
                <a:latin typeface="Calibri"/>
                <a:cs typeface="Calibri"/>
              </a:rPr>
              <a:t> satisfies the</a:t>
            </a:r>
            <a:r>
              <a:rPr sz="2800" spc="-15" dirty="0">
                <a:latin typeface="Calibri"/>
                <a:cs typeface="Calibri"/>
              </a:rPr>
              <a:t> </a:t>
            </a:r>
            <a:r>
              <a:rPr sz="2800" spc="-10" dirty="0">
                <a:latin typeface="Calibri"/>
                <a:cs typeface="Calibri"/>
              </a:rPr>
              <a:t>goal</a:t>
            </a:r>
            <a:endParaRPr sz="2800">
              <a:latin typeface="Calibri"/>
              <a:cs typeface="Calibri"/>
            </a:endParaRPr>
          </a:p>
          <a:p>
            <a:pPr marL="1094740" lvl="2" indent="-183515">
              <a:lnSpc>
                <a:spcPct val="100000"/>
              </a:lnSpc>
              <a:spcBef>
                <a:spcPts val="320"/>
              </a:spcBef>
              <a:buFont typeface="Arial MT"/>
              <a:buChar char="•"/>
              <a:tabLst>
                <a:tab pos="1094740" algn="l"/>
              </a:tabLst>
            </a:pPr>
            <a:r>
              <a:rPr sz="2400" dirty="0">
                <a:latin typeface="Calibri"/>
                <a:cs typeface="Calibri"/>
              </a:rPr>
              <a:t>e.g.,</a:t>
            </a:r>
            <a:r>
              <a:rPr sz="2400" spc="-25" dirty="0">
                <a:latin typeface="Calibri"/>
                <a:cs typeface="Calibri"/>
              </a:rPr>
              <a:t> </a:t>
            </a:r>
            <a:r>
              <a:rPr sz="2400" spc="-10" dirty="0">
                <a:latin typeface="Calibri"/>
                <a:cs typeface="Calibri"/>
              </a:rPr>
              <a:t>drive</a:t>
            </a:r>
            <a:r>
              <a:rPr sz="2400" spc="-25" dirty="0">
                <a:latin typeface="Calibri"/>
                <a:cs typeface="Calibri"/>
              </a:rPr>
              <a:t> </a:t>
            </a:r>
            <a:r>
              <a:rPr sz="2400" spc="-15" dirty="0">
                <a:latin typeface="Calibri"/>
                <a:cs typeface="Calibri"/>
              </a:rPr>
              <a:t>to</a:t>
            </a:r>
            <a:r>
              <a:rPr sz="2400" spc="-20" dirty="0">
                <a:latin typeface="Calibri"/>
                <a:cs typeface="Calibri"/>
              </a:rPr>
              <a:t> </a:t>
            </a:r>
            <a:r>
              <a:rPr sz="2400" spc="-5" dirty="0">
                <a:latin typeface="Calibri"/>
                <a:cs typeface="Calibri"/>
              </a:rPr>
              <a:t>Mammoth</a:t>
            </a:r>
            <a:endParaRPr sz="2400">
              <a:latin typeface="Calibri"/>
              <a:cs typeface="Calibri"/>
            </a:endParaRPr>
          </a:p>
          <a:p>
            <a:pPr lvl="2">
              <a:lnSpc>
                <a:spcPct val="100000"/>
              </a:lnSpc>
              <a:buFont typeface="Arial MT"/>
              <a:buChar char="•"/>
            </a:pPr>
            <a:endParaRPr sz="2450">
              <a:latin typeface="Calibri"/>
              <a:cs typeface="Calibri"/>
            </a:endParaRPr>
          </a:p>
          <a:p>
            <a:pPr marL="294005" indent="-281940">
              <a:lnSpc>
                <a:spcPct val="100000"/>
              </a:lnSpc>
              <a:buFont typeface="Arial MT"/>
              <a:buChar char="•"/>
              <a:tabLst>
                <a:tab pos="294640" algn="l"/>
              </a:tabLst>
            </a:pPr>
            <a:r>
              <a:rPr sz="3200" spc="-25" dirty="0">
                <a:latin typeface="Calibri"/>
                <a:cs typeface="Calibri"/>
              </a:rPr>
              <a:t>Operators </a:t>
            </a:r>
            <a:r>
              <a:rPr sz="3200" spc="-5" dirty="0">
                <a:latin typeface="Calibri"/>
                <a:cs typeface="Calibri"/>
              </a:rPr>
              <a:t>(actions,</a:t>
            </a:r>
            <a:r>
              <a:rPr sz="3200" spc="-20" dirty="0">
                <a:latin typeface="Calibri"/>
                <a:cs typeface="Calibri"/>
              </a:rPr>
              <a:t> </a:t>
            </a:r>
            <a:r>
              <a:rPr sz="3200" spc="-5" dirty="0">
                <a:latin typeface="Calibri"/>
                <a:cs typeface="Calibri"/>
              </a:rPr>
              <a:t>successor</a:t>
            </a:r>
            <a:r>
              <a:rPr sz="3200" spc="-25" dirty="0">
                <a:latin typeface="Calibri"/>
                <a:cs typeface="Calibri"/>
              </a:rPr>
              <a:t> </a:t>
            </a:r>
            <a:r>
              <a:rPr sz="3200" spc="-5" dirty="0">
                <a:latin typeface="Calibri"/>
                <a:cs typeface="Calibri"/>
              </a:rPr>
              <a:t>function)</a:t>
            </a:r>
            <a:endParaRPr sz="3200">
              <a:latin typeface="Calibri"/>
              <a:cs typeface="Calibri"/>
            </a:endParaRPr>
          </a:p>
          <a:p>
            <a:pPr marL="694055" marR="207010" lvl="1" indent="-305435">
              <a:lnSpc>
                <a:spcPts val="3020"/>
              </a:lnSpc>
              <a:spcBef>
                <a:spcPts val="755"/>
              </a:spcBef>
              <a:buFont typeface="Arial MT"/>
              <a:buChar char="–"/>
              <a:tabLst>
                <a:tab pos="694690" algn="l"/>
              </a:tabLst>
            </a:pPr>
            <a:r>
              <a:rPr sz="2800" spc="-25" dirty="0">
                <a:latin typeface="Calibri"/>
                <a:cs typeface="Calibri"/>
              </a:rPr>
              <a:t>operators</a:t>
            </a:r>
            <a:r>
              <a:rPr sz="2800" spc="-10" dirty="0">
                <a:latin typeface="Calibri"/>
                <a:cs typeface="Calibri"/>
              </a:rPr>
              <a:t> </a:t>
            </a:r>
            <a:r>
              <a:rPr sz="2800" spc="-15" dirty="0">
                <a:latin typeface="Calibri"/>
                <a:cs typeface="Calibri"/>
              </a:rPr>
              <a:t>are</a:t>
            </a:r>
            <a:r>
              <a:rPr sz="2800" spc="-5" dirty="0">
                <a:latin typeface="Calibri"/>
                <a:cs typeface="Calibri"/>
              </a:rPr>
              <a:t> </a:t>
            </a:r>
            <a:r>
              <a:rPr sz="2800" spc="-15" dirty="0">
                <a:latin typeface="Calibri"/>
                <a:cs typeface="Calibri"/>
              </a:rPr>
              <a:t>legal</a:t>
            </a:r>
            <a:r>
              <a:rPr sz="2800" spc="-10" dirty="0">
                <a:latin typeface="Calibri"/>
                <a:cs typeface="Calibri"/>
              </a:rPr>
              <a:t> </a:t>
            </a:r>
            <a:r>
              <a:rPr sz="2800" dirty="0">
                <a:latin typeface="Calibri"/>
                <a:cs typeface="Calibri"/>
              </a:rPr>
              <a:t>actions</a:t>
            </a:r>
            <a:r>
              <a:rPr sz="2800" spc="-5" dirty="0">
                <a:latin typeface="Calibri"/>
                <a:cs typeface="Calibri"/>
              </a:rPr>
              <a:t> which</a:t>
            </a:r>
            <a:r>
              <a:rPr sz="2800" spc="-10" dirty="0">
                <a:latin typeface="Calibri"/>
                <a:cs typeface="Calibri"/>
              </a:rPr>
              <a:t> the </a:t>
            </a:r>
            <a:r>
              <a:rPr sz="2800" spc="-15" dirty="0">
                <a:latin typeface="Calibri"/>
                <a:cs typeface="Calibri"/>
              </a:rPr>
              <a:t>agent</a:t>
            </a:r>
            <a:r>
              <a:rPr sz="2800" spc="-10" dirty="0">
                <a:latin typeface="Calibri"/>
                <a:cs typeface="Calibri"/>
              </a:rPr>
              <a:t> can </a:t>
            </a:r>
            <a:r>
              <a:rPr sz="2800" spc="-620" dirty="0">
                <a:latin typeface="Calibri"/>
                <a:cs typeface="Calibri"/>
              </a:rPr>
              <a:t> </a:t>
            </a:r>
            <a:r>
              <a:rPr sz="2800" spc="-35" dirty="0">
                <a:latin typeface="Calibri"/>
                <a:cs typeface="Calibri"/>
              </a:rPr>
              <a:t>take</a:t>
            </a:r>
            <a:r>
              <a:rPr sz="2800" spc="-10" dirty="0">
                <a:latin typeface="Calibri"/>
                <a:cs typeface="Calibri"/>
              </a:rPr>
              <a:t> </a:t>
            </a:r>
            <a:r>
              <a:rPr sz="2800" spc="-15" dirty="0">
                <a:latin typeface="Calibri"/>
                <a:cs typeface="Calibri"/>
              </a:rPr>
              <a:t>to</a:t>
            </a:r>
            <a:r>
              <a:rPr sz="2800" spc="-10" dirty="0">
                <a:latin typeface="Calibri"/>
                <a:cs typeface="Calibri"/>
              </a:rPr>
              <a:t> </a:t>
            </a:r>
            <a:r>
              <a:rPr sz="2800" spc="-15" dirty="0">
                <a:latin typeface="Calibri"/>
                <a:cs typeface="Calibri"/>
              </a:rPr>
              <a:t>move</a:t>
            </a:r>
            <a:r>
              <a:rPr sz="2800" spc="-5" dirty="0">
                <a:latin typeface="Calibri"/>
                <a:cs typeface="Calibri"/>
              </a:rPr>
              <a:t> </a:t>
            </a:r>
            <a:r>
              <a:rPr sz="2800" spc="-15" dirty="0">
                <a:latin typeface="Calibri"/>
                <a:cs typeface="Calibri"/>
              </a:rPr>
              <a:t>from</a:t>
            </a:r>
            <a:r>
              <a:rPr sz="2800" spc="-10" dirty="0">
                <a:latin typeface="Calibri"/>
                <a:cs typeface="Calibri"/>
              </a:rPr>
              <a:t> </a:t>
            </a:r>
            <a:r>
              <a:rPr sz="2800" spc="-5" dirty="0">
                <a:latin typeface="Calibri"/>
                <a:cs typeface="Calibri"/>
              </a:rPr>
              <a:t>one</a:t>
            </a:r>
            <a:r>
              <a:rPr sz="2800" spc="-10" dirty="0">
                <a:latin typeface="Calibri"/>
                <a:cs typeface="Calibri"/>
              </a:rPr>
              <a:t> </a:t>
            </a:r>
            <a:r>
              <a:rPr sz="2800" spc="-30" dirty="0">
                <a:latin typeface="Calibri"/>
                <a:cs typeface="Calibri"/>
              </a:rPr>
              <a:t>state</a:t>
            </a:r>
            <a:r>
              <a:rPr sz="2800" spc="-5" dirty="0">
                <a:latin typeface="Calibri"/>
                <a:cs typeface="Calibri"/>
              </a:rPr>
              <a:t> </a:t>
            </a:r>
            <a:r>
              <a:rPr sz="2800" spc="-15" dirty="0">
                <a:latin typeface="Calibri"/>
                <a:cs typeface="Calibri"/>
              </a:rPr>
              <a:t>to</a:t>
            </a:r>
            <a:r>
              <a:rPr sz="2800" spc="-10" dirty="0">
                <a:latin typeface="Calibri"/>
                <a:cs typeface="Calibri"/>
              </a:rPr>
              <a:t> </a:t>
            </a:r>
            <a:r>
              <a:rPr sz="2800" dirty="0">
                <a:latin typeface="Calibri"/>
                <a:cs typeface="Calibri"/>
              </a:rPr>
              <a:t>another</a:t>
            </a:r>
            <a:endParaRPr sz="2800">
              <a:latin typeface="Calibri"/>
              <a:cs typeface="Calibri"/>
            </a:endParaRPr>
          </a:p>
        </p:txBody>
      </p:sp>
    </p:spTree>
    <p:extLst>
      <p:ext uri="{BB962C8B-B14F-4D97-AF65-F5344CB8AC3E}">
        <p14:creationId xmlns:p14="http://schemas.microsoft.com/office/powerpoint/2010/main" val="16536537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3595" y="239148"/>
            <a:ext cx="5168900" cy="695960"/>
          </a:xfrm>
          <a:prstGeom prst="rect">
            <a:avLst/>
          </a:prstGeom>
        </p:spPr>
        <p:txBody>
          <a:bodyPr vert="horz" wrap="square" lIns="0" tIns="12700" rIns="0" bIns="0" rtlCol="0">
            <a:spAutoFit/>
          </a:bodyPr>
          <a:lstStyle/>
          <a:p>
            <a:pPr marL="12700">
              <a:lnSpc>
                <a:spcPct val="100000"/>
              </a:lnSpc>
              <a:spcBef>
                <a:spcPts val="100"/>
              </a:spcBef>
            </a:pPr>
            <a:r>
              <a:rPr spc="-5" dirty="0"/>
              <a:t>The</a:t>
            </a:r>
            <a:r>
              <a:rPr spc="-35" dirty="0"/>
              <a:t> </a:t>
            </a:r>
            <a:r>
              <a:rPr spc="-20" dirty="0"/>
              <a:t>State-Space</a:t>
            </a:r>
            <a:r>
              <a:rPr spc="-35" dirty="0"/>
              <a:t> </a:t>
            </a:r>
            <a:r>
              <a:rPr spc="-20" dirty="0"/>
              <a:t>Graph</a:t>
            </a:r>
          </a:p>
        </p:txBody>
      </p:sp>
      <p:sp>
        <p:nvSpPr>
          <p:cNvPr id="3" name="object 3"/>
          <p:cNvSpPr txBox="1"/>
          <p:nvPr/>
        </p:nvSpPr>
        <p:spPr>
          <a:xfrm>
            <a:off x="575915" y="927981"/>
            <a:ext cx="7455534" cy="5173980"/>
          </a:xfrm>
          <a:prstGeom prst="rect">
            <a:avLst/>
          </a:prstGeom>
        </p:spPr>
        <p:txBody>
          <a:bodyPr vert="horz" wrap="square" lIns="0" tIns="88265" rIns="0" bIns="0" rtlCol="0">
            <a:spAutoFit/>
          </a:bodyPr>
          <a:lstStyle/>
          <a:p>
            <a:pPr marL="309245" indent="-297180">
              <a:lnSpc>
                <a:spcPct val="100000"/>
              </a:lnSpc>
              <a:spcBef>
                <a:spcPts val="695"/>
              </a:spcBef>
              <a:buFont typeface="Arial MT"/>
              <a:buChar char="•"/>
              <a:tabLst>
                <a:tab pos="309245" algn="l"/>
                <a:tab pos="309880" algn="l"/>
              </a:tabLst>
            </a:pPr>
            <a:r>
              <a:rPr sz="2400" spc="-10" dirty="0">
                <a:latin typeface="Calibri"/>
                <a:cs typeface="Calibri"/>
              </a:rPr>
              <a:t>Graphs:</a:t>
            </a:r>
            <a:endParaRPr sz="2400">
              <a:latin typeface="Calibri"/>
              <a:cs typeface="Calibri"/>
            </a:endParaRPr>
          </a:p>
          <a:p>
            <a:pPr marL="709295" lvl="1" indent="-302895">
              <a:lnSpc>
                <a:spcPct val="100000"/>
              </a:lnSpc>
              <a:spcBef>
                <a:spcPts val="600"/>
              </a:spcBef>
              <a:buFont typeface="Arial MT"/>
              <a:buChar char="–"/>
              <a:tabLst>
                <a:tab pos="709295" algn="l"/>
                <a:tab pos="709930" algn="l"/>
              </a:tabLst>
            </a:pPr>
            <a:r>
              <a:rPr sz="2400" spc="-5" dirty="0">
                <a:latin typeface="Calibri"/>
                <a:cs typeface="Calibri"/>
              </a:rPr>
              <a:t>nodes,</a:t>
            </a:r>
            <a:r>
              <a:rPr sz="2400" spc="-15" dirty="0">
                <a:latin typeface="Calibri"/>
                <a:cs typeface="Calibri"/>
              </a:rPr>
              <a:t> </a:t>
            </a:r>
            <a:r>
              <a:rPr sz="2400" spc="-10" dirty="0">
                <a:latin typeface="Calibri"/>
                <a:cs typeface="Calibri"/>
              </a:rPr>
              <a:t>arcs,</a:t>
            </a:r>
            <a:r>
              <a:rPr sz="2400" spc="-15" dirty="0">
                <a:latin typeface="Calibri"/>
                <a:cs typeface="Calibri"/>
              </a:rPr>
              <a:t> directed </a:t>
            </a:r>
            <a:r>
              <a:rPr sz="2400" spc="-10" dirty="0">
                <a:latin typeface="Calibri"/>
                <a:cs typeface="Calibri"/>
              </a:rPr>
              <a:t>arcs,</a:t>
            </a:r>
            <a:r>
              <a:rPr sz="2400" spc="-15" dirty="0">
                <a:latin typeface="Calibri"/>
                <a:cs typeface="Calibri"/>
              </a:rPr>
              <a:t> </a:t>
            </a:r>
            <a:r>
              <a:rPr sz="2400" spc="-10" dirty="0">
                <a:latin typeface="Calibri"/>
                <a:cs typeface="Calibri"/>
              </a:rPr>
              <a:t>paths</a:t>
            </a:r>
            <a:endParaRPr sz="2400">
              <a:latin typeface="Calibri"/>
              <a:cs typeface="Calibri"/>
            </a:endParaRPr>
          </a:p>
          <a:p>
            <a:pPr marL="309245" indent="-297180">
              <a:lnSpc>
                <a:spcPct val="100000"/>
              </a:lnSpc>
              <a:spcBef>
                <a:spcPts val="600"/>
              </a:spcBef>
              <a:buFont typeface="Arial MT"/>
              <a:buChar char="•"/>
              <a:tabLst>
                <a:tab pos="309245" algn="l"/>
                <a:tab pos="309880" algn="l"/>
              </a:tabLst>
            </a:pPr>
            <a:r>
              <a:rPr sz="2400" spc="-10" dirty="0">
                <a:latin typeface="Calibri"/>
                <a:cs typeface="Calibri"/>
              </a:rPr>
              <a:t>Search</a:t>
            </a:r>
            <a:r>
              <a:rPr sz="2400" spc="-40" dirty="0">
                <a:latin typeface="Calibri"/>
                <a:cs typeface="Calibri"/>
              </a:rPr>
              <a:t> </a:t>
            </a:r>
            <a:r>
              <a:rPr sz="2400" spc="-10" dirty="0">
                <a:latin typeface="Calibri"/>
                <a:cs typeface="Calibri"/>
              </a:rPr>
              <a:t>graphs:</a:t>
            </a:r>
            <a:endParaRPr sz="2400">
              <a:latin typeface="Calibri"/>
              <a:cs typeface="Calibri"/>
            </a:endParaRPr>
          </a:p>
          <a:p>
            <a:pPr marL="709295" lvl="1" indent="-302895">
              <a:lnSpc>
                <a:spcPct val="100000"/>
              </a:lnSpc>
              <a:spcBef>
                <a:spcPts val="595"/>
              </a:spcBef>
              <a:buFont typeface="Arial MT"/>
              <a:buChar char="–"/>
              <a:tabLst>
                <a:tab pos="709295" algn="l"/>
                <a:tab pos="709930" algn="l"/>
              </a:tabLst>
            </a:pPr>
            <a:r>
              <a:rPr sz="2400" spc="-20" dirty="0">
                <a:latin typeface="Calibri"/>
                <a:cs typeface="Calibri"/>
              </a:rPr>
              <a:t>States</a:t>
            </a:r>
            <a:r>
              <a:rPr sz="2400" spc="-25" dirty="0">
                <a:latin typeface="Calibri"/>
                <a:cs typeface="Calibri"/>
              </a:rPr>
              <a:t> </a:t>
            </a:r>
            <a:r>
              <a:rPr sz="2400" spc="-15" dirty="0">
                <a:latin typeface="Calibri"/>
                <a:cs typeface="Calibri"/>
              </a:rPr>
              <a:t>are</a:t>
            </a:r>
            <a:r>
              <a:rPr sz="2400" spc="-25" dirty="0">
                <a:latin typeface="Calibri"/>
                <a:cs typeface="Calibri"/>
              </a:rPr>
              <a:t> </a:t>
            </a:r>
            <a:r>
              <a:rPr sz="2400" spc="-5" dirty="0">
                <a:latin typeface="Calibri"/>
                <a:cs typeface="Calibri"/>
              </a:rPr>
              <a:t>nodes</a:t>
            </a:r>
            <a:endParaRPr sz="2400">
              <a:latin typeface="Calibri"/>
              <a:cs typeface="Calibri"/>
            </a:endParaRPr>
          </a:p>
          <a:p>
            <a:pPr marL="709295" lvl="1" indent="-302895">
              <a:lnSpc>
                <a:spcPct val="100000"/>
              </a:lnSpc>
              <a:spcBef>
                <a:spcPts val="600"/>
              </a:spcBef>
              <a:buFont typeface="Arial MT"/>
              <a:buChar char="–"/>
              <a:tabLst>
                <a:tab pos="709295" algn="l"/>
                <a:tab pos="709930" algn="l"/>
              </a:tabLst>
            </a:pPr>
            <a:r>
              <a:rPr sz="2400" spc="-20" dirty="0">
                <a:latin typeface="Calibri"/>
                <a:cs typeface="Calibri"/>
              </a:rPr>
              <a:t>operators</a:t>
            </a:r>
            <a:r>
              <a:rPr sz="2400" spc="-15" dirty="0">
                <a:latin typeface="Calibri"/>
                <a:cs typeface="Calibri"/>
              </a:rPr>
              <a:t> are</a:t>
            </a:r>
            <a:r>
              <a:rPr sz="2400" spc="-10" dirty="0">
                <a:latin typeface="Calibri"/>
                <a:cs typeface="Calibri"/>
              </a:rPr>
              <a:t> </a:t>
            </a:r>
            <a:r>
              <a:rPr sz="2400" spc="-15" dirty="0">
                <a:latin typeface="Calibri"/>
                <a:cs typeface="Calibri"/>
              </a:rPr>
              <a:t>directed arcs</a:t>
            </a:r>
            <a:endParaRPr sz="2400">
              <a:latin typeface="Calibri"/>
              <a:cs typeface="Calibri"/>
            </a:endParaRPr>
          </a:p>
          <a:p>
            <a:pPr marL="709295" lvl="1" indent="-302895">
              <a:lnSpc>
                <a:spcPct val="100000"/>
              </a:lnSpc>
              <a:spcBef>
                <a:spcPts val="595"/>
              </a:spcBef>
              <a:buFont typeface="Arial MT"/>
              <a:buChar char="–"/>
              <a:tabLst>
                <a:tab pos="709295" algn="l"/>
                <a:tab pos="709930" algn="l"/>
              </a:tabLst>
            </a:pPr>
            <a:r>
              <a:rPr sz="2400" spc="-5" dirty="0">
                <a:latin typeface="Calibri"/>
                <a:cs typeface="Calibri"/>
              </a:rPr>
              <a:t>solution</a:t>
            </a:r>
            <a:r>
              <a:rPr sz="2400" spc="-10" dirty="0">
                <a:latin typeface="Calibri"/>
                <a:cs typeface="Calibri"/>
              </a:rPr>
              <a:t> </a:t>
            </a:r>
            <a:r>
              <a:rPr sz="2400" spc="-5" dirty="0">
                <a:latin typeface="Calibri"/>
                <a:cs typeface="Calibri"/>
              </a:rPr>
              <a:t>is</a:t>
            </a:r>
            <a:r>
              <a:rPr sz="2400" spc="-10" dirty="0">
                <a:latin typeface="Calibri"/>
                <a:cs typeface="Calibri"/>
              </a:rPr>
              <a:t> </a:t>
            </a:r>
            <a:r>
              <a:rPr sz="2400" dirty="0">
                <a:latin typeface="Calibri"/>
                <a:cs typeface="Calibri"/>
              </a:rPr>
              <a:t>a</a:t>
            </a:r>
            <a:r>
              <a:rPr sz="2400" spc="-10" dirty="0">
                <a:latin typeface="Calibri"/>
                <a:cs typeface="Calibri"/>
              </a:rPr>
              <a:t> path </a:t>
            </a:r>
            <a:r>
              <a:rPr sz="2400" spc="-15" dirty="0">
                <a:latin typeface="Calibri"/>
                <a:cs typeface="Calibri"/>
              </a:rPr>
              <a:t>from</a:t>
            </a:r>
            <a:r>
              <a:rPr sz="2400" spc="-10" dirty="0">
                <a:latin typeface="Calibri"/>
                <a:cs typeface="Calibri"/>
              </a:rPr>
              <a:t> </a:t>
            </a:r>
            <a:r>
              <a:rPr sz="2400" spc="-15" dirty="0">
                <a:latin typeface="Calibri"/>
                <a:cs typeface="Calibri"/>
              </a:rPr>
              <a:t>start</a:t>
            </a:r>
            <a:r>
              <a:rPr sz="2400" spc="-10" dirty="0">
                <a:latin typeface="Calibri"/>
                <a:cs typeface="Calibri"/>
              </a:rPr>
              <a:t> </a:t>
            </a:r>
            <a:r>
              <a:rPr sz="2400" dirty="0">
                <a:latin typeface="Calibri"/>
                <a:cs typeface="Calibri"/>
              </a:rPr>
              <a:t>S</a:t>
            </a:r>
            <a:r>
              <a:rPr sz="2400" spc="-10" dirty="0">
                <a:latin typeface="Calibri"/>
                <a:cs typeface="Calibri"/>
              </a:rPr>
              <a:t> </a:t>
            </a:r>
            <a:r>
              <a:rPr sz="2400" spc="-15" dirty="0">
                <a:latin typeface="Calibri"/>
                <a:cs typeface="Calibri"/>
              </a:rPr>
              <a:t>to</a:t>
            </a:r>
            <a:r>
              <a:rPr sz="2400" spc="-10" dirty="0">
                <a:latin typeface="Calibri"/>
                <a:cs typeface="Calibri"/>
              </a:rPr>
              <a:t> goal </a:t>
            </a:r>
            <a:r>
              <a:rPr sz="2400" dirty="0">
                <a:latin typeface="Calibri"/>
                <a:cs typeface="Calibri"/>
              </a:rPr>
              <a:t>G</a:t>
            </a:r>
            <a:endParaRPr sz="2400">
              <a:latin typeface="Calibri"/>
              <a:cs typeface="Calibri"/>
            </a:endParaRPr>
          </a:p>
          <a:p>
            <a:pPr marL="309245" indent="-297180">
              <a:lnSpc>
                <a:spcPct val="100000"/>
              </a:lnSpc>
              <a:spcBef>
                <a:spcPts val="600"/>
              </a:spcBef>
              <a:buFont typeface="Arial MT"/>
              <a:buChar char="•"/>
              <a:tabLst>
                <a:tab pos="309245" algn="l"/>
                <a:tab pos="309880" algn="l"/>
              </a:tabLst>
            </a:pPr>
            <a:r>
              <a:rPr sz="2400" spc="-10" dirty="0">
                <a:latin typeface="Calibri"/>
                <a:cs typeface="Calibri"/>
              </a:rPr>
              <a:t>Problem</a:t>
            </a:r>
            <a:r>
              <a:rPr sz="2400" spc="-25" dirty="0">
                <a:latin typeface="Calibri"/>
                <a:cs typeface="Calibri"/>
              </a:rPr>
              <a:t> </a:t>
            </a:r>
            <a:r>
              <a:rPr sz="2400" spc="-15" dirty="0">
                <a:latin typeface="Calibri"/>
                <a:cs typeface="Calibri"/>
              </a:rPr>
              <a:t>formulation:</a:t>
            </a:r>
            <a:endParaRPr sz="2400">
              <a:latin typeface="Calibri"/>
              <a:cs typeface="Calibri"/>
            </a:endParaRPr>
          </a:p>
          <a:p>
            <a:pPr marL="709295" marR="5080" lvl="1" indent="-302895">
              <a:lnSpc>
                <a:spcPct val="100000"/>
              </a:lnSpc>
              <a:spcBef>
                <a:spcPts val="600"/>
              </a:spcBef>
              <a:buFont typeface="Arial MT"/>
              <a:buChar char="–"/>
              <a:tabLst>
                <a:tab pos="709295" algn="l"/>
                <a:tab pos="709930" algn="l"/>
              </a:tabLst>
            </a:pPr>
            <a:r>
              <a:rPr sz="2400" spc="-10" dirty="0">
                <a:latin typeface="Calibri"/>
                <a:cs typeface="Calibri"/>
              </a:rPr>
              <a:t>Give</a:t>
            </a:r>
            <a:r>
              <a:rPr sz="2400" spc="-5" dirty="0">
                <a:latin typeface="Calibri"/>
                <a:cs typeface="Calibri"/>
              </a:rPr>
              <a:t> </a:t>
            </a:r>
            <a:r>
              <a:rPr sz="2400" dirty="0">
                <a:latin typeface="Calibri"/>
                <a:cs typeface="Calibri"/>
              </a:rPr>
              <a:t>an </a:t>
            </a:r>
            <a:r>
              <a:rPr sz="2400" spc="-15" dirty="0">
                <a:latin typeface="Calibri"/>
                <a:cs typeface="Calibri"/>
              </a:rPr>
              <a:t>abstract</a:t>
            </a:r>
            <a:r>
              <a:rPr sz="2400" spc="-5" dirty="0">
                <a:latin typeface="Calibri"/>
                <a:cs typeface="Calibri"/>
              </a:rPr>
              <a:t> </a:t>
            </a:r>
            <a:r>
              <a:rPr sz="2400" spc="-10" dirty="0">
                <a:latin typeface="Calibri"/>
                <a:cs typeface="Calibri"/>
              </a:rPr>
              <a:t>description</a:t>
            </a:r>
            <a:r>
              <a:rPr sz="2400" dirty="0">
                <a:latin typeface="Calibri"/>
                <a:cs typeface="Calibri"/>
              </a:rPr>
              <a:t> </a:t>
            </a:r>
            <a:r>
              <a:rPr sz="2400" spc="-5" dirty="0">
                <a:latin typeface="Calibri"/>
                <a:cs typeface="Calibri"/>
              </a:rPr>
              <a:t>of </a:t>
            </a:r>
            <a:r>
              <a:rPr sz="2400" spc="-20" dirty="0">
                <a:latin typeface="Calibri"/>
                <a:cs typeface="Calibri"/>
              </a:rPr>
              <a:t>states,</a:t>
            </a:r>
            <a:r>
              <a:rPr sz="2400" dirty="0">
                <a:latin typeface="Calibri"/>
                <a:cs typeface="Calibri"/>
              </a:rPr>
              <a:t> </a:t>
            </a:r>
            <a:r>
              <a:rPr sz="2400" spc="-20" dirty="0">
                <a:latin typeface="Calibri"/>
                <a:cs typeface="Calibri"/>
              </a:rPr>
              <a:t>operators,</a:t>
            </a:r>
            <a:r>
              <a:rPr sz="2400" spc="-5" dirty="0">
                <a:latin typeface="Calibri"/>
                <a:cs typeface="Calibri"/>
              </a:rPr>
              <a:t> initial </a:t>
            </a:r>
            <a:r>
              <a:rPr sz="2400" spc="-525" dirty="0">
                <a:latin typeface="Calibri"/>
                <a:cs typeface="Calibri"/>
              </a:rPr>
              <a:t> </a:t>
            </a:r>
            <a:r>
              <a:rPr sz="2400" spc="-25" dirty="0">
                <a:latin typeface="Calibri"/>
                <a:cs typeface="Calibri"/>
              </a:rPr>
              <a:t>state</a:t>
            </a:r>
            <a:r>
              <a:rPr sz="2400" spc="-10"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goal</a:t>
            </a:r>
            <a:r>
              <a:rPr sz="2400" spc="-5" dirty="0">
                <a:latin typeface="Calibri"/>
                <a:cs typeface="Calibri"/>
              </a:rPr>
              <a:t> </a:t>
            </a:r>
            <a:r>
              <a:rPr sz="2400" spc="-25" dirty="0">
                <a:latin typeface="Calibri"/>
                <a:cs typeface="Calibri"/>
              </a:rPr>
              <a:t>state.</a:t>
            </a:r>
            <a:endParaRPr sz="2400">
              <a:latin typeface="Calibri"/>
              <a:cs typeface="Calibri"/>
            </a:endParaRPr>
          </a:p>
          <a:p>
            <a:pPr marL="309245" indent="-297180">
              <a:lnSpc>
                <a:spcPct val="100000"/>
              </a:lnSpc>
              <a:spcBef>
                <a:spcPts val="595"/>
              </a:spcBef>
              <a:buFont typeface="Arial MT"/>
              <a:buChar char="•"/>
              <a:tabLst>
                <a:tab pos="309245" algn="l"/>
                <a:tab pos="309880" algn="l"/>
              </a:tabLst>
            </a:pPr>
            <a:r>
              <a:rPr sz="2400" spc="-10" dirty="0">
                <a:latin typeface="Calibri"/>
                <a:cs typeface="Calibri"/>
              </a:rPr>
              <a:t>Problem</a:t>
            </a:r>
            <a:r>
              <a:rPr sz="2400" spc="-45" dirty="0">
                <a:latin typeface="Calibri"/>
                <a:cs typeface="Calibri"/>
              </a:rPr>
              <a:t> </a:t>
            </a:r>
            <a:r>
              <a:rPr sz="2400" spc="-5" dirty="0">
                <a:latin typeface="Calibri"/>
                <a:cs typeface="Calibri"/>
              </a:rPr>
              <a:t>solving:</a:t>
            </a:r>
            <a:endParaRPr sz="2400">
              <a:latin typeface="Calibri"/>
              <a:cs typeface="Calibri"/>
            </a:endParaRPr>
          </a:p>
          <a:p>
            <a:pPr marL="709295" marR="442595" lvl="1" indent="-302895">
              <a:lnSpc>
                <a:spcPct val="100000"/>
              </a:lnSpc>
              <a:spcBef>
                <a:spcPts val="600"/>
              </a:spcBef>
              <a:buFont typeface="Arial MT"/>
              <a:buChar char="–"/>
              <a:tabLst>
                <a:tab pos="709295" algn="l"/>
                <a:tab pos="709930" algn="l"/>
              </a:tabLst>
            </a:pPr>
            <a:r>
              <a:rPr sz="2400" spc="-20" dirty="0">
                <a:latin typeface="Calibri"/>
                <a:cs typeface="Calibri"/>
              </a:rPr>
              <a:t>Generate</a:t>
            </a:r>
            <a:r>
              <a:rPr sz="2400" spc="-10" dirty="0">
                <a:latin typeface="Calibri"/>
                <a:cs typeface="Calibri"/>
              </a:rPr>
              <a:t> </a:t>
            </a:r>
            <a:r>
              <a:rPr sz="2400" dirty="0">
                <a:latin typeface="Calibri"/>
                <a:cs typeface="Calibri"/>
              </a:rPr>
              <a:t>a</a:t>
            </a:r>
            <a:r>
              <a:rPr sz="2400" spc="-5" dirty="0">
                <a:latin typeface="Calibri"/>
                <a:cs typeface="Calibri"/>
              </a:rPr>
              <a:t> part of the</a:t>
            </a:r>
            <a:r>
              <a:rPr sz="2400" spc="-10" dirty="0">
                <a:latin typeface="Calibri"/>
                <a:cs typeface="Calibri"/>
              </a:rPr>
              <a:t> search</a:t>
            </a:r>
            <a:r>
              <a:rPr sz="2400" spc="-5" dirty="0">
                <a:latin typeface="Calibri"/>
                <a:cs typeface="Calibri"/>
              </a:rPr>
              <a:t> space </a:t>
            </a:r>
            <a:r>
              <a:rPr sz="2400" spc="-10" dirty="0">
                <a:latin typeface="Calibri"/>
                <a:cs typeface="Calibri"/>
              </a:rPr>
              <a:t>that</a:t>
            </a:r>
            <a:r>
              <a:rPr sz="2400" spc="-5" dirty="0">
                <a:latin typeface="Calibri"/>
                <a:cs typeface="Calibri"/>
              </a:rPr>
              <a:t> </a:t>
            </a:r>
            <a:r>
              <a:rPr sz="2400" spc="-15" dirty="0">
                <a:latin typeface="Calibri"/>
                <a:cs typeface="Calibri"/>
              </a:rPr>
              <a:t>contains</a:t>
            </a:r>
            <a:r>
              <a:rPr sz="2400" spc="-5" dirty="0">
                <a:latin typeface="Calibri"/>
                <a:cs typeface="Calibri"/>
              </a:rPr>
              <a:t> </a:t>
            </a:r>
            <a:r>
              <a:rPr sz="2400" dirty="0">
                <a:latin typeface="Calibri"/>
                <a:cs typeface="Calibri"/>
              </a:rPr>
              <a:t>a </a:t>
            </a:r>
            <a:r>
              <a:rPr sz="2400" spc="-530" dirty="0">
                <a:latin typeface="Calibri"/>
                <a:cs typeface="Calibri"/>
              </a:rPr>
              <a:t> </a:t>
            </a:r>
            <a:r>
              <a:rPr sz="2400" spc="-5" dirty="0">
                <a:latin typeface="Calibri"/>
                <a:cs typeface="Calibri"/>
              </a:rPr>
              <a:t>solution</a:t>
            </a:r>
            <a:endParaRPr sz="2400">
              <a:latin typeface="Calibri"/>
              <a:cs typeface="Calibri"/>
            </a:endParaRPr>
          </a:p>
        </p:txBody>
      </p:sp>
    </p:spTree>
    <p:extLst>
      <p:ext uri="{BB962C8B-B14F-4D97-AF65-F5344CB8AC3E}">
        <p14:creationId xmlns:p14="http://schemas.microsoft.com/office/powerpoint/2010/main" val="37795522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8390" y="475487"/>
            <a:ext cx="5604510" cy="695960"/>
          </a:xfrm>
          <a:prstGeom prst="rect">
            <a:avLst/>
          </a:prstGeom>
        </p:spPr>
        <p:txBody>
          <a:bodyPr vert="horz" wrap="square" lIns="0" tIns="12700" rIns="0" bIns="0" rtlCol="0">
            <a:spAutoFit/>
          </a:bodyPr>
          <a:lstStyle/>
          <a:p>
            <a:pPr marL="12700">
              <a:lnSpc>
                <a:spcPct val="100000"/>
              </a:lnSpc>
              <a:spcBef>
                <a:spcPts val="100"/>
              </a:spcBef>
            </a:pPr>
            <a:r>
              <a:rPr spc="-5" dirty="0"/>
              <a:t>Some</a:t>
            </a:r>
            <a:r>
              <a:rPr spc="-35" dirty="0"/>
              <a:t> </a:t>
            </a:r>
            <a:r>
              <a:rPr spc="-25" dirty="0"/>
              <a:t>example</a:t>
            </a:r>
            <a:r>
              <a:rPr spc="-35" dirty="0"/>
              <a:t> </a:t>
            </a:r>
            <a:r>
              <a:rPr spc="-15" dirty="0"/>
              <a:t>problems</a:t>
            </a:r>
          </a:p>
        </p:txBody>
      </p:sp>
      <p:sp>
        <p:nvSpPr>
          <p:cNvPr id="3" name="object 3"/>
          <p:cNvSpPr txBox="1"/>
          <p:nvPr/>
        </p:nvSpPr>
        <p:spPr>
          <a:xfrm>
            <a:off x="1657860" y="1886737"/>
            <a:ext cx="5485765" cy="3782060"/>
          </a:xfrm>
          <a:prstGeom prst="rect">
            <a:avLst/>
          </a:prstGeom>
        </p:spPr>
        <p:txBody>
          <a:bodyPr vert="horz" wrap="square" lIns="0" tIns="116205" rIns="0" bIns="0" rtlCol="0">
            <a:spAutoFit/>
          </a:bodyPr>
          <a:lstStyle/>
          <a:p>
            <a:pPr marL="294005" indent="-281940">
              <a:lnSpc>
                <a:spcPct val="100000"/>
              </a:lnSpc>
              <a:spcBef>
                <a:spcPts val="915"/>
              </a:spcBef>
              <a:buFont typeface="Arial MT"/>
              <a:buChar char="•"/>
              <a:tabLst>
                <a:tab pos="294640" algn="l"/>
              </a:tabLst>
            </a:pPr>
            <a:r>
              <a:rPr sz="3200" spc="-105" dirty="0">
                <a:latin typeface="Calibri"/>
                <a:cs typeface="Calibri"/>
              </a:rPr>
              <a:t>Toy</a:t>
            </a:r>
            <a:r>
              <a:rPr sz="3200" spc="-10" dirty="0">
                <a:latin typeface="Calibri"/>
                <a:cs typeface="Calibri"/>
              </a:rPr>
              <a:t> </a:t>
            </a:r>
            <a:r>
              <a:rPr sz="3200" spc="-15" dirty="0">
                <a:latin typeface="Calibri"/>
                <a:cs typeface="Calibri"/>
              </a:rPr>
              <a:t>problems</a:t>
            </a:r>
            <a:r>
              <a:rPr sz="3200" spc="-10" dirty="0">
                <a:latin typeface="Calibri"/>
                <a:cs typeface="Calibri"/>
              </a:rPr>
              <a:t> </a:t>
            </a:r>
            <a:r>
              <a:rPr sz="3200" dirty="0">
                <a:latin typeface="Calibri"/>
                <a:cs typeface="Calibri"/>
              </a:rPr>
              <a:t>and</a:t>
            </a:r>
            <a:r>
              <a:rPr sz="3200" spc="-5" dirty="0">
                <a:latin typeface="Calibri"/>
                <a:cs typeface="Calibri"/>
              </a:rPr>
              <a:t> </a:t>
            </a:r>
            <a:r>
              <a:rPr sz="3200" spc="-15" dirty="0">
                <a:latin typeface="Calibri"/>
                <a:cs typeface="Calibri"/>
              </a:rPr>
              <a:t>micro-worlds</a:t>
            </a:r>
            <a:endParaRPr sz="3200">
              <a:latin typeface="Calibri"/>
              <a:cs typeface="Calibri"/>
            </a:endParaRPr>
          </a:p>
          <a:p>
            <a:pPr marL="694055" lvl="1" indent="-306070">
              <a:lnSpc>
                <a:spcPct val="100000"/>
              </a:lnSpc>
              <a:spcBef>
                <a:spcPts val="710"/>
              </a:spcBef>
              <a:buFont typeface="Arial MT"/>
              <a:buChar char="–"/>
              <a:tabLst>
                <a:tab pos="694690" algn="l"/>
              </a:tabLst>
            </a:pPr>
            <a:r>
              <a:rPr sz="2800" spc="-5" dirty="0">
                <a:latin typeface="Calibri"/>
                <a:cs typeface="Calibri"/>
              </a:rPr>
              <a:t>8-Puzzle</a:t>
            </a:r>
            <a:endParaRPr sz="2800">
              <a:latin typeface="Calibri"/>
              <a:cs typeface="Calibri"/>
            </a:endParaRPr>
          </a:p>
          <a:p>
            <a:pPr marL="694055" lvl="1" indent="-306070">
              <a:lnSpc>
                <a:spcPct val="100000"/>
              </a:lnSpc>
              <a:spcBef>
                <a:spcPts val="700"/>
              </a:spcBef>
              <a:buFont typeface="Arial MT"/>
              <a:buChar char="–"/>
              <a:tabLst>
                <a:tab pos="694690" algn="l"/>
              </a:tabLst>
            </a:pPr>
            <a:r>
              <a:rPr sz="2800" spc="-10" dirty="0">
                <a:latin typeface="Calibri"/>
                <a:cs typeface="Calibri"/>
              </a:rPr>
              <a:t>Missionaries</a:t>
            </a:r>
            <a:r>
              <a:rPr sz="2800" spc="-40" dirty="0">
                <a:latin typeface="Calibri"/>
                <a:cs typeface="Calibri"/>
              </a:rPr>
              <a:t> </a:t>
            </a:r>
            <a:r>
              <a:rPr sz="2800" dirty="0">
                <a:latin typeface="Calibri"/>
                <a:cs typeface="Calibri"/>
              </a:rPr>
              <a:t>and</a:t>
            </a:r>
            <a:r>
              <a:rPr sz="2800" spc="-30" dirty="0">
                <a:latin typeface="Calibri"/>
                <a:cs typeface="Calibri"/>
              </a:rPr>
              <a:t> </a:t>
            </a:r>
            <a:r>
              <a:rPr sz="2800" spc="-5" dirty="0">
                <a:latin typeface="Calibri"/>
                <a:cs typeface="Calibri"/>
              </a:rPr>
              <a:t>Cannibals</a:t>
            </a:r>
            <a:endParaRPr sz="2800">
              <a:latin typeface="Calibri"/>
              <a:cs typeface="Calibri"/>
            </a:endParaRPr>
          </a:p>
          <a:p>
            <a:pPr marL="694055" lvl="1" indent="-306070">
              <a:lnSpc>
                <a:spcPct val="100000"/>
              </a:lnSpc>
              <a:spcBef>
                <a:spcPts val="695"/>
              </a:spcBef>
              <a:buFont typeface="Arial MT"/>
              <a:buChar char="–"/>
              <a:tabLst>
                <a:tab pos="694690" algn="l"/>
              </a:tabLst>
            </a:pPr>
            <a:r>
              <a:rPr sz="2800" spc="-10" dirty="0">
                <a:latin typeface="Calibri"/>
                <a:cs typeface="Calibri"/>
              </a:rPr>
              <a:t>Cryptarithmetic</a:t>
            </a:r>
            <a:endParaRPr sz="2800">
              <a:latin typeface="Calibri"/>
              <a:cs typeface="Calibri"/>
            </a:endParaRPr>
          </a:p>
          <a:p>
            <a:pPr marL="694055" lvl="1" indent="-306070">
              <a:lnSpc>
                <a:spcPct val="100000"/>
              </a:lnSpc>
              <a:spcBef>
                <a:spcPts val="695"/>
              </a:spcBef>
              <a:buFont typeface="Arial MT"/>
              <a:buChar char="–"/>
              <a:tabLst>
                <a:tab pos="694690" algn="l"/>
              </a:tabLst>
            </a:pPr>
            <a:r>
              <a:rPr sz="2800" spc="-20" dirty="0">
                <a:latin typeface="Calibri"/>
                <a:cs typeface="Calibri"/>
              </a:rPr>
              <a:t>Remove</a:t>
            </a:r>
            <a:r>
              <a:rPr sz="2800" spc="-30" dirty="0">
                <a:latin typeface="Calibri"/>
                <a:cs typeface="Calibri"/>
              </a:rPr>
              <a:t> </a:t>
            </a:r>
            <a:r>
              <a:rPr sz="2800" dirty="0">
                <a:latin typeface="Calibri"/>
                <a:cs typeface="Calibri"/>
              </a:rPr>
              <a:t>5</a:t>
            </a:r>
            <a:r>
              <a:rPr sz="2800" spc="-30" dirty="0">
                <a:latin typeface="Calibri"/>
                <a:cs typeface="Calibri"/>
              </a:rPr>
              <a:t> </a:t>
            </a:r>
            <a:r>
              <a:rPr sz="2800" spc="-10" dirty="0">
                <a:latin typeface="Calibri"/>
                <a:cs typeface="Calibri"/>
              </a:rPr>
              <a:t>Sticks</a:t>
            </a:r>
            <a:endParaRPr sz="2800">
              <a:latin typeface="Calibri"/>
              <a:cs typeface="Calibri"/>
            </a:endParaRPr>
          </a:p>
          <a:p>
            <a:pPr marL="694055" lvl="1" indent="-306070">
              <a:lnSpc>
                <a:spcPct val="100000"/>
              </a:lnSpc>
              <a:spcBef>
                <a:spcPts val="700"/>
              </a:spcBef>
              <a:buFont typeface="Arial MT"/>
              <a:buChar char="–"/>
              <a:tabLst>
                <a:tab pos="694690" algn="l"/>
              </a:tabLst>
            </a:pPr>
            <a:r>
              <a:rPr sz="2800" spc="-35" dirty="0">
                <a:latin typeface="Calibri"/>
                <a:cs typeface="Calibri"/>
              </a:rPr>
              <a:t>Water</a:t>
            </a:r>
            <a:r>
              <a:rPr sz="2800" spc="-25" dirty="0">
                <a:latin typeface="Calibri"/>
                <a:cs typeface="Calibri"/>
              </a:rPr>
              <a:t> </a:t>
            </a:r>
            <a:r>
              <a:rPr sz="2800" spc="-5" dirty="0">
                <a:latin typeface="Calibri"/>
                <a:cs typeface="Calibri"/>
              </a:rPr>
              <a:t>Jug</a:t>
            </a:r>
            <a:r>
              <a:rPr sz="2800" spc="-25" dirty="0">
                <a:latin typeface="Calibri"/>
                <a:cs typeface="Calibri"/>
              </a:rPr>
              <a:t> </a:t>
            </a:r>
            <a:r>
              <a:rPr sz="2800" spc="-15" dirty="0">
                <a:latin typeface="Calibri"/>
                <a:cs typeface="Calibri"/>
              </a:rPr>
              <a:t>Problem</a:t>
            </a:r>
            <a:endParaRPr sz="2800">
              <a:latin typeface="Calibri"/>
              <a:cs typeface="Calibri"/>
            </a:endParaRPr>
          </a:p>
          <a:p>
            <a:pPr marL="294005" indent="-281940">
              <a:lnSpc>
                <a:spcPct val="100000"/>
              </a:lnSpc>
              <a:spcBef>
                <a:spcPts val="780"/>
              </a:spcBef>
              <a:buFont typeface="Arial MT"/>
              <a:buChar char="•"/>
              <a:tabLst>
                <a:tab pos="294640" algn="l"/>
              </a:tabLst>
            </a:pPr>
            <a:r>
              <a:rPr sz="3200" spc="-15" dirty="0">
                <a:latin typeface="Calibri"/>
                <a:cs typeface="Calibri"/>
              </a:rPr>
              <a:t>Real-world</a:t>
            </a:r>
            <a:r>
              <a:rPr sz="3200" spc="-30" dirty="0">
                <a:latin typeface="Calibri"/>
                <a:cs typeface="Calibri"/>
              </a:rPr>
              <a:t> </a:t>
            </a:r>
            <a:r>
              <a:rPr sz="3200" spc="-15" dirty="0">
                <a:latin typeface="Calibri"/>
                <a:cs typeface="Calibri"/>
              </a:rPr>
              <a:t>problems</a:t>
            </a:r>
            <a:endParaRPr sz="3200">
              <a:latin typeface="Calibri"/>
              <a:cs typeface="Calibri"/>
            </a:endParaRPr>
          </a:p>
        </p:txBody>
      </p:sp>
    </p:spTree>
    <p:extLst>
      <p:ext uri="{BB962C8B-B14F-4D97-AF65-F5344CB8AC3E}">
        <p14:creationId xmlns:p14="http://schemas.microsoft.com/office/powerpoint/2010/main" val="17007007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2100" y="694824"/>
            <a:ext cx="7926070" cy="5182059"/>
          </a:xfrm>
          <a:prstGeom prst="rect">
            <a:avLst/>
          </a:prstGeom>
        </p:spPr>
        <p:txBody>
          <a:bodyPr vert="horz" wrap="square" lIns="0" tIns="52069" rIns="0" bIns="0" rtlCol="0">
            <a:spAutoFit/>
          </a:bodyPr>
          <a:lstStyle/>
          <a:p>
            <a:pPr marL="37465" marR="85090">
              <a:lnSpc>
                <a:spcPct val="94100"/>
              </a:lnSpc>
              <a:spcBef>
                <a:spcPts val="409"/>
              </a:spcBef>
              <a:tabLst>
                <a:tab pos="320040" algn="l"/>
                <a:tab pos="1481455" algn="l"/>
              </a:tabLst>
            </a:pPr>
            <a:r>
              <a:rPr lang="en-IN" sz="3200" b="1" spc="-25" dirty="0" smtClean="0">
                <a:latin typeface="Calibri"/>
                <a:cs typeface="Calibri"/>
              </a:rPr>
              <a:t>8-puzzle problem</a:t>
            </a:r>
          </a:p>
          <a:p>
            <a:pPr marL="319405" marR="85090" indent="-281940">
              <a:lnSpc>
                <a:spcPct val="94100"/>
              </a:lnSpc>
              <a:spcBef>
                <a:spcPts val="409"/>
              </a:spcBef>
              <a:buFont typeface="Arial"/>
              <a:buChar char="•"/>
              <a:tabLst>
                <a:tab pos="320040" algn="l"/>
                <a:tab pos="1481455" algn="l"/>
              </a:tabLst>
            </a:pPr>
            <a:r>
              <a:rPr sz="3200" b="1" spc="-25" dirty="0" smtClean="0">
                <a:latin typeface="Calibri"/>
                <a:cs typeface="Calibri"/>
              </a:rPr>
              <a:t>State</a:t>
            </a:r>
            <a:r>
              <a:rPr sz="3200" b="1" spc="-25" dirty="0">
                <a:latin typeface="Calibri"/>
                <a:cs typeface="Calibri"/>
              </a:rPr>
              <a:t>:	</a:t>
            </a:r>
            <a:r>
              <a:rPr sz="3200" dirty="0">
                <a:latin typeface="Calibri"/>
                <a:cs typeface="Calibri"/>
              </a:rPr>
              <a:t>3 x </a:t>
            </a:r>
            <a:r>
              <a:rPr sz="3200" dirty="0" smtClean="0">
                <a:latin typeface="Calibri"/>
                <a:cs typeface="Calibri"/>
              </a:rPr>
              <a:t>3</a:t>
            </a:r>
            <a:r>
              <a:rPr lang="en-IN" sz="3200" dirty="0" smtClean="0">
                <a:latin typeface="Calibri"/>
                <a:cs typeface="Calibri"/>
              </a:rPr>
              <a:t> array </a:t>
            </a:r>
            <a:r>
              <a:rPr sz="3200" spc="-5" dirty="0" smtClean="0">
                <a:latin typeface="Calibri"/>
                <a:cs typeface="Calibri"/>
              </a:rPr>
              <a:t>of </a:t>
            </a:r>
            <a:r>
              <a:rPr sz="3200" spc="-10" dirty="0">
                <a:latin typeface="Calibri"/>
                <a:cs typeface="Calibri"/>
              </a:rPr>
              <a:t>the tiles </a:t>
            </a:r>
            <a:r>
              <a:rPr sz="3200" spc="-5" dirty="0">
                <a:latin typeface="Calibri"/>
                <a:cs typeface="Calibri"/>
              </a:rPr>
              <a:t>on </a:t>
            </a:r>
            <a:r>
              <a:rPr sz="3200" spc="-710" dirty="0">
                <a:latin typeface="Calibri"/>
                <a:cs typeface="Calibri"/>
              </a:rPr>
              <a:t> </a:t>
            </a:r>
            <a:r>
              <a:rPr sz="3200" spc="-10" dirty="0">
                <a:latin typeface="Calibri"/>
                <a:cs typeface="Calibri"/>
              </a:rPr>
              <a:t>the</a:t>
            </a:r>
            <a:r>
              <a:rPr sz="3200" spc="-15" dirty="0">
                <a:latin typeface="Calibri"/>
                <a:cs typeface="Calibri"/>
              </a:rPr>
              <a:t> board.</a:t>
            </a:r>
            <a:endParaRPr sz="3200" dirty="0">
              <a:latin typeface="Calibri"/>
              <a:cs typeface="Calibri"/>
            </a:endParaRPr>
          </a:p>
          <a:p>
            <a:pPr marL="319405" marR="104775" indent="-281940">
              <a:lnSpc>
                <a:spcPct val="100000"/>
              </a:lnSpc>
              <a:spcBef>
                <a:spcPts val="800"/>
              </a:spcBef>
              <a:buFont typeface="Arial"/>
              <a:buChar char="•"/>
              <a:tabLst>
                <a:tab pos="320040" algn="l"/>
              </a:tabLst>
            </a:pPr>
            <a:r>
              <a:rPr sz="3200" b="1" spc="-25" dirty="0">
                <a:latin typeface="Calibri"/>
                <a:cs typeface="Calibri"/>
              </a:rPr>
              <a:t>Operators:</a:t>
            </a:r>
            <a:r>
              <a:rPr sz="3200" b="1" spc="-5" dirty="0">
                <a:latin typeface="Calibri"/>
                <a:cs typeface="Calibri"/>
              </a:rPr>
              <a:t> </a:t>
            </a:r>
            <a:r>
              <a:rPr sz="3200" spc="-15" dirty="0">
                <a:latin typeface="Calibri"/>
                <a:cs typeface="Calibri"/>
              </a:rPr>
              <a:t>Move</a:t>
            </a:r>
            <a:r>
              <a:rPr sz="3200" spc="-10" dirty="0">
                <a:latin typeface="Calibri"/>
                <a:cs typeface="Calibri"/>
              </a:rPr>
              <a:t> Blank </a:t>
            </a:r>
            <a:r>
              <a:rPr sz="3200" spc="-15" dirty="0">
                <a:latin typeface="Calibri"/>
                <a:cs typeface="Calibri"/>
              </a:rPr>
              <a:t>Square</a:t>
            </a:r>
            <a:r>
              <a:rPr sz="3200" spc="-10" dirty="0">
                <a:latin typeface="Calibri"/>
                <a:cs typeface="Calibri"/>
              </a:rPr>
              <a:t> Left, Right, </a:t>
            </a:r>
            <a:r>
              <a:rPr sz="3200" spc="-5" dirty="0">
                <a:latin typeface="Calibri"/>
                <a:cs typeface="Calibri"/>
              </a:rPr>
              <a:t>Up </a:t>
            </a:r>
            <a:r>
              <a:rPr sz="3200" spc="-710" dirty="0">
                <a:latin typeface="Calibri"/>
                <a:cs typeface="Calibri"/>
              </a:rPr>
              <a:t> </a:t>
            </a:r>
            <a:r>
              <a:rPr sz="3200" spc="-5" dirty="0">
                <a:latin typeface="Calibri"/>
                <a:cs typeface="Calibri"/>
              </a:rPr>
              <a:t>or</a:t>
            </a:r>
            <a:r>
              <a:rPr sz="3200" spc="-10" dirty="0">
                <a:latin typeface="Calibri"/>
                <a:cs typeface="Calibri"/>
              </a:rPr>
              <a:t> Down.</a:t>
            </a:r>
            <a:endParaRPr sz="3200" dirty="0">
              <a:latin typeface="Calibri"/>
              <a:cs typeface="Calibri"/>
            </a:endParaRPr>
          </a:p>
          <a:p>
            <a:pPr marL="719455" marR="30480" indent="-305435">
              <a:lnSpc>
                <a:spcPct val="100000"/>
              </a:lnSpc>
              <a:spcBef>
                <a:spcPts val="710"/>
              </a:spcBef>
            </a:pPr>
            <a:r>
              <a:rPr sz="2800" dirty="0">
                <a:latin typeface="Arial MT"/>
                <a:cs typeface="Arial MT"/>
              </a:rPr>
              <a:t>–</a:t>
            </a:r>
            <a:r>
              <a:rPr sz="2800" spc="65" dirty="0">
                <a:latin typeface="Arial MT"/>
                <a:cs typeface="Arial MT"/>
              </a:rPr>
              <a:t> </a:t>
            </a:r>
            <a:r>
              <a:rPr sz="2800" spc="-5" dirty="0">
                <a:latin typeface="Calibri"/>
                <a:cs typeface="Calibri"/>
              </a:rPr>
              <a:t>This is</a:t>
            </a:r>
            <a:r>
              <a:rPr sz="2800" dirty="0">
                <a:latin typeface="Calibri"/>
                <a:cs typeface="Calibri"/>
              </a:rPr>
              <a:t> a</a:t>
            </a:r>
            <a:r>
              <a:rPr sz="2800" spc="-5" dirty="0">
                <a:latin typeface="Calibri"/>
                <a:cs typeface="Calibri"/>
              </a:rPr>
              <a:t> </a:t>
            </a:r>
            <a:r>
              <a:rPr sz="2800" spc="-15" dirty="0">
                <a:latin typeface="Calibri"/>
                <a:cs typeface="Calibri"/>
              </a:rPr>
              <a:t>more</a:t>
            </a:r>
            <a:r>
              <a:rPr sz="2800" spc="-5" dirty="0">
                <a:latin typeface="Calibri"/>
                <a:cs typeface="Calibri"/>
              </a:rPr>
              <a:t> </a:t>
            </a:r>
            <a:r>
              <a:rPr sz="2800" spc="-15" dirty="0">
                <a:latin typeface="Calibri"/>
                <a:cs typeface="Calibri"/>
              </a:rPr>
              <a:t>efficient</a:t>
            </a:r>
            <a:r>
              <a:rPr sz="2800" spc="-5" dirty="0">
                <a:latin typeface="Calibri"/>
                <a:cs typeface="Calibri"/>
              </a:rPr>
              <a:t> </a:t>
            </a:r>
            <a:r>
              <a:rPr sz="2800" spc="-10" dirty="0">
                <a:latin typeface="Calibri"/>
                <a:cs typeface="Calibri"/>
              </a:rPr>
              <a:t>encoding</a:t>
            </a:r>
            <a:r>
              <a:rPr sz="2800" spc="-5" dirty="0">
                <a:latin typeface="Calibri"/>
                <a:cs typeface="Calibri"/>
              </a:rPr>
              <a:t> of</a:t>
            </a:r>
            <a:r>
              <a:rPr sz="2800" dirty="0">
                <a:latin typeface="Calibri"/>
                <a:cs typeface="Calibri"/>
              </a:rPr>
              <a:t> </a:t>
            </a:r>
            <a:r>
              <a:rPr sz="2800" spc="-10" dirty="0">
                <a:latin typeface="Calibri"/>
                <a:cs typeface="Calibri"/>
              </a:rPr>
              <a:t>the </a:t>
            </a:r>
            <a:r>
              <a:rPr sz="2800" spc="-25" dirty="0">
                <a:latin typeface="Calibri"/>
                <a:cs typeface="Calibri"/>
              </a:rPr>
              <a:t>operators </a:t>
            </a:r>
            <a:r>
              <a:rPr sz="2800" spc="-20" dirty="0">
                <a:latin typeface="Calibri"/>
                <a:cs typeface="Calibri"/>
              </a:rPr>
              <a:t> </a:t>
            </a:r>
            <a:r>
              <a:rPr sz="2800" spc="-10" dirty="0">
                <a:latin typeface="Calibri"/>
                <a:cs typeface="Calibri"/>
              </a:rPr>
              <a:t>than</a:t>
            </a:r>
            <a:r>
              <a:rPr sz="2800" spc="-15" dirty="0">
                <a:latin typeface="Calibri"/>
                <a:cs typeface="Calibri"/>
              </a:rPr>
              <a:t> </a:t>
            </a:r>
            <a:r>
              <a:rPr sz="2800" spc="-5" dirty="0">
                <a:latin typeface="Calibri"/>
                <a:cs typeface="Calibri"/>
              </a:rPr>
              <a:t>one</a:t>
            </a:r>
            <a:r>
              <a:rPr sz="2800" spc="-10" dirty="0">
                <a:latin typeface="Calibri"/>
                <a:cs typeface="Calibri"/>
              </a:rPr>
              <a:t> </a:t>
            </a:r>
            <a:r>
              <a:rPr sz="2800" spc="-5" dirty="0">
                <a:latin typeface="Calibri"/>
                <a:cs typeface="Calibri"/>
              </a:rPr>
              <a:t>in which</a:t>
            </a:r>
            <a:r>
              <a:rPr sz="2800" spc="-10" dirty="0">
                <a:latin typeface="Calibri"/>
                <a:cs typeface="Calibri"/>
              </a:rPr>
              <a:t> </a:t>
            </a:r>
            <a:r>
              <a:rPr sz="2800" spc="-5" dirty="0">
                <a:latin typeface="Calibri"/>
                <a:cs typeface="Calibri"/>
              </a:rPr>
              <a:t>each of</a:t>
            </a:r>
            <a:r>
              <a:rPr sz="2800" spc="-10" dirty="0">
                <a:latin typeface="Calibri"/>
                <a:cs typeface="Calibri"/>
              </a:rPr>
              <a:t> </a:t>
            </a:r>
            <a:r>
              <a:rPr sz="2800" spc="-20" dirty="0">
                <a:latin typeface="Calibri"/>
                <a:cs typeface="Calibri"/>
              </a:rPr>
              <a:t>four</a:t>
            </a:r>
            <a:r>
              <a:rPr sz="2800" spc="-5" dirty="0">
                <a:latin typeface="Calibri"/>
                <a:cs typeface="Calibri"/>
              </a:rPr>
              <a:t> possible</a:t>
            </a:r>
            <a:r>
              <a:rPr sz="2800" spc="-10" dirty="0">
                <a:latin typeface="Calibri"/>
                <a:cs typeface="Calibri"/>
              </a:rPr>
              <a:t> </a:t>
            </a:r>
            <a:r>
              <a:rPr sz="2800" spc="-15" dirty="0">
                <a:latin typeface="Calibri"/>
                <a:cs typeface="Calibri"/>
              </a:rPr>
              <a:t>moves</a:t>
            </a:r>
            <a:r>
              <a:rPr sz="2800" spc="-5" dirty="0">
                <a:latin typeface="Calibri"/>
                <a:cs typeface="Calibri"/>
              </a:rPr>
              <a:t> </a:t>
            </a:r>
            <a:r>
              <a:rPr sz="2800" spc="-25" dirty="0">
                <a:latin typeface="Calibri"/>
                <a:cs typeface="Calibri"/>
              </a:rPr>
              <a:t>for </a:t>
            </a:r>
            <a:r>
              <a:rPr sz="2800" spc="-620" dirty="0">
                <a:latin typeface="Calibri"/>
                <a:cs typeface="Calibri"/>
              </a:rPr>
              <a:t> </a:t>
            </a:r>
            <a:r>
              <a:rPr sz="2800" spc="-5" dirty="0">
                <a:latin typeface="Calibri"/>
                <a:cs typeface="Calibri"/>
              </a:rPr>
              <a:t>each</a:t>
            </a:r>
            <a:r>
              <a:rPr sz="2800" spc="-10" dirty="0">
                <a:latin typeface="Calibri"/>
                <a:cs typeface="Calibri"/>
              </a:rPr>
              <a:t> </a:t>
            </a:r>
            <a:r>
              <a:rPr sz="2800" spc="-5" dirty="0">
                <a:latin typeface="Calibri"/>
                <a:cs typeface="Calibri"/>
              </a:rPr>
              <a:t>of </a:t>
            </a:r>
            <a:r>
              <a:rPr sz="2800" spc="-10" dirty="0">
                <a:latin typeface="Calibri"/>
                <a:cs typeface="Calibri"/>
              </a:rPr>
              <a:t>the </a:t>
            </a:r>
            <a:r>
              <a:rPr sz="2800" dirty="0">
                <a:latin typeface="Calibri"/>
                <a:cs typeface="Calibri"/>
              </a:rPr>
              <a:t>8</a:t>
            </a:r>
            <a:r>
              <a:rPr sz="2800" spc="-5" dirty="0">
                <a:latin typeface="Calibri"/>
                <a:cs typeface="Calibri"/>
              </a:rPr>
              <a:t> </a:t>
            </a:r>
            <a:r>
              <a:rPr sz="2800" spc="-15" dirty="0">
                <a:latin typeface="Calibri"/>
                <a:cs typeface="Calibri"/>
              </a:rPr>
              <a:t>distinct</a:t>
            </a:r>
            <a:r>
              <a:rPr sz="2800" spc="-10" dirty="0">
                <a:latin typeface="Calibri"/>
                <a:cs typeface="Calibri"/>
              </a:rPr>
              <a:t> tiles </a:t>
            </a:r>
            <a:r>
              <a:rPr sz="2800" spc="-5" dirty="0">
                <a:latin typeface="Calibri"/>
                <a:cs typeface="Calibri"/>
              </a:rPr>
              <a:t>is</a:t>
            </a:r>
            <a:r>
              <a:rPr sz="2800" spc="-10" dirty="0">
                <a:latin typeface="Calibri"/>
                <a:cs typeface="Calibri"/>
              </a:rPr>
              <a:t> </a:t>
            </a:r>
            <a:r>
              <a:rPr sz="2800" spc="-5" dirty="0">
                <a:latin typeface="Calibri"/>
                <a:cs typeface="Calibri"/>
              </a:rPr>
              <a:t>used.</a:t>
            </a:r>
            <a:endParaRPr sz="2800" dirty="0">
              <a:latin typeface="Calibri"/>
              <a:cs typeface="Calibri"/>
            </a:endParaRPr>
          </a:p>
          <a:p>
            <a:pPr marL="319405" marR="194310" indent="-281940">
              <a:lnSpc>
                <a:spcPct val="100000"/>
              </a:lnSpc>
              <a:spcBef>
                <a:spcPts val="785"/>
              </a:spcBef>
              <a:buFont typeface="Arial"/>
              <a:buChar char="•"/>
              <a:tabLst>
                <a:tab pos="320040" algn="l"/>
              </a:tabLst>
            </a:pPr>
            <a:r>
              <a:rPr sz="3200" b="1" spc="-5" dirty="0">
                <a:latin typeface="Calibri"/>
                <a:cs typeface="Calibri"/>
              </a:rPr>
              <a:t>Initial </a:t>
            </a:r>
            <a:r>
              <a:rPr sz="3200" b="1" spc="-25" dirty="0">
                <a:latin typeface="Calibri"/>
                <a:cs typeface="Calibri"/>
              </a:rPr>
              <a:t>State:</a:t>
            </a:r>
            <a:r>
              <a:rPr sz="3200" b="1" spc="25" dirty="0">
                <a:latin typeface="Calibri"/>
                <a:cs typeface="Calibri"/>
              </a:rPr>
              <a:t> </a:t>
            </a:r>
            <a:r>
              <a:rPr sz="3200" dirty="0">
                <a:latin typeface="Calibri"/>
                <a:cs typeface="Calibri"/>
              </a:rPr>
              <a:t>A</a:t>
            </a:r>
            <a:r>
              <a:rPr sz="3200" spc="-5" dirty="0">
                <a:latin typeface="Calibri"/>
                <a:cs typeface="Calibri"/>
              </a:rPr>
              <a:t> particular </a:t>
            </a:r>
            <a:r>
              <a:rPr sz="3200" spc="-20" dirty="0">
                <a:latin typeface="Calibri"/>
                <a:cs typeface="Calibri"/>
              </a:rPr>
              <a:t>configuration</a:t>
            </a:r>
            <a:r>
              <a:rPr sz="3200" spc="-10" dirty="0">
                <a:latin typeface="Calibri"/>
                <a:cs typeface="Calibri"/>
              </a:rPr>
              <a:t> </a:t>
            </a:r>
            <a:r>
              <a:rPr sz="3200" spc="-5" dirty="0">
                <a:latin typeface="Calibri"/>
                <a:cs typeface="Calibri"/>
              </a:rPr>
              <a:t>of </a:t>
            </a:r>
            <a:r>
              <a:rPr sz="3200" spc="-10" dirty="0">
                <a:latin typeface="Calibri"/>
                <a:cs typeface="Calibri"/>
              </a:rPr>
              <a:t>the </a:t>
            </a:r>
            <a:r>
              <a:rPr sz="3200" spc="-710" dirty="0">
                <a:latin typeface="Calibri"/>
                <a:cs typeface="Calibri"/>
              </a:rPr>
              <a:t> </a:t>
            </a:r>
            <a:r>
              <a:rPr sz="3200" spc="-15" dirty="0">
                <a:latin typeface="Calibri"/>
                <a:cs typeface="Calibri"/>
              </a:rPr>
              <a:t>board.</a:t>
            </a:r>
            <a:endParaRPr sz="3200" dirty="0">
              <a:latin typeface="Calibri"/>
              <a:cs typeface="Calibri"/>
            </a:endParaRPr>
          </a:p>
          <a:p>
            <a:pPr marL="319405" indent="-281940">
              <a:lnSpc>
                <a:spcPct val="100000"/>
              </a:lnSpc>
              <a:spcBef>
                <a:spcPts val="800"/>
              </a:spcBef>
              <a:buFont typeface="Arial"/>
              <a:buChar char="•"/>
              <a:tabLst>
                <a:tab pos="320040" algn="l"/>
              </a:tabLst>
            </a:pPr>
            <a:r>
              <a:rPr sz="3200" b="1" spc="-5" dirty="0">
                <a:latin typeface="Calibri"/>
                <a:cs typeface="Calibri"/>
              </a:rPr>
              <a:t>Goal:</a:t>
            </a:r>
            <a:r>
              <a:rPr sz="3200" b="1" dirty="0">
                <a:latin typeface="Calibri"/>
                <a:cs typeface="Calibri"/>
              </a:rPr>
              <a:t> </a:t>
            </a:r>
            <a:r>
              <a:rPr sz="3200" dirty="0">
                <a:latin typeface="Calibri"/>
                <a:cs typeface="Calibri"/>
              </a:rPr>
              <a:t>A</a:t>
            </a:r>
            <a:r>
              <a:rPr sz="3200" spc="-5" dirty="0">
                <a:latin typeface="Calibri"/>
                <a:cs typeface="Calibri"/>
              </a:rPr>
              <a:t> particular </a:t>
            </a:r>
            <a:r>
              <a:rPr sz="3200" spc="-20" dirty="0">
                <a:latin typeface="Calibri"/>
                <a:cs typeface="Calibri"/>
              </a:rPr>
              <a:t>configuration</a:t>
            </a:r>
            <a:r>
              <a:rPr sz="3200" spc="-10" dirty="0">
                <a:latin typeface="Calibri"/>
                <a:cs typeface="Calibri"/>
              </a:rPr>
              <a:t> </a:t>
            </a:r>
            <a:r>
              <a:rPr sz="3200" spc="-5" dirty="0">
                <a:latin typeface="Calibri"/>
                <a:cs typeface="Calibri"/>
              </a:rPr>
              <a:t>of </a:t>
            </a:r>
            <a:r>
              <a:rPr sz="3200" spc="-10" dirty="0">
                <a:latin typeface="Calibri"/>
                <a:cs typeface="Calibri"/>
              </a:rPr>
              <a:t>the </a:t>
            </a:r>
            <a:r>
              <a:rPr sz="3200" spc="-15" dirty="0">
                <a:latin typeface="Calibri"/>
                <a:cs typeface="Calibri"/>
              </a:rPr>
              <a:t>board.</a:t>
            </a:r>
            <a:endParaRPr sz="3200" dirty="0">
              <a:latin typeface="Calibri"/>
              <a:cs typeface="Calibri"/>
            </a:endParaRPr>
          </a:p>
        </p:txBody>
      </p:sp>
    </p:spTree>
    <p:extLst>
      <p:ext uri="{BB962C8B-B14F-4D97-AF65-F5344CB8AC3E}">
        <p14:creationId xmlns:p14="http://schemas.microsoft.com/office/powerpoint/2010/main" val="21813811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7714" y="475487"/>
            <a:ext cx="5218430" cy="695960"/>
          </a:xfrm>
          <a:prstGeom prst="rect">
            <a:avLst/>
          </a:prstGeom>
        </p:spPr>
        <p:txBody>
          <a:bodyPr vert="horz" wrap="square" lIns="0" tIns="12700" rIns="0" bIns="0" rtlCol="0">
            <a:spAutoFit/>
          </a:bodyPr>
          <a:lstStyle/>
          <a:p>
            <a:pPr marL="12700">
              <a:lnSpc>
                <a:spcPct val="100000"/>
              </a:lnSpc>
              <a:spcBef>
                <a:spcPts val="100"/>
              </a:spcBef>
            </a:pPr>
            <a:r>
              <a:rPr spc="-5" dirty="0"/>
              <a:t>The</a:t>
            </a:r>
            <a:r>
              <a:rPr spc="-45" dirty="0"/>
              <a:t> </a:t>
            </a:r>
            <a:r>
              <a:rPr spc="-10" dirty="0"/>
              <a:t>8-Queens</a:t>
            </a:r>
            <a:r>
              <a:rPr spc="-50" dirty="0"/>
              <a:t> </a:t>
            </a:r>
            <a:r>
              <a:rPr spc="-15" dirty="0"/>
              <a:t>Problem</a:t>
            </a:r>
          </a:p>
        </p:txBody>
      </p:sp>
      <p:sp>
        <p:nvSpPr>
          <p:cNvPr id="3" name="object 3"/>
          <p:cNvSpPr txBox="1"/>
          <p:nvPr/>
        </p:nvSpPr>
        <p:spPr>
          <a:xfrm>
            <a:off x="682145" y="2828664"/>
            <a:ext cx="3173730" cy="2463800"/>
          </a:xfrm>
          <a:prstGeom prst="rect">
            <a:avLst/>
          </a:prstGeom>
        </p:spPr>
        <p:txBody>
          <a:bodyPr vert="horz" wrap="square" lIns="0" tIns="12700" rIns="0" bIns="0" rtlCol="0">
            <a:spAutoFit/>
          </a:bodyPr>
          <a:lstStyle/>
          <a:p>
            <a:pPr marL="354965" marR="5080" indent="-342900">
              <a:lnSpc>
                <a:spcPct val="100000"/>
              </a:lnSpc>
              <a:spcBef>
                <a:spcPts val="100"/>
              </a:spcBef>
            </a:pPr>
            <a:r>
              <a:rPr sz="3200" b="1" spc="-5" dirty="0">
                <a:latin typeface="Calibri"/>
                <a:cs typeface="Calibri"/>
              </a:rPr>
              <a:t>Place</a:t>
            </a:r>
            <a:r>
              <a:rPr sz="3200" b="1" spc="-55" dirty="0">
                <a:latin typeface="Calibri"/>
                <a:cs typeface="Calibri"/>
              </a:rPr>
              <a:t> </a:t>
            </a:r>
            <a:r>
              <a:rPr sz="3200" b="1" spc="-10" dirty="0">
                <a:latin typeface="Calibri"/>
                <a:cs typeface="Calibri"/>
              </a:rPr>
              <a:t>eight</a:t>
            </a:r>
            <a:r>
              <a:rPr sz="3200" b="1" spc="-50" dirty="0">
                <a:latin typeface="Calibri"/>
                <a:cs typeface="Calibri"/>
              </a:rPr>
              <a:t> </a:t>
            </a:r>
            <a:r>
              <a:rPr sz="3200" b="1" spc="-5" dirty="0">
                <a:latin typeface="Calibri"/>
                <a:cs typeface="Calibri"/>
              </a:rPr>
              <a:t>queens </a:t>
            </a:r>
            <a:r>
              <a:rPr sz="3200" b="1" spc="-705" dirty="0">
                <a:latin typeface="Calibri"/>
                <a:cs typeface="Calibri"/>
              </a:rPr>
              <a:t> </a:t>
            </a:r>
            <a:r>
              <a:rPr sz="3200" b="1" spc="-5" dirty="0">
                <a:latin typeface="Calibri"/>
                <a:cs typeface="Calibri"/>
              </a:rPr>
              <a:t>on </a:t>
            </a:r>
            <a:r>
              <a:rPr sz="3200" b="1" dirty="0">
                <a:latin typeface="Calibri"/>
                <a:cs typeface="Calibri"/>
              </a:rPr>
              <a:t>a </a:t>
            </a:r>
            <a:r>
              <a:rPr sz="3200" b="1" spc="-10" dirty="0">
                <a:latin typeface="Calibri"/>
                <a:cs typeface="Calibri"/>
              </a:rPr>
              <a:t>chessboard </a:t>
            </a:r>
            <a:r>
              <a:rPr sz="3200" b="1" spc="-710" dirty="0">
                <a:latin typeface="Calibri"/>
                <a:cs typeface="Calibri"/>
              </a:rPr>
              <a:t> </a:t>
            </a:r>
            <a:r>
              <a:rPr sz="3200" b="1" spc="-10" dirty="0">
                <a:latin typeface="Calibri"/>
                <a:cs typeface="Calibri"/>
              </a:rPr>
              <a:t>such </a:t>
            </a:r>
            <a:r>
              <a:rPr sz="3200" b="1" spc="-15" dirty="0">
                <a:latin typeface="Calibri"/>
                <a:cs typeface="Calibri"/>
              </a:rPr>
              <a:t>that </a:t>
            </a:r>
            <a:r>
              <a:rPr sz="3200" b="1" spc="-5" dirty="0">
                <a:latin typeface="Calibri"/>
                <a:cs typeface="Calibri"/>
              </a:rPr>
              <a:t>no </a:t>
            </a:r>
            <a:r>
              <a:rPr sz="3200" b="1" dirty="0">
                <a:latin typeface="Calibri"/>
                <a:cs typeface="Calibri"/>
              </a:rPr>
              <a:t> </a:t>
            </a:r>
            <a:r>
              <a:rPr sz="3200" b="1" spc="-5" dirty="0">
                <a:latin typeface="Calibri"/>
                <a:cs typeface="Calibri"/>
              </a:rPr>
              <a:t>queen </a:t>
            </a:r>
            <a:r>
              <a:rPr sz="3200" b="1" spc="-25" dirty="0">
                <a:latin typeface="Calibri"/>
                <a:cs typeface="Calibri"/>
              </a:rPr>
              <a:t>attacks </a:t>
            </a:r>
            <a:r>
              <a:rPr sz="3200" b="1" spc="-20" dirty="0">
                <a:latin typeface="Calibri"/>
                <a:cs typeface="Calibri"/>
              </a:rPr>
              <a:t> </a:t>
            </a:r>
            <a:r>
              <a:rPr sz="3200" b="1" spc="-25" dirty="0">
                <a:latin typeface="Calibri"/>
                <a:cs typeface="Calibri"/>
              </a:rPr>
              <a:t>any</a:t>
            </a:r>
            <a:r>
              <a:rPr sz="3200" b="1" spc="-15" dirty="0">
                <a:latin typeface="Calibri"/>
                <a:cs typeface="Calibri"/>
              </a:rPr>
              <a:t> </a:t>
            </a:r>
            <a:r>
              <a:rPr sz="3200" b="1" spc="-5" dirty="0">
                <a:latin typeface="Calibri"/>
                <a:cs typeface="Calibri"/>
              </a:rPr>
              <a:t>other!</a:t>
            </a:r>
            <a:endParaRPr sz="3200">
              <a:latin typeface="Calibri"/>
              <a:cs typeface="Calibri"/>
            </a:endParaRPr>
          </a:p>
        </p:txBody>
      </p:sp>
      <p:pic>
        <p:nvPicPr>
          <p:cNvPr id="4" name="object 4"/>
          <p:cNvPicPr/>
          <p:nvPr/>
        </p:nvPicPr>
        <p:blipFill>
          <a:blip r:embed="rId2" cstate="print"/>
          <a:stretch>
            <a:fillRect/>
          </a:stretch>
        </p:blipFill>
        <p:spPr>
          <a:xfrm>
            <a:off x="4267080" y="2133720"/>
            <a:ext cx="4496039" cy="4495679"/>
          </a:xfrm>
          <a:prstGeom prst="rect">
            <a:avLst/>
          </a:prstGeom>
        </p:spPr>
      </p:pic>
    </p:spTree>
    <p:extLst>
      <p:ext uri="{BB962C8B-B14F-4D97-AF65-F5344CB8AC3E}">
        <p14:creationId xmlns:p14="http://schemas.microsoft.com/office/powerpoint/2010/main" val="18151516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1763" y="200807"/>
            <a:ext cx="6155055" cy="695960"/>
          </a:xfrm>
          <a:prstGeom prst="rect">
            <a:avLst/>
          </a:prstGeom>
        </p:spPr>
        <p:txBody>
          <a:bodyPr vert="horz" wrap="square" lIns="0" tIns="12700" rIns="0" bIns="0" rtlCol="0">
            <a:spAutoFit/>
          </a:bodyPr>
          <a:lstStyle/>
          <a:p>
            <a:pPr marL="12700">
              <a:lnSpc>
                <a:spcPct val="100000"/>
              </a:lnSpc>
              <a:spcBef>
                <a:spcPts val="100"/>
              </a:spcBef>
            </a:pPr>
            <a:r>
              <a:rPr spc="-10" dirty="0"/>
              <a:t>Missionaries</a:t>
            </a:r>
            <a:r>
              <a:rPr spc="-55" dirty="0"/>
              <a:t> </a:t>
            </a:r>
            <a:r>
              <a:rPr dirty="0"/>
              <a:t>and</a:t>
            </a:r>
            <a:r>
              <a:rPr spc="-45" dirty="0"/>
              <a:t> </a:t>
            </a:r>
            <a:r>
              <a:rPr spc="-5" dirty="0"/>
              <a:t>Cannibals</a:t>
            </a:r>
          </a:p>
        </p:txBody>
      </p:sp>
      <p:sp>
        <p:nvSpPr>
          <p:cNvPr id="3" name="object 3"/>
          <p:cNvSpPr txBox="1"/>
          <p:nvPr/>
        </p:nvSpPr>
        <p:spPr>
          <a:xfrm>
            <a:off x="301625" y="999504"/>
            <a:ext cx="5159375" cy="5593080"/>
          </a:xfrm>
          <a:prstGeom prst="rect">
            <a:avLst/>
          </a:prstGeom>
        </p:spPr>
        <p:txBody>
          <a:bodyPr vert="horz" wrap="square" lIns="0" tIns="12700" rIns="0" bIns="0" rtlCol="0">
            <a:spAutoFit/>
          </a:bodyPr>
          <a:lstStyle/>
          <a:p>
            <a:pPr marL="354965" marR="292100" indent="-342900">
              <a:lnSpc>
                <a:spcPct val="100000"/>
              </a:lnSpc>
              <a:spcBef>
                <a:spcPts val="100"/>
              </a:spcBef>
            </a:pPr>
            <a:r>
              <a:rPr sz="3200" b="1" spc="-15" dirty="0">
                <a:latin typeface="Calibri"/>
                <a:cs typeface="Calibri"/>
              </a:rPr>
              <a:t>There are </a:t>
            </a:r>
            <a:r>
              <a:rPr sz="3200" b="1" dirty="0">
                <a:latin typeface="Calibri"/>
                <a:cs typeface="Calibri"/>
              </a:rPr>
              <a:t>3 </a:t>
            </a:r>
            <a:r>
              <a:rPr sz="3200" b="1" spc="-5" dirty="0">
                <a:latin typeface="Calibri"/>
                <a:cs typeface="Calibri"/>
              </a:rPr>
              <a:t>missionaries, </a:t>
            </a:r>
            <a:r>
              <a:rPr sz="3200" b="1" dirty="0">
                <a:latin typeface="Calibri"/>
                <a:cs typeface="Calibri"/>
              </a:rPr>
              <a:t>3 </a:t>
            </a:r>
            <a:r>
              <a:rPr sz="3200" b="1" spc="5" dirty="0">
                <a:latin typeface="Calibri"/>
                <a:cs typeface="Calibri"/>
              </a:rPr>
              <a:t> </a:t>
            </a:r>
            <a:r>
              <a:rPr sz="3200" b="1" spc="-10" dirty="0">
                <a:latin typeface="Calibri"/>
                <a:cs typeface="Calibri"/>
              </a:rPr>
              <a:t>cannibals, </a:t>
            </a:r>
            <a:r>
              <a:rPr sz="3200" b="1" spc="-5" dirty="0">
                <a:latin typeface="Calibri"/>
                <a:cs typeface="Calibri"/>
              </a:rPr>
              <a:t>and </a:t>
            </a:r>
            <a:r>
              <a:rPr sz="3200" b="1" dirty="0">
                <a:latin typeface="Calibri"/>
                <a:cs typeface="Calibri"/>
              </a:rPr>
              <a:t>1 </a:t>
            </a:r>
            <a:r>
              <a:rPr sz="3200" b="1" spc="-15" dirty="0">
                <a:latin typeface="Calibri"/>
                <a:cs typeface="Calibri"/>
              </a:rPr>
              <a:t>boat that </a:t>
            </a:r>
            <a:r>
              <a:rPr sz="3200" b="1" spc="-10" dirty="0">
                <a:latin typeface="Calibri"/>
                <a:cs typeface="Calibri"/>
              </a:rPr>
              <a:t> can </a:t>
            </a:r>
            <a:r>
              <a:rPr sz="3200" b="1" spc="-5" dirty="0">
                <a:latin typeface="Calibri"/>
                <a:cs typeface="Calibri"/>
              </a:rPr>
              <a:t>carry up </a:t>
            </a:r>
            <a:r>
              <a:rPr sz="3200" b="1" spc="-20" dirty="0">
                <a:latin typeface="Calibri"/>
                <a:cs typeface="Calibri"/>
              </a:rPr>
              <a:t>to </a:t>
            </a:r>
            <a:r>
              <a:rPr sz="3200" b="1" spc="-15" dirty="0">
                <a:latin typeface="Calibri"/>
                <a:cs typeface="Calibri"/>
              </a:rPr>
              <a:t>two </a:t>
            </a:r>
            <a:r>
              <a:rPr sz="3200" b="1" spc="-5" dirty="0">
                <a:latin typeface="Calibri"/>
                <a:cs typeface="Calibri"/>
              </a:rPr>
              <a:t>people </a:t>
            </a:r>
            <a:r>
              <a:rPr sz="3200" b="1" spc="-715" dirty="0">
                <a:latin typeface="Calibri"/>
                <a:cs typeface="Calibri"/>
              </a:rPr>
              <a:t> </a:t>
            </a:r>
            <a:r>
              <a:rPr sz="3200" b="1" spc="-5" dirty="0">
                <a:latin typeface="Calibri"/>
                <a:cs typeface="Calibri"/>
              </a:rPr>
              <a:t>on</a:t>
            </a:r>
            <a:r>
              <a:rPr sz="3200" b="1" spc="-15" dirty="0">
                <a:latin typeface="Calibri"/>
                <a:cs typeface="Calibri"/>
              </a:rPr>
              <a:t> </a:t>
            </a:r>
            <a:r>
              <a:rPr sz="3200" b="1" spc="-5" dirty="0">
                <a:latin typeface="Calibri"/>
                <a:cs typeface="Calibri"/>
              </a:rPr>
              <a:t>one</a:t>
            </a:r>
            <a:r>
              <a:rPr sz="3200" b="1" spc="-10" dirty="0">
                <a:latin typeface="Calibri"/>
                <a:cs typeface="Calibri"/>
              </a:rPr>
              <a:t> side</a:t>
            </a:r>
            <a:r>
              <a:rPr sz="3200" b="1" spc="-15" dirty="0">
                <a:latin typeface="Calibri"/>
                <a:cs typeface="Calibri"/>
              </a:rPr>
              <a:t> </a:t>
            </a:r>
            <a:r>
              <a:rPr sz="3200" b="1" spc="-5" dirty="0">
                <a:latin typeface="Calibri"/>
                <a:cs typeface="Calibri"/>
              </a:rPr>
              <a:t>of</a:t>
            </a:r>
            <a:r>
              <a:rPr sz="3200" b="1" spc="-10" dirty="0">
                <a:latin typeface="Calibri"/>
                <a:cs typeface="Calibri"/>
              </a:rPr>
              <a:t> </a:t>
            </a:r>
            <a:r>
              <a:rPr sz="3200" b="1" dirty="0">
                <a:latin typeface="Calibri"/>
                <a:cs typeface="Calibri"/>
              </a:rPr>
              <a:t>a</a:t>
            </a:r>
            <a:r>
              <a:rPr sz="3200" b="1" spc="-10" dirty="0">
                <a:latin typeface="Calibri"/>
                <a:cs typeface="Calibri"/>
              </a:rPr>
              <a:t> </a:t>
            </a:r>
            <a:r>
              <a:rPr sz="3200" b="1" spc="-55" dirty="0">
                <a:latin typeface="Calibri"/>
                <a:cs typeface="Calibri"/>
              </a:rPr>
              <a:t>river.</a:t>
            </a:r>
            <a:endParaRPr sz="3200">
              <a:latin typeface="Calibri"/>
              <a:cs typeface="Calibri"/>
            </a:endParaRPr>
          </a:p>
          <a:p>
            <a:pPr marL="354965" marR="407034" indent="-281940">
              <a:lnSpc>
                <a:spcPct val="100000"/>
              </a:lnSpc>
              <a:spcBef>
                <a:spcPts val="795"/>
              </a:spcBef>
              <a:buFont typeface="Arial"/>
              <a:buChar char="•"/>
              <a:tabLst>
                <a:tab pos="355600" algn="l"/>
              </a:tabLst>
            </a:pPr>
            <a:r>
              <a:rPr sz="3200" b="1" spc="-5" dirty="0">
                <a:latin typeface="Calibri"/>
                <a:cs typeface="Calibri"/>
              </a:rPr>
              <a:t>Goal</a:t>
            </a:r>
            <a:r>
              <a:rPr sz="3200" spc="-5" dirty="0">
                <a:latin typeface="Calibri"/>
                <a:cs typeface="Calibri"/>
              </a:rPr>
              <a:t>: </a:t>
            </a:r>
            <a:r>
              <a:rPr sz="3200" spc="-15" dirty="0">
                <a:latin typeface="Calibri"/>
                <a:cs typeface="Calibri"/>
              </a:rPr>
              <a:t>Move </a:t>
            </a:r>
            <a:r>
              <a:rPr sz="3200" dirty="0">
                <a:latin typeface="Calibri"/>
                <a:cs typeface="Calibri"/>
              </a:rPr>
              <a:t>all </a:t>
            </a:r>
            <a:r>
              <a:rPr sz="3200" spc="-10" dirty="0">
                <a:latin typeface="Calibri"/>
                <a:cs typeface="Calibri"/>
              </a:rPr>
              <a:t>the </a:t>
            </a:r>
            <a:r>
              <a:rPr sz="3200" spc="-5" dirty="0">
                <a:latin typeface="Calibri"/>
                <a:cs typeface="Calibri"/>
              </a:rPr>
              <a:t> </a:t>
            </a:r>
            <a:r>
              <a:rPr sz="3200" spc="-10" dirty="0">
                <a:latin typeface="Calibri"/>
                <a:cs typeface="Calibri"/>
              </a:rPr>
              <a:t>missionaries</a:t>
            </a:r>
            <a:r>
              <a:rPr sz="3200" spc="-50" dirty="0">
                <a:latin typeface="Calibri"/>
                <a:cs typeface="Calibri"/>
              </a:rPr>
              <a:t> </a:t>
            </a:r>
            <a:r>
              <a:rPr sz="3200" dirty="0">
                <a:latin typeface="Calibri"/>
                <a:cs typeface="Calibri"/>
              </a:rPr>
              <a:t>and</a:t>
            </a:r>
            <a:r>
              <a:rPr sz="3200" spc="-40" dirty="0">
                <a:latin typeface="Calibri"/>
                <a:cs typeface="Calibri"/>
              </a:rPr>
              <a:t> </a:t>
            </a:r>
            <a:r>
              <a:rPr sz="3200" spc="-5" dirty="0">
                <a:latin typeface="Calibri"/>
                <a:cs typeface="Calibri"/>
              </a:rPr>
              <a:t>cannibals </a:t>
            </a:r>
            <a:r>
              <a:rPr sz="3200" spc="-705" dirty="0">
                <a:latin typeface="Calibri"/>
                <a:cs typeface="Calibri"/>
              </a:rPr>
              <a:t> </a:t>
            </a:r>
            <a:r>
              <a:rPr sz="3200" spc="-15" dirty="0">
                <a:latin typeface="Calibri"/>
                <a:cs typeface="Calibri"/>
              </a:rPr>
              <a:t>across</a:t>
            </a:r>
            <a:r>
              <a:rPr sz="3200" spc="-10" dirty="0">
                <a:latin typeface="Calibri"/>
                <a:cs typeface="Calibri"/>
              </a:rPr>
              <a:t> the </a:t>
            </a:r>
            <a:r>
              <a:rPr sz="3200" spc="-65" dirty="0">
                <a:latin typeface="Calibri"/>
                <a:cs typeface="Calibri"/>
              </a:rPr>
              <a:t>river.</a:t>
            </a:r>
            <a:endParaRPr sz="3200">
              <a:latin typeface="Calibri"/>
              <a:cs typeface="Calibri"/>
            </a:endParaRPr>
          </a:p>
          <a:p>
            <a:pPr marL="354965" marR="5080" indent="-281940">
              <a:lnSpc>
                <a:spcPct val="100000"/>
              </a:lnSpc>
              <a:spcBef>
                <a:spcPts val="800"/>
              </a:spcBef>
              <a:buFont typeface="Arial"/>
              <a:buChar char="•"/>
              <a:tabLst>
                <a:tab pos="355600" algn="l"/>
              </a:tabLst>
            </a:pPr>
            <a:r>
              <a:rPr sz="3200" b="1" spc="-20" dirty="0">
                <a:latin typeface="Calibri"/>
                <a:cs typeface="Calibri"/>
              </a:rPr>
              <a:t>Constraint: </a:t>
            </a:r>
            <a:r>
              <a:rPr sz="3200" spc="-10" dirty="0">
                <a:latin typeface="Calibri"/>
                <a:cs typeface="Calibri"/>
              </a:rPr>
              <a:t>Missionaries can </a:t>
            </a:r>
            <a:r>
              <a:rPr sz="3200" spc="-5" dirty="0">
                <a:latin typeface="Calibri"/>
                <a:cs typeface="Calibri"/>
              </a:rPr>
              <a:t> </a:t>
            </a:r>
            <a:r>
              <a:rPr sz="3200" spc="-15" dirty="0">
                <a:latin typeface="Calibri"/>
                <a:cs typeface="Calibri"/>
              </a:rPr>
              <a:t>never </a:t>
            </a:r>
            <a:r>
              <a:rPr sz="3200" spc="-5" dirty="0">
                <a:latin typeface="Calibri"/>
                <a:cs typeface="Calibri"/>
              </a:rPr>
              <a:t>be </a:t>
            </a:r>
            <a:r>
              <a:rPr sz="3200" spc="-10" dirty="0">
                <a:latin typeface="Calibri"/>
                <a:cs typeface="Calibri"/>
              </a:rPr>
              <a:t>outnumbered by </a:t>
            </a:r>
            <a:r>
              <a:rPr sz="3200" spc="-5" dirty="0">
                <a:latin typeface="Calibri"/>
                <a:cs typeface="Calibri"/>
              </a:rPr>
              <a:t> cannibals on either side of </a:t>
            </a:r>
            <a:r>
              <a:rPr sz="3200" dirty="0">
                <a:latin typeface="Calibri"/>
                <a:cs typeface="Calibri"/>
              </a:rPr>
              <a:t> </a:t>
            </a:r>
            <a:r>
              <a:rPr sz="3200" spc="-55" dirty="0">
                <a:latin typeface="Calibri"/>
                <a:cs typeface="Calibri"/>
              </a:rPr>
              <a:t>river,</a:t>
            </a:r>
            <a:r>
              <a:rPr sz="3200" spc="-25" dirty="0">
                <a:latin typeface="Calibri"/>
                <a:cs typeface="Calibri"/>
              </a:rPr>
              <a:t> </a:t>
            </a:r>
            <a:r>
              <a:rPr sz="3200" spc="-5" dirty="0">
                <a:latin typeface="Calibri"/>
                <a:cs typeface="Calibri"/>
              </a:rPr>
              <a:t>or</a:t>
            </a:r>
            <a:r>
              <a:rPr sz="3200" spc="-25" dirty="0">
                <a:latin typeface="Calibri"/>
                <a:cs typeface="Calibri"/>
              </a:rPr>
              <a:t> </a:t>
            </a:r>
            <a:r>
              <a:rPr sz="3200" spc="-5" dirty="0">
                <a:latin typeface="Calibri"/>
                <a:cs typeface="Calibri"/>
              </a:rPr>
              <a:t>else</a:t>
            </a:r>
            <a:r>
              <a:rPr sz="3200" spc="-20" dirty="0">
                <a:latin typeface="Calibri"/>
                <a:cs typeface="Calibri"/>
              </a:rPr>
              <a:t> </a:t>
            </a:r>
            <a:r>
              <a:rPr sz="3200" spc="-10" dirty="0">
                <a:latin typeface="Calibri"/>
                <a:cs typeface="Calibri"/>
              </a:rPr>
              <a:t>the</a:t>
            </a:r>
            <a:r>
              <a:rPr sz="3200" spc="-30" dirty="0">
                <a:latin typeface="Calibri"/>
                <a:cs typeface="Calibri"/>
              </a:rPr>
              <a:t> </a:t>
            </a:r>
            <a:r>
              <a:rPr sz="3200" spc="-10" dirty="0">
                <a:latin typeface="Calibri"/>
                <a:cs typeface="Calibri"/>
              </a:rPr>
              <a:t>missionaries</a:t>
            </a:r>
            <a:endParaRPr sz="3200">
              <a:latin typeface="Calibri"/>
              <a:cs typeface="Calibri"/>
            </a:endParaRPr>
          </a:p>
        </p:txBody>
      </p:sp>
      <p:pic>
        <p:nvPicPr>
          <p:cNvPr id="4" name="object 4"/>
          <p:cNvPicPr/>
          <p:nvPr/>
        </p:nvPicPr>
        <p:blipFill>
          <a:blip r:embed="rId2" cstate="print"/>
          <a:stretch>
            <a:fillRect/>
          </a:stretch>
        </p:blipFill>
        <p:spPr>
          <a:xfrm>
            <a:off x="5867280" y="1835397"/>
            <a:ext cx="2943359" cy="3980058"/>
          </a:xfrm>
          <a:prstGeom prst="rect">
            <a:avLst/>
          </a:prstGeom>
        </p:spPr>
      </p:pic>
    </p:spTree>
    <p:extLst>
      <p:ext uri="{BB962C8B-B14F-4D97-AF65-F5344CB8AC3E}">
        <p14:creationId xmlns:p14="http://schemas.microsoft.com/office/powerpoint/2010/main" val="18682041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6517" y="540511"/>
            <a:ext cx="6677025" cy="574040"/>
          </a:xfrm>
          <a:prstGeom prst="rect">
            <a:avLst/>
          </a:prstGeom>
        </p:spPr>
        <p:txBody>
          <a:bodyPr vert="horz" wrap="square" lIns="0" tIns="12700" rIns="0" bIns="0" rtlCol="0">
            <a:spAutoFit/>
          </a:bodyPr>
          <a:lstStyle/>
          <a:p>
            <a:pPr marL="12700">
              <a:lnSpc>
                <a:spcPct val="100000"/>
              </a:lnSpc>
              <a:spcBef>
                <a:spcPts val="100"/>
              </a:spcBef>
            </a:pPr>
            <a:r>
              <a:rPr sz="3600" spc="-10" dirty="0"/>
              <a:t>Missionaries</a:t>
            </a:r>
            <a:r>
              <a:rPr sz="3600" spc="-40" dirty="0"/>
              <a:t> </a:t>
            </a:r>
            <a:r>
              <a:rPr sz="3600" dirty="0"/>
              <a:t>and</a:t>
            </a:r>
            <a:r>
              <a:rPr sz="3600" spc="-30" dirty="0"/>
              <a:t> </a:t>
            </a:r>
            <a:r>
              <a:rPr sz="3600" spc="-5" dirty="0"/>
              <a:t>Cannibals</a:t>
            </a:r>
            <a:r>
              <a:rPr sz="3600" spc="-30" dirty="0"/>
              <a:t> </a:t>
            </a:r>
            <a:r>
              <a:rPr sz="3600" spc="-5" dirty="0"/>
              <a:t>Solution</a:t>
            </a:r>
            <a:endParaRPr sz="3600"/>
          </a:p>
        </p:txBody>
      </p:sp>
      <p:graphicFrame>
        <p:nvGraphicFramePr>
          <p:cNvPr id="3" name="object 3"/>
          <p:cNvGraphicFramePr>
            <a:graphicFrameLocks noGrp="1"/>
          </p:cNvGraphicFramePr>
          <p:nvPr/>
        </p:nvGraphicFramePr>
        <p:xfrm>
          <a:off x="282575" y="1895681"/>
          <a:ext cx="8028305" cy="4233548"/>
        </p:xfrm>
        <a:graphic>
          <a:graphicData uri="http://schemas.openxmlformats.org/drawingml/2006/table">
            <a:tbl>
              <a:tblPr firstRow="1" bandRow="1">
                <a:tableStyleId>{2D5ABB26-0587-4C30-8999-92F81FD0307C}</a:tableStyleId>
              </a:tblPr>
              <a:tblGrid>
                <a:gridCol w="4626610"/>
                <a:gridCol w="1311910"/>
                <a:gridCol w="412750"/>
                <a:gridCol w="1677035"/>
              </a:tblGrid>
              <a:tr h="295088">
                <a:tc>
                  <a:txBody>
                    <a:bodyPr/>
                    <a:lstStyle/>
                    <a:p>
                      <a:pPr>
                        <a:lnSpc>
                          <a:spcPct val="100000"/>
                        </a:lnSpc>
                      </a:pPr>
                      <a:endParaRPr sz="1800">
                        <a:latin typeface="Times New Roman"/>
                        <a:cs typeface="Times New Roman"/>
                      </a:endParaRPr>
                    </a:p>
                  </a:txBody>
                  <a:tcPr marL="0" marR="0" marT="0" marB="0"/>
                </a:tc>
                <a:tc>
                  <a:txBody>
                    <a:bodyPr/>
                    <a:lstStyle/>
                    <a:p>
                      <a:pPr marL="69215">
                        <a:lnSpc>
                          <a:spcPts val="1860"/>
                        </a:lnSpc>
                      </a:pPr>
                      <a:r>
                        <a:rPr sz="1800" b="1" i="1" u="heavy" spc="-5" dirty="0">
                          <a:uFill>
                            <a:solidFill>
                              <a:srgbClr val="000000"/>
                            </a:solidFill>
                          </a:uFill>
                          <a:latin typeface="Courier New"/>
                          <a:cs typeface="Courier New"/>
                        </a:rPr>
                        <a:t>Near</a:t>
                      </a:r>
                      <a:r>
                        <a:rPr sz="1800" b="1" i="1" u="heavy" spc="-95" dirty="0">
                          <a:uFill>
                            <a:solidFill>
                              <a:srgbClr val="000000"/>
                            </a:solidFill>
                          </a:uFill>
                          <a:latin typeface="Courier New"/>
                          <a:cs typeface="Courier New"/>
                        </a:rPr>
                        <a:t> </a:t>
                      </a:r>
                      <a:r>
                        <a:rPr sz="1800" b="1" i="1" u="heavy" spc="-5" dirty="0">
                          <a:uFill>
                            <a:solidFill>
                              <a:srgbClr val="000000"/>
                            </a:solidFill>
                          </a:uFill>
                          <a:latin typeface="Courier New"/>
                          <a:cs typeface="Courier New"/>
                        </a:rPr>
                        <a:t>side</a:t>
                      </a:r>
                      <a:endParaRPr sz="1800">
                        <a:latin typeface="Courier New"/>
                        <a:cs typeface="Courier New"/>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274955">
                        <a:lnSpc>
                          <a:spcPts val="1860"/>
                        </a:lnSpc>
                      </a:pPr>
                      <a:r>
                        <a:rPr sz="1800" b="1" i="1" u="heavy" spc="-5" dirty="0">
                          <a:uFill>
                            <a:solidFill>
                              <a:srgbClr val="000000"/>
                            </a:solidFill>
                          </a:uFill>
                          <a:latin typeface="Courier New"/>
                          <a:cs typeface="Courier New"/>
                        </a:rPr>
                        <a:t>Far</a:t>
                      </a:r>
                      <a:r>
                        <a:rPr sz="1800" b="1" i="1" u="heavy" spc="-70" dirty="0">
                          <a:uFill>
                            <a:solidFill>
                              <a:srgbClr val="000000"/>
                            </a:solidFill>
                          </a:uFill>
                          <a:latin typeface="Courier New"/>
                          <a:cs typeface="Courier New"/>
                        </a:rPr>
                        <a:t> </a:t>
                      </a:r>
                      <a:r>
                        <a:rPr sz="1800" b="1" i="1" u="heavy" spc="-5" dirty="0">
                          <a:uFill>
                            <a:solidFill>
                              <a:srgbClr val="000000"/>
                            </a:solidFill>
                          </a:uFill>
                          <a:latin typeface="Courier New"/>
                          <a:cs typeface="Courier New"/>
                        </a:rPr>
                        <a:t>side</a:t>
                      </a:r>
                      <a:endParaRPr sz="1800">
                        <a:latin typeface="Courier New"/>
                        <a:cs typeface="Courier New"/>
                      </a:endParaRPr>
                    </a:p>
                  </a:txBody>
                  <a:tcPr marL="0" marR="0" marT="0" marB="0"/>
                </a:tc>
              </a:tr>
              <a:tr h="331216">
                <a:tc>
                  <a:txBody>
                    <a:bodyPr/>
                    <a:lstStyle/>
                    <a:p>
                      <a:pPr marL="31750">
                        <a:lnSpc>
                          <a:spcPts val="2145"/>
                        </a:lnSpc>
                      </a:pPr>
                      <a:r>
                        <a:rPr sz="1800" dirty="0">
                          <a:latin typeface="Courier New"/>
                          <a:cs typeface="Courier New"/>
                        </a:rPr>
                        <a:t>0</a:t>
                      </a:r>
                      <a:r>
                        <a:rPr sz="1800" spc="-45" dirty="0">
                          <a:latin typeface="Courier New"/>
                          <a:cs typeface="Courier New"/>
                        </a:rPr>
                        <a:t> </a:t>
                      </a:r>
                      <a:r>
                        <a:rPr sz="1800" spc="-5" dirty="0">
                          <a:latin typeface="Courier New"/>
                          <a:cs typeface="Courier New"/>
                        </a:rPr>
                        <a:t>Initial</a:t>
                      </a:r>
                      <a:r>
                        <a:rPr sz="1800" spc="-40" dirty="0">
                          <a:latin typeface="Courier New"/>
                          <a:cs typeface="Courier New"/>
                        </a:rPr>
                        <a:t> </a:t>
                      </a:r>
                      <a:r>
                        <a:rPr sz="1800" spc="-5" dirty="0">
                          <a:latin typeface="Courier New"/>
                          <a:cs typeface="Courier New"/>
                        </a:rPr>
                        <a:t>setup:</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MMMCCC</a:t>
                      </a:r>
                      <a:endParaRPr sz="1800">
                        <a:latin typeface="Courier New"/>
                        <a:cs typeface="Courier New"/>
                      </a:endParaRPr>
                    </a:p>
                  </a:txBody>
                  <a:tcPr marL="0" marR="0" marT="0" marB="0"/>
                </a:tc>
                <a:tc>
                  <a:txBody>
                    <a:bodyPr/>
                    <a:lstStyle/>
                    <a:p>
                      <a:pPr>
                        <a:lnSpc>
                          <a:spcPts val="2145"/>
                        </a:lnSpc>
                      </a:pPr>
                      <a:r>
                        <a:rPr sz="1800" dirty="0">
                          <a:latin typeface="Courier New"/>
                          <a:cs typeface="Courier New"/>
                        </a:rPr>
                        <a:t>B</a:t>
                      </a:r>
                      <a:endParaRPr sz="1800">
                        <a:latin typeface="Courier New"/>
                        <a:cs typeface="Courier New"/>
                      </a:endParaRPr>
                    </a:p>
                  </a:txBody>
                  <a:tcPr marL="0" marR="0" marT="0" marB="0"/>
                </a:tc>
                <a:tc>
                  <a:txBody>
                    <a:bodyPr/>
                    <a:lstStyle/>
                    <a:p>
                      <a:pPr marL="104139" algn="ctr">
                        <a:lnSpc>
                          <a:spcPts val="2145"/>
                        </a:lnSpc>
                      </a:pPr>
                      <a:r>
                        <a:rPr sz="1800" dirty="0">
                          <a:latin typeface="Courier New"/>
                          <a:cs typeface="Courier New"/>
                        </a:rPr>
                        <a:t>-</a:t>
                      </a:r>
                      <a:endParaRPr sz="1800">
                        <a:latin typeface="Courier New"/>
                        <a:cs typeface="Courier New"/>
                      </a:endParaRPr>
                    </a:p>
                  </a:txBody>
                  <a:tcPr marL="0" marR="0" marT="0" marB="0"/>
                </a:tc>
              </a:tr>
              <a:tr h="331216">
                <a:tc>
                  <a:txBody>
                    <a:bodyPr/>
                    <a:lstStyle/>
                    <a:p>
                      <a:pPr marL="31750">
                        <a:lnSpc>
                          <a:spcPts val="2145"/>
                        </a:lnSpc>
                      </a:pPr>
                      <a:r>
                        <a:rPr sz="1800" dirty="0">
                          <a:latin typeface="Courier New"/>
                          <a:cs typeface="Courier New"/>
                        </a:rPr>
                        <a:t>1</a:t>
                      </a:r>
                      <a:r>
                        <a:rPr sz="1800" spc="-25" dirty="0">
                          <a:latin typeface="Courier New"/>
                          <a:cs typeface="Courier New"/>
                        </a:rPr>
                        <a:t> </a:t>
                      </a:r>
                      <a:r>
                        <a:rPr sz="1800" spc="-5" dirty="0">
                          <a:latin typeface="Courier New"/>
                          <a:cs typeface="Courier New"/>
                        </a:rPr>
                        <a:t>Two</a:t>
                      </a:r>
                      <a:r>
                        <a:rPr sz="1800" spc="-25" dirty="0">
                          <a:latin typeface="Courier New"/>
                          <a:cs typeface="Courier New"/>
                        </a:rPr>
                        <a:t> </a:t>
                      </a:r>
                      <a:r>
                        <a:rPr sz="1800" spc="-5" dirty="0">
                          <a:latin typeface="Courier New"/>
                          <a:cs typeface="Courier New"/>
                        </a:rPr>
                        <a:t>cannibals</a:t>
                      </a:r>
                      <a:r>
                        <a:rPr sz="1800" spc="-25" dirty="0">
                          <a:latin typeface="Courier New"/>
                          <a:cs typeface="Courier New"/>
                        </a:rPr>
                        <a:t> </a:t>
                      </a:r>
                      <a:r>
                        <a:rPr sz="1800" spc="-5" dirty="0">
                          <a:latin typeface="Courier New"/>
                          <a:cs typeface="Courier New"/>
                        </a:rPr>
                        <a:t>cross</a:t>
                      </a:r>
                      <a:r>
                        <a:rPr sz="1800" spc="-20" dirty="0">
                          <a:latin typeface="Courier New"/>
                          <a:cs typeface="Courier New"/>
                        </a:rPr>
                        <a:t> </a:t>
                      </a:r>
                      <a:r>
                        <a:rPr sz="1800" spc="-5" dirty="0">
                          <a:latin typeface="Courier New"/>
                          <a:cs typeface="Courier New"/>
                        </a:rPr>
                        <a:t>over:</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MMMC</a:t>
                      </a:r>
                      <a:endParaRPr sz="1800">
                        <a:latin typeface="Courier New"/>
                        <a:cs typeface="Courier New"/>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marL="410209">
                        <a:lnSpc>
                          <a:spcPts val="2145"/>
                        </a:lnSpc>
                        <a:tabLst>
                          <a:tab pos="821690" algn="l"/>
                        </a:tabLst>
                      </a:pPr>
                      <a:r>
                        <a:rPr sz="1800" dirty="0">
                          <a:latin typeface="Courier New"/>
                          <a:cs typeface="Courier New"/>
                        </a:rPr>
                        <a:t>B	</a:t>
                      </a:r>
                      <a:r>
                        <a:rPr sz="1800" spc="-5" dirty="0">
                          <a:latin typeface="Courier New"/>
                          <a:cs typeface="Courier New"/>
                        </a:rPr>
                        <a:t>CC</a:t>
                      </a:r>
                      <a:endParaRPr sz="1800">
                        <a:latin typeface="Courier New"/>
                        <a:cs typeface="Courier New"/>
                      </a:endParaRPr>
                    </a:p>
                  </a:txBody>
                  <a:tcPr marL="0" marR="0" marT="0" marB="0"/>
                </a:tc>
              </a:tr>
              <a:tr h="331215">
                <a:tc>
                  <a:txBody>
                    <a:bodyPr/>
                    <a:lstStyle/>
                    <a:p>
                      <a:pPr marL="31750">
                        <a:lnSpc>
                          <a:spcPts val="2145"/>
                        </a:lnSpc>
                      </a:pPr>
                      <a:r>
                        <a:rPr sz="1800" dirty="0">
                          <a:latin typeface="Courier New"/>
                          <a:cs typeface="Courier New"/>
                        </a:rPr>
                        <a:t>2</a:t>
                      </a:r>
                      <a:r>
                        <a:rPr sz="1800" spc="-35" dirty="0">
                          <a:latin typeface="Courier New"/>
                          <a:cs typeface="Courier New"/>
                        </a:rPr>
                        <a:t> </a:t>
                      </a:r>
                      <a:r>
                        <a:rPr sz="1800" spc="-5" dirty="0">
                          <a:latin typeface="Courier New"/>
                          <a:cs typeface="Courier New"/>
                        </a:rPr>
                        <a:t>One</a:t>
                      </a:r>
                      <a:r>
                        <a:rPr sz="1800" spc="-30" dirty="0">
                          <a:latin typeface="Courier New"/>
                          <a:cs typeface="Courier New"/>
                        </a:rPr>
                        <a:t> </a:t>
                      </a:r>
                      <a:r>
                        <a:rPr sz="1800" spc="-5" dirty="0">
                          <a:latin typeface="Courier New"/>
                          <a:cs typeface="Courier New"/>
                        </a:rPr>
                        <a:t>comes</a:t>
                      </a:r>
                      <a:r>
                        <a:rPr sz="1800" spc="-30" dirty="0">
                          <a:latin typeface="Courier New"/>
                          <a:cs typeface="Courier New"/>
                        </a:rPr>
                        <a:t> </a:t>
                      </a:r>
                      <a:r>
                        <a:rPr sz="1800" spc="-5" dirty="0">
                          <a:latin typeface="Courier New"/>
                          <a:cs typeface="Courier New"/>
                        </a:rPr>
                        <a:t>back:</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MMMCC</a:t>
                      </a:r>
                      <a:endParaRPr sz="1800">
                        <a:latin typeface="Courier New"/>
                        <a:cs typeface="Courier New"/>
                      </a:endParaRPr>
                    </a:p>
                  </a:txBody>
                  <a:tcPr marL="0" marR="0" marT="0" marB="0"/>
                </a:tc>
                <a:tc>
                  <a:txBody>
                    <a:bodyPr/>
                    <a:lstStyle/>
                    <a:p>
                      <a:pPr>
                        <a:lnSpc>
                          <a:spcPts val="2145"/>
                        </a:lnSpc>
                      </a:pPr>
                      <a:r>
                        <a:rPr sz="1800" dirty="0">
                          <a:latin typeface="Courier New"/>
                          <a:cs typeface="Courier New"/>
                        </a:rPr>
                        <a:t>B</a:t>
                      </a:r>
                      <a:endParaRPr sz="1800">
                        <a:latin typeface="Courier New"/>
                        <a:cs typeface="Courier New"/>
                      </a:endParaRPr>
                    </a:p>
                  </a:txBody>
                  <a:tcPr marL="0" marR="0" marT="0" marB="0"/>
                </a:tc>
                <a:tc>
                  <a:txBody>
                    <a:bodyPr/>
                    <a:lstStyle/>
                    <a:p>
                      <a:pPr marL="104139" algn="ctr">
                        <a:lnSpc>
                          <a:spcPts val="2145"/>
                        </a:lnSpc>
                      </a:pPr>
                      <a:r>
                        <a:rPr sz="1800" dirty="0">
                          <a:latin typeface="Courier New"/>
                          <a:cs typeface="Courier New"/>
                        </a:rPr>
                        <a:t>C</a:t>
                      </a:r>
                      <a:endParaRPr sz="1800">
                        <a:latin typeface="Courier New"/>
                        <a:cs typeface="Courier New"/>
                      </a:endParaRPr>
                    </a:p>
                  </a:txBody>
                  <a:tcPr marL="0" marR="0" marT="0" marB="0"/>
                </a:tc>
              </a:tr>
              <a:tr h="331215">
                <a:tc>
                  <a:txBody>
                    <a:bodyPr/>
                    <a:lstStyle/>
                    <a:p>
                      <a:pPr marL="31750">
                        <a:lnSpc>
                          <a:spcPts val="2145"/>
                        </a:lnSpc>
                      </a:pPr>
                      <a:r>
                        <a:rPr sz="1800" dirty="0">
                          <a:latin typeface="Courier New"/>
                          <a:cs typeface="Courier New"/>
                        </a:rPr>
                        <a:t>3</a:t>
                      </a:r>
                      <a:r>
                        <a:rPr sz="1800" spc="-20" dirty="0">
                          <a:latin typeface="Courier New"/>
                          <a:cs typeface="Courier New"/>
                        </a:rPr>
                        <a:t> </a:t>
                      </a:r>
                      <a:r>
                        <a:rPr sz="1800" spc="-5" dirty="0">
                          <a:latin typeface="Courier New"/>
                          <a:cs typeface="Courier New"/>
                        </a:rPr>
                        <a:t>Two</a:t>
                      </a:r>
                      <a:r>
                        <a:rPr sz="1800" spc="-20" dirty="0">
                          <a:latin typeface="Courier New"/>
                          <a:cs typeface="Courier New"/>
                        </a:rPr>
                        <a:t> </a:t>
                      </a:r>
                      <a:r>
                        <a:rPr sz="1800" spc="-5" dirty="0">
                          <a:latin typeface="Courier New"/>
                          <a:cs typeface="Courier New"/>
                        </a:rPr>
                        <a:t>cannibals</a:t>
                      </a:r>
                      <a:r>
                        <a:rPr sz="1800" spc="-20" dirty="0">
                          <a:latin typeface="Courier New"/>
                          <a:cs typeface="Courier New"/>
                        </a:rPr>
                        <a:t> </a:t>
                      </a:r>
                      <a:r>
                        <a:rPr sz="1800" spc="-5" dirty="0">
                          <a:latin typeface="Courier New"/>
                          <a:cs typeface="Courier New"/>
                        </a:rPr>
                        <a:t>go</a:t>
                      </a:r>
                      <a:r>
                        <a:rPr sz="1800" spc="-20" dirty="0">
                          <a:latin typeface="Courier New"/>
                          <a:cs typeface="Courier New"/>
                        </a:rPr>
                        <a:t> </a:t>
                      </a:r>
                      <a:r>
                        <a:rPr sz="1800" spc="-5" dirty="0">
                          <a:latin typeface="Courier New"/>
                          <a:cs typeface="Courier New"/>
                        </a:rPr>
                        <a:t>over</a:t>
                      </a:r>
                      <a:r>
                        <a:rPr sz="1800" spc="-20" dirty="0">
                          <a:latin typeface="Courier New"/>
                          <a:cs typeface="Courier New"/>
                        </a:rPr>
                        <a:t> </a:t>
                      </a:r>
                      <a:r>
                        <a:rPr sz="1800" spc="-5" dirty="0">
                          <a:latin typeface="Courier New"/>
                          <a:cs typeface="Courier New"/>
                        </a:rPr>
                        <a:t>again:</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MMM</a:t>
                      </a:r>
                      <a:endParaRPr sz="1800">
                        <a:latin typeface="Courier New"/>
                        <a:cs typeface="Courier New"/>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marL="410209">
                        <a:lnSpc>
                          <a:spcPts val="2145"/>
                        </a:lnSpc>
                        <a:tabLst>
                          <a:tab pos="821690" algn="l"/>
                        </a:tabLst>
                      </a:pPr>
                      <a:r>
                        <a:rPr sz="1800" dirty="0">
                          <a:latin typeface="Courier New"/>
                          <a:cs typeface="Courier New"/>
                        </a:rPr>
                        <a:t>B	</a:t>
                      </a:r>
                      <a:r>
                        <a:rPr sz="1800" spc="-5" dirty="0">
                          <a:latin typeface="Courier New"/>
                          <a:cs typeface="Courier New"/>
                        </a:rPr>
                        <a:t>CCC</a:t>
                      </a:r>
                      <a:endParaRPr sz="1800">
                        <a:latin typeface="Courier New"/>
                        <a:cs typeface="Courier New"/>
                      </a:endParaRPr>
                    </a:p>
                  </a:txBody>
                  <a:tcPr marL="0" marR="0" marT="0" marB="0"/>
                </a:tc>
              </a:tr>
              <a:tr h="331215">
                <a:tc>
                  <a:txBody>
                    <a:bodyPr/>
                    <a:lstStyle/>
                    <a:p>
                      <a:pPr marL="31750">
                        <a:lnSpc>
                          <a:spcPts val="2145"/>
                        </a:lnSpc>
                      </a:pPr>
                      <a:r>
                        <a:rPr sz="1800" dirty="0">
                          <a:latin typeface="Courier New"/>
                          <a:cs typeface="Courier New"/>
                        </a:rPr>
                        <a:t>4</a:t>
                      </a:r>
                      <a:r>
                        <a:rPr sz="1800" spc="-35" dirty="0">
                          <a:latin typeface="Courier New"/>
                          <a:cs typeface="Courier New"/>
                        </a:rPr>
                        <a:t> </a:t>
                      </a:r>
                      <a:r>
                        <a:rPr sz="1800" spc="-5" dirty="0">
                          <a:latin typeface="Courier New"/>
                          <a:cs typeface="Courier New"/>
                        </a:rPr>
                        <a:t>One</a:t>
                      </a:r>
                      <a:r>
                        <a:rPr sz="1800" spc="-30" dirty="0">
                          <a:latin typeface="Courier New"/>
                          <a:cs typeface="Courier New"/>
                        </a:rPr>
                        <a:t> </a:t>
                      </a:r>
                      <a:r>
                        <a:rPr sz="1800" spc="-5" dirty="0">
                          <a:latin typeface="Courier New"/>
                          <a:cs typeface="Courier New"/>
                        </a:rPr>
                        <a:t>comes</a:t>
                      </a:r>
                      <a:r>
                        <a:rPr sz="1800" spc="-30" dirty="0">
                          <a:latin typeface="Courier New"/>
                          <a:cs typeface="Courier New"/>
                        </a:rPr>
                        <a:t> </a:t>
                      </a:r>
                      <a:r>
                        <a:rPr sz="1800" spc="-5" dirty="0">
                          <a:latin typeface="Courier New"/>
                          <a:cs typeface="Courier New"/>
                        </a:rPr>
                        <a:t>back:</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MMMC</a:t>
                      </a:r>
                      <a:endParaRPr sz="1800">
                        <a:latin typeface="Courier New"/>
                        <a:cs typeface="Courier New"/>
                      </a:endParaRPr>
                    </a:p>
                  </a:txBody>
                  <a:tcPr marL="0" marR="0" marT="0" marB="0"/>
                </a:tc>
                <a:tc>
                  <a:txBody>
                    <a:bodyPr/>
                    <a:lstStyle/>
                    <a:p>
                      <a:pPr>
                        <a:lnSpc>
                          <a:spcPts val="2145"/>
                        </a:lnSpc>
                      </a:pPr>
                      <a:r>
                        <a:rPr sz="1800" dirty="0">
                          <a:latin typeface="Courier New"/>
                          <a:cs typeface="Courier New"/>
                        </a:rPr>
                        <a:t>B</a:t>
                      </a:r>
                      <a:endParaRPr sz="1800">
                        <a:latin typeface="Courier New"/>
                        <a:cs typeface="Courier New"/>
                      </a:endParaRPr>
                    </a:p>
                  </a:txBody>
                  <a:tcPr marL="0" marR="0" marT="0" marB="0"/>
                </a:tc>
                <a:tc>
                  <a:txBody>
                    <a:bodyPr/>
                    <a:lstStyle/>
                    <a:p>
                      <a:pPr marL="241300" algn="ctr">
                        <a:lnSpc>
                          <a:spcPts val="2145"/>
                        </a:lnSpc>
                      </a:pPr>
                      <a:r>
                        <a:rPr sz="1800" spc="-5" dirty="0">
                          <a:latin typeface="Courier New"/>
                          <a:cs typeface="Courier New"/>
                        </a:rPr>
                        <a:t>CC</a:t>
                      </a:r>
                      <a:endParaRPr sz="1800">
                        <a:latin typeface="Courier New"/>
                        <a:cs typeface="Courier New"/>
                      </a:endParaRPr>
                    </a:p>
                  </a:txBody>
                  <a:tcPr marL="0" marR="0" marT="0" marB="0"/>
                </a:tc>
              </a:tr>
              <a:tr h="331215">
                <a:tc>
                  <a:txBody>
                    <a:bodyPr/>
                    <a:lstStyle/>
                    <a:p>
                      <a:pPr marL="31750">
                        <a:lnSpc>
                          <a:spcPts val="2145"/>
                        </a:lnSpc>
                      </a:pPr>
                      <a:r>
                        <a:rPr sz="1800" dirty="0">
                          <a:latin typeface="Courier New"/>
                          <a:cs typeface="Courier New"/>
                        </a:rPr>
                        <a:t>5</a:t>
                      </a:r>
                      <a:r>
                        <a:rPr sz="1800" spc="-35" dirty="0">
                          <a:latin typeface="Courier New"/>
                          <a:cs typeface="Courier New"/>
                        </a:rPr>
                        <a:t> </a:t>
                      </a:r>
                      <a:r>
                        <a:rPr sz="1800" spc="-5" dirty="0">
                          <a:latin typeface="Courier New"/>
                          <a:cs typeface="Courier New"/>
                        </a:rPr>
                        <a:t>Two</a:t>
                      </a:r>
                      <a:r>
                        <a:rPr sz="1800" spc="-30" dirty="0">
                          <a:latin typeface="Courier New"/>
                          <a:cs typeface="Courier New"/>
                        </a:rPr>
                        <a:t> </a:t>
                      </a:r>
                      <a:r>
                        <a:rPr sz="1800" spc="-5" dirty="0">
                          <a:latin typeface="Courier New"/>
                          <a:cs typeface="Courier New"/>
                        </a:rPr>
                        <a:t>missionaries</a:t>
                      </a:r>
                      <a:r>
                        <a:rPr sz="1800" spc="-30" dirty="0">
                          <a:latin typeface="Courier New"/>
                          <a:cs typeface="Courier New"/>
                        </a:rPr>
                        <a:t> </a:t>
                      </a:r>
                      <a:r>
                        <a:rPr sz="1800" spc="-5" dirty="0">
                          <a:latin typeface="Courier New"/>
                          <a:cs typeface="Courier New"/>
                        </a:rPr>
                        <a:t>cross:</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MC</a:t>
                      </a:r>
                      <a:endParaRPr sz="1800">
                        <a:latin typeface="Courier New"/>
                        <a:cs typeface="Courier New"/>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marL="410209">
                        <a:lnSpc>
                          <a:spcPts val="2145"/>
                        </a:lnSpc>
                        <a:tabLst>
                          <a:tab pos="821690" algn="l"/>
                        </a:tabLst>
                      </a:pPr>
                      <a:r>
                        <a:rPr sz="1800" dirty="0">
                          <a:latin typeface="Courier New"/>
                          <a:cs typeface="Courier New"/>
                        </a:rPr>
                        <a:t>B	</a:t>
                      </a:r>
                      <a:r>
                        <a:rPr sz="1800" spc="-5" dirty="0">
                          <a:latin typeface="Courier New"/>
                          <a:cs typeface="Courier New"/>
                        </a:rPr>
                        <a:t>MMCC</a:t>
                      </a:r>
                      <a:endParaRPr sz="1800">
                        <a:latin typeface="Courier New"/>
                        <a:cs typeface="Courier New"/>
                      </a:endParaRPr>
                    </a:p>
                  </a:txBody>
                  <a:tcPr marL="0" marR="0" marT="0" marB="0"/>
                </a:tc>
              </a:tr>
              <a:tr h="331216">
                <a:tc>
                  <a:txBody>
                    <a:bodyPr/>
                    <a:lstStyle/>
                    <a:p>
                      <a:pPr marL="31750">
                        <a:lnSpc>
                          <a:spcPts val="2145"/>
                        </a:lnSpc>
                      </a:pPr>
                      <a:r>
                        <a:rPr sz="1800" dirty="0">
                          <a:latin typeface="Courier New"/>
                          <a:cs typeface="Courier New"/>
                        </a:rPr>
                        <a:t>6</a:t>
                      </a:r>
                      <a:r>
                        <a:rPr sz="1800" spc="-25" dirty="0">
                          <a:latin typeface="Courier New"/>
                          <a:cs typeface="Courier New"/>
                        </a:rPr>
                        <a:t> </a:t>
                      </a:r>
                      <a:r>
                        <a:rPr sz="1800" dirty="0">
                          <a:latin typeface="Courier New"/>
                          <a:cs typeface="Courier New"/>
                        </a:rPr>
                        <a:t>A</a:t>
                      </a:r>
                      <a:r>
                        <a:rPr sz="1800" spc="-20" dirty="0">
                          <a:latin typeface="Courier New"/>
                          <a:cs typeface="Courier New"/>
                        </a:rPr>
                        <a:t> </a:t>
                      </a:r>
                      <a:r>
                        <a:rPr sz="1800" spc="-5" dirty="0">
                          <a:latin typeface="Courier New"/>
                          <a:cs typeface="Courier New"/>
                        </a:rPr>
                        <a:t>missionary</a:t>
                      </a:r>
                      <a:r>
                        <a:rPr sz="1800" spc="-20" dirty="0">
                          <a:latin typeface="Courier New"/>
                          <a:cs typeface="Courier New"/>
                        </a:rPr>
                        <a:t> </a:t>
                      </a:r>
                      <a:r>
                        <a:rPr sz="1800" dirty="0">
                          <a:latin typeface="Courier New"/>
                          <a:cs typeface="Courier New"/>
                        </a:rPr>
                        <a:t>&amp;</a:t>
                      </a:r>
                      <a:r>
                        <a:rPr sz="1800" spc="-20" dirty="0">
                          <a:latin typeface="Courier New"/>
                          <a:cs typeface="Courier New"/>
                        </a:rPr>
                        <a:t> </a:t>
                      </a:r>
                      <a:r>
                        <a:rPr sz="1800" spc="-5" dirty="0">
                          <a:latin typeface="Courier New"/>
                          <a:cs typeface="Courier New"/>
                        </a:rPr>
                        <a:t>cannibal</a:t>
                      </a:r>
                      <a:r>
                        <a:rPr sz="1800" spc="-25" dirty="0">
                          <a:latin typeface="Courier New"/>
                          <a:cs typeface="Courier New"/>
                        </a:rPr>
                        <a:t> </a:t>
                      </a:r>
                      <a:r>
                        <a:rPr sz="1800" spc="-5" dirty="0">
                          <a:latin typeface="Courier New"/>
                          <a:cs typeface="Courier New"/>
                        </a:rPr>
                        <a:t>return:</a:t>
                      </a:r>
                      <a:endParaRPr sz="1800">
                        <a:latin typeface="Courier New"/>
                        <a:cs typeface="Courier New"/>
                      </a:endParaRPr>
                    </a:p>
                  </a:txBody>
                  <a:tcPr marL="0" marR="0" marT="0" marB="0"/>
                </a:tc>
                <a:tc>
                  <a:txBody>
                    <a:bodyPr/>
                    <a:lstStyle/>
                    <a:p>
                      <a:pPr marL="204470" marR="3175">
                        <a:lnSpc>
                          <a:spcPts val="2145"/>
                        </a:lnSpc>
                      </a:pPr>
                      <a:r>
                        <a:rPr sz="1800" spc="-5" dirty="0">
                          <a:latin typeface="Courier New"/>
                          <a:cs typeface="Courier New"/>
                        </a:rPr>
                        <a:t>MMCC</a:t>
                      </a:r>
                      <a:endParaRPr sz="1800">
                        <a:latin typeface="Courier New"/>
                        <a:cs typeface="Courier New"/>
                      </a:endParaRPr>
                    </a:p>
                  </a:txBody>
                  <a:tcPr marL="0" marR="0" marT="0" marB="0"/>
                </a:tc>
                <a:tc>
                  <a:txBody>
                    <a:bodyPr/>
                    <a:lstStyle/>
                    <a:p>
                      <a:pPr>
                        <a:lnSpc>
                          <a:spcPts val="2145"/>
                        </a:lnSpc>
                      </a:pPr>
                      <a:r>
                        <a:rPr sz="1800" dirty="0">
                          <a:latin typeface="Courier New"/>
                          <a:cs typeface="Courier New"/>
                        </a:rPr>
                        <a:t>B</a:t>
                      </a:r>
                      <a:endParaRPr sz="1800">
                        <a:latin typeface="Courier New"/>
                        <a:cs typeface="Courier New"/>
                      </a:endParaRPr>
                    </a:p>
                  </a:txBody>
                  <a:tcPr marL="0" marR="0" marT="0" marB="0"/>
                </a:tc>
                <a:tc>
                  <a:txBody>
                    <a:bodyPr/>
                    <a:lstStyle/>
                    <a:p>
                      <a:pPr marL="240665" algn="ctr">
                        <a:lnSpc>
                          <a:spcPts val="2145"/>
                        </a:lnSpc>
                      </a:pPr>
                      <a:r>
                        <a:rPr sz="1800" spc="-5" dirty="0">
                          <a:latin typeface="Courier New"/>
                          <a:cs typeface="Courier New"/>
                        </a:rPr>
                        <a:t>MC</a:t>
                      </a:r>
                      <a:endParaRPr sz="1800">
                        <a:latin typeface="Courier New"/>
                        <a:cs typeface="Courier New"/>
                      </a:endParaRPr>
                    </a:p>
                  </a:txBody>
                  <a:tcPr marL="0" marR="0" marT="0" marB="0"/>
                </a:tc>
              </a:tr>
              <a:tr h="331216">
                <a:tc>
                  <a:txBody>
                    <a:bodyPr/>
                    <a:lstStyle/>
                    <a:p>
                      <a:pPr marL="31750">
                        <a:lnSpc>
                          <a:spcPts val="2145"/>
                        </a:lnSpc>
                      </a:pPr>
                      <a:r>
                        <a:rPr sz="1800" dirty="0">
                          <a:latin typeface="Courier New"/>
                          <a:cs typeface="Courier New"/>
                        </a:rPr>
                        <a:t>7</a:t>
                      </a:r>
                      <a:r>
                        <a:rPr sz="1800" spc="-25" dirty="0">
                          <a:latin typeface="Courier New"/>
                          <a:cs typeface="Courier New"/>
                        </a:rPr>
                        <a:t> </a:t>
                      </a:r>
                      <a:r>
                        <a:rPr sz="1800" spc="-5" dirty="0">
                          <a:latin typeface="Courier New"/>
                          <a:cs typeface="Courier New"/>
                        </a:rPr>
                        <a:t>Two</a:t>
                      </a:r>
                      <a:r>
                        <a:rPr sz="1800" spc="-25" dirty="0">
                          <a:latin typeface="Courier New"/>
                          <a:cs typeface="Courier New"/>
                        </a:rPr>
                        <a:t> </a:t>
                      </a:r>
                      <a:r>
                        <a:rPr sz="1800" spc="-5" dirty="0">
                          <a:latin typeface="Courier New"/>
                          <a:cs typeface="Courier New"/>
                        </a:rPr>
                        <a:t>missionaries</a:t>
                      </a:r>
                      <a:r>
                        <a:rPr sz="1800" spc="-25" dirty="0">
                          <a:latin typeface="Courier New"/>
                          <a:cs typeface="Courier New"/>
                        </a:rPr>
                        <a:t> </a:t>
                      </a:r>
                      <a:r>
                        <a:rPr sz="1800" spc="-5" dirty="0">
                          <a:latin typeface="Courier New"/>
                          <a:cs typeface="Courier New"/>
                        </a:rPr>
                        <a:t>cross</a:t>
                      </a:r>
                      <a:r>
                        <a:rPr sz="1800" spc="-20" dirty="0">
                          <a:latin typeface="Courier New"/>
                          <a:cs typeface="Courier New"/>
                        </a:rPr>
                        <a:t> </a:t>
                      </a:r>
                      <a:r>
                        <a:rPr sz="1800" spc="-5" dirty="0">
                          <a:latin typeface="Courier New"/>
                          <a:cs typeface="Courier New"/>
                        </a:rPr>
                        <a:t>again:</a:t>
                      </a:r>
                      <a:endParaRPr sz="1800">
                        <a:latin typeface="Courier New"/>
                        <a:cs typeface="Courier New"/>
                      </a:endParaRPr>
                    </a:p>
                  </a:txBody>
                  <a:tcPr marL="0" marR="0" marT="0" marB="0"/>
                </a:tc>
                <a:tc>
                  <a:txBody>
                    <a:bodyPr/>
                    <a:lstStyle/>
                    <a:p>
                      <a:pPr marL="204470" marR="3175">
                        <a:lnSpc>
                          <a:spcPts val="2145"/>
                        </a:lnSpc>
                      </a:pPr>
                      <a:r>
                        <a:rPr sz="1800" spc="-5" dirty="0">
                          <a:latin typeface="Courier New"/>
                          <a:cs typeface="Courier New"/>
                        </a:rPr>
                        <a:t>CC</a:t>
                      </a:r>
                      <a:endParaRPr sz="1800">
                        <a:latin typeface="Courier New"/>
                        <a:cs typeface="Courier New"/>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marL="410209">
                        <a:lnSpc>
                          <a:spcPts val="2145"/>
                        </a:lnSpc>
                        <a:tabLst>
                          <a:tab pos="821690" algn="l"/>
                        </a:tabLst>
                      </a:pPr>
                      <a:r>
                        <a:rPr sz="1800" dirty="0">
                          <a:latin typeface="Courier New"/>
                          <a:cs typeface="Courier New"/>
                        </a:rPr>
                        <a:t>B	</a:t>
                      </a:r>
                      <a:r>
                        <a:rPr sz="1800" spc="-5" dirty="0">
                          <a:latin typeface="Courier New"/>
                          <a:cs typeface="Courier New"/>
                        </a:rPr>
                        <a:t>MMMC</a:t>
                      </a:r>
                      <a:endParaRPr sz="1800">
                        <a:latin typeface="Courier New"/>
                        <a:cs typeface="Courier New"/>
                      </a:endParaRPr>
                    </a:p>
                  </a:txBody>
                  <a:tcPr marL="0" marR="0" marT="0" marB="0"/>
                </a:tc>
              </a:tr>
              <a:tr h="331216">
                <a:tc>
                  <a:txBody>
                    <a:bodyPr/>
                    <a:lstStyle/>
                    <a:p>
                      <a:pPr marL="31750">
                        <a:lnSpc>
                          <a:spcPts val="2145"/>
                        </a:lnSpc>
                      </a:pPr>
                      <a:r>
                        <a:rPr sz="1800" dirty="0">
                          <a:latin typeface="Courier New"/>
                          <a:cs typeface="Courier New"/>
                        </a:rPr>
                        <a:t>8</a:t>
                      </a:r>
                      <a:r>
                        <a:rPr sz="1800" spc="-35" dirty="0">
                          <a:latin typeface="Courier New"/>
                          <a:cs typeface="Courier New"/>
                        </a:rPr>
                        <a:t> </a:t>
                      </a:r>
                      <a:r>
                        <a:rPr sz="1800" dirty="0">
                          <a:latin typeface="Courier New"/>
                          <a:cs typeface="Courier New"/>
                        </a:rPr>
                        <a:t>A</a:t>
                      </a:r>
                      <a:r>
                        <a:rPr sz="1800" spc="-30" dirty="0">
                          <a:latin typeface="Courier New"/>
                          <a:cs typeface="Courier New"/>
                        </a:rPr>
                        <a:t> </a:t>
                      </a:r>
                      <a:r>
                        <a:rPr sz="1800" spc="-5" dirty="0">
                          <a:latin typeface="Courier New"/>
                          <a:cs typeface="Courier New"/>
                        </a:rPr>
                        <a:t>cannibal</a:t>
                      </a:r>
                      <a:r>
                        <a:rPr sz="1800" spc="-35" dirty="0">
                          <a:latin typeface="Courier New"/>
                          <a:cs typeface="Courier New"/>
                        </a:rPr>
                        <a:t> </a:t>
                      </a:r>
                      <a:r>
                        <a:rPr sz="1800" spc="-5" dirty="0">
                          <a:latin typeface="Courier New"/>
                          <a:cs typeface="Courier New"/>
                        </a:rPr>
                        <a:t>returns:</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CCC</a:t>
                      </a:r>
                      <a:endParaRPr sz="1800">
                        <a:latin typeface="Courier New"/>
                        <a:cs typeface="Courier New"/>
                      </a:endParaRPr>
                    </a:p>
                  </a:txBody>
                  <a:tcPr marL="0" marR="0" marT="0" marB="0"/>
                </a:tc>
                <a:tc>
                  <a:txBody>
                    <a:bodyPr/>
                    <a:lstStyle/>
                    <a:p>
                      <a:pPr>
                        <a:lnSpc>
                          <a:spcPts val="2145"/>
                        </a:lnSpc>
                      </a:pPr>
                      <a:r>
                        <a:rPr sz="1800" dirty="0">
                          <a:latin typeface="Courier New"/>
                          <a:cs typeface="Courier New"/>
                        </a:rPr>
                        <a:t>B</a:t>
                      </a:r>
                      <a:endParaRPr sz="1800">
                        <a:latin typeface="Courier New"/>
                        <a:cs typeface="Courier New"/>
                      </a:endParaRPr>
                    </a:p>
                  </a:txBody>
                  <a:tcPr marL="0" marR="0" marT="0" marB="0"/>
                </a:tc>
                <a:tc>
                  <a:txBody>
                    <a:bodyPr/>
                    <a:lstStyle/>
                    <a:p>
                      <a:pPr marL="821690">
                        <a:lnSpc>
                          <a:spcPts val="2145"/>
                        </a:lnSpc>
                      </a:pPr>
                      <a:r>
                        <a:rPr sz="1800" spc="-5" dirty="0">
                          <a:latin typeface="Courier New"/>
                          <a:cs typeface="Courier New"/>
                        </a:rPr>
                        <a:t>MMM</a:t>
                      </a:r>
                      <a:endParaRPr sz="1800">
                        <a:latin typeface="Courier New"/>
                        <a:cs typeface="Courier New"/>
                      </a:endParaRPr>
                    </a:p>
                  </a:txBody>
                  <a:tcPr marL="0" marR="0" marT="0" marB="0"/>
                </a:tc>
              </a:tr>
              <a:tr h="331216">
                <a:tc>
                  <a:txBody>
                    <a:bodyPr/>
                    <a:lstStyle/>
                    <a:p>
                      <a:pPr marL="31750">
                        <a:lnSpc>
                          <a:spcPts val="2145"/>
                        </a:lnSpc>
                      </a:pPr>
                      <a:r>
                        <a:rPr sz="1800" dirty="0">
                          <a:latin typeface="Courier New"/>
                          <a:cs typeface="Courier New"/>
                        </a:rPr>
                        <a:t>9</a:t>
                      </a:r>
                      <a:r>
                        <a:rPr sz="1800" spc="-35" dirty="0">
                          <a:latin typeface="Courier New"/>
                          <a:cs typeface="Courier New"/>
                        </a:rPr>
                        <a:t> </a:t>
                      </a:r>
                      <a:r>
                        <a:rPr sz="1800" spc="-5" dirty="0">
                          <a:latin typeface="Courier New"/>
                          <a:cs typeface="Courier New"/>
                        </a:rPr>
                        <a:t>Two</a:t>
                      </a:r>
                      <a:r>
                        <a:rPr sz="1800" spc="-30" dirty="0">
                          <a:latin typeface="Courier New"/>
                          <a:cs typeface="Courier New"/>
                        </a:rPr>
                        <a:t> </a:t>
                      </a:r>
                      <a:r>
                        <a:rPr sz="1800" spc="-5" dirty="0">
                          <a:latin typeface="Courier New"/>
                          <a:cs typeface="Courier New"/>
                        </a:rPr>
                        <a:t>cannibals</a:t>
                      </a:r>
                      <a:r>
                        <a:rPr sz="1800" spc="-30" dirty="0">
                          <a:latin typeface="Courier New"/>
                          <a:cs typeface="Courier New"/>
                        </a:rPr>
                        <a:t> </a:t>
                      </a:r>
                      <a:r>
                        <a:rPr sz="1800" spc="-5" dirty="0">
                          <a:latin typeface="Courier New"/>
                          <a:cs typeface="Courier New"/>
                        </a:rPr>
                        <a:t>cross:</a:t>
                      </a:r>
                      <a:endParaRPr sz="1800">
                        <a:latin typeface="Courier New"/>
                        <a:cs typeface="Courier New"/>
                      </a:endParaRPr>
                    </a:p>
                  </a:txBody>
                  <a:tcPr marL="0" marR="0" marT="0" marB="0"/>
                </a:tc>
                <a:tc>
                  <a:txBody>
                    <a:bodyPr/>
                    <a:lstStyle/>
                    <a:p>
                      <a:pPr marL="205104" marR="3175">
                        <a:lnSpc>
                          <a:spcPts val="2145"/>
                        </a:lnSpc>
                      </a:pPr>
                      <a:r>
                        <a:rPr sz="1800" dirty="0">
                          <a:latin typeface="Courier New"/>
                          <a:cs typeface="Courier New"/>
                        </a:rPr>
                        <a:t>C</a:t>
                      </a:r>
                      <a:endParaRPr sz="1800">
                        <a:latin typeface="Courier New"/>
                        <a:cs typeface="Courier New"/>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marL="410209">
                        <a:lnSpc>
                          <a:spcPts val="2145"/>
                        </a:lnSpc>
                        <a:tabLst>
                          <a:tab pos="821690" algn="l"/>
                        </a:tabLst>
                      </a:pPr>
                      <a:r>
                        <a:rPr sz="1800" dirty="0">
                          <a:latin typeface="Courier New"/>
                          <a:cs typeface="Courier New"/>
                        </a:rPr>
                        <a:t>B	</a:t>
                      </a:r>
                      <a:r>
                        <a:rPr sz="1800" spc="-5" dirty="0">
                          <a:latin typeface="Courier New"/>
                          <a:cs typeface="Courier New"/>
                        </a:rPr>
                        <a:t>MMMCC</a:t>
                      </a:r>
                      <a:endParaRPr sz="1800">
                        <a:latin typeface="Courier New"/>
                        <a:cs typeface="Courier New"/>
                      </a:endParaRPr>
                    </a:p>
                  </a:txBody>
                  <a:tcPr marL="0" marR="0" marT="0" marB="0"/>
                </a:tc>
              </a:tr>
              <a:tr h="331216">
                <a:tc>
                  <a:txBody>
                    <a:bodyPr/>
                    <a:lstStyle/>
                    <a:p>
                      <a:pPr marL="31750">
                        <a:lnSpc>
                          <a:spcPts val="2145"/>
                        </a:lnSpc>
                      </a:pPr>
                      <a:r>
                        <a:rPr sz="1800" spc="-5" dirty="0">
                          <a:latin typeface="Courier New"/>
                          <a:cs typeface="Courier New"/>
                        </a:rPr>
                        <a:t>10</a:t>
                      </a:r>
                      <a:r>
                        <a:rPr sz="1800" spc="-45" dirty="0">
                          <a:latin typeface="Courier New"/>
                          <a:cs typeface="Courier New"/>
                        </a:rPr>
                        <a:t> </a:t>
                      </a:r>
                      <a:r>
                        <a:rPr sz="1800" spc="-5" dirty="0">
                          <a:latin typeface="Courier New"/>
                          <a:cs typeface="Courier New"/>
                        </a:rPr>
                        <a:t>One</a:t>
                      </a:r>
                      <a:r>
                        <a:rPr sz="1800" spc="-40" dirty="0">
                          <a:latin typeface="Courier New"/>
                          <a:cs typeface="Courier New"/>
                        </a:rPr>
                        <a:t> </a:t>
                      </a:r>
                      <a:r>
                        <a:rPr sz="1800" spc="-5" dirty="0">
                          <a:latin typeface="Courier New"/>
                          <a:cs typeface="Courier New"/>
                        </a:rPr>
                        <a:t>returns:</a:t>
                      </a:r>
                      <a:endParaRPr sz="1800">
                        <a:latin typeface="Courier New"/>
                        <a:cs typeface="Courier New"/>
                      </a:endParaRPr>
                    </a:p>
                  </a:txBody>
                  <a:tcPr marL="0" marR="0" marT="0" marB="0"/>
                </a:tc>
                <a:tc>
                  <a:txBody>
                    <a:bodyPr/>
                    <a:lstStyle/>
                    <a:p>
                      <a:pPr marL="205104" marR="3175">
                        <a:lnSpc>
                          <a:spcPts val="2145"/>
                        </a:lnSpc>
                      </a:pPr>
                      <a:r>
                        <a:rPr sz="1800" spc="-5" dirty="0">
                          <a:latin typeface="Courier New"/>
                          <a:cs typeface="Courier New"/>
                        </a:rPr>
                        <a:t>CC</a:t>
                      </a:r>
                      <a:endParaRPr sz="1800">
                        <a:latin typeface="Courier New"/>
                        <a:cs typeface="Courier New"/>
                      </a:endParaRPr>
                    </a:p>
                  </a:txBody>
                  <a:tcPr marL="0" marR="0" marT="0" marB="0"/>
                </a:tc>
                <a:tc>
                  <a:txBody>
                    <a:bodyPr/>
                    <a:lstStyle/>
                    <a:p>
                      <a:pPr>
                        <a:lnSpc>
                          <a:spcPts val="2145"/>
                        </a:lnSpc>
                      </a:pPr>
                      <a:r>
                        <a:rPr sz="1800" dirty="0">
                          <a:latin typeface="Courier New"/>
                          <a:cs typeface="Courier New"/>
                        </a:rPr>
                        <a:t>B</a:t>
                      </a:r>
                      <a:endParaRPr sz="1800">
                        <a:latin typeface="Courier New"/>
                        <a:cs typeface="Courier New"/>
                      </a:endParaRPr>
                    </a:p>
                  </a:txBody>
                  <a:tcPr marL="0" marR="0" marT="0" marB="0"/>
                </a:tc>
                <a:tc>
                  <a:txBody>
                    <a:bodyPr/>
                    <a:lstStyle/>
                    <a:p>
                      <a:pPr marL="821690">
                        <a:lnSpc>
                          <a:spcPts val="2145"/>
                        </a:lnSpc>
                      </a:pPr>
                      <a:r>
                        <a:rPr sz="1800" spc="-5" dirty="0">
                          <a:latin typeface="Courier New"/>
                          <a:cs typeface="Courier New"/>
                        </a:rPr>
                        <a:t>MMMC</a:t>
                      </a:r>
                      <a:endParaRPr sz="1800">
                        <a:latin typeface="Courier New"/>
                        <a:cs typeface="Courier New"/>
                      </a:endParaRPr>
                    </a:p>
                  </a:txBody>
                  <a:tcPr marL="0" marR="0" marT="0" marB="0"/>
                </a:tc>
              </a:tr>
              <a:tr h="295088">
                <a:tc>
                  <a:txBody>
                    <a:bodyPr/>
                    <a:lstStyle/>
                    <a:p>
                      <a:pPr marL="31750">
                        <a:lnSpc>
                          <a:spcPts val="2145"/>
                        </a:lnSpc>
                      </a:pPr>
                      <a:r>
                        <a:rPr sz="1800" spc="-5" dirty="0">
                          <a:latin typeface="Courier New"/>
                          <a:cs typeface="Courier New"/>
                        </a:rPr>
                        <a:t>11</a:t>
                      </a:r>
                      <a:r>
                        <a:rPr sz="1800" spc="-20" dirty="0">
                          <a:latin typeface="Courier New"/>
                          <a:cs typeface="Courier New"/>
                        </a:rPr>
                        <a:t> </a:t>
                      </a:r>
                      <a:r>
                        <a:rPr sz="1800" spc="-5" dirty="0">
                          <a:latin typeface="Courier New"/>
                          <a:cs typeface="Courier New"/>
                        </a:rPr>
                        <a:t>And</a:t>
                      </a:r>
                      <a:r>
                        <a:rPr sz="1800" spc="-20" dirty="0">
                          <a:latin typeface="Courier New"/>
                          <a:cs typeface="Courier New"/>
                        </a:rPr>
                        <a:t> </a:t>
                      </a:r>
                      <a:r>
                        <a:rPr sz="1800" spc="-5" dirty="0">
                          <a:latin typeface="Courier New"/>
                          <a:cs typeface="Courier New"/>
                        </a:rPr>
                        <a:t>brings</a:t>
                      </a:r>
                      <a:r>
                        <a:rPr sz="1800" spc="-20" dirty="0">
                          <a:latin typeface="Courier New"/>
                          <a:cs typeface="Courier New"/>
                        </a:rPr>
                        <a:t> </a:t>
                      </a:r>
                      <a:r>
                        <a:rPr sz="1800" spc="-5" dirty="0">
                          <a:latin typeface="Courier New"/>
                          <a:cs typeface="Courier New"/>
                        </a:rPr>
                        <a:t>over</a:t>
                      </a:r>
                      <a:r>
                        <a:rPr sz="1800" spc="-15" dirty="0">
                          <a:latin typeface="Courier New"/>
                          <a:cs typeface="Courier New"/>
                        </a:rPr>
                        <a:t> </a:t>
                      </a:r>
                      <a:r>
                        <a:rPr sz="1800" spc="-5" dirty="0">
                          <a:latin typeface="Courier New"/>
                          <a:cs typeface="Courier New"/>
                        </a:rPr>
                        <a:t>the</a:t>
                      </a:r>
                      <a:r>
                        <a:rPr sz="1800" spc="-20" dirty="0">
                          <a:latin typeface="Courier New"/>
                          <a:cs typeface="Courier New"/>
                        </a:rPr>
                        <a:t> </a:t>
                      </a:r>
                      <a:r>
                        <a:rPr sz="1800" spc="-5" dirty="0">
                          <a:latin typeface="Courier New"/>
                          <a:cs typeface="Courier New"/>
                        </a:rPr>
                        <a:t>third:</a:t>
                      </a:r>
                      <a:endParaRPr sz="1800">
                        <a:latin typeface="Courier New"/>
                        <a:cs typeface="Courier New"/>
                      </a:endParaRPr>
                    </a:p>
                  </a:txBody>
                  <a:tcPr marL="0" marR="0" marT="0" marB="0"/>
                </a:tc>
                <a:tc>
                  <a:txBody>
                    <a:bodyPr/>
                    <a:lstStyle/>
                    <a:p>
                      <a:pPr marL="205104" marR="3175">
                        <a:lnSpc>
                          <a:spcPts val="2145"/>
                        </a:lnSpc>
                      </a:pPr>
                      <a:r>
                        <a:rPr sz="1800" dirty="0">
                          <a:latin typeface="Courier New"/>
                          <a:cs typeface="Courier New"/>
                        </a:rPr>
                        <a:t>-</a:t>
                      </a:r>
                      <a:endParaRPr sz="1800">
                        <a:latin typeface="Courier New"/>
                        <a:cs typeface="Courier New"/>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410209">
                        <a:lnSpc>
                          <a:spcPts val="2145"/>
                        </a:lnSpc>
                        <a:tabLst>
                          <a:tab pos="821690" algn="l"/>
                        </a:tabLst>
                      </a:pPr>
                      <a:r>
                        <a:rPr sz="1800" dirty="0">
                          <a:latin typeface="Courier New"/>
                          <a:cs typeface="Courier New"/>
                        </a:rPr>
                        <a:t>B	</a:t>
                      </a:r>
                      <a:r>
                        <a:rPr sz="1800" spc="-5" dirty="0">
                          <a:latin typeface="Courier New"/>
                          <a:cs typeface="Courier New"/>
                        </a:rPr>
                        <a:t>MMMCCC</a:t>
                      </a:r>
                      <a:endParaRPr sz="1800">
                        <a:latin typeface="Courier New"/>
                        <a:cs typeface="Courier New"/>
                      </a:endParaRPr>
                    </a:p>
                  </a:txBody>
                  <a:tcPr marL="0" marR="0" marT="0" marB="0"/>
                </a:tc>
              </a:tr>
            </a:tbl>
          </a:graphicData>
        </a:graphic>
      </p:graphicFrame>
    </p:spTree>
    <p:extLst>
      <p:ext uri="{BB962C8B-B14F-4D97-AF65-F5344CB8AC3E}">
        <p14:creationId xmlns:p14="http://schemas.microsoft.com/office/powerpoint/2010/main" val="30226193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7351" y="475487"/>
            <a:ext cx="3587115" cy="695960"/>
          </a:xfrm>
          <a:prstGeom prst="rect">
            <a:avLst/>
          </a:prstGeom>
        </p:spPr>
        <p:txBody>
          <a:bodyPr vert="horz" wrap="square" lIns="0" tIns="12700" rIns="0" bIns="0" rtlCol="0">
            <a:spAutoFit/>
          </a:bodyPr>
          <a:lstStyle/>
          <a:p>
            <a:pPr marL="12700">
              <a:lnSpc>
                <a:spcPct val="100000"/>
              </a:lnSpc>
              <a:spcBef>
                <a:spcPts val="100"/>
              </a:spcBef>
            </a:pPr>
            <a:r>
              <a:rPr spc="-10" dirty="0"/>
              <a:t>Cryptarithmetic</a:t>
            </a:r>
          </a:p>
        </p:txBody>
      </p:sp>
      <p:sp>
        <p:nvSpPr>
          <p:cNvPr id="3" name="object 3"/>
          <p:cNvSpPr txBox="1"/>
          <p:nvPr/>
        </p:nvSpPr>
        <p:spPr>
          <a:xfrm>
            <a:off x="881987" y="1063816"/>
            <a:ext cx="7378065" cy="1305560"/>
          </a:xfrm>
          <a:prstGeom prst="rect">
            <a:avLst/>
          </a:prstGeom>
        </p:spPr>
        <p:txBody>
          <a:bodyPr vert="horz" wrap="square" lIns="0" tIns="12700" rIns="0" bIns="0" rtlCol="0">
            <a:spAutoFit/>
          </a:bodyPr>
          <a:lstStyle/>
          <a:p>
            <a:pPr marL="301625" marR="5080" indent="-289560">
              <a:lnSpc>
                <a:spcPct val="100000"/>
              </a:lnSpc>
              <a:spcBef>
                <a:spcPts val="100"/>
              </a:spcBef>
              <a:buFont typeface="Arial MT"/>
              <a:buChar char="•"/>
              <a:tabLst>
                <a:tab pos="301625" algn="l"/>
                <a:tab pos="302260" algn="l"/>
              </a:tabLst>
            </a:pPr>
            <a:r>
              <a:rPr sz="2800" spc="-5" dirty="0">
                <a:latin typeface="Calibri"/>
                <a:cs typeface="Calibri"/>
              </a:rPr>
              <a:t>Find </a:t>
            </a:r>
            <a:r>
              <a:rPr sz="2800" dirty="0">
                <a:latin typeface="Calibri"/>
                <a:cs typeface="Calibri"/>
              </a:rPr>
              <a:t>an </a:t>
            </a:r>
            <a:r>
              <a:rPr sz="2800" spc="-5" dirty="0">
                <a:latin typeface="Calibri"/>
                <a:cs typeface="Calibri"/>
              </a:rPr>
              <a:t>assignment of digits (0, ..., 9) </a:t>
            </a:r>
            <a:r>
              <a:rPr sz="2800" spc="-15" dirty="0">
                <a:latin typeface="Calibri"/>
                <a:cs typeface="Calibri"/>
              </a:rPr>
              <a:t>to </a:t>
            </a:r>
            <a:r>
              <a:rPr sz="2800" spc="-25" dirty="0">
                <a:latin typeface="Calibri"/>
                <a:cs typeface="Calibri"/>
              </a:rPr>
              <a:t>letters </a:t>
            </a:r>
            <a:r>
              <a:rPr sz="2800" spc="-5" dirty="0">
                <a:latin typeface="Calibri"/>
                <a:cs typeface="Calibri"/>
              </a:rPr>
              <a:t>so </a:t>
            </a:r>
            <a:r>
              <a:rPr sz="2800" spc="-620" dirty="0">
                <a:latin typeface="Calibri"/>
                <a:cs typeface="Calibri"/>
              </a:rPr>
              <a:t> </a:t>
            </a:r>
            <a:r>
              <a:rPr sz="2800" spc="-10" dirty="0">
                <a:latin typeface="Calibri"/>
                <a:cs typeface="Calibri"/>
              </a:rPr>
              <a:t>that </a:t>
            </a:r>
            <a:r>
              <a:rPr sz="2800" dirty="0">
                <a:latin typeface="Calibri"/>
                <a:cs typeface="Calibri"/>
              </a:rPr>
              <a:t>a </a:t>
            </a:r>
            <a:r>
              <a:rPr sz="2800" spc="-10" dirty="0">
                <a:latin typeface="Calibri"/>
                <a:cs typeface="Calibri"/>
              </a:rPr>
              <a:t>given </a:t>
            </a:r>
            <a:r>
              <a:rPr sz="2800" spc="-5" dirty="0">
                <a:latin typeface="Calibri"/>
                <a:cs typeface="Calibri"/>
              </a:rPr>
              <a:t>arithmetic </a:t>
            </a:r>
            <a:r>
              <a:rPr sz="2800" spc="-15" dirty="0">
                <a:latin typeface="Calibri"/>
                <a:cs typeface="Calibri"/>
              </a:rPr>
              <a:t>expression </a:t>
            </a:r>
            <a:r>
              <a:rPr sz="2800" spc="-5" dirty="0">
                <a:latin typeface="Calibri"/>
                <a:cs typeface="Calibri"/>
              </a:rPr>
              <a:t>is </a:t>
            </a:r>
            <a:r>
              <a:rPr sz="2800" spc="-10" dirty="0">
                <a:latin typeface="Calibri"/>
                <a:cs typeface="Calibri"/>
              </a:rPr>
              <a:t>true. </a:t>
            </a:r>
            <a:r>
              <a:rPr sz="2800" spc="-5" dirty="0">
                <a:latin typeface="Calibri"/>
                <a:cs typeface="Calibri"/>
              </a:rPr>
              <a:t> </a:t>
            </a:r>
            <a:r>
              <a:rPr sz="2800" spc="-15" dirty="0">
                <a:latin typeface="Calibri"/>
                <a:cs typeface="Calibri"/>
              </a:rPr>
              <a:t>examples:</a:t>
            </a:r>
            <a:r>
              <a:rPr sz="2800" spc="-10" dirty="0">
                <a:latin typeface="Calibri"/>
                <a:cs typeface="Calibri"/>
              </a:rPr>
              <a:t> </a:t>
            </a:r>
            <a:r>
              <a:rPr sz="2800" spc="-5" dirty="0">
                <a:latin typeface="Calibri"/>
                <a:cs typeface="Calibri"/>
              </a:rPr>
              <a:t>SEND </a:t>
            </a:r>
            <a:r>
              <a:rPr sz="2800" dirty="0">
                <a:latin typeface="Calibri"/>
                <a:cs typeface="Calibri"/>
              </a:rPr>
              <a:t>+</a:t>
            </a:r>
            <a:r>
              <a:rPr sz="2800" spc="-5" dirty="0">
                <a:latin typeface="Calibri"/>
                <a:cs typeface="Calibri"/>
              </a:rPr>
              <a:t> </a:t>
            </a:r>
            <a:r>
              <a:rPr sz="2800" spc="-10" dirty="0">
                <a:latin typeface="Calibri"/>
                <a:cs typeface="Calibri"/>
              </a:rPr>
              <a:t>MORE</a:t>
            </a:r>
            <a:r>
              <a:rPr sz="2800" spc="-15" dirty="0">
                <a:latin typeface="Calibri"/>
                <a:cs typeface="Calibri"/>
              </a:rPr>
              <a:t> </a:t>
            </a:r>
            <a:r>
              <a:rPr sz="2800" dirty="0">
                <a:latin typeface="Calibri"/>
                <a:cs typeface="Calibri"/>
              </a:rPr>
              <a:t>=</a:t>
            </a:r>
            <a:r>
              <a:rPr sz="2800" spc="-5" dirty="0">
                <a:latin typeface="Calibri"/>
                <a:cs typeface="Calibri"/>
              </a:rPr>
              <a:t> </a:t>
            </a:r>
            <a:r>
              <a:rPr sz="2800" spc="-10" dirty="0">
                <a:latin typeface="Calibri"/>
                <a:cs typeface="Calibri"/>
              </a:rPr>
              <a:t>MONEY </a:t>
            </a:r>
            <a:r>
              <a:rPr sz="2800" dirty="0">
                <a:latin typeface="Calibri"/>
                <a:cs typeface="Calibri"/>
              </a:rPr>
              <a:t>and</a:t>
            </a:r>
            <a:endParaRPr sz="2800">
              <a:latin typeface="Calibri"/>
              <a:cs typeface="Calibri"/>
            </a:endParaRPr>
          </a:p>
        </p:txBody>
      </p:sp>
      <p:graphicFrame>
        <p:nvGraphicFramePr>
          <p:cNvPr id="4" name="object 4"/>
          <p:cNvGraphicFramePr>
            <a:graphicFrameLocks noGrp="1"/>
          </p:cNvGraphicFramePr>
          <p:nvPr/>
        </p:nvGraphicFramePr>
        <p:xfrm>
          <a:off x="1724015" y="2437889"/>
          <a:ext cx="2946399" cy="716778"/>
        </p:xfrm>
        <a:graphic>
          <a:graphicData uri="http://schemas.openxmlformats.org/drawingml/2006/table">
            <a:tbl>
              <a:tblPr firstRow="1" bandRow="1">
                <a:tableStyleId>{2D5ABB26-0587-4C30-8999-92F81FD0307C}</a:tableStyleId>
              </a:tblPr>
              <a:tblGrid>
                <a:gridCol w="139700"/>
                <a:gridCol w="801369"/>
                <a:gridCol w="1333500"/>
                <a:gridCol w="671830"/>
              </a:tblGrid>
              <a:tr h="229548">
                <a:tc>
                  <a:txBody>
                    <a:bodyPr/>
                    <a:lstStyle/>
                    <a:p>
                      <a:pPr>
                        <a:lnSpc>
                          <a:spcPct val="100000"/>
                        </a:lnSpc>
                      </a:pPr>
                      <a:endParaRPr sz="1300">
                        <a:latin typeface="Times New Roman"/>
                        <a:cs typeface="Times New Roman"/>
                      </a:endParaRPr>
                    </a:p>
                  </a:txBody>
                  <a:tcPr marL="0" marR="0" marT="0" marB="0"/>
                </a:tc>
                <a:tc>
                  <a:txBody>
                    <a:bodyPr/>
                    <a:lstStyle/>
                    <a:p>
                      <a:pPr marR="259079" algn="r">
                        <a:lnSpc>
                          <a:spcPts val="1445"/>
                        </a:lnSpc>
                      </a:pPr>
                      <a:r>
                        <a:rPr sz="1400" b="1" spc="-5" dirty="0">
                          <a:latin typeface="Courier New"/>
                          <a:cs typeface="Courier New"/>
                        </a:rPr>
                        <a:t>FORTY</a:t>
                      </a:r>
                      <a:endParaRPr sz="1400">
                        <a:latin typeface="Courier New"/>
                        <a:cs typeface="Courier New"/>
                      </a:endParaRPr>
                    </a:p>
                  </a:txBody>
                  <a:tcPr marL="0" marR="0" marT="0" marB="0"/>
                </a:tc>
                <a:tc>
                  <a:txBody>
                    <a:bodyPr/>
                    <a:lstStyle/>
                    <a:p>
                      <a:pPr marL="266700">
                        <a:lnSpc>
                          <a:spcPts val="1445"/>
                        </a:lnSpc>
                      </a:pPr>
                      <a:r>
                        <a:rPr sz="1400" b="1" spc="-5" dirty="0">
                          <a:latin typeface="Courier New"/>
                          <a:cs typeface="Courier New"/>
                        </a:rPr>
                        <a:t>Solution:</a:t>
                      </a:r>
                      <a:endParaRPr sz="1400">
                        <a:latin typeface="Courier New"/>
                        <a:cs typeface="Courier New"/>
                      </a:endParaRPr>
                    </a:p>
                  </a:txBody>
                  <a:tcPr marL="0" marR="0" marT="0" marB="0"/>
                </a:tc>
                <a:tc>
                  <a:txBody>
                    <a:bodyPr/>
                    <a:lstStyle/>
                    <a:p>
                      <a:pPr marR="24130" algn="r">
                        <a:lnSpc>
                          <a:spcPts val="1445"/>
                        </a:lnSpc>
                      </a:pPr>
                      <a:r>
                        <a:rPr sz="1400" b="1" spc="-5" dirty="0">
                          <a:latin typeface="Courier New"/>
                          <a:cs typeface="Courier New"/>
                        </a:rPr>
                        <a:t>29786</a:t>
                      </a:r>
                      <a:endParaRPr sz="1400">
                        <a:latin typeface="Courier New"/>
                        <a:cs typeface="Courier New"/>
                      </a:endParaRPr>
                    </a:p>
                  </a:txBody>
                  <a:tcPr marL="0" marR="0" marT="0" marB="0"/>
                </a:tc>
              </a:tr>
              <a:tr h="257682">
                <a:tc>
                  <a:txBody>
                    <a:bodyPr/>
                    <a:lstStyle/>
                    <a:p>
                      <a:pPr algn="r">
                        <a:lnSpc>
                          <a:spcPts val="1664"/>
                        </a:lnSpc>
                      </a:pPr>
                      <a:r>
                        <a:rPr sz="1400" b="1" dirty="0">
                          <a:latin typeface="Courier New"/>
                          <a:cs typeface="Courier New"/>
                        </a:rPr>
                        <a:t>+</a:t>
                      </a:r>
                      <a:endParaRPr sz="1400">
                        <a:latin typeface="Courier New"/>
                        <a:cs typeface="Courier New"/>
                      </a:endParaRPr>
                    </a:p>
                  </a:txBody>
                  <a:tcPr marL="0" marR="0" marT="0" marB="0"/>
                </a:tc>
                <a:tc>
                  <a:txBody>
                    <a:bodyPr/>
                    <a:lstStyle/>
                    <a:p>
                      <a:pPr marR="260985" algn="r">
                        <a:lnSpc>
                          <a:spcPts val="1664"/>
                        </a:lnSpc>
                      </a:pPr>
                      <a:r>
                        <a:rPr sz="1400" b="1" spc="-5" dirty="0">
                          <a:latin typeface="Courier New"/>
                          <a:cs typeface="Courier New"/>
                        </a:rPr>
                        <a:t>TEN</a:t>
                      </a:r>
                      <a:endParaRPr sz="14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marR="25400" algn="r">
                        <a:lnSpc>
                          <a:spcPts val="1664"/>
                        </a:lnSpc>
                      </a:pPr>
                      <a:r>
                        <a:rPr sz="1400" b="1" spc="-5" dirty="0">
                          <a:latin typeface="Courier New"/>
                          <a:cs typeface="Courier New"/>
                        </a:rPr>
                        <a:t>850</a:t>
                      </a:r>
                      <a:endParaRPr sz="1400">
                        <a:latin typeface="Courier New"/>
                        <a:cs typeface="Courier New"/>
                      </a:endParaRPr>
                    </a:p>
                  </a:txBody>
                  <a:tcPr marL="0" marR="0" marT="0" marB="0"/>
                </a:tc>
              </a:tr>
              <a:tr h="229548">
                <a:tc>
                  <a:txBody>
                    <a:bodyPr/>
                    <a:lstStyle/>
                    <a:p>
                      <a:pPr algn="r">
                        <a:lnSpc>
                          <a:spcPts val="1664"/>
                        </a:lnSpc>
                      </a:pPr>
                      <a:r>
                        <a:rPr sz="1400" b="1" dirty="0">
                          <a:latin typeface="Courier New"/>
                          <a:cs typeface="Courier New"/>
                        </a:rPr>
                        <a:t>+</a:t>
                      </a:r>
                      <a:endParaRPr sz="1400">
                        <a:latin typeface="Courier New"/>
                        <a:cs typeface="Courier New"/>
                      </a:endParaRPr>
                    </a:p>
                  </a:txBody>
                  <a:tcPr marL="0" marR="0" marT="0" marB="0"/>
                </a:tc>
                <a:tc>
                  <a:txBody>
                    <a:bodyPr/>
                    <a:lstStyle/>
                    <a:p>
                      <a:pPr marR="260985" algn="r">
                        <a:lnSpc>
                          <a:spcPts val="1664"/>
                        </a:lnSpc>
                      </a:pPr>
                      <a:r>
                        <a:rPr sz="1400" b="1" spc="-5" dirty="0">
                          <a:latin typeface="Courier New"/>
                          <a:cs typeface="Courier New"/>
                        </a:rPr>
                        <a:t>TEN</a:t>
                      </a:r>
                      <a:endParaRPr sz="1400">
                        <a:latin typeface="Courier New"/>
                        <a:cs typeface="Courier New"/>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R="25400" algn="r">
                        <a:lnSpc>
                          <a:spcPts val="1664"/>
                        </a:lnSpc>
                      </a:pPr>
                      <a:r>
                        <a:rPr sz="1400" b="1" spc="-5" dirty="0">
                          <a:latin typeface="Courier New"/>
                          <a:cs typeface="Courier New"/>
                        </a:rPr>
                        <a:t>850</a:t>
                      </a:r>
                      <a:endParaRPr sz="1400">
                        <a:latin typeface="Courier New"/>
                        <a:cs typeface="Courier New"/>
                      </a:endParaRPr>
                    </a:p>
                  </a:txBody>
                  <a:tcPr marL="0" marR="0" marT="0" marB="0"/>
                </a:tc>
              </a:tr>
            </a:tbl>
          </a:graphicData>
        </a:graphic>
      </p:graphicFrame>
      <p:sp>
        <p:nvSpPr>
          <p:cNvPr id="5" name="object 5"/>
          <p:cNvSpPr/>
          <p:nvPr/>
        </p:nvSpPr>
        <p:spPr>
          <a:xfrm>
            <a:off x="1862445" y="3308553"/>
            <a:ext cx="533400" cy="0"/>
          </a:xfrm>
          <a:custGeom>
            <a:avLst/>
            <a:gdLst/>
            <a:ahLst/>
            <a:cxnLst/>
            <a:rect l="l" t="t" r="r" b="b"/>
            <a:pathLst>
              <a:path w="533400">
                <a:moveTo>
                  <a:pt x="0" y="0"/>
                </a:moveTo>
                <a:lnTo>
                  <a:pt x="533313" y="0"/>
                </a:lnTo>
              </a:path>
            </a:pathLst>
          </a:custGeom>
          <a:ln w="16179">
            <a:solidFill>
              <a:srgbClr val="000000"/>
            </a:solidFill>
            <a:prstDash val="dash"/>
          </a:ln>
        </p:spPr>
        <p:txBody>
          <a:bodyPr wrap="square" lIns="0" tIns="0" rIns="0" bIns="0" rtlCol="0"/>
          <a:lstStyle/>
          <a:p>
            <a:endParaRPr/>
          </a:p>
        </p:txBody>
      </p:sp>
      <p:sp>
        <p:nvSpPr>
          <p:cNvPr id="6" name="object 6"/>
          <p:cNvSpPr/>
          <p:nvPr/>
        </p:nvSpPr>
        <p:spPr>
          <a:xfrm>
            <a:off x="4102638" y="3308553"/>
            <a:ext cx="533400" cy="0"/>
          </a:xfrm>
          <a:custGeom>
            <a:avLst/>
            <a:gdLst/>
            <a:ahLst/>
            <a:cxnLst/>
            <a:rect l="l" t="t" r="r" b="b"/>
            <a:pathLst>
              <a:path w="533400">
                <a:moveTo>
                  <a:pt x="0" y="0"/>
                </a:moveTo>
                <a:lnTo>
                  <a:pt x="533400" y="0"/>
                </a:lnTo>
              </a:path>
            </a:pathLst>
          </a:custGeom>
          <a:ln w="16179">
            <a:solidFill>
              <a:srgbClr val="000000"/>
            </a:solidFill>
            <a:prstDash val="dash"/>
          </a:ln>
        </p:spPr>
        <p:txBody>
          <a:bodyPr wrap="square" lIns="0" tIns="0" rIns="0" bIns="0" rtlCol="0"/>
          <a:lstStyle/>
          <a:p>
            <a:endParaRPr/>
          </a:p>
        </p:txBody>
      </p:sp>
      <p:sp>
        <p:nvSpPr>
          <p:cNvPr id="7" name="object 7"/>
          <p:cNvSpPr txBox="1"/>
          <p:nvPr/>
        </p:nvSpPr>
        <p:spPr>
          <a:xfrm>
            <a:off x="1743065" y="3381819"/>
            <a:ext cx="2052320" cy="541020"/>
          </a:xfrm>
          <a:prstGeom prst="rect">
            <a:avLst/>
          </a:prstGeom>
        </p:spPr>
        <p:txBody>
          <a:bodyPr vert="horz" wrap="square" lIns="0" tIns="57150" rIns="0" bIns="0" rtlCol="0">
            <a:spAutoFit/>
          </a:bodyPr>
          <a:lstStyle/>
          <a:p>
            <a:pPr marL="119380">
              <a:lnSpc>
                <a:spcPct val="100000"/>
              </a:lnSpc>
              <a:spcBef>
                <a:spcPts val="450"/>
              </a:spcBef>
            </a:pPr>
            <a:r>
              <a:rPr sz="1400" b="1" spc="-5" dirty="0">
                <a:latin typeface="Courier New"/>
                <a:cs typeface="Courier New"/>
              </a:rPr>
              <a:t>SIXTY</a:t>
            </a:r>
            <a:endParaRPr sz="1400">
              <a:latin typeface="Courier New"/>
              <a:cs typeface="Courier New"/>
            </a:endParaRPr>
          </a:p>
          <a:p>
            <a:pPr marL="12700">
              <a:lnSpc>
                <a:spcPct val="100000"/>
              </a:lnSpc>
              <a:spcBef>
                <a:spcPts val="345"/>
              </a:spcBef>
            </a:pPr>
            <a:r>
              <a:rPr sz="1400" b="1" spc="-5" dirty="0">
                <a:latin typeface="Courier New"/>
                <a:cs typeface="Courier New"/>
              </a:rPr>
              <a:t>F=2,</a:t>
            </a:r>
            <a:r>
              <a:rPr sz="1400" b="1" spc="-35" dirty="0">
                <a:latin typeface="Courier New"/>
                <a:cs typeface="Courier New"/>
              </a:rPr>
              <a:t> </a:t>
            </a:r>
            <a:r>
              <a:rPr sz="1400" b="1" spc="-5" dirty="0">
                <a:latin typeface="Courier New"/>
                <a:cs typeface="Courier New"/>
              </a:rPr>
              <a:t>O=9,</a:t>
            </a:r>
            <a:r>
              <a:rPr sz="1400" b="1" spc="-30" dirty="0">
                <a:latin typeface="Courier New"/>
                <a:cs typeface="Courier New"/>
              </a:rPr>
              <a:t> </a:t>
            </a:r>
            <a:r>
              <a:rPr sz="1400" b="1" spc="-5" dirty="0">
                <a:latin typeface="Courier New"/>
                <a:cs typeface="Courier New"/>
              </a:rPr>
              <a:t>R=7,</a:t>
            </a:r>
            <a:r>
              <a:rPr sz="1400" b="1" spc="-30" dirty="0">
                <a:latin typeface="Courier New"/>
                <a:cs typeface="Courier New"/>
              </a:rPr>
              <a:t> </a:t>
            </a:r>
            <a:r>
              <a:rPr sz="1400" b="1" spc="-5" dirty="0">
                <a:latin typeface="Courier New"/>
                <a:cs typeface="Courier New"/>
              </a:rPr>
              <a:t>etc.</a:t>
            </a:r>
            <a:endParaRPr sz="1400">
              <a:latin typeface="Courier New"/>
              <a:cs typeface="Courier New"/>
            </a:endParaRPr>
          </a:p>
        </p:txBody>
      </p:sp>
      <p:sp>
        <p:nvSpPr>
          <p:cNvPr id="8" name="object 8"/>
          <p:cNvSpPr txBox="1"/>
          <p:nvPr/>
        </p:nvSpPr>
        <p:spPr>
          <a:xfrm>
            <a:off x="4089938" y="3426143"/>
            <a:ext cx="55880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Courier New"/>
                <a:cs typeface="Courier New"/>
              </a:rPr>
              <a:t>31486</a:t>
            </a:r>
            <a:endParaRPr sz="1400">
              <a:latin typeface="Courier New"/>
              <a:cs typeface="Courier New"/>
            </a:endParaRPr>
          </a:p>
        </p:txBody>
      </p:sp>
      <p:sp>
        <p:nvSpPr>
          <p:cNvPr id="9" name="object 9"/>
          <p:cNvSpPr txBox="1"/>
          <p:nvPr/>
        </p:nvSpPr>
        <p:spPr>
          <a:xfrm>
            <a:off x="881987" y="3978593"/>
            <a:ext cx="7453630" cy="2159000"/>
          </a:xfrm>
          <a:prstGeom prst="rect">
            <a:avLst/>
          </a:prstGeom>
        </p:spPr>
        <p:txBody>
          <a:bodyPr vert="horz" wrap="square" lIns="0" tIns="12700" rIns="0" bIns="0" rtlCol="0">
            <a:spAutoFit/>
          </a:bodyPr>
          <a:lstStyle/>
          <a:p>
            <a:pPr marL="301625" marR="5080" indent="-289560">
              <a:lnSpc>
                <a:spcPct val="100000"/>
              </a:lnSpc>
              <a:spcBef>
                <a:spcPts val="100"/>
              </a:spcBef>
              <a:buFont typeface="Arial MT"/>
              <a:buChar char="•"/>
              <a:tabLst>
                <a:tab pos="301625" algn="l"/>
                <a:tab pos="302260" algn="l"/>
              </a:tabLst>
            </a:pPr>
            <a:r>
              <a:rPr sz="2800" spc="-10" dirty="0">
                <a:latin typeface="Calibri"/>
                <a:cs typeface="Calibri"/>
              </a:rPr>
              <a:t>Note: </a:t>
            </a:r>
            <a:r>
              <a:rPr sz="2800" spc="-5" dirty="0">
                <a:latin typeface="Calibri"/>
                <a:cs typeface="Calibri"/>
              </a:rPr>
              <a:t>In</a:t>
            </a:r>
            <a:r>
              <a:rPr sz="2800" spc="-15" dirty="0">
                <a:latin typeface="Calibri"/>
                <a:cs typeface="Calibri"/>
              </a:rPr>
              <a:t> </a:t>
            </a:r>
            <a:r>
              <a:rPr sz="2800" spc="-10" dirty="0">
                <a:latin typeface="Calibri"/>
                <a:cs typeface="Calibri"/>
              </a:rPr>
              <a:t>this problem, the </a:t>
            </a:r>
            <a:r>
              <a:rPr sz="2800" spc="-5" dirty="0">
                <a:latin typeface="Calibri"/>
                <a:cs typeface="Calibri"/>
              </a:rPr>
              <a:t>solution</a:t>
            </a:r>
            <a:r>
              <a:rPr sz="2800" spc="-10" dirty="0">
                <a:latin typeface="Calibri"/>
                <a:cs typeface="Calibri"/>
              </a:rPr>
              <a:t> </a:t>
            </a:r>
            <a:r>
              <a:rPr sz="2800" spc="-5" dirty="0">
                <a:latin typeface="Calibri"/>
                <a:cs typeface="Calibri"/>
              </a:rPr>
              <a:t>is </a:t>
            </a:r>
            <a:r>
              <a:rPr sz="2800" spc="-30" dirty="0">
                <a:latin typeface="Calibri"/>
                <a:cs typeface="Calibri"/>
              </a:rPr>
              <a:t>NOT</a:t>
            </a:r>
            <a:r>
              <a:rPr sz="2800" spc="-10" dirty="0">
                <a:latin typeface="Calibri"/>
                <a:cs typeface="Calibri"/>
              </a:rPr>
              <a:t> </a:t>
            </a:r>
            <a:r>
              <a:rPr sz="2800" dirty="0">
                <a:latin typeface="Calibri"/>
                <a:cs typeface="Calibri"/>
              </a:rPr>
              <a:t>a </a:t>
            </a:r>
            <a:r>
              <a:rPr sz="2800" spc="5" dirty="0">
                <a:latin typeface="Calibri"/>
                <a:cs typeface="Calibri"/>
              </a:rPr>
              <a:t> </a:t>
            </a:r>
            <a:r>
              <a:rPr sz="2800" spc="-5" dirty="0">
                <a:latin typeface="Calibri"/>
                <a:cs typeface="Calibri"/>
              </a:rPr>
              <a:t>sequence of </a:t>
            </a:r>
            <a:r>
              <a:rPr sz="2800" dirty="0">
                <a:latin typeface="Calibri"/>
                <a:cs typeface="Calibri"/>
              </a:rPr>
              <a:t>actions </a:t>
            </a:r>
            <a:r>
              <a:rPr sz="2800" spc="-10" dirty="0">
                <a:latin typeface="Calibri"/>
                <a:cs typeface="Calibri"/>
              </a:rPr>
              <a:t>that </a:t>
            </a:r>
            <a:r>
              <a:rPr sz="2800" spc="-20" dirty="0">
                <a:latin typeface="Calibri"/>
                <a:cs typeface="Calibri"/>
              </a:rPr>
              <a:t>transforms </a:t>
            </a:r>
            <a:r>
              <a:rPr sz="2800" spc="-10" dirty="0">
                <a:latin typeface="Calibri"/>
                <a:cs typeface="Calibri"/>
              </a:rPr>
              <a:t>the </a:t>
            </a:r>
            <a:r>
              <a:rPr sz="2800" spc="-5" dirty="0">
                <a:latin typeface="Calibri"/>
                <a:cs typeface="Calibri"/>
              </a:rPr>
              <a:t>initial </a:t>
            </a:r>
            <a:r>
              <a:rPr sz="2800" dirty="0">
                <a:latin typeface="Calibri"/>
                <a:cs typeface="Calibri"/>
              </a:rPr>
              <a:t> </a:t>
            </a:r>
            <a:r>
              <a:rPr sz="2800" spc="-30" dirty="0">
                <a:latin typeface="Calibri"/>
                <a:cs typeface="Calibri"/>
              </a:rPr>
              <a:t>state</a:t>
            </a:r>
            <a:r>
              <a:rPr sz="2800" spc="-10" dirty="0">
                <a:latin typeface="Calibri"/>
                <a:cs typeface="Calibri"/>
              </a:rPr>
              <a:t> </a:t>
            </a:r>
            <a:r>
              <a:rPr sz="2800" spc="-20" dirty="0">
                <a:latin typeface="Calibri"/>
                <a:cs typeface="Calibri"/>
              </a:rPr>
              <a:t>into</a:t>
            </a:r>
            <a:r>
              <a:rPr sz="2800" spc="-5" dirty="0">
                <a:latin typeface="Calibri"/>
                <a:cs typeface="Calibri"/>
              </a:rPr>
              <a:t> </a:t>
            </a:r>
            <a:r>
              <a:rPr sz="2800" spc="-10" dirty="0">
                <a:latin typeface="Calibri"/>
                <a:cs typeface="Calibri"/>
              </a:rPr>
              <a:t>the</a:t>
            </a:r>
            <a:r>
              <a:rPr sz="2800" spc="-15" dirty="0">
                <a:latin typeface="Calibri"/>
                <a:cs typeface="Calibri"/>
              </a:rPr>
              <a:t> </a:t>
            </a:r>
            <a:r>
              <a:rPr sz="2800" spc="-10" dirty="0">
                <a:latin typeface="Calibri"/>
                <a:cs typeface="Calibri"/>
              </a:rPr>
              <a:t>goal</a:t>
            </a:r>
            <a:r>
              <a:rPr sz="2800" spc="-5" dirty="0">
                <a:latin typeface="Calibri"/>
                <a:cs typeface="Calibri"/>
              </a:rPr>
              <a:t> </a:t>
            </a:r>
            <a:r>
              <a:rPr sz="2800" spc="-25" dirty="0">
                <a:latin typeface="Calibri"/>
                <a:cs typeface="Calibri"/>
              </a:rPr>
              <a:t>state;</a:t>
            </a:r>
            <a:r>
              <a:rPr sz="2800" spc="-10" dirty="0">
                <a:latin typeface="Calibri"/>
                <a:cs typeface="Calibri"/>
              </a:rPr>
              <a:t> </a:t>
            </a:r>
            <a:r>
              <a:rPr sz="2800" spc="-50" dirty="0">
                <a:latin typeface="Calibri"/>
                <a:cs typeface="Calibri"/>
              </a:rPr>
              <a:t>rather,</a:t>
            </a:r>
            <a:r>
              <a:rPr sz="2800" spc="-5" dirty="0">
                <a:latin typeface="Calibri"/>
                <a:cs typeface="Calibri"/>
              </a:rPr>
              <a:t> </a:t>
            </a:r>
            <a:r>
              <a:rPr sz="2800" spc="-10" dirty="0">
                <a:latin typeface="Calibri"/>
                <a:cs typeface="Calibri"/>
              </a:rPr>
              <a:t>the</a:t>
            </a:r>
            <a:r>
              <a:rPr sz="2800" spc="-15" dirty="0">
                <a:latin typeface="Calibri"/>
                <a:cs typeface="Calibri"/>
              </a:rPr>
              <a:t> </a:t>
            </a:r>
            <a:r>
              <a:rPr sz="2800" spc="-5" dirty="0">
                <a:latin typeface="Calibri"/>
                <a:cs typeface="Calibri"/>
              </a:rPr>
              <a:t>solution is</a:t>
            </a:r>
            <a:r>
              <a:rPr sz="2800" spc="-10" dirty="0">
                <a:latin typeface="Calibri"/>
                <a:cs typeface="Calibri"/>
              </a:rPr>
              <a:t> </a:t>
            </a:r>
            <a:r>
              <a:rPr sz="2800" dirty="0">
                <a:latin typeface="Calibri"/>
                <a:cs typeface="Calibri"/>
              </a:rPr>
              <a:t>a </a:t>
            </a:r>
            <a:r>
              <a:rPr sz="2800" spc="5" dirty="0">
                <a:latin typeface="Calibri"/>
                <a:cs typeface="Calibri"/>
              </a:rPr>
              <a:t> </a:t>
            </a:r>
            <a:r>
              <a:rPr sz="2800" spc="-10" dirty="0">
                <a:latin typeface="Calibri"/>
                <a:cs typeface="Calibri"/>
              </a:rPr>
              <a:t>goal </a:t>
            </a:r>
            <a:r>
              <a:rPr sz="2800" spc="-5" dirty="0">
                <a:latin typeface="Calibri"/>
                <a:cs typeface="Calibri"/>
              </a:rPr>
              <a:t>node </a:t>
            </a:r>
            <a:r>
              <a:rPr sz="2800" spc="-10" dirty="0">
                <a:latin typeface="Calibri"/>
                <a:cs typeface="Calibri"/>
              </a:rPr>
              <a:t>that </a:t>
            </a:r>
            <a:r>
              <a:rPr sz="2800" spc="-5" dirty="0">
                <a:latin typeface="Calibri"/>
                <a:cs typeface="Calibri"/>
              </a:rPr>
              <a:t>includes </a:t>
            </a:r>
            <a:r>
              <a:rPr sz="2800" dirty="0">
                <a:latin typeface="Calibri"/>
                <a:cs typeface="Calibri"/>
              </a:rPr>
              <a:t>an </a:t>
            </a:r>
            <a:r>
              <a:rPr sz="2800" spc="-5" dirty="0">
                <a:latin typeface="Calibri"/>
                <a:cs typeface="Calibri"/>
              </a:rPr>
              <a:t>assignment of digits </a:t>
            </a:r>
            <a:r>
              <a:rPr sz="2800" spc="-15" dirty="0">
                <a:latin typeface="Calibri"/>
                <a:cs typeface="Calibri"/>
              </a:rPr>
              <a:t>to </a:t>
            </a:r>
            <a:r>
              <a:rPr sz="2800" spc="-620" dirty="0">
                <a:latin typeface="Calibri"/>
                <a:cs typeface="Calibri"/>
              </a:rPr>
              <a:t> </a:t>
            </a:r>
            <a:r>
              <a:rPr sz="2800" spc="-5" dirty="0">
                <a:latin typeface="Calibri"/>
                <a:cs typeface="Calibri"/>
              </a:rPr>
              <a:t>each of </a:t>
            </a:r>
            <a:r>
              <a:rPr sz="2800" spc="-10" dirty="0">
                <a:latin typeface="Calibri"/>
                <a:cs typeface="Calibri"/>
              </a:rPr>
              <a:t>the</a:t>
            </a:r>
            <a:r>
              <a:rPr sz="2800" spc="-5" dirty="0">
                <a:latin typeface="Calibri"/>
                <a:cs typeface="Calibri"/>
              </a:rPr>
              <a:t> </a:t>
            </a:r>
            <a:r>
              <a:rPr sz="2800" spc="-15" dirty="0">
                <a:latin typeface="Calibri"/>
                <a:cs typeface="Calibri"/>
              </a:rPr>
              <a:t>distinct</a:t>
            </a:r>
            <a:r>
              <a:rPr sz="2800" spc="-10" dirty="0">
                <a:latin typeface="Calibri"/>
                <a:cs typeface="Calibri"/>
              </a:rPr>
              <a:t> </a:t>
            </a:r>
            <a:r>
              <a:rPr sz="2800" spc="-25" dirty="0">
                <a:latin typeface="Calibri"/>
                <a:cs typeface="Calibri"/>
              </a:rPr>
              <a:t>letters</a:t>
            </a:r>
            <a:r>
              <a:rPr sz="2800" dirty="0">
                <a:latin typeface="Calibri"/>
                <a:cs typeface="Calibri"/>
              </a:rPr>
              <a:t> </a:t>
            </a:r>
            <a:r>
              <a:rPr sz="2800" spc="-5" dirty="0">
                <a:latin typeface="Calibri"/>
                <a:cs typeface="Calibri"/>
              </a:rPr>
              <a:t>in </a:t>
            </a:r>
            <a:r>
              <a:rPr sz="2800" spc="-10" dirty="0">
                <a:latin typeface="Calibri"/>
                <a:cs typeface="Calibri"/>
              </a:rPr>
              <a:t>the</a:t>
            </a:r>
            <a:r>
              <a:rPr sz="2800" spc="-5" dirty="0">
                <a:latin typeface="Calibri"/>
                <a:cs typeface="Calibri"/>
              </a:rPr>
              <a:t> </a:t>
            </a:r>
            <a:r>
              <a:rPr sz="2800" spc="-10" dirty="0">
                <a:latin typeface="Calibri"/>
                <a:cs typeface="Calibri"/>
              </a:rPr>
              <a:t>given</a:t>
            </a:r>
            <a:r>
              <a:rPr sz="2800" spc="-5" dirty="0">
                <a:latin typeface="Calibri"/>
                <a:cs typeface="Calibri"/>
              </a:rPr>
              <a:t> </a:t>
            </a:r>
            <a:r>
              <a:rPr sz="2800" spc="-15" dirty="0">
                <a:latin typeface="Calibri"/>
                <a:cs typeface="Calibri"/>
              </a:rPr>
              <a:t>problem.</a:t>
            </a:r>
            <a:endParaRPr sz="2800">
              <a:latin typeface="Calibri"/>
              <a:cs typeface="Calibri"/>
            </a:endParaRPr>
          </a:p>
        </p:txBody>
      </p:sp>
    </p:spTree>
    <p:extLst>
      <p:ext uri="{BB962C8B-B14F-4D97-AF65-F5344CB8AC3E}">
        <p14:creationId xmlns:p14="http://schemas.microsoft.com/office/powerpoint/2010/main" val="41549744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6159" y="505727"/>
            <a:ext cx="3669029" cy="695960"/>
          </a:xfrm>
          <a:prstGeom prst="rect">
            <a:avLst/>
          </a:prstGeom>
        </p:spPr>
        <p:txBody>
          <a:bodyPr vert="horz" wrap="square" lIns="0" tIns="12700" rIns="0" bIns="0" rtlCol="0">
            <a:spAutoFit/>
          </a:bodyPr>
          <a:lstStyle/>
          <a:p>
            <a:pPr marL="12700">
              <a:lnSpc>
                <a:spcPct val="100000"/>
              </a:lnSpc>
              <a:spcBef>
                <a:spcPts val="100"/>
              </a:spcBef>
            </a:pPr>
            <a:r>
              <a:rPr spc="-30" dirty="0"/>
              <a:t>Remove</a:t>
            </a:r>
            <a:r>
              <a:rPr spc="-40" dirty="0"/>
              <a:t> </a:t>
            </a:r>
            <a:r>
              <a:rPr dirty="0"/>
              <a:t>5</a:t>
            </a:r>
            <a:r>
              <a:rPr spc="-35" dirty="0"/>
              <a:t> </a:t>
            </a:r>
            <a:r>
              <a:rPr spc="-15" dirty="0"/>
              <a:t>Sticks</a:t>
            </a:r>
          </a:p>
        </p:txBody>
      </p:sp>
      <p:sp>
        <p:nvSpPr>
          <p:cNvPr id="3" name="object 3"/>
          <p:cNvSpPr txBox="1"/>
          <p:nvPr/>
        </p:nvSpPr>
        <p:spPr>
          <a:xfrm>
            <a:off x="744900" y="1589904"/>
            <a:ext cx="3510279" cy="4414520"/>
          </a:xfrm>
          <a:prstGeom prst="rect">
            <a:avLst/>
          </a:prstGeom>
        </p:spPr>
        <p:txBody>
          <a:bodyPr vert="horz" wrap="square" lIns="0" tIns="12700" rIns="0" bIns="0" rtlCol="0">
            <a:spAutoFit/>
          </a:bodyPr>
          <a:lstStyle/>
          <a:p>
            <a:pPr marL="294005" marR="5080" indent="-281940">
              <a:lnSpc>
                <a:spcPct val="100000"/>
              </a:lnSpc>
              <a:spcBef>
                <a:spcPts val="100"/>
              </a:spcBef>
              <a:buFont typeface="Arial MT"/>
              <a:buChar char="•"/>
              <a:tabLst>
                <a:tab pos="294640" algn="l"/>
              </a:tabLst>
            </a:pPr>
            <a:r>
              <a:rPr sz="3200" spc="-10" dirty="0">
                <a:latin typeface="Calibri"/>
                <a:cs typeface="Calibri"/>
              </a:rPr>
              <a:t>Given the </a:t>
            </a:r>
            <a:r>
              <a:rPr sz="3200" spc="-15" dirty="0">
                <a:latin typeface="Calibri"/>
                <a:cs typeface="Calibri"/>
              </a:rPr>
              <a:t>following </a:t>
            </a:r>
            <a:r>
              <a:rPr sz="3200" spc="-710" dirty="0">
                <a:latin typeface="Calibri"/>
                <a:cs typeface="Calibri"/>
              </a:rPr>
              <a:t> </a:t>
            </a:r>
            <a:r>
              <a:rPr sz="3200" spc="-20" dirty="0">
                <a:latin typeface="Calibri"/>
                <a:cs typeface="Calibri"/>
              </a:rPr>
              <a:t>configuration </a:t>
            </a:r>
            <a:r>
              <a:rPr sz="3200" spc="-5" dirty="0">
                <a:latin typeface="Calibri"/>
                <a:cs typeface="Calibri"/>
              </a:rPr>
              <a:t>of </a:t>
            </a:r>
            <a:r>
              <a:rPr sz="3200" dirty="0">
                <a:latin typeface="Calibri"/>
                <a:cs typeface="Calibri"/>
              </a:rPr>
              <a:t> </a:t>
            </a:r>
            <a:r>
              <a:rPr sz="3200" spc="-15" dirty="0">
                <a:latin typeface="Calibri"/>
                <a:cs typeface="Calibri"/>
              </a:rPr>
              <a:t>sticks, </a:t>
            </a:r>
            <a:r>
              <a:rPr sz="3200" spc="-20" dirty="0">
                <a:latin typeface="Calibri"/>
                <a:cs typeface="Calibri"/>
              </a:rPr>
              <a:t>remove </a:t>
            </a:r>
            <a:r>
              <a:rPr sz="3200" spc="-15" dirty="0">
                <a:latin typeface="Calibri"/>
                <a:cs typeface="Calibri"/>
              </a:rPr>
              <a:t> </a:t>
            </a:r>
            <a:r>
              <a:rPr sz="3200" spc="-20" dirty="0">
                <a:latin typeface="Calibri"/>
                <a:cs typeface="Calibri"/>
              </a:rPr>
              <a:t>exactly </a:t>
            </a:r>
            <a:r>
              <a:rPr sz="3200" dirty="0">
                <a:latin typeface="Calibri"/>
                <a:cs typeface="Calibri"/>
              </a:rPr>
              <a:t>5 </a:t>
            </a:r>
            <a:r>
              <a:rPr sz="3200" spc="-15" dirty="0">
                <a:latin typeface="Calibri"/>
                <a:cs typeface="Calibri"/>
              </a:rPr>
              <a:t>sticks </a:t>
            </a:r>
            <a:r>
              <a:rPr sz="3200" spc="-5" dirty="0">
                <a:latin typeface="Calibri"/>
                <a:cs typeface="Calibri"/>
              </a:rPr>
              <a:t>in </a:t>
            </a:r>
            <a:r>
              <a:rPr sz="3200" dirty="0">
                <a:latin typeface="Calibri"/>
                <a:cs typeface="Calibri"/>
              </a:rPr>
              <a:t> </a:t>
            </a:r>
            <a:r>
              <a:rPr sz="3200" spc="-5" dirty="0">
                <a:latin typeface="Calibri"/>
                <a:cs typeface="Calibri"/>
              </a:rPr>
              <a:t>such </a:t>
            </a:r>
            <a:r>
              <a:rPr sz="3200" dirty="0">
                <a:latin typeface="Calibri"/>
                <a:cs typeface="Calibri"/>
              </a:rPr>
              <a:t>a </a:t>
            </a:r>
            <a:r>
              <a:rPr sz="3200" spc="-35" dirty="0">
                <a:latin typeface="Calibri"/>
                <a:cs typeface="Calibri"/>
              </a:rPr>
              <a:t>way </a:t>
            </a:r>
            <a:r>
              <a:rPr sz="3200" spc="-15" dirty="0">
                <a:latin typeface="Calibri"/>
                <a:cs typeface="Calibri"/>
              </a:rPr>
              <a:t>that </a:t>
            </a:r>
            <a:r>
              <a:rPr sz="3200" spc="-10" dirty="0">
                <a:latin typeface="Calibri"/>
                <a:cs typeface="Calibri"/>
              </a:rPr>
              <a:t>the </a:t>
            </a:r>
            <a:r>
              <a:rPr sz="3200" spc="-710" dirty="0">
                <a:latin typeface="Calibri"/>
                <a:cs typeface="Calibri"/>
              </a:rPr>
              <a:t> </a:t>
            </a:r>
            <a:r>
              <a:rPr sz="3200" spc="-10" dirty="0">
                <a:latin typeface="Calibri"/>
                <a:cs typeface="Calibri"/>
              </a:rPr>
              <a:t>remaining </a:t>
            </a:r>
            <a:r>
              <a:rPr sz="3200" spc="-5" dirty="0">
                <a:latin typeface="Calibri"/>
                <a:cs typeface="Calibri"/>
              </a:rPr>
              <a:t> </a:t>
            </a:r>
            <a:r>
              <a:rPr sz="3200" spc="-20" dirty="0">
                <a:latin typeface="Calibri"/>
                <a:cs typeface="Calibri"/>
              </a:rPr>
              <a:t>configuration </a:t>
            </a:r>
            <a:r>
              <a:rPr sz="3200" spc="-15" dirty="0">
                <a:latin typeface="Calibri"/>
                <a:cs typeface="Calibri"/>
              </a:rPr>
              <a:t> </a:t>
            </a:r>
            <a:r>
              <a:rPr sz="3200" spc="-20" dirty="0">
                <a:latin typeface="Calibri"/>
                <a:cs typeface="Calibri"/>
              </a:rPr>
              <a:t>forms</a:t>
            </a:r>
            <a:r>
              <a:rPr sz="3200" spc="-15" dirty="0">
                <a:latin typeface="Calibri"/>
                <a:cs typeface="Calibri"/>
              </a:rPr>
              <a:t> </a:t>
            </a:r>
            <a:r>
              <a:rPr sz="3200" spc="-20" dirty="0">
                <a:latin typeface="Calibri"/>
                <a:cs typeface="Calibri"/>
              </a:rPr>
              <a:t>exactly</a:t>
            </a:r>
            <a:r>
              <a:rPr sz="3200" spc="-10" dirty="0">
                <a:latin typeface="Calibri"/>
                <a:cs typeface="Calibri"/>
              </a:rPr>
              <a:t> </a:t>
            </a:r>
            <a:r>
              <a:rPr sz="3200" dirty="0">
                <a:latin typeface="Calibri"/>
                <a:cs typeface="Calibri"/>
              </a:rPr>
              <a:t>3 </a:t>
            </a:r>
            <a:r>
              <a:rPr sz="3200" spc="5" dirty="0">
                <a:latin typeface="Calibri"/>
                <a:cs typeface="Calibri"/>
              </a:rPr>
              <a:t> </a:t>
            </a:r>
            <a:r>
              <a:rPr sz="3200" spc="-10" dirty="0">
                <a:latin typeface="Calibri"/>
                <a:cs typeface="Calibri"/>
              </a:rPr>
              <a:t>squares.</a:t>
            </a:r>
            <a:endParaRPr sz="3200">
              <a:latin typeface="Calibri"/>
              <a:cs typeface="Calibri"/>
            </a:endParaRPr>
          </a:p>
        </p:txBody>
      </p:sp>
      <p:sp>
        <p:nvSpPr>
          <p:cNvPr id="4" name="object 4"/>
          <p:cNvSpPr/>
          <p:nvPr/>
        </p:nvSpPr>
        <p:spPr>
          <a:xfrm>
            <a:off x="5867279" y="2057400"/>
            <a:ext cx="757555" cy="0"/>
          </a:xfrm>
          <a:custGeom>
            <a:avLst/>
            <a:gdLst/>
            <a:ahLst/>
            <a:cxnLst/>
            <a:rect l="l" t="t" r="r" b="b"/>
            <a:pathLst>
              <a:path w="757554">
                <a:moveTo>
                  <a:pt x="0" y="0"/>
                </a:moveTo>
                <a:lnTo>
                  <a:pt x="757439" y="0"/>
                </a:lnTo>
              </a:path>
            </a:pathLst>
          </a:custGeom>
          <a:ln w="57224">
            <a:solidFill>
              <a:srgbClr val="000000"/>
            </a:solidFill>
          </a:ln>
        </p:spPr>
        <p:txBody>
          <a:bodyPr wrap="square" lIns="0" tIns="0" rIns="0" bIns="0" rtlCol="0"/>
          <a:lstStyle/>
          <a:p>
            <a:endParaRPr/>
          </a:p>
        </p:txBody>
      </p:sp>
      <p:sp>
        <p:nvSpPr>
          <p:cNvPr id="5" name="object 5"/>
          <p:cNvSpPr/>
          <p:nvPr/>
        </p:nvSpPr>
        <p:spPr>
          <a:xfrm>
            <a:off x="6875640" y="2057400"/>
            <a:ext cx="757555" cy="0"/>
          </a:xfrm>
          <a:custGeom>
            <a:avLst/>
            <a:gdLst/>
            <a:ahLst/>
            <a:cxnLst/>
            <a:rect l="l" t="t" r="r" b="b"/>
            <a:pathLst>
              <a:path w="757554">
                <a:moveTo>
                  <a:pt x="0" y="0"/>
                </a:moveTo>
                <a:lnTo>
                  <a:pt x="757079" y="0"/>
                </a:lnTo>
              </a:path>
            </a:pathLst>
          </a:custGeom>
          <a:ln w="57224">
            <a:solidFill>
              <a:srgbClr val="000000"/>
            </a:solidFill>
          </a:ln>
        </p:spPr>
        <p:txBody>
          <a:bodyPr wrap="square" lIns="0" tIns="0" rIns="0" bIns="0" rtlCol="0"/>
          <a:lstStyle/>
          <a:p>
            <a:endParaRPr/>
          </a:p>
        </p:txBody>
      </p:sp>
      <p:sp>
        <p:nvSpPr>
          <p:cNvPr id="6" name="object 6"/>
          <p:cNvSpPr/>
          <p:nvPr/>
        </p:nvSpPr>
        <p:spPr>
          <a:xfrm>
            <a:off x="5867279" y="2309759"/>
            <a:ext cx="0" cy="757555"/>
          </a:xfrm>
          <a:custGeom>
            <a:avLst/>
            <a:gdLst/>
            <a:ahLst/>
            <a:cxnLst/>
            <a:rect l="l" t="t" r="r" b="b"/>
            <a:pathLst>
              <a:path h="757555">
                <a:moveTo>
                  <a:pt x="0" y="0"/>
                </a:moveTo>
                <a:lnTo>
                  <a:pt x="0" y="757439"/>
                </a:lnTo>
              </a:path>
            </a:pathLst>
          </a:custGeom>
          <a:ln w="57224">
            <a:solidFill>
              <a:srgbClr val="000000"/>
            </a:solidFill>
          </a:ln>
        </p:spPr>
        <p:txBody>
          <a:bodyPr wrap="square" lIns="0" tIns="0" rIns="0" bIns="0" rtlCol="0"/>
          <a:lstStyle/>
          <a:p>
            <a:endParaRPr/>
          </a:p>
        </p:txBody>
      </p:sp>
      <p:sp>
        <p:nvSpPr>
          <p:cNvPr id="7" name="object 7"/>
          <p:cNvSpPr/>
          <p:nvPr/>
        </p:nvSpPr>
        <p:spPr>
          <a:xfrm>
            <a:off x="7632720" y="2309759"/>
            <a:ext cx="0" cy="757555"/>
          </a:xfrm>
          <a:custGeom>
            <a:avLst/>
            <a:gdLst/>
            <a:ahLst/>
            <a:cxnLst/>
            <a:rect l="l" t="t" r="r" b="b"/>
            <a:pathLst>
              <a:path h="757555">
                <a:moveTo>
                  <a:pt x="0" y="0"/>
                </a:moveTo>
                <a:lnTo>
                  <a:pt x="0" y="757439"/>
                </a:lnTo>
              </a:path>
            </a:pathLst>
          </a:custGeom>
          <a:ln w="57224">
            <a:solidFill>
              <a:srgbClr val="000000"/>
            </a:solidFill>
          </a:ln>
        </p:spPr>
        <p:txBody>
          <a:bodyPr wrap="square" lIns="0" tIns="0" rIns="0" bIns="0" rtlCol="0"/>
          <a:lstStyle/>
          <a:p>
            <a:endParaRPr/>
          </a:p>
        </p:txBody>
      </p:sp>
      <p:sp>
        <p:nvSpPr>
          <p:cNvPr id="8" name="object 8"/>
          <p:cNvSpPr/>
          <p:nvPr/>
        </p:nvSpPr>
        <p:spPr>
          <a:xfrm>
            <a:off x="6749999" y="2309759"/>
            <a:ext cx="0" cy="757555"/>
          </a:xfrm>
          <a:custGeom>
            <a:avLst/>
            <a:gdLst/>
            <a:ahLst/>
            <a:cxnLst/>
            <a:rect l="l" t="t" r="r" b="b"/>
            <a:pathLst>
              <a:path h="757555">
                <a:moveTo>
                  <a:pt x="0" y="0"/>
                </a:moveTo>
                <a:lnTo>
                  <a:pt x="0" y="757439"/>
                </a:lnTo>
              </a:path>
            </a:pathLst>
          </a:custGeom>
          <a:ln w="57224">
            <a:solidFill>
              <a:srgbClr val="000000"/>
            </a:solidFill>
          </a:ln>
        </p:spPr>
        <p:txBody>
          <a:bodyPr wrap="square" lIns="0" tIns="0" rIns="0" bIns="0" rtlCol="0"/>
          <a:lstStyle/>
          <a:p>
            <a:endParaRPr/>
          </a:p>
        </p:txBody>
      </p:sp>
      <p:sp>
        <p:nvSpPr>
          <p:cNvPr id="9" name="object 9"/>
          <p:cNvSpPr/>
          <p:nvPr/>
        </p:nvSpPr>
        <p:spPr>
          <a:xfrm>
            <a:off x="5867279" y="5715000"/>
            <a:ext cx="757555" cy="0"/>
          </a:xfrm>
          <a:custGeom>
            <a:avLst/>
            <a:gdLst/>
            <a:ahLst/>
            <a:cxnLst/>
            <a:rect l="l" t="t" r="r" b="b"/>
            <a:pathLst>
              <a:path w="757554">
                <a:moveTo>
                  <a:pt x="0" y="0"/>
                </a:moveTo>
                <a:lnTo>
                  <a:pt x="757439" y="0"/>
                </a:lnTo>
              </a:path>
            </a:pathLst>
          </a:custGeom>
          <a:ln w="57224">
            <a:solidFill>
              <a:srgbClr val="000000"/>
            </a:solidFill>
          </a:ln>
        </p:spPr>
        <p:txBody>
          <a:bodyPr wrap="square" lIns="0" tIns="0" rIns="0" bIns="0" rtlCol="0"/>
          <a:lstStyle/>
          <a:p>
            <a:endParaRPr/>
          </a:p>
        </p:txBody>
      </p:sp>
      <p:sp>
        <p:nvSpPr>
          <p:cNvPr id="10" name="object 10"/>
          <p:cNvSpPr/>
          <p:nvPr/>
        </p:nvSpPr>
        <p:spPr>
          <a:xfrm>
            <a:off x="6875640" y="5715000"/>
            <a:ext cx="757555" cy="0"/>
          </a:xfrm>
          <a:custGeom>
            <a:avLst/>
            <a:gdLst/>
            <a:ahLst/>
            <a:cxnLst/>
            <a:rect l="l" t="t" r="r" b="b"/>
            <a:pathLst>
              <a:path w="757554">
                <a:moveTo>
                  <a:pt x="0" y="0"/>
                </a:moveTo>
                <a:lnTo>
                  <a:pt x="757079" y="0"/>
                </a:lnTo>
              </a:path>
            </a:pathLst>
          </a:custGeom>
          <a:ln w="57224">
            <a:solidFill>
              <a:srgbClr val="000000"/>
            </a:solidFill>
          </a:ln>
        </p:spPr>
        <p:txBody>
          <a:bodyPr wrap="square" lIns="0" tIns="0" rIns="0" bIns="0" rtlCol="0"/>
          <a:lstStyle/>
          <a:p>
            <a:endParaRPr/>
          </a:p>
        </p:txBody>
      </p:sp>
      <p:sp>
        <p:nvSpPr>
          <p:cNvPr id="11" name="object 11"/>
          <p:cNvSpPr/>
          <p:nvPr/>
        </p:nvSpPr>
        <p:spPr>
          <a:xfrm>
            <a:off x="5867279" y="4454640"/>
            <a:ext cx="757555" cy="0"/>
          </a:xfrm>
          <a:custGeom>
            <a:avLst/>
            <a:gdLst/>
            <a:ahLst/>
            <a:cxnLst/>
            <a:rect l="l" t="t" r="r" b="b"/>
            <a:pathLst>
              <a:path w="757554">
                <a:moveTo>
                  <a:pt x="0" y="0"/>
                </a:moveTo>
                <a:lnTo>
                  <a:pt x="757439" y="0"/>
                </a:lnTo>
              </a:path>
            </a:pathLst>
          </a:custGeom>
          <a:ln w="57224">
            <a:solidFill>
              <a:srgbClr val="000000"/>
            </a:solidFill>
          </a:ln>
        </p:spPr>
        <p:txBody>
          <a:bodyPr wrap="square" lIns="0" tIns="0" rIns="0" bIns="0" rtlCol="0"/>
          <a:lstStyle/>
          <a:p>
            <a:endParaRPr/>
          </a:p>
        </p:txBody>
      </p:sp>
      <p:sp>
        <p:nvSpPr>
          <p:cNvPr id="12" name="object 12"/>
          <p:cNvSpPr/>
          <p:nvPr/>
        </p:nvSpPr>
        <p:spPr>
          <a:xfrm>
            <a:off x="6875640" y="4454640"/>
            <a:ext cx="757555" cy="0"/>
          </a:xfrm>
          <a:custGeom>
            <a:avLst/>
            <a:gdLst/>
            <a:ahLst/>
            <a:cxnLst/>
            <a:rect l="l" t="t" r="r" b="b"/>
            <a:pathLst>
              <a:path w="757554">
                <a:moveTo>
                  <a:pt x="0" y="0"/>
                </a:moveTo>
                <a:lnTo>
                  <a:pt x="757079" y="0"/>
                </a:lnTo>
              </a:path>
            </a:pathLst>
          </a:custGeom>
          <a:ln w="57224">
            <a:solidFill>
              <a:srgbClr val="000000"/>
            </a:solidFill>
          </a:ln>
        </p:spPr>
        <p:txBody>
          <a:bodyPr wrap="square" lIns="0" tIns="0" rIns="0" bIns="0" rtlCol="0"/>
          <a:lstStyle/>
          <a:p>
            <a:endParaRPr/>
          </a:p>
        </p:txBody>
      </p:sp>
      <p:sp>
        <p:nvSpPr>
          <p:cNvPr id="13" name="object 13"/>
          <p:cNvSpPr/>
          <p:nvPr/>
        </p:nvSpPr>
        <p:spPr>
          <a:xfrm>
            <a:off x="5867279" y="3192479"/>
            <a:ext cx="757555" cy="0"/>
          </a:xfrm>
          <a:custGeom>
            <a:avLst/>
            <a:gdLst/>
            <a:ahLst/>
            <a:cxnLst/>
            <a:rect l="l" t="t" r="r" b="b"/>
            <a:pathLst>
              <a:path w="757554">
                <a:moveTo>
                  <a:pt x="0" y="0"/>
                </a:moveTo>
                <a:lnTo>
                  <a:pt x="757439" y="0"/>
                </a:lnTo>
              </a:path>
            </a:pathLst>
          </a:custGeom>
          <a:ln w="57224">
            <a:solidFill>
              <a:srgbClr val="000000"/>
            </a:solidFill>
          </a:ln>
        </p:spPr>
        <p:txBody>
          <a:bodyPr wrap="square" lIns="0" tIns="0" rIns="0" bIns="0" rtlCol="0"/>
          <a:lstStyle/>
          <a:p>
            <a:endParaRPr/>
          </a:p>
        </p:txBody>
      </p:sp>
      <p:sp>
        <p:nvSpPr>
          <p:cNvPr id="14" name="object 14"/>
          <p:cNvSpPr/>
          <p:nvPr/>
        </p:nvSpPr>
        <p:spPr>
          <a:xfrm>
            <a:off x="6875640" y="3192479"/>
            <a:ext cx="757555" cy="0"/>
          </a:xfrm>
          <a:custGeom>
            <a:avLst/>
            <a:gdLst/>
            <a:ahLst/>
            <a:cxnLst/>
            <a:rect l="l" t="t" r="r" b="b"/>
            <a:pathLst>
              <a:path w="757554">
                <a:moveTo>
                  <a:pt x="0" y="0"/>
                </a:moveTo>
                <a:lnTo>
                  <a:pt x="757079" y="0"/>
                </a:lnTo>
              </a:path>
            </a:pathLst>
          </a:custGeom>
          <a:ln w="57224">
            <a:solidFill>
              <a:srgbClr val="000000"/>
            </a:solidFill>
          </a:ln>
        </p:spPr>
        <p:txBody>
          <a:bodyPr wrap="square" lIns="0" tIns="0" rIns="0" bIns="0" rtlCol="0"/>
          <a:lstStyle/>
          <a:p>
            <a:endParaRPr/>
          </a:p>
        </p:txBody>
      </p:sp>
      <p:sp>
        <p:nvSpPr>
          <p:cNvPr id="15" name="object 15"/>
          <p:cNvSpPr/>
          <p:nvPr/>
        </p:nvSpPr>
        <p:spPr>
          <a:xfrm>
            <a:off x="5867279" y="4705200"/>
            <a:ext cx="0" cy="757555"/>
          </a:xfrm>
          <a:custGeom>
            <a:avLst/>
            <a:gdLst/>
            <a:ahLst/>
            <a:cxnLst/>
            <a:rect l="l" t="t" r="r" b="b"/>
            <a:pathLst>
              <a:path h="757554">
                <a:moveTo>
                  <a:pt x="0" y="0"/>
                </a:moveTo>
                <a:lnTo>
                  <a:pt x="0" y="757439"/>
                </a:lnTo>
              </a:path>
            </a:pathLst>
          </a:custGeom>
          <a:ln w="57224">
            <a:solidFill>
              <a:srgbClr val="000000"/>
            </a:solidFill>
          </a:ln>
        </p:spPr>
        <p:txBody>
          <a:bodyPr wrap="square" lIns="0" tIns="0" rIns="0" bIns="0" rtlCol="0"/>
          <a:lstStyle/>
          <a:p>
            <a:endParaRPr/>
          </a:p>
        </p:txBody>
      </p:sp>
      <p:sp>
        <p:nvSpPr>
          <p:cNvPr id="16" name="object 16"/>
          <p:cNvSpPr/>
          <p:nvPr/>
        </p:nvSpPr>
        <p:spPr>
          <a:xfrm>
            <a:off x="7632720" y="4705200"/>
            <a:ext cx="0" cy="757555"/>
          </a:xfrm>
          <a:custGeom>
            <a:avLst/>
            <a:gdLst/>
            <a:ahLst/>
            <a:cxnLst/>
            <a:rect l="l" t="t" r="r" b="b"/>
            <a:pathLst>
              <a:path h="757554">
                <a:moveTo>
                  <a:pt x="0" y="0"/>
                </a:moveTo>
                <a:lnTo>
                  <a:pt x="0" y="757439"/>
                </a:lnTo>
              </a:path>
            </a:pathLst>
          </a:custGeom>
          <a:ln w="57224">
            <a:solidFill>
              <a:srgbClr val="000000"/>
            </a:solidFill>
          </a:ln>
        </p:spPr>
        <p:txBody>
          <a:bodyPr wrap="square" lIns="0" tIns="0" rIns="0" bIns="0" rtlCol="0"/>
          <a:lstStyle/>
          <a:p>
            <a:endParaRPr/>
          </a:p>
        </p:txBody>
      </p:sp>
      <p:sp>
        <p:nvSpPr>
          <p:cNvPr id="17" name="object 17"/>
          <p:cNvSpPr/>
          <p:nvPr/>
        </p:nvSpPr>
        <p:spPr>
          <a:xfrm>
            <a:off x="6749999" y="4705200"/>
            <a:ext cx="0" cy="757555"/>
          </a:xfrm>
          <a:custGeom>
            <a:avLst/>
            <a:gdLst/>
            <a:ahLst/>
            <a:cxnLst/>
            <a:rect l="l" t="t" r="r" b="b"/>
            <a:pathLst>
              <a:path h="757554">
                <a:moveTo>
                  <a:pt x="0" y="0"/>
                </a:moveTo>
                <a:lnTo>
                  <a:pt x="0" y="757439"/>
                </a:lnTo>
              </a:path>
            </a:pathLst>
          </a:custGeom>
          <a:ln w="57224">
            <a:solidFill>
              <a:srgbClr val="000000"/>
            </a:solidFill>
          </a:ln>
        </p:spPr>
        <p:txBody>
          <a:bodyPr wrap="square" lIns="0" tIns="0" rIns="0" bIns="0" rtlCol="0"/>
          <a:lstStyle/>
          <a:p>
            <a:endParaRPr/>
          </a:p>
        </p:txBody>
      </p:sp>
      <p:sp>
        <p:nvSpPr>
          <p:cNvPr id="18" name="object 18"/>
          <p:cNvSpPr/>
          <p:nvPr/>
        </p:nvSpPr>
        <p:spPr>
          <a:xfrm>
            <a:off x="5867279" y="3444840"/>
            <a:ext cx="0" cy="757555"/>
          </a:xfrm>
          <a:custGeom>
            <a:avLst/>
            <a:gdLst/>
            <a:ahLst/>
            <a:cxnLst/>
            <a:rect l="l" t="t" r="r" b="b"/>
            <a:pathLst>
              <a:path h="757554">
                <a:moveTo>
                  <a:pt x="0" y="0"/>
                </a:moveTo>
                <a:lnTo>
                  <a:pt x="0" y="757439"/>
                </a:lnTo>
              </a:path>
            </a:pathLst>
          </a:custGeom>
          <a:ln w="57224">
            <a:solidFill>
              <a:srgbClr val="000000"/>
            </a:solidFill>
          </a:ln>
        </p:spPr>
        <p:txBody>
          <a:bodyPr wrap="square" lIns="0" tIns="0" rIns="0" bIns="0" rtlCol="0"/>
          <a:lstStyle/>
          <a:p>
            <a:endParaRPr/>
          </a:p>
        </p:txBody>
      </p:sp>
      <p:sp>
        <p:nvSpPr>
          <p:cNvPr id="19" name="object 19"/>
          <p:cNvSpPr/>
          <p:nvPr/>
        </p:nvSpPr>
        <p:spPr>
          <a:xfrm>
            <a:off x="7632720" y="3444840"/>
            <a:ext cx="0" cy="757555"/>
          </a:xfrm>
          <a:custGeom>
            <a:avLst/>
            <a:gdLst/>
            <a:ahLst/>
            <a:cxnLst/>
            <a:rect l="l" t="t" r="r" b="b"/>
            <a:pathLst>
              <a:path h="757554">
                <a:moveTo>
                  <a:pt x="0" y="0"/>
                </a:moveTo>
                <a:lnTo>
                  <a:pt x="0" y="757439"/>
                </a:lnTo>
              </a:path>
            </a:pathLst>
          </a:custGeom>
          <a:ln w="57224">
            <a:solidFill>
              <a:srgbClr val="000000"/>
            </a:solidFill>
          </a:ln>
        </p:spPr>
        <p:txBody>
          <a:bodyPr wrap="square" lIns="0" tIns="0" rIns="0" bIns="0" rtlCol="0"/>
          <a:lstStyle/>
          <a:p>
            <a:endParaRPr/>
          </a:p>
        </p:txBody>
      </p:sp>
      <p:sp>
        <p:nvSpPr>
          <p:cNvPr id="20" name="object 20"/>
          <p:cNvSpPr/>
          <p:nvPr/>
        </p:nvSpPr>
        <p:spPr>
          <a:xfrm>
            <a:off x="6749999" y="3444840"/>
            <a:ext cx="0" cy="757555"/>
          </a:xfrm>
          <a:custGeom>
            <a:avLst/>
            <a:gdLst/>
            <a:ahLst/>
            <a:cxnLst/>
            <a:rect l="l" t="t" r="r" b="b"/>
            <a:pathLst>
              <a:path h="757554">
                <a:moveTo>
                  <a:pt x="0" y="0"/>
                </a:moveTo>
                <a:lnTo>
                  <a:pt x="0" y="757439"/>
                </a:lnTo>
              </a:path>
            </a:pathLst>
          </a:custGeom>
          <a:ln w="57224">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6658110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6325" y="475487"/>
            <a:ext cx="4766310" cy="695960"/>
          </a:xfrm>
          <a:prstGeom prst="rect">
            <a:avLst/>
          </a:prstGeom>
        </p:spPr>
        <p:txBody>
          <a:bodyPr vert="horz" wrap="square" lIns="0" tIns="12700" rIns="0" bIns="0" rtlCol="0">
            <a:spAutoFit/>
          </a:bodyPr>
          <a:lstStyle/>
          <a:p>
            <a:pPr marL="12700">
              <a:lnSpc>
                <a:spcPct val="100000"/>
              </a:lnSpc>
              <a:spcBef>
                <a:spcPts val="100"/>
              </a:spcBef>
            </a:pPr>
            <a:r>
              <a:rPr dirty="0"/>
              <a:t>A</a:t>
            </a:r>
            <a:r>
              <a:rPr spc="-40" dirty="0"/>
              <a:t> </a:t>
            </a:r>
            <a:r>
              <a:rPr spc="-50" dirty="0"/>
              <a:t>Water</a:t>
            </a:r>
            <a:r>
              <a:rPr spc="-40" dirty="0"/>
              <a:t> </a:t>
            </a:r>
            <a:r>
              <a:rPr spc="-10" dirty="0"/>
              <a:t>Jug</a:t>
            </a:r>
            <a:r>
              <a:rPr spc="-40" dirty="0"/>
              <a:t> </a:t>
            </a:r>
            <a:r>
              <a:rPr spc="-15" dirty="0"/>
              <a:t>Problem</a:t>
            </a:r>
          </a:p>
        </p:txBody>
      </p:sp>
      <p:grpSp>
        <p:nvGrpSpPr>
          <p:cNvPr id="3" name="object 3"/>
          <p:cNvGrpSpPr/>
          <p:nvPr/>
        </p:nvGrpSpPr>
        <p:grpSpPr>
          <a:xfrm>
            <a:off x="4038479" y="1143000"/>
            <a:ext cx="4551680" cy="4027804"/>
            <a:chOff x="4038479" y="1143000"/>
            <a:chExt cx="4551680" cy="4027804"/>
          </a:xfrm>
        </p:grpSpPr>
        <p:pic>
          <p:nvPicPr>
            <p:cNvPr id="4" name="object 4"/>
            <p:cNvPicPr/>
            <p:nvPr/>
          </p:nvPicPr>
          <p:blipFill>
            <a:blip r:embed="rId2" cstate="print"/>
            <a:stretch>
              <a:fillRect/>
            </a:stretch>
          </p:blipFill>
          <p:spPr>
            <a:xfrm>
              <a:off x="4267079" y="1143000"/>
              <a:ext cx="4322879" cy="4027319"/>
            </a:xfrm>
            <a:prstGeom prst="rect">
              <a:avLst/>
            </a:prstGeom>
          </p:spPr>
        </p:pic>
        <p:sp>
          <p:nvSpPr>
            <p:cNvPr id="5" name="object 5"/>
            <p:cNvSpPr/>
            <p:nvPr/>
          </p:nvSpPr>
          <p:spPr>
            <a:xfrm>
              <a:off x="4038479" y="2819519"/>
              <a:ext cx="914400" cy="762000"/>
            </a:xfrm>
            <a:custGeom>
              <a:avLst/>
              <a:gdLst/>
              <a:ahLst/>
              <a:cxnLst/>
              <a:rect l="l" t="t" r="r" b="b"/>
              <a:pathLst>
                <a:path w="914400" h="762000">
                  <a:moveTo>
                    <a:pt x="914399" y="761759"/>
                  </a:moveTo>
                  <a:lnTo>
                    <a:pt x="0" y="761759"/>
                  </a:lnTo>
                  <a:lnTo>
                    <a:pt x="0" y="0"/>
                  </a:lnTo>
                  <a:lnTo>
                    <a:pt x="914399" y="0"/>
                  </a:lnTo>
                  <a:lnTo>
                    <a:pt x="914399" y="761759"/>
                  </a:lnTo>
                  <a:close/>
                </a:path>
              </a:pathLst>
            </a:custGeom>
            <a:solidFill>
              <a:srgbClr val="FFFFFF"/>
            </a:solidFill>
          </p:spPr>
          <p:txBody>
            <a:bodyPr wrap="square" lIns="0" tIns="0" rIns="0" bIns="0" rtlCol="0"/>
            <a:lstStyle/>
            <a:p>
              <a:endParaRPr/>
            </a:p>
          </p:txBody>
        </p:sp>
      </p:grpSp>
      <p:sp>
        <p:nvSpPr>
          <p:cNvPr id="6" name="object 6"/>
          <p:cNvSpPr txBox="1"/>
          <p:nvPr/>
        </p:nvSpPr>
        <p:spPr>
          <a:xfrm>
            <a:off x="575915" y="1461128"/>
            <a:ext cx="2915920" cy="4352925"/>
          </a:xfrm>
          <a:prstGeom prst="rect">
            <a:avLst/>
          </a:prstGeom>
        </p:spPr>
        <p:txBody>
          <a:bodyPr vert="horz" wrap="square" lIns="0" tIns="12700" rIns="0" bIns="0" rtlCol="0">
            <a:spAutoFit/>
          </a:bodyPr>
          <a:lstStyle/>
          <a:p>
            <a:pPr marL="309245" marR="5080" indent="-297180">
              <a:lnSpc>
                <a:spcPct val="100000"/>
              </a:lnSpc>
              <a:spcBef>
                <a:spcPts val="100"/>
              </a:spcBef>
              <a:buFont typeface="Arial MT"/>
              <a:buChar char="•"/>
              <a:tabLst>
                <a:tab pos="309245" algn="l"/>
                <a:tab pos="309880" algn="l"/>
                <a:tab pos="2188845" algn="l"/>
              </a:tabLst>
            </a:pPr>
            <a:r>
              <a:rPr sz="2400" spc="-65" dirty="0">
                <a:latin typeface="Calibri"/>
                <a:cs typeface="Calibri"/>
              </a:rPr>
              <a:t>You</a:t>
            </a:r>
            <a:r>
              <a:rPr sz="2400" spc="-15" dirty="0">
                <a:latin typeface="Calibri"/>
                <a:cs typeface="Calibri"/>
              </a:rPr>
              <a:t> </a:t>
            </a:r>
            <a:r>
              <a:rPr sz="2400" spc="-20" dirty="0">
                <a:latin typeface="Calibri"/>
                <a:cs typeface="Calibri"/>
              </a:rPr>
              <a:t>have</a:t>
            </a:r>
            <a:r>
              <a:rPr sz="2400" spc="-15" dirty="0">
                <a:latin typeface="Calibri"/>
                <a:cs typeface="Calibri"/>
              </a:rPr>
              <a:t> </a:t>
            </a:r>
            <a:r>
              <a:rPr sz="2400" dirty="0">
                <a:latin typeface="Calibri"/>
                <a:cs typeface="Calibri"/>
              </a:rPr>
              <a:t>a</a:t>
            </a:r>
            <a:r>
              <a:rPr sz="2400" spc="-15" dirty="0">
                <a:latin typeface="Calibri"/>
                <a:cs typeface="Calibri"/>
              </a:rPr>
              <a:t> </a:t>
            </a:r>
            <a:r>
              <a:rPr sz="2400" spc="-10" dirty="0">
                <a:latin typeface="Calibri"/>
                <a:cs typeface="Calibri"/>
              </a:rPr>
              <a:t>4-gallon </a:t>
            </a:r>
            <a:r>
              <a:rPr sz="2400" spc="-5" dirty="0">
                <a:latin typeface="Calibri"/>
                <a:cs typeface="Calibri"/>
              </a:rPr>
              <a:t> </a:t>
            </a:r>
            <a:r>
              <a:rPr sz="2400" dirty="0">
                <a:latin typeface="Calibri"/>
                <a:cs typeface="Calibri"/>
              </a:rPr>
              <a:t>and</a:t>
            </a:r>
            <a:r>
              <a:rPr sz="2400" spc="-5" dirty="0">
                <a:latin typeface="Calibri"/>
                <a:cs typeface="Calibri"/>
              </a:rPr>
              <a:t> </a:t>
            </a:r>
            <a:r>
              <a:rPr sz="2400" dirty="0">
                <a:latin typeface="Calibri"/>
                <a:cs typeface="Calibri"/>
              </a:rPr>
              <a:t>a</a:t>
            </a:r>
            <a:r>
              <a:rPr sz="2400" spc="-5" dirty="0">
                <a:latin typeface="Calibri"/>
                <a:cs typeface="Calibri"/>
              </a:rPr>
              <a:t> 3-</a:t>
            </a:r>
            <a:r>
              <a:rPr sz="2400" spc="-50" dirty="0">
                <a:latin typeface="Calibri"/>
                <a:cs typeface="Calibri"/>
              </a:rPr>
              <a:t>g</a:t>
            </a:r>
            <a:r>
              <a:rPr sz="2400" dirty="0">
                <a:latin typeface="Calibri"/>
                <a:cs typeface="Calibri"/>
              </a:rPr>
              <a:t>allon	</a:t>
            </a:r>
            <a:r>
              <a:rPr sz="2400" spc="-30" dirty="0">
                <a:latin typeface="Calibri"/>
                <a:cs typeface="Calibri"/>
              </a:rPr>
              <a:t>w</a:t>
            </a:r>
            <a:r>
              <a:rPr sz="2400" spc="-25" dirty="0">
                <a:latin typeface="Calibri"/>
                <a:cs typeface="Calibri"/>
              </a:rPr>
              <a:t>a</a:t>
            </a:r>
            <a:r>
              <a:rPr sz="2400" spc="-30" dirty="0">
                <a:latin typeface="Calibri"/>
                <a:cs typeface="Calibri"/>
              </a:rPr>
              <a:t>t</a:t>
            </a:r>
            <a:r>
              <a:rPr sz="2400" spc="-5" dirty="0">
                <a:latin typeface="Calibri"/>
                <a:cs typeface="Calibri"/>
              </a:rPr>
              <a:t>er  jug</a:t>
            </a:r>
            <a:endParaRPr sz="2400">
              <a:latin typeface="Calibri"/>
              <a:cs typeface="Calibri"/>
            </a:endParaRPr>
          </a:p>
          <a:p>
            <a:pPr>
              <a:lnSpc>
                <a:spcPct val="100000"/>
              </a:lnSpc>
              <a:spcBef>
                <a:spcPts val="45"/>
              </a:spcBef>
              <a:buFont typeface="Arial MT"/>
              <a:buChar char="•"/>
            </a:pPr>
            <a:endParaRPr sz="3300">
              <a:latin typeface="Calibri"/>
              <a:cs typeface="Calibri"/>
            </a:endParaRPr>
          </a:p>
          <a:p>
            <a:pPr marL="309245" marR="422909" indent="-297180" algn="just">
              <a:lnSpc>
                <a:spcPct val="100000"/>
              </a:lnSpc>
              <a:buFont typeface="Arial MT"/>
              <a:buChar char="•"/>
              <a:tabLst>
                <a:tab pos="309880" algn="l"/>
              </a:tabLst>
            </a:pPr>
            <a:r>
              <a:rPr sz="2400" spc="-65" dirty="0">
                <a:latin typeface="Calibri"/>
                <a:cs typeface="Calibri"/>
              </a:rPr>
              <a:t>You </a:t>
            </a:r>
            <a:r>
              <a:rPr sz="2400" spc="-20" dirty="0">
                <a:latin typeface="Calibri"/>
                <a:cs typeface="Calibri"/>
              </a:rPr>
              <a:t>have </a:t>
            </a:r>
            <a:r>
              <a:rPr sz="2400" dirty="0">
                <a:latin typeface="Calibri"/>
                <a:cs typeface="Calibri"/>
              </a:rPr>
              <a:t>a </a:t>
            </a:r>
            <a:r>
              <a:rPr sz="2400" spc="-15" dirty="0">
                <a:latin typeface="Calibri"/>
                <a:cs typeface="Calibri"/>
              </a:rPr>
              <a:t>faucet </a:t>
            </a:r>
            <a:r>
              <a:rPr sz="2400" spc="-530" dirty="0">
                <a:latin typeface="Calibri"/>
                <a:cs typeface="Calibri"/>
              </a:rPr>
              <a:t> </a:t>
            </a:r>
            <a:r>
              <a:rPr sz="2400" spc="-5" dirty="0">
                <a:latin typeface="Calibri"/>
                <a:cs typeface="Calibri"/>
              </a:rPr>
              <a:t>with</a:t>
            </a:r>
            <a:r>
              <a:rPr sz="2400" spc="-40" dirty="0">
                <a:latin typeface="Calibri"/>
                <a:cs typeface="Calibri"/>
              </a:rPr>
              <a:t> </a:t>
            </a:r>
            <a:r>
              <a:rPr sz="2400" dirty="0">
                <a:latin typeface="Calibri"/>
                <a:cs typeface="Calibri"/>
              </a:rPr>
              <a:t>an</a:t>
            </a:r>
            <a:r>
              <a:rPr sz="2400" spc="-40" dirty="0">
                <a:latin typeface="Calibri"/>
                <a:cs typeface="Calibri"/>
              </a:rPr>
              <a:t> </a:t>
            </a:r>
            <a:r>
              <a:rPr sz="2400" spc="-10" dirty="0">
                <a:latin typeface="Calibri"/>
                <a:cs typeface="Calibri"/>
              </a:rPr>
              <a:t>unlimited </a:t>
            </a:r>
            <a:r>
              <a:rPr sz="2400" spc="-530" dirty="0">
                <a:latin typeface="Calibri"/>
                <a:cs typeface="Calibri"/>
              </a:rPr>
              <a:t> </a:t>
            </a:r>
            <a:r>
              <a:rPr sz="2400" spc="-5" dirty="0">
                <a:latin typeface="Calibri"/>
                <a:cs typeface="Calibri"/>
              </a:rPr>
              <a:t>amount</a:t>
            </a:r>
            <a:r>
              <a:rPr sz="2400" spc="-30" dirty="0">
                <a:latin typeface="Calibri"/>
                <a:cs typeface="Calibri"/>
              </a:rPr>
              <a:t> </a:t>
            </a:r>
            <a:r>
              <a:rPr sz="2400" spc="-5" dirty="0">
                <a:latin typeface="Calibri"/>
                <a:cs typeface="Calibri"/>
              </a:rPr>
              <a:t>of</a:t>
            </a:r>
            <a:r>
              <a:rPr sz="2400" spc="-30" dirty="0">
                <a:latin typeface="Calibri"/>
                <a:cs typeface="Calibri"/>
              </a:rPr>
              <a:t> </a:t>
            </a:r>
            <a:r>
              <a:rPr sz="2400" spc="-20" dirty="0">
                <a:latin typeface="Calibri"/>
                <a:cs typeface="Calibri"/>
              </a:rPr>
              <a:t>water</a:t>
            </a:r>
            <a:endParaRPr sz="2400">
              <a:latin typeface="Calibri"/>
              <a:cs typeface="Calibri"/>
            </a:endParaRPr>
          </a:p>
          <a:p>
            <a:pPr>
              <a:lnSpc>
                <a:spcPct val="100000"/>
              </a:lnSpc>
              <a:spcBef>
                <a:spcPts val="50"/>
              </a:spcBef>
              <a:buFont typeface="Arial MT"/>
              <a:buChar char="•"/>
            </a:pPr>
            <a:endParaRPr sz="3300">
              <a:latin typeface="Calibri"/>
              <a:cs typeface="Calibri"/>
            </a:endParaRPr>
          </a:p>
          <a:p>
            <a:pPr marL="309245" marR="285750" indent="-297180">
              <a:lnSpc>
                <a:spcPct val="100000"/>
              </a:lnSpc>
              <a:buFont typeface="Arial MT"/>
              <a:buChar char="•"/>
              <a:tabLst>
                <a:tab pos="309245" algn="l"/>
                <a:tab pos="309880" algn="l"/>
              </a:tabLst>
            </a:pPr>
            <a:r>
              <a:rPr sz="2400" spc="-65" dirty="0">
                <a:latin typeface="Calibri"/>
                <a:cs typeface="Calibri"/>
              </a:rPr>
              <a:t>You</a:t>
            </a:r>
            <a:r>
              <a:rPr sz="2400" spc="-15" dirty="0">
                <a:latin typeface="Calibri"/>
                <a:cs typeface="Calibri"/>
              </a:rPr>
              <a:t> </a:t>
            </a:r>
            <a:r>
              <a:rPr sz="2400" spc="-5" dirty="0">
                <a:latin typeface="Calibri"/>
                <a:cs typeface="Calibri"/>
              </a:rPr>
              <a:t>need</a:t>
            </a:r>
            <a:r>
              <a:rPr sz="2400" spc="-15" dirty="0">
                <a:latin typeface="Calibri"/>
                <a:cs typeface="Calibri"/>
              </a:rPr>
              <a:t> to get </a:t>
            </a:r>
            <a:r>
              <a:rPr sz="2400" spc="-10" dirty="0">
                <a:latin typeface="Calibri"/>
                <a:cs typeface="Calibri"/>
              </a:rPr>
              <a:t> </a:t>
            </a:r>
            <a:r>
              <a:rPr sz="2400" spc="-15" dirty="0">
                <a:latin typeface="Calibri"/>
                <a:cs typeface="Calibri"/>
              </a:rPr>
              <a:t>exactly</a:t>
            </a:r>
            <a:r>
              <a:rPr sz="2400" spc="-25" dirty="0">
                <a:latin typeface="Calibri"/>
                <a:cs typeface="Calibri"/>
              </a:rPr>
              <a:t> </a:t>
            </a:r>
            <a:r>
              <a:rPr sz="2400" dirty="0">
                <a:latin typeface="Calibri"/>
                <a:cs typeface="Calibri"/>
              </a:rPr>
              <a:t>2</a:t>
            </a:r>
            <a:r>
              <a:rPr sz="2400" spc="-25" dirty="0">
                <a:latin typeface="Calibri"/>
                <a:cs typeface="Calibri"/>
              </a:rPr>
              <a:t> </a:t>
            </a:r>
            <a:r>
              <a:rPr sz="2400" spc="-10" dirty="0">
                <a:latin typeface="Calibri"/>
                <a:cs typeface="Calibri"/>
              </a:rPr>
              <a:t>gallons</a:t>
            </a:r>
            <a:r>
              <a:rPr sz="2400" spc="-20" dirty="0">
                <a:latin typeface="Calibri"/>
                <a:cs typeface="Calibri"/>
              </a:rPr>
              <a:t> </a:t>
            </a:r>
            <a:r>
              <a:rPr sz="2400" spc="-5" dirty="0">
                <a:latin typeface="Calibri"/>
                <a:cs typeface="Calibri"/>
              </a:rPr>
              <a:t>in </a:t>
            </a:r>
            <a:r>
              <a:rPr sz="2400" spc="-530" dirty="0">
                <a:latin typeface="Calibri"/>
                <a:cs typeface="Calibri"/>
              </a:rPr>
              <a:t> </a:t>
            </a:r>
            <a:r>
              <a:rPr sz="2400" spc="-10" dirty="0">
                <a:latin typeface="Calibri"/>
                <a:cs typeface="Calibri"/>
              </a:rPr>
              <a:t>4-gallon</a:t>
            </a:r>
            <a:r>
              <a:rPr sz="2400" spc="-15" dirty="0">
                <a:latin typeface="Calibri"/>
                <a:cs typeface="Calibri"/>
              </a:rPr>
              <a:t> </a:t>
            </a:r>
            <a:r>
              <a:rPr sz="2400" spc="-5" dirty="0">
                <a:latin typeface="Calibri"/>
                <a:cs typeface="Calibri"/>
              </a:rPr>
              <a:t>jug</a:t>
            </a:r>
            <a:endParaRPr sz="2400">
              <a:latin typeface="Calibri"/>
              <a:cs typeface="Calibri"/>
            </a:endParaRPr>
          </a:p>
        </p:txBody>
      </p:sp>
    </p:spTree>
    <p:extLst>
      <p:ext uri="{BB962C8B-B14F-4D97-AF65-F5344CB8AC3E}">
        <p14:creationId xmlns:p14="http://schemas.microsoft.com/office/powerpoint/2010/main" val="1245692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0954" y="475487"/>
            <a:ext cx="5452110" cy="695960"/>
          </a:xfrm>
          <a:prstGeom prst="rect">
            <a:avLst/>
          </a:prstGeom>
        </p:spPr>
        <p:txBody>
          <a:bodyPr vert="horz" wrap="square" lIns="0" tIns="12700" rIns="0" bIns="0" rtlCol="0">
            <a:spAutoFit/>
          </a:bodyPr>
          <a:lstStyle/>
          <a:p>
            <a:pPr marL="12700">
              <a:lnSpc>
                <a:spcPct val="100000"/>
              </a:lnSpc>
              <a:spcBef>
                <a:spcPts val="100"/>
              </a:spcBef>
            </a:pPr>
            <a:r>
              <a:rPr spc="-10" dirty="0"/>
              <a:t>Puzzle-solving</a:t>
            </a:r>
            <a:r>
              <a:rPr spc="-55" dirty="0"/>
              <a:t> </a:t>
            </a:r>
            <a:r>
              <a:rPr dirty="0"/>
              <a:t>as</a:t>
            </a:r>
            <a:r>
              <a:rPr spc="-45" dirty="0"/>
              <a:t> </a:t>
            </a:r>
            <a:r>
              <a:rPr spc="-15" dirty="0"/>
              <a:t>Search</a:t>
            </a:r>
          </a:p>
        </p:txBody>
      </p:sp>
      <p:sp>
        <p:nvSpPr>
          <p:cNvPr id="3" name="object 3"/>
          <p:cNvSpPr txBox="1"/>
          <p:nvPr/>
        </p:nvSpPr>
        <p:spPr>
          <a:xfrm>
            <a:off x="644294" y="1493639"/>
            <a:ext cx="6631305" cy="5128260"/>
          </a:xfrm>
          <a:prstGeom prst="rect">
            <a:avLst/>
          </a:prstGeom>
        </p:spPr>
        <p:txBody>
          <a:bodyPr vert="horz" wrap="square" lIns="0" tIns="107314" rIns="0" bIns="0" rtlCol="0">
            <a:spAutoFit/>
          </a:bodyPr>
          <a:lstStyle/>
          <a:p>
            <a:pPr marL="316865" indent="-304800">
              <a:lnSpc>
                <a:spcPct val="100000"/>
              </a:lnSpc>
              <a:spcBef>
                <a:spcPts val="844"/>
              </a:spcBef>
              <a:buFont typeface="Arial MT"/>
              <a:buChar char="•"/>
              <a:tabLst>
                <a:tab pos="316865" algn="l"/>
                <a:tab pos="317500" algn="l"/>
              </a:tabLst>
            </a:pPr>
            <a:r>
              <a:rPr sz="2000" spc="-15" dirty="0">
                <a:latin typeface="Calibri"/>
                <a:cs typeface="Calibri"/>
              </a:rPr>
              <a:t>State representation</a:t>
            </a:r>
            <a:r>
              <a:rPr sz="2000" b="1" spc="-15" dirty="0">
                <a:latin typeface="Calibri"/>
                <a:cs typeface="Calibri"/>
              </a:rPr>
              <a:t>:</a:t>
            </a:r>
            <a:r>
              <a:rPr sz="2000" b="1" spc="-10" dirty="0">
                <a:latin typeface="Calibri"/>
                <a:cs typeface="Calibri"/>
              </a:rPr>
              <a:t> </a:t>
            </a:r>
            <a:r>
              <a:rPr sz="2000" b="1" spc="-5" dirty="0">
                <a:latin typeface="Calibri"/>
                <a:cs typeface="Calibri"/>
              </a:rPr>
              <a:t>(x,</a:t>
            </a:r>
            <a:r>
              <a:rPr sz="2000" b="1" spc="-10" dirty="0">
                <a:latin typeface="Calibri"/>
                <a:cs typeface="Calibri"/>
              </a:rPr>
              <a:t> </a:t>
            </a:r>
            <a:r>
              <a:rPr sz="2000" b="1" spc="-5" dirty="0">
                <a:latin typeface="Calibri"/>
                <a:cs typeface="Calibri"/>
              </a:rPr>
              <a:t>y)</a:t>
            </a:r>
            <a:endParaRPr sz="2000">
              <a:latin typeface="Calibri"/>
              <a:cs typeface="Calibri"/>
            </a:endParaRPr>
          </a:p>
          <a:p>
            <a:pPr marL="716915" lvl="1" indent="-300355">
              <a:lnSpc>
                <a:spcPct val="100000"/>
              </a:lnSpc>
              <a:spcBef>
                <a:spcPts val="750"/>
              </a:spcBef>
              <a:buFont typeface="Arial MT"/>
              <a:buChar char="–"/>
              <a:tabLst>
                <a:tab pos="716915" algn="l"/>
                <a:tab pos="717550" algn="l"/>
              </a:tabLst>
            </a:pPr>
            <a:r>
              <a:rPr sz="2000" spc="-5" dirty="0">
                <a:latin typeface="Calibri"/>
                <a:cs typeface="Calibri"/>
              </a:rPr>
              <a:t>x:</a:t>
            </a:r>
            <a:r>
              <a:rPr sz="2000" spc="-15" dirty="0">
                <a:latin typeface="Calibri"/>
                <a:cs typeface="Calibri"/>
              </a:rPr>
              <a:t> Contents</a:t>
            </a:r>
            <a:r>
              <a:rPr sz="2000" spc="-10" dirty="0">
                <a:latin typeface="Calibri"/>
                <a:cs typeface="Calibri"/>
              </a:rPr>
              <a:t> </a:t>
            </a:r>
            <a:r>
              <a:rPr sz="2000" spc="-5" dirty="0">
                <a:latin typeface="Calibri"/>
                <a:cs typeface="Calibri"/>
              </a:rPr>
              <a:t>of</a:t>
            </a:r>
            <a:r>
              <a:rPr sz="2000" spc="-10" dirty="0">
                <a:latin typeface="Calibri"/>
                <a:cs typeface="Calibri"/>
              </a:rPr>
              <a:t> </a:t>
            </a:r>
            <a:r>
              <a:rPr sz="2000" spc="-15" dirty="0">
                <a:latin typeface="Calibri"/>
                <a:cs typeface="Calibri"/>
              </a:rPr>
              <a:t>four</a:t>
            </a:r>
            <a:r>
              <a:rPr sz="2000" spc="-10" dirty="0">
                <a:latin typeface="Calibri"/>
                <a:cs typeface="Calibri"/>
              </a:rPr>
              <a:t> gallon</a:t>
            </a:r>
            <a:endParaRPr sz="2000">
              <a:latin typeface="Calibri"/>
              <a:cs typeface="Calibri"/>
            </a:endParaRPr>
          </a:p>
          <a:p>
            <a:pPr marL="716915" lvl="1" indent="-300355">
              <a:lnSpc>
                <a:spcPct val="100000"/>
              </a:lnSpc>
              <a:spcBef>
                <a:spcPts val="750"/>
              </a:spcBef>
              <a:buFont typeface="Arial MT"/>
              <a:buChar char="–"/>
              <a:tabLst>
                <a:tab pos="716915" algn="l"/>
                <a:tab pos="717550" algn="l"/>
              </a:tabLst>
            </a:pPr>
            <a:r>
              <a:rPr sz="2000" spc="-5" dirty="0">
                <a:latin typeface="Calibri"/>
                <a:cs typeface="Calibri"/>
              </a:rPr>
              <a:t>y:</a:t>
            </a:r>
            <a:r>
              <a:rPr sz="2000" spc="-15" dirty="0">
                <a:latin typeface="Calibri"/>
                <a:cs typeface="Calibri"/>
              </a:rPr>
              <a:t> Contents</a:t>
            </a:r>
            <a:r>
              <a:rPr sz="2000" spc="-10" dirty="0">
                <a:latin typeface="Calibri"/>
                <a:cs typeface="Calibri"/>
              </a:rPr>
              <a:t> </a:t>
            </a:r>
            <a:r>
              <a:rPr sz="2000" spc="-5" dirty="0">
                <a:latin typeface="Calibri"/>
                <a:cs typeface="Calibri"/>
              </a:rPr>
              <a:t>of</a:t>
            </a:r>
            <a:r>
              <a:rPr sz="2000" spc="-10" dirty="0">
                <a:latin typeface="Calibri"/>
                <a:cs typeface="Calibri"/>
              </a:rPr>
              <a:t> three gallon</a:t>
            </a:r>
            <a:endParaRPr sz="2000">
              <a:latin typeface="Calibri"/>
              <a:cs typeface="Calibri"/>
            </a:endParaRPr>
          </a:p>
          <a:p>
            <a:pPr lvl="1">
              <a:lnSpc>
                <a:spcPct val="100000"/>
              </a:lnSpc>
              <a:spcBef>
                <a:spcPts val="30"/>
              </a:spcBef>
              <a:buFont typeface="Arial MT"/>
              <a:buChar char="–"/>
            </a:pPr>
            <a:endParaRPr sz="2550">
              <a:latin typeface="Calibri"/>
              <a:cs typeface="Calibri"/>
            </a:endParaRPr>
          </a:p>
          <a:p>
            <a:pPr marL="316865" indent="-304800">
              <a:lnSpc>
                <a:spcPct val="100000"/>
              </a:lnSpc>
              <a:spcBef>
                <a:spcPts val="5"/>
              </a:spcBef>
              <a:buFont typeface="Arial MT"/>
              <a:buChar char="•"/>
              <a:tabLst>
                <a:tab pos="316865" algn="l"/>
                <a:tab pos="317500" algn="l"/>
              </a:tabLst>
            </a:pPr>
            <a:r>
              <a:rPr sz="2000" spc="-10" dirty="0">
                <a:latin typeface="Calibri"/>
                <a:cs typeface="Calibri"/>
              </a:rPr>
              <a:t>Start</a:t>
            </a:r>
            <a:r>
              <a:rPr sz="2000" spc="-20" dirty="0">
                <a:latin typeface="Calibri"/>
                <a:cs typeface="Calibri"/>
              </a:rPr>
              <a:t> state</a:t>
            </a:r>
            <a:r>
              <a:rPr sz="2000" b="1" spc="-20" dirty="0">
                <a:latin typeface="Calibri"/>
                <a:cs typeface="Calibri"/>
              </a:rPr>
              <a:t>: </a:t>
            </a:r>
            <a:r>
              <a:rPr sz="2000" b="1" spc="-5" dirty="0">
                <a:latin typeface="Calibri"/>
                <a:cs typeface="Calibri"/>
              </a:rPr>
              <a:t>(0,</a:t>
            </a:r>
            <a:r>
              <a:rPr sz="2000" b="1" spc="-20" dirty="0">
                <a:latin typeface="Calibri"/>
                <a:cs typeface="Calibri"/>
              </a:rPr>
              <a:t> </a:t>
            </a:r>
            <a:r>
              <a:rPr sz="2000" b="1" spc="-5" dirty="0">
                <a:latin typeface="Calibri"/>
                <a:cs typeface="Calibri"/>
              </a:rPr>
              <a:t>0)</a:t>
            </a:r>
            <a:endParaRPr sz="2000">
              <a:latin typeface="Calibri"/>
              <a:cs typeface="Calibri"/>
            </a:endParaRPr>
          </a:p>
          <a:p>
            <a:pPr>
              <a:lnSpc>
                <a:spcPct val="100000"/>
              </a:lnSpc>
              <a:spcBef>
                <a:spcPts val="50"/>
              </a:spcBef>
              <a:buFont typeface="Arial MT"/>
              <a:buChar char="•"/>
            </a:pPr>
            <a:endParaRPr sz="3150">
              <a:latin typeface="Calibri"/>
              <a:cs typeface="Calibri"/>
            </a:endParaRPr>
          </a:p>
          <a:p>
            <a:pPr marL="316865" indent="-304800">
              <a:lnSpc>
                <a:spcPct val="100000"/>
              </a:lnSpc>
              <a:buFont typeface="Arial MT"/>
              <a:buChar char="•"/>
              <a:tabLst>
                <a:tab pos="316865" algn="l"/>
                <a:tab pos="317500" algn="l"/>
              </a:tabLst>
            </a:pPr>
            <a:r>
              <a:rPr sz="2000" spc="-5" dirty="0">
                <a:latin typeface="Calibri"/>
                <a:cs typeface="Calibri"/>
              </a:rPr>
              <a:t>Goal</a:t>
            </a:r>
            <a:r>
              <a:rPr sz="2000" spc="-25" dirty="0">
                <a:latin typeface="Calibri"/>
                <a:cs typeface="Calibri"/>
              </a:rPr>
              <a:t> </a:t>
            </a:r>
            <a:r>
              <a:rPr sz="2000" spc="-20" dirty="0">
                <a:latin typeface="Calibri"/>
                <a:cs typeface="Calibri"/>
              </a:rPr>
              <a:t>state</a:t>
            </a:r>
            <a:r>
              <a:rPr sz="2000" spc="-15" dirty="0">
                <a:latin typeface="Calibri"/>
                <a:cs typeface="Calibri"/>
              </a:rPr>
              <a:t> </a:t>
            </a:r>
            <a:r>
              <a:rPr sz="2000" b="1" spc="-5" dirty="0">
                <a:latin typeface="Calibri"/>
                <a:cs typeface="Calibri"/>
              </a:rPr>
              <a:t>(2,</a:t>
            </a:r>
            <a:r>
              <a:rPr sz="2000" b="1" spc="-25" dirty="0">
                <a:latin typeface="Calibri"/>
                <a:cs typeface="Calibri"/>
              </a:rPr>
              <a:t> </a:t>
            </a:r>
            <a:r>
              <a:rPr sz="2000" b="1" spc="-5" dirty="0">
                <a:latin typeface="Calibri"/>
                <a:cs typeface="Calibri"/>
              </a:rPr>
              <a:t>n)</a:t>
            </a:r>
            <a:endParaRPr sz="2000">
              <a:latin typeface="Calibri"/>
              <a:cs typeface="Calibri"/>
            </a:endParaRPr>
          </a:p>
          <a:p>
            <a:pPr>
              <a:lnSpc>
                <a:spcPct val="100000"/>
              </a:lnSpc>
              <a:spcBef>
                <a:spcPts val="50"/>
              </a:spcBef>
              <a:buFont typeface="Arial MT"/>
              <a:buChar char="•"/>
            </a:pPr>
            <a:endParaRPr sz="3150">
              <a:latin typeface="Calibri"/>
              <a:cs typeface="Calibri"/>
            </a:endParaRPr>
          </a:p>
          <a:p>
            <a:pPr marL="316865" indent="-304800">
              <a:lnSpc>
                <a:spcPct val="100000"/>
              </a:lnSpc>
              <a:buFont typeface="Arial MT"/>
              <a:buChar char="•"/>
              <a:tabLst>
                <a:tab pos="316865" algn="l"/>
                <a:tab pos="317500" algn="l"/>
              </a:tabLst>
            </a:pPr>
            <a:r>
              <a:rPr sz="2000" spc="-20" dirty="0">
                <a:latin typeface="Calibri"/>
                <a:cs typeface="Calibri"/>
              </a:rPr>
              <a:t>Operators</a:t>
            </a:r>
            <a:endParaRPr sz="2000">
              <a:latin typeface="Calibri"/>
              <a:cs typeface="Calibri"/>
            </a:endParaRPr>
          </a:p>
          <a:p>
            <a:pPr marL="716915" lvl="1" indent="-300355">
              <a:lnSpc>
                <a:spcPct val="100000"/>
              </a:lnSpc>
              <a:spcBef>
                <a:spcPts val="745"/>
              </a:spcBef>
              <a:buFont typeface="Arial MT"/>
              <a:buChar char="–"/>
              <a:tabLst>
                <a:tab pos="716915" algn="l"/>
                <a:tab pos="717550" algn="l"/>
              </a:tabLst>
            </a:pPr>
            <a:r>
              <a:rPr sz="2000" spc="-5" dirty="0">
                <a:latin typeface="Calibri"/>
                <a:cs typeface="Calibri"/>
              </a:rPr>
              <a:t>Fill </a:t>
            </a:r>
            <a:r>
              <a:rPr sz="2000" spc="-10" dirty="0">
                <a:latin typeface="Calibri"/>
                <a:cs typeface="Calibri"/>
              </a:rPr>
              <a:t>3-gallon</a:t>
            </a:r>
            <a:r>
              <a:rPr sz="2000" dirty="0">
                <a:latin typeface="Calibri"/>
                <a:cs typeface="Calibri"/>
              </a:rPr>
              <a:t> </a:t>
            </a:r>
            <a:r>
              <a:rPr sz="2000" spc="-15" dirty="0">
                <a:latin typeface="Calibri"/>
                <a:cs typeface="Calibri"/>
              </a:rPr>
              <a:t>from</a:t>
            </a:r>
            <a:r>
              <a:rPr sz="2000" spc="-5" dirty="0">
                <a:latin typeface="Calibri"/>
                <a:cs typeface="Calibri"/>
              </a:rPr>
              <a:t> </a:t>
            </a:r>
            <a:r>
              <a:rPr sz="2000" spc="-10" dirty="0">
                <a:latin typeface="Calibri"/>
                <a:cs typeface="Calibri"/>
              </a:rPr>
              <a:t>faucet,</a:t>
            </a:r>
            <a:r>
              <a:rPr sz="2000" dirty="0">
                <a:latin typeface="Calibri"/>
                <a:cs typeface="Calibri"/>
              </a:rPr>
              <a:t> </a:t>
            </a:r>
            <a:r>
              <a:rPr sz="2000" spc="-5" dirty="0">
                <a:latin typeface="Calibri"/>
                <a:cs typeface="Calibri"/>
              </a:rPr>
              <a:t>fill </a:t>
            </a:r>
            <a:r>
              <a:rPr sz="2000" spc="-10" dirty="0">
                <a:latin typeface="Calibri"/>
                <a:cs typeface="Calibri"/>
              </a:rPr>
              <a:t>4-gallon</a:t>
            </a:r>
            <a:r>
              <a:rPr sz="2000" dirty="0">
                <a:latin typeface="Calibri"/>
                <a:cs typeface="Calibri"/>
              </a:rPr>
              <a:t> </a:t>
            </a:r>
            <a:r>
              <a:rPr sz="2000" spc="-15" dirty="0">
                <a:latin typeface="Calibri"/>
                <a:cs typeface="Calibri"/>
              </a:rPr>
              <a:t>from</a:t>
            </a:r>
            <a:r>
              <a:rPr sz="2000" dirty="0">
                <a:latin typeface="Calibri"/>
                <a:cs typeface="Calibri"/>
              </a:rPr>
              <a:t> </a:t>
            </a:r>
            <a:r>
              <a:rPr sz="2000" spc="-10" dirty="0">
                <a:latin typeface="Calibri"/>
                <a:cs typeface="Calibri"/>
              </a:rPr>
              <a:t>faucet</a:t>
            </a:r>
            <a:endParaRPr sz="2000">
              <a:latin typeface="Calibri"/>
              <a:cs typeface="Calibri"/>
            </a:endParaRPr>
          </a:p>
          <a:p>
            <a:pPr marL="716915" lvl="1" indent="-300355">
              <a:lnSpc>
                <a:spcPct val="100000"/>
              </a:lnSpc>
              <a:spcBef>
                <a:spcPts val="750"/>
              </a:spcBef>
              <a:buFont typeface="Arial MT"/>
              <a:buChar char="–"/>
              <a:tabLst>
                <a:tab pos="716915" algn="l"/>
                <a:tab pos="717550" algn="l"/>
              </a:tabLst>
            </a:pPr>
            <a:r>
              <a:rPr sz="2000" spc="-5" dirty="0">
                <a:latin typeface="Calibri"/>
                <a:cs typeface="Calibri"/>
              </a:rPr>
              <a:t>Fill</a:t>
            </a:r>
            <a:r>
              <a:rPr sz="2000" dirty="0">
                <a:latin typeface="Calibri"/>
                <a:cs typeface="Calibri"/>
              </a:rPr>
              <a:t> </a:t>
            </a:r>
            <a:r>
              <a:rPr sz="2000" spc="-10" dirty="0">
                <a:latin typeface="Calibri"/>
                <a:cs typeface="Calibri"/>
              </a:rPr>
              <a:t>3-gallon</a:t>
            </a:r>
            <a:r>
              <a:rPr sz="2000" spc="5" dirty="0">
                <a:latin typeface="Calibri"/>
                <a:cs typeface="Calibri"/>
              </a:rPr>
              <a:t> </a:t>
            </a:r>
            <a:r>
              <a:rPr sz="2000" spc="-15" dirty="0">
                <a:latin typeface="Calibri"/>
                <a:cs typeface="Calibri"/>
              </a:rPr>
              <a:t>from</a:t>
            </a:r>
            <a:r>
              <a:rPr sz="2000" dirty="0">
                <a:latin typeface="Calibri"/>
                <a:cs typeface="Calibri"/>
              </a:rPr>
              <a:t> </a:t>
            </a:r>
            <a:r>
              <a:rPr sz="2000" spc="-10" dirty="0">
                <a:latin typeface="Calibri"/>
                <a:cs typeface="Calibri"/>
              </a:rPr>
              <a:t>4-gallon</a:t>
            </a:r>
            <a:r>
              <a:rPr sz="2000" spc="5" dirty="0">
                <a:latin typeface="Calibri"/>
                <a:cs typeface="Calibri"/>
              </a:rPr>
              <a:t> </a:t>
            </a:r>
            <a:r>
              <a:rPr sz="2000" dirty="0">
                <a:latin typeface="Calibri"/>
                <a:cs typeface="Calibri"/>
              </a:rPr>
              <a:t>, </a:t>
            </a:r>
            <a:r>
              <a:rPr sz="2000" spc="-5" dirty="0">
                <a:latin typeface="Calibri"/>
                <a:cs typeface="Calibri"/>
              </a:rPr>
              <a:t>fill</a:t>
            </a:r>
            <a:r>
              <a:rPr sz="2000" spc="5" dirty="0">
                <a:latin typeface="Calibri"/>
                <a:cs typeface="Calibri"/>
              </a:rPr>
              <a:t> </a:t>
            </a:r>
            <a:r>
              <a:rPr sz="2000" spc="-10" dirty="0">
                <a:latin typeface="Calibri"/>
                <a:cs typeface="Calibri"/>
              </a:rPr>
              <a:t>4-gallon</a:t>
            </a:r>
            <a:r>
              <a:rPr sz="2000" dirty="0">
                <a:latin typeface="Calibri"/>
                <a:cs typeface="Calibri"/>
              </a:rPr>
              <a:t> </a:t>
            </a:r>
            <a:r>
              <a:rPr sz="2000" spc="-15" dirty="0">
                <a:latin typeface="Calibri"/>
                <a:cs typeface="Calibri"/>
              </a:rPr>
              <a:t>from</a:t>
            </a:r>
            <a:r>
              <a:rPr sz="2000" spc="5" dirty="0">
                <a:latin typeface="Calibri"/>
                <a:cs typeface="Calibri"/>
              </a:rPr>
              <a:t> </a:t>
            </a:r>
            <a:r>
              <a:rPr sz="2000" spc="-10" dirty="0">
                <a:latin typeface="Calibri"/>
                <a:cs typeface="Calibri"/>
              </a:rPr>
              <a:t>3-gallon</a:t>
            </a:r>
            <a:endParaRPr sz="2000">
              <a:latin typeface="Calibri"/>
              <a:cs typeface="Calibri"/>
            </a:endParaRPr>
          </a:p>
          <a:p>
            <a:pPr marL="716915" lvl="1" indent="-300355">
              <a:lnSpc>
                <a:spcPct val="100000"/>
              </a:lnSpc>
              <a:spcBef>
                <a:spcPts val="750"/>
              </a:spcBef>
              <a:buFont typeface="Arial MT"/>
              <a:buChar char="–"/>
              <a:tabLst>
                <a:tab pos="716915" algn="l"/>
                <a:tab pos="717550" algn="l"/>
              </a:tabLst>
            </a:pPr>
            <a:r>
              <a:rPr sz="2000" spc="-5" dirty="0">
                <a:latin typeface="Calibri"/>
                <a:cs typeface="Calibri"/>
              </a:rPr>
              <a:t>Empty</a:t>
            </a:r>
            <a:r>
              <a:rPr sz="2000" dirty="0">
                <a:latin typeface="Calibri"/>
                <a:cs typeface="Calibri"/>
              </a:rPr>
              <a:t> </a:t>
            </a:r>
            <a:r>
              <a:rPr sz="2000" spc="-10" dirty="0">
                <a:latin typeface="Calibri"/>
                <a:cs typeface="Calibri"/>
              </a:rPr>
              <a:t>3-gallon</a:t>
            </a:r>
            <a:r>
              <a:rPr sz="2000" spc="5" dirty="0">
                <a:latin typeface="Calibri"/>
                <a:cs typeface="Calibri"/>
              </a:rPr>
              <a:t> </a:t>
            </a:r>
            <a:r>
              <a:rPr sz="2000" spc="-15" dirty="0">
                <a:latin typeface="Calibri"/>
                <a:cs typeface="Calibri"/>
              </a:rPr>
              <a:t>into</a:t>
            </a:r>
            <a:r>
              <a:rPr sz="2000" spc="5" dirty="0">
                <a:latin typeface="Calibri"/>
                <a:cs typeface="Calibri"/>
              </a:rPr>
              <a:t> </a:t>
            </a:r>
            <a:r>
              <a:rPr sz="2000" spc="-10" dirty="0">
                <a:latin typeface="Calibri"/>
                <a:cs typeface="Calibri"/>
              </a:rPr>
              <a:t>4-gallon,</a:t>
            </a:r>
            <a:r>
              <a:rPr sz="2000" dirty="0">
                <a:latin typeface="Calibri"/>
                <a:cs typeface="Calibri"/>
              </a:rPr>
              <a:t> </a:t>
            </a:r>
            <a:r>
              <a:rPr sz="2000" spc="-5" dirty="0">
                <a:latin typeface="Calibri"/>
                <a:cs typeface="Calibri"/>
              </a:rPr>
              <a:t>empty</a:t>
            </a:r>
            <a:r>
              <a:rPr sz="2000" spc="5" dirty="0">
                <a:latin typeface="Calibri"/>
                <a:cs typeface="Calibri"/>
              </a:rPr>
              <a:t> </a:t>
            </a:r>
            <a:r>
              <a:rPr sz="2000" spc="-10" dirty="0">
                <a:latin typeface="Calibri"/>
                <a:cs typeface="Calibri"/>
              </a:rPr>
              <a:t>4-gallon</a:t>
            </a:r>
            <a:r>
              <a:rPr sz="2000" spc="5" dirty="0">
                <a:latin typeface="Calibri"/>
                <a:cs typeface="Calibri"/>
              </a:rPr>
              <a:t> </a:t>
            </a:r>
            <a:r>
              <a:rPr sz="2000" spc="-15" dirty="0">
                <a:latin typeface="Calibri"/>
                <a:cs typeface="Calibri"/>
              </a:rPr>
              <a:t>into</a:t>
            </a:r>
            <a:r>
              <a:rPr sz="2000" spc="5" dirty="0">
                <a:latin typeface="Calibri"/>
                <a:cs typeface="Calibri"/>
              </a:rPr>
              <a:t> </a:t>
            </a:r>
            <a:r>
              <a:rPr sz="2000" spc="-10" dirty="0">
                <a:latin typeface="Calibri"/>
                <a:cs typeface="Calibri"/>
              </a:rPr>
              <a:t>3-gallon</a:t>
            </a:r>
            <a:endParaRPr sz="2000">
              <a:latin typeface="Calibri"/>
              <a:cs typeface="Calibri"/>
            </a:endParaRPr>
          </a:p>
          <a:p>
            <a:pPr marL="716915" lvl="1" indent="-300355">
              <a:lnSpc>
                <a:spcPct val="100000"/>
              </a:lnSpc>
              <a:spcBef>
                <a:spcPts val="745"/>
              </a:spcBef>
              <a:buFont typeface="Arial MT"/>
              <a:buChar char="–"/>
              <a:tabLst>
                <a:tab pos="716915" algn="l"/>
                <a:tab pos="717550" algn="l"/>
              </a:tabLst>
            </a:pPr>
            <a:r>
              <a:rPr sz="2000" spc="-5" dirty="0">
                <a:latin typeface="Calibri"/>
                <a:cs typeface="Calibri"/>
              </a:rPr>
              <a:t>Dump</a:t>
            </a:r>
            <a:r>
              <a:rPr sz="2000" spc="-10" dirty="0">
                <a:latin typeface="Calibri"/>
                <a:cs typeface="Calibri"/>
              </a:rPr>
              <a:t> 3-gallon</a:t>
            </a:r>
            <a:r>
              <a:rPr sz="2000" spc="-5" dirty="0">
                <a:latin typeface="Calibri"/>
                <a:cs typeface="Calibri"/>
              </a:rPr>
              <a:t> down</a:t>
            </a:r>
            <a:r>
              <a:rPr sz="2000" spc="-10" dirty="0">
                <a:latin typeface="Calibri"/>
                <a:cs typeface="Calibri"/>
              </a:rPr>
              <a:t> drain,</a:t>
            </a:r>
            <a:r>
              <a:rPr sz="2000" spc="-5" dirty="0">
                <a:latin typeface="Calibri"/>
                <a:cs typeface="Calibri"/>
              </a:rPr>
              <a:t> dump</a:t>
            </a:r>
            <a:r>
              <a:rPr sz="2000" spc="-10" dirty="0">
                <a:latin typeface="Calibri"/>
                <a:cs typeface="Calibri"/>
              </a:rPr>
              <a:t> 4-gallon</a:t>
            </a:r>
            <a:r>
              <a:rPr sz="2000" spc="-5" dirty="0">
                <a:latin typeface="Calibri"/>
                <a:cs typeface="Calibri"/>
              </a:rPr>
              <a:t> down</a:t>
            </a:r>
            <a:r>
              <a:rPr sz="2000" spc="-10" dirty="0">
                <a:latin typeface="Calibri"/>
                <a:cs typeface="Calibri"/>
              </a:rPr>
              <a:t> drain</a:t>
            </a:r>
            <a:endParaRPr sz="2000">
              <a:latin typeface="Calibri"/>
              <a:cs typeface="Calibri"/>
            </a:endParaRPr>
          </a:p>
        </p:txBody>
      </p:sp>
    </p:spTree>
    <p:extLst>
      <p:ext uri="{BB962C8B-B14F-4D97-AF65-F5344CB8AC3E}">
        <p14:creationId xmlns:p14="http://schemas.microsoft.com/office/powerpoint/2010/main" val="25300259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0113" y="336684"/>
            <a:ext cx="7232650" cy="513080"/>
          </a:xfrm>
          <a:prstGeom prst="rect">
            <a:avLst/>
          </a:prstGeom>
        </p:spPr>
        <p:txBody>
          <a:bodyPr vert="horz" wrap="square" lIns="0" tIns="12700" rIns="0" bIns="0" rtlCol="0">
            <a:spAutoFit/>
          </a:bodyPr>
          <a:lstStyle/>
          <a:p>
            <a:pPr marL="12700">
              <a:lnSpc>
                <a:spcPct val="100000"/>
              </a:lnSpc>
              <a:spcBef>
                <a:spcPts val="100"/>
              </a:spcBef>
            </a:pPr>
            <a:r>
              <a:rPr sz="3200" spc="-10" dirty="0"/>
              <a:t>Production Rules</a:t>
            </a:r>
            <a:r>
              <a:rPr sz="3200" spc="-15" dirty="0"/>
              <a:t> </a:t>
            </a:r>
            <a:r>
              <a:rPr sz="3200" spc="-25" dirty="0"/>
              <a:t>for</a:t>
            </a:r>
            <a:r>
              <a:rPr sz="3200" spc="-10" dirty="0"/>
              <a:t> the</a:t>
            </a:r>
            <a:r>
              <a:rPr sz="3200" spc="-15" dirty="0"/>
              <a:t> </a:t>
            </a:r>
            <a:r>
              <a:rPr sz="3200" spc="-40" dirty="0"/>
              <a:t>Water</a:t>
            </a:r>
            <a:r>
              <a:rPr sz="3200" spc="-10" dirty="0"/>
              <a:t> Jug</a:t>
            </a:r>
            <a:r>
              <a:rPr sz="3200" spc="-15" dirty="0"/>
              <a:t> Problem</a:t>
            </a:r>
            <a:endParaRPr sz="3200"/>
          </a:p>
        </p:txBody>
      </p:sp>
      <p:sp>
        <p:nvSpPr>
          <p:cNvPr id="3" name="object 3"/>
          <p:cNvSpPr txBox="1"/>
          <p:nvPr/>
        </p:nvSpPr>
        <p:spPr>
          <a:xfrm>
            <a:off x="3577985" y="1191685"/>
            <a:ext cx="184594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Times New Roman"/>
                <a:cs typeface="Times New Roman"/>
              </a:rPr>
              <a:t>Fill</a:t>
            </a:r>
            <a:r>
              <a:rPr sz="1800" spc="-35" dirty="0">
                <a:latin typeface="Times New Roman"/>
                <a:cs typeface="Times New Roman"/>
              </a:rPr>
              <a:t> </a:t>
            </a:r>
            <a:r>
              <a:rPr sz="1800" spc="-5" dirty="0">
                <a:latin typeface="Times New Roman"/>
                <a:cs typeface="Times New Roman"/>
              </a:rPr>
              <a:t>the</a:t>
            </a:r>
            <a:r>
              <a:rPr sz="1800" spc="-30" dirty="0">
                <a:latin typeface="Times New Roman"/>
                <a:cs typeface="Times New Roman"/>
              </a:rPr>
              <a:t> </a:t>
            </a:r>
            <a:r>
              <a:rPr sz="1800" dirty="0">
                <a:latin typeface="Times New Roman"/>
                <a:cs typeface="Times New Roman"/>
              </a:rPr>
              <a:t>4-gallon</a:t>
            </a:r>
            <a:r>
              <a:rPr sz="1800" spc="-30" dirty="0">
                <a:latin typeface="Times New Roman"/>
                <a:cs typeface="Times New Roman"/>
              </a:rPr>
              <a:t> </a:t>
            </a:r>
            <a:r>
              <a:rPr sz="1800" spc="-5" dirty="0">
                <a:latin typeface="Times New Roman"/>
                <a:cs typeface="Times New Roman"/>
              </a:rPr>
              <a:t>jug</a:t>
            </a:r>
            <a:endParaRPr sz="1800" dirty="0">
              <a:latin typeface="Times New Roman"/>
              <a:cs typeface="Times New Roman"/>
            </a:endParaRPr>
          </a:p>
        </p:txBody>
      </p:sp>
      <p:sp>
        <p:nvSpPr>
          <p:cNvPr id="4" name="object 4"/>
          <p:cNvSpPr txBox="1"/>
          <p:nvPr/>
        </p:nvSpPr>
        <p:spPr>
          <a:xfrm>
            <a:off x="3577985" y="2020740"/>
            <a:ext cx="184594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Times New Roman"/>
                <a:cs typeface="Times New Roman"/>
              </a:rPr>
              <a:t>Fill</a:t>
            </a:r>
            <a:r>
              <a:rPr sz="1800" spc="-35" dirty="0">
                <a:latin typeface="Times New Roman"/>
                <a:cs typeface="Times New Roman"/>
              </a:rPr>
              <a:t> </a:t>
            </a:r>
            <a:r>
              <a:rPr sz="1800" spc="-5" dirty="0">
                <a:latin typeface="Times New Roman"/>
                <a:cs typeface="Times New Roman"/>
              </a:rPr>
              <a:t>the</a:t>
            </a:r>
            <a:r>
              <a:rPr sz="1800" spc="-30" dirty="0">
                <a:latin typeface="Times New Roman"/>
                <a:cs typeface="Times New Roman"/>
              </a:rPr>
              <a:t> </a:t>
            </a:r>
            <a:r>
              <a:rPr sz="1800" dirty="0">
                <a:latin typeface="Times New Roman"/>
                <a:cs typeface="Times New Roman"/>
              </a:rPr>
              <a:t>3-gallon</a:t>
            </a:r>
            <a:r>
              <a:rPr sz="1800" spc="-30" dirty="0">
                <a:latin typeface="Times New Roman"/>
                <a:cs typeface="Times New Roman"/>
              </a:rPr>
              <a:t> </a:t>
            </a:r>
            <a:r>
              <a:rPr sz="1800" spc="-5" dirty="0">
                <a:latin typeface="Times New Roman"/>
                <a:cs typeface="Times New Roman"/>
              </a:rPr>
              <a:t>jug</a:t>
            </a:r>
            <a:endParaRPr sz="1800">
              <a:latin typeface="Times New Roman"/>
              <a:cs typeface="Times New Roman"/>
            </a:endParaRPr>
          </a:p>
        </p:txBody>
      </p:sp>
      <p:sp>
        <p:nvSpPr>
          <p:cNvPr id="5" name="object 5"/>
          <p:cNvSpPr txBox="1"/>
          <p:nvPr/>
        </p:nvSpPr>
        <p:spPr>
          <a:xfrm>
            <a:off x="3577985" y="2849796"/>
            <a:ext cx="4040504" cy="3835400"/>
          </a:xfrm>
          <a:prstGeom prst="rect">
            <a:avLst/>
          </a:prstGeom>
        </p:spPr>
        <p:txBody>
          <a:bodyPr vert="horz" wrap="square" lIns="0" tIns="12700" rIns="0" bIns="0" rtlCol="0">
            <a:spAutoFit/>
          </a:bodyPr>
          <a:lstStyle/>
          <a:p>
            <a:pPr marL="12700">
              <a:lnSpc>
                <a:spcPct val="100000"/>
              </a:lnSpc>
              <a:spcBef>
                <a:spcPts val="100"/>
              </a:spcBef>
            </a:pPr>
            <a:r>
              <a:rPr sz="1800" spc="-5" dirty="0">
                <a:latin typeface="Times New Roman"/>
                <a:cs typeface="Times New Roman"/>
              </a:rPr>
              <a:t>Pour</a:t>
            </a:r>
            <a:r>
              <a:rPr sz="1800" spc="-15" dirty="0">
                <a:latin typeface="Times New Roman"/>
                <a:cs typeface="Times New Roman"/>
              </a:rPr>
              <a:t> </a:t>
            </a:r>
            <a:r>
              <a:rPr sz="1800" spc="-5" dirty="0">
                <a:latin typeface="Times New Roman"/>
                <a:cs typeface="Times New Roman"/>
              </a:rPr>
              <a:t>some</a:t>
            </a:r>
            <a:r>
              <a:rPr sz="1800" spc="-15" dirty="0">
                <a:latin typeface="Times New Roman"/>
                <a:cs typeface="Times New Roman"/>
              </a:rPr>
              <a:t> </a:t>
            </a:r>
            <a:r>
              <a:rPr sz="1800" spc="-5" dirty="0">
                <a:latin typeface="Times New Roman"/>
                <a:cs typeface="Times New Roman"/>
              </a:rPr>
              <a:t>water</a:t>
            </a:r>
            <a:r>
              <a:rPr sz="1800" spc="-15" dirty="0">
                <a:latin typeface="Times New Roman"/>
                <a:cs typeface="Times New Roman"/>
              </a:rPr>
              <a:t> </a:t>
            </a:r>
            <a:r>
              <a:rPr sz="1800" dirty="0">
                <a:latin typeface="Times New Roman"/>
                <a:cs typeface="Times New Roman"/>
              </a:rPr>
              <a:t>out</a:t>
            </a:r>
            <a:r>
              <a:rPr sz="1800" spc="-10" dirty="0">
                <a:latin typeface="Times New Roman"/>
                <a:cs typeface="Times New Roman"/>
              </a:rPr>
              <a:t> </a:t>
            </a:r>
            <a:r>
              <a:rPr sz="1800" dirty="0">
                <a:latin typeface="Times New Roman"/>
                <a:cs typeface="Times New Roman"/>
              </a:rPr>
              <a:t>of</a:t>
            </a:r>
            <a:r>
              <a:rPr sz="1800" spc="-10" dirty="0">
                <a:latin typeface="Times New Roman"/>
                <a:cs typeface="Times New Roman"/>
              </a:rPr>
              <a:t> </a:t>
            </a:r>
            <a:r>
              <a:rPr sz="1800" spc="-5" dirty="0">
                <a:latin typeface="Times New Roman"/>
                <a:cs typeface="Times New Roman"/>
              </a:rPr>
              <a:t>the</a:t>
            </a:r>
            <a:r>
              <a:rPr sz="1800" spc="-15" dirty="0">
                <a:latin typeface="Times New Roman"/>
                <a:cs typeface="Times New Roman"/>
              </a:rPr>
              <a:t> </a:t>
            </a:r>
            <a:r>
              <a:rPr sz="1800" dirty="0">
                <a:latin typeface="Times New Roman"/>
                <a:cs typeface="Times New Roman"/>
              </a:rPr>
              <a:t>4-gallon</a:t>
            </a:r>
            <a:r>
              <a:rPr sz="1800" spc="-10" dirty="0">
                <a:latin typeface="Times New Roman"/>
                <a:cs typeface="Times New Roman"/>
              </a:rPr>
              <a:t> </a:t>
            </a:r>
            <a:r>
              <a:rPr sz="1800" spc="-5" dirty="0">
                <a:latin typeface="Times New Roman"/>
                <a:cs typeface="Times New Roman"/>
              </a:rPr>
              <a:t>jug</a:t>
            </a:r>
            <a:endParaRPr sz="1800">
              <a:latin typeface="Times New Roman"/>
              <a:cs typeface="Times New Roman"/>
            </a:endParaRPr>
          </a:p>
          <a:p>
            <a:pPr marL="12700" marR="273050">
              <a:lnSpc>
                <a:spcPct val="302200"/>
              </a:lnSpc>
            </a:pPr>
            <a:r>
              <a:rPr sz="1800" spc="-5" dirty="0">
                <a:latin typeface="Times New Roman"/>
                <a:cs typeface="Times New Roman"/>
              </a:rPr>
              <a:t>Pour some water </a:t>
            </a:r>
            <a:r>
              <a:rPr sz="1800" dirty="0">
                <a:latin typeface="Times New Roman"/>
                <a:cs typeface="Times New Roman"/>
              </a:rPr>
              <a:t>out of </a:t>
            </a:r>
            <a:r>
              <a:rPr sz="1800" spc="-5" dirty="0">
                <a:latin typeface="Times New Roman"/>
                <a:cs typeface="Times New Roman"/>
              </a:rPr>
              <a:t>the </a:t>
            </a:r>
            <a:r>
              <a:rPr sz="1800" dirty="0">
                <a:latin typeface="Times New Roman"/>
                <a:cs typeface="Times New Roman"/>
              </a:rPr>
              <a:t>3-gallon </a:t>
            </a:r>
            <a:r>
              <a:rPr sz="1800" spc="-5" dirty="0">
                <a:latin typeface="Times New Roman"/>
                <a:cs typeface="Times New Roman"/>
              </a:rPr>
              <a:t>jug </a:t>
            </a:r>
            <a:r>
              <a:rPr sz="1800" dirty="0">
                <a:latin typeface="Times New Roman"/>
                <a:cs typeface="Times New Roman"/>
              </a:rPr>
              <a:t> </a:t>
            </a:r>
            <a:r>
              <a:rPr sz="1800" spc="-5" dirty="0">
                <a:latin typeface="Times New Roman"/>
                <a:cs typeface="Times New Roman"/>
              </a:rPr>
              <a:t>Empty the </a:t>
            </a:r>
            <a:r>
              <a:rPr sz="1800" dirty="0">
                <a:latin typeface="Times New Roman"/>
                <a:cs typeface="Times New Roman"/>
              </a:rPr>
              <a:t>4-gallon </a:t>
            </a:r>
            <a:r>
              <a:rPr sz="1800" spc="-5" dirty="0">
                <a:latin typeface="Times New Roman"/>
                <a:cs typeface="Times New Roman"/>
              </a:rPr>
              <a:t>jug </a:t>
            </a:r>
            <a:r>
              <a:rPr sz="1800" dirty="0">
                <a:latin typeface="Times New Roman"/>
                <a:cs typeface="Times New Roman"/>
              </a:rPr>
              <a:t>on </a:t>
            </a:r>
            <a:r>
              <a:rPr sz="1800" spc="-5" dirty="0">
                <a:latin typeface="Times New Roman"/>
                <a:cs typeface="Times New Roman"/>
              </a:rPr>
              <a:t>the </a:t>
            </a:r>
            <a:r>
              <a:rPr sz="1800" dirty="0">
                <a:latin typeface="Times New Roman"/>
                <a:cs typeface="Times New Roman"/>
              </a:rPr>
              <a:t>ground </a:t>
            </a:r>
            <a:r>
              <a:rPr sz="1800" spc="5" dirty="0">
                <a:latin typeface="Times New Roman"/>
                <a:cs typeface="Times New Roman"/>
              </a:rPr>
              <a:t> </a:t>
            </a:r>
            <a:r>
              <a:rPr sz="1800" spc="-5" dirty="0">
                <a:latin typeface="Times New Roman"/>
                <a:cs typeface="Times New Roman"/>
              </a:rPr>
              <a:t>Empty the </a:t>
            </a:r>
            <a:r>
              <a:rPr sz="1800" dirty="0">
                <a:latin typeface="Times New Roman"/>
                <a:cs typeface="Times New Roman"/>
              </a:rPr>
              <a:t>3-gallon </a:t>
            </a:r>
            <a:r>
              <a:rPr sz="1800" spc="-5" dirty="0">
                <a:latin typeface="Times New Roman"/>
                <a:cs typeface="Times New Roman"/>
              </a:rPr>
              <a:t>jug </a:t>
            </a:r>
            <a:r>
              <a:rPr sz="1800" dirty="0">
                <a:latin typeface="Times New Roman"/>
                <a:cs typeface="Times New Roman"/>
              </a:rPr>
              <a:t>on </a:t>
            </a:r>
            <a:r>
              <a:rPr sz="1800" spc="-5" dirty="0">
                <a:latin typeface="Times New Roman"/>
                <a:cs typeface="Times New Roman"/>
              </a:rPr>
              <a:t>the </a:t>
            </a:r>
            <a:r>
              <a:rPr sz="1800" dirty="0">
                <a:latin typeface="Times New Roman"/>
                <a:cs typeface="Times New Roman"/>
              </a:rPr>
              <a:t>ground </a:t>
            </a:r>
            <a:r>
              <a:rPr sz="1800" spc="5" dirty="0">
                <a:latin typeface="Times New Roman"/>
                <a:cs typeface="Times New Roman"/>
              </a:rPr>
              <a:t> </a:t>
            </a:r>
            <a:r>
              <a:rPr sz="1800" spc="-5" dirty="0">
                <a:latin typeface="Times New Roman"/>
                <a:cs typeface="Times New Roman"/>
              </a:rPr>
              <a:t>Pour</a:t>
            </a:r>
            <a:r>
              <a:rPr sz="1800" spc="-20" dirty="0">
                <a:latin typeface="Times New Roman"/>
                <a:cs typeface="Times New Roman"/>
              </a:rPr>
              <a:t> </a:t>
            </a:r>
            <a:r>
              <a:rPr sz="1800" spc="-5" dirty="0">
                <a:latin typeface="Times New Roman"/>
                <a:cs typeface="Times New Roman"/>
              </a:rPr>
              <a:t>water</a:t>
            </a:r>
            <a:r>
              <a:rPr sz="1800" spc="-15" dirty="0">
                <a:latin typeface="Times New Roman"/>
                <a:cs typeface="Times New Roman"/>
              </a:rPr>
              <a:t> </a:t>
            </a:r>
            <a:r>
              <a:rPr sz="1800" dirty="0">
                <a:latin typeface="Times New Roman"/>
                <a:cs typeface="Times New Roman"/>
              </a:rPr>
              <a:t>from</a:t>
            </a:r>
            <a:r>
              <a:rPr sz="1800" spc="-10" dirty="0">
                <a:latin typeface="Times New Roman"/>
                <a:cs typeface="Times New Roman"/>
              </a:rPr>
              <a:t> </a:t>
            </a:r>
            <a:r>
              <a:rPr sz="1800" spc="-5" dirty="0">
                <a:latin typeface="Times New Roman"/>
                <a:cs typeface="Times New Roman"/>
              </a:rPr>
              <a:t>the</a:t>
            </a:r>
            <a:r>
              <a:rPr sz="1800" spc="-15" dirty="0">
                <a:latin typeface="Times New Roman"/>
                <a:cs typeface="Times New Roman"/>
              </a:rPr>
              <a:t> </a:t>
            </a:r>
            <a:r>
              <a:rPr sz="1800" dirty="0">
                <a:latin typeface="Times New Roman"/>
                <a:cs typeface="Times New Roman"/>
              </a:rPr>
              <a:t>3-gallon</a:t>
            </a:r>
            <a:r>
              <a:rPr sz="1800" spc="-10" dirty="0">
                <a:latin typeface="Times New Roman"/>
                <a:cs typeface="Times New Roman"/>
              </a:rPr>
              <a:t> </a:t>
            </a:r>
            <a:r>
              <a:rPr sz="1800" spc="-5" dirty="0">
                <a:latin typeface="Times New Roman"/>
                <a:cs typeface="Times New Roman"/>
              </a:rPr>
              <a:t>jug</a:t>
            </a:r>
            <a:r>
              <a:rPr sz="1800" spc="-15" dirty="0">
                <a:latin typeface="Times New Roman"/>
                <a:cs typeface="Times New Roman"/>
              </a:rPr>
              <a:t> </a:t>
            </a:r>
            <a:r>
              <a:rPr sz="1800" spc="-5" dirty="0">
                <a:latin typeface="Times New Roman"/>
                <a:cs typeface="Times New Roman"/>
              </a:rPr>
              <a:t>into</a:t>
            </a:r>
            <a:r>
              <a:rPr sz="1800" spc="-15" dirty="0">
                <a:latin typeface="Times New Roman"/>
                <a:cs typeface="Times New Roman"/>
              </a:rPr>
              <a:t> </a:t>
            </a:r>
            <a:r>
              <a:rPr sz="1800" spc="-5" dirty="0">
                <a:latin typeface="Times New Roman"/>
                <a:cs typeface="Times New Roman"/>
              </a:rPr>
              <a:t>the</a:t>
            </a:r>
            <a:endParaRPr sz="1800">
              <a:latin typeface="Times New Roman"/>
              <a:cs typeface="Times New Roman"/>
            </a:endParaRPr>
          </a:p>
          <a:p>
            <a:pPr marL="354965">
              <a:lnSpc>
                <a:spcPts val="1730"/>
              </a:lnSpc>
            </a:pPr>
            <a:r>
              <a:rPr sz="1800" dirty="0">
                <a:latin typeface="Times New Roman"/>
                <a:cs typeface="Times New Roman"/>
              </a:rPr>
              <a:t>4-gallon</a:t>
            </a:r>
            <a:r>
              <a:rPr sz="1800" spc="-15" dirty="0">
                <a:latin typeface="Times New Roman"/>
                <a:cs typeface="Times New Roman"/>
              </a:rPr>
              <a:t> </a:t>
            </a:r>
            <a:r>
              <a:rPr sz="1800" spc="-5" dirty="0">
                <a:latin typeface="Times New Roman"/>
                <a:cs typeface="Times New Roman"/>
              </a:rPr>
              <a:t>jug</a:t>
            </a:r>
            <a:r>
              <a:rPr sz="1800" spc="-15" dirty="0">
                <a:latin typeface="Times New Roman"/>
                <a:cs typeface="Times New Roman"/>
              </a:rPr>
              <a:t> </a:t>
            </a:r>
            <a:r>
              <a:rPr sz="1800" dirty="0">
                <a:latin typeface="Times New Roman"/>
                <a:cs typeface="Times New Roman"/>
              </a:rPr>
              <a:t>until</a:t>
            </a:r>
            <a:r>
              <a:rPr sz="1800" spc="-10" dirty="0">
                <a:latin typeface="Times New Roman"/>
                <a:cs typeface="Times New Roman"/>
              </a:rPr>
              <a:t> </a:t>
            </a:r>
            <a:r>
              <a:rPr sz="1800" spc="-5" dirty="0">
                <a:latin typeface="Times New Roman"/>
                <a:cs typeface="Times New Roman"/>
              </a:rPr>
              <a:t>the</a:t>
            </a:r>
            <a:r>
              <a:rPr sz="1800" spc="-15" dirty="0">
                <a:latin typeface="Times New Roman"/>
                <a:cs typeface="Times New Roman"/>
              </a:rPr>
              <a:t> </a:t>
            </a:r>
            <a:r>
              <a:rPr sz="1800" dirty="0">
                <a:latin typeface="Times New Roman"/>
                <a:cs typeface="Times New Roman"/>
              </a:rPr>
              <a:t>4-gallon</a:t>
            </a:r>
            <a:r>
              <a:rPr sz="1800" spc="-10" dirty="0">
                <a:latin typeface="Times New Roman"/>
                <a:cs typeface="Times New Roman"/>
              </a:rPr>
              <a:t> </a:t>
            </a:r>
            <a:r>
              <a:rPr sz="1800" spc="-5" dirty="0">
                <a:latin typeface="Times New Roman"/>
                <a:cs typeface="Times New Roman"/>
              </a:rPr>
              <a:t>jug</a:t>
            </a:r>
            <a:r>
              <a:rPr sz="1800" spc="-20" dirty="0">
                <a:latin typeface="Times New Roman"/>
                <a:cs typeface="Times New Roman"/>
              </a:rPr>
              <a:t> </a:t>
            </a:r>
            <a:r>
              <a:rPr sz="1800" spc="-5" dirty="0">
                <a:latin typeface="Times New Roman"/>
                <a:cs typeface="Times New Roman"/>
              </a:rPr>
              <a:t>is</a:t>
            </a:r>
            <a:r>
              <a:rPr sz="1800" spc="-15" dirty="0">
                <a:latin typeface="Times New Roman"/>
                <a:cs typeface="Times New Roman"/>
              </a:rPr>
              <a:t> </a:t>
            </a:r>
            <a:r>
              <a:rPr sz="1800" dirty="0">
                <a:latin typeface="Times New Roman"/>
                <a:cs typeface="Times New Roman"/>
              </a:rPr>
              <a:t>full</a:t>
            </a:r>
            <a:endParaRPr sz="1800">
              <a:latin typeface="Times New Roman"/>
              <a:cs typeface="Times New Roman"/>
            </a:endParaRPr>
          </a:p>
        </p:txBody>
      </p:sp>
      <p:sp>
        <p:nvSpPr>
          <p:cNvPr id="6" name="object 6"/>
          <p:cNvSpPr txBox="1"/>
          <p:nvPr/>
        </p:nvSpPr>
        <p:spPr>
          <a:xfrm>
            <a:off x="457200" y="1378383"/>
            <a:ext cx="2971799" cy="5614229"/>
          </a:xfrm>
          <a:prstGeom prst="rect">
            <a:avLst/>
          </a:prstGeom>
        </p:spPr>
        <p:txBody>
          <a:bodyPr vert="horz" wrap="square" lIns="0" tIns="9525" rIns="0" bIns="0" rtlCol="0">
            <a:spAutoFit/>
          </a:bodyPr>
          <a:lstStyle/>
          <a:p>
            <a:pPr marL="241300" marR="445134" indent="-228600">
              <a:lnSpc>
                <a:spcPct val="100800"/>
              </a:lnSpc>
              <a:spcBef>
                <a:spcPts val="75"/>
              </a:spcBef>
            </a:pPr>
            <a:r>
              <a:rPr sz="2000" dirty="0">
                <a:latin typeface="Times New Roman"/>
                <a:cs typeface="Times New Roman"/>
              </a:rPr>
              <a:t>1</a:t>
            </a:r>
            <a:r>
              <a:rPr sz="2000" spc="-30" dirty="0">
                <a:latin typeface="Times New Roman"/>
                <a:cs typeface="Times New Roman"/>
              </a:rPr>
              <a:t> </a:t>
            </a:r>
            <a:r>
              <a:rPr sz="2000" spc="-5" dirty="0">
                <a:latin typeface="Times New Roman"/>
                <a:cs typeface="Times New Roman"/>
              </a:rPr>
              <a:t>(</a:t>
            </a:r>
            <a:r>
              <a:rPr sz="2000" i="1" spc="-5" dirty="0">
                <a:latin typeface="Times New Roman"/>
                <a:cs typeface="Times New Roman"/>
              </a:rPr>
              <a:t>x,y</a:t>
            </a:r>
            <a:r>
              <a:rPr sz="2000" spc="-5" dirty="0">
                <a:latin typeface="Times New Roman"/>
                <a:cs typeface="Times New Roman"/>
              </a:rPr>
              <a:t>)</a:t>
            </a:r>
            <a:r>
              <a:rPr sz="2000" spc="-30" dirty="0">
                <a:latin typeface="Times New Roman"/>
                <a:cs typeface="Times New Roman"/>
              </a:rPr>
              <a:t> </a:t>
            </a:r>
            <a:r>
              <a:rPr lang="en-IN" sz="2000" spc="-140" dirty="0" smtClean="0">
                <a:latin typeface="Cambria"/>
                <a:cs typeface="Cambria"/>
                <a:sym typeface="Wingdings" panose="05000000000000000000" pitchFamily="2" charset="2"/>
              </a:rPr>
              <a:t> </a:t>
            </a:r>
            <a:r>
              <a:rPr sz="2000" dirty="0" smtClean="0">
                <a:latin typeface="Times New Roman"/>
                <a:cs typeface="Times New Roman"/>
              </a:rPr>
              <a:t>(</a:t>
            </a:r>
            <a:r>
              <a:rPr sz="2000" dirty="0">
                <a:latin typeface="Times New Roman"/>
                <a:cs typeface="Times New Roman"/>
              </a:rPr>
              <a:t>4,</a:t>
            </a:r>
            <a:r>
              <a:rPr sz="2000" i="1" dirty="0">
                <a:latin typeface="Times New Roman"/>
                <a:cs typeface="Times New Roman"/>
              </a:rPr>
              <a:t>y</a:t>
            </a:r>
            <a:r>
              <a:rPr sz="2000" dirty="0">
                <a:latin typeface="Times New Roman"/>
                <a:cs typeface="Times New Roman"/>
              </a:rPr>
              <a:t>) </a:t>
            </a:r>
            <a:r>
              <a:rPr sz="2000" spc="-585" dirty="0">
                <a:latin typeface="Times New Roman"/>
                <a:cs typeface="Times New Roman"/>
              </a:rPr>
              <a:t> </a:t>
            </a:r>
            <a:r>
              <a:rPr sz="2000" spc="-5" dirty="0">
                <a:latin typeface="Times New Roman"/>
                <a:cs typeface="Times New Roman"/>
              </a:rPr>
              <a:t>if</a:t>
            </a:r>
            <a:r>
              <a:rPr sz="2000" spc="-10" dirty="0">
                <a:latin typeface="Times New Roman"/>
                <a:cs typeface="Times New Roman"/>
              </a:rPr>
              <a:t> </a:t>
            </a:r>
            <a:r>
              <a:rPr sz="2000" i="1" dirty="0">
                <a:latin typeface="Times New Roman"/>
                <a:cs typeface="Times New Roman"/>
              </a:rPr>
              <a:t>x</a:t>
            </a:r>
            <a:r>
              <a:rPr sz="2000" i="1" spc="-10" dirty="0">
                <a:latin typeface="Times New Roman"/>
                <a:cs typeface="Times New Roman"/>
              </a:rPr>
              <a:t> </a:t>
            </a:r>
            <a:r>
              <a:rPr sz="2000" dirty="0">
                <a:latin typeface="Times New Roman"/>
                <a:cs typeface="Times New Roman"/>
              </a:rPr>
              <a:t>&lt;</a:t>
            </a:r>
            <a:r>
              <a:rPr sz="2000" spc="-15" dirty="0">
                <a:latin typeface="Times New Roman"/>
                <a:cs typeface="Times New Roman"/>
              </a:rPr>
              <a:t> </a:t>
            </a:r>
            <a:r>
              <a:rPr sz="2000" dirty="0">
                <a:latin typeface="Times New Roman"/>
                <a:cs typeface="Times New Roman"/>
              </a:rPr>
              <a:t>4</a:t>
            </a:r>
          </a:p>
          <a:p>
            <a:pPr>
              <a:lnSpc>
                <a:spcPct val="100000"/>
              </a:lnSpc>
              <a:spcBef>
                <a:spcPts val="25"/>
              </a:spcBef>
            </a:pPr>
            <a:endParaRPr sz="2400" dirty="0">
              <a:latin typeface="Times New Roman"/>
              <a:cs typeface="Times New Roman"/>
            </a:endParaRPr>
          </a:p>
          <a:p>
            <a:pPr marL="241300" marR="445134" indent="-228600">
              <a:lnSpc>
                <a:spcPct val="100800"/>
              </a:lnSpc>
            </a:pPr>
            <a:r>
              <a:rPr sz="2000" dirty="0">
                <a:latin typeface="Times New Roman"/>
                <a:cs typeface="Times New Roman"/>
              </a:rPr>
              <a:t>2</a:t>
            </a:r>
            <a:r>
              <a:rPr sz="2000" spc="-25" dirty="0">
                <a:latin typeface="Times New Roman"/>
                <a:cs typeface="Times New Roman"/>
              </a:rPr>
              <a:t> </a:t>
            </a:r>
            <a:r>
              <a:rPr sz="2000" spc="-5" dirty="0">
                <a:latin typeface="Times New Roman"/>
                <a:cs typeface="Times New Roman"/>
              </a:rPr>
              <a:t>(</a:t>
            </a:r>
            <a:r>
              <a:rPr sz="2000" i="1" spc="-5" dirty="0">
                <a:latin typeface="Times New Roman"/>
                <a:cs typeface="Times New Roman"/>
              </a:rPr>
              <a:t>x,y</a:t>
            </a:r>
            <a:r>
              <a:rPr sz="2000" spc="-5" dirty="0">
                <a:latin typeface="Times New Roman"/>
                <a:cs typeface="Times New Roman"/>
              </a:rPr>
              <a:t>)</a:t>
            </a:r>
            <a:r>
              <a:rPr sz="2000" spc="-20" dirty="0">
                <a:latin typeface="Times New Roman"/>
                <a:cs typeface="Times New Roman"/>
              </a:rPr>
              <a:t> </a:t>
            </a:r>
            <a:r>
              <a:rPr lang="en-IN" sz="2000" spc="-20" dirty="0" smtClean="0">
                <a:latin typeface="Times New Roman"/>
                <a:cs typeface="Times New Roman"/>
                <a:sym typeface="Wingdings" panose="05000000000000000000" pitchFamily="2" charset="2"/>
              </a:rPr>
              <a:t></a:t>
            </a:r>
            <a:r>
              <a:rPr sz="2000" spc="50" dirty="0" smtClean="0">
                <a:latin typeface="Cambria"/>
                <a:cs typeface="Cambria"/>
              </a:rPr>
              <a:t> </a:t>
            </a:r>
            <a:r>
              <a:rPr sz="2000" spc="-5" dirty="0">
                <a:latin typeface="Times New Roman"/>
                <a:cs typeface="Times New Roman"/>
              </a:rPr>
              <a:t>(</a:t>
            </a:r>
            <a:r>
              <a:rPr sz="2000" i="1" spc="-5" dirty="0">
                <a:latin typeface="Times New Roman"/>
                <a:cs typeface="Times New Roman"/>
              </a:rPr>
              <a:t>x,</a:t>
            </a:r>
            <a:r>
              <a:rPr sz="2000" spc="-5" dirty="0">
                <a:latin typeface="Times New Roman"/>
                <a:cs typeface="Times New Roman"/>
              </a:rPr>
              <a:t>3) </a:t>
            </a:r>
            <a:r>
              <a:rPr sz="2000" spc="-585" dirty="0">
                <a:latin typeface="Times New Roman"/>
                <a:cs typeface="Times New Roman"/>
              </a:rPr>
              <a:t> </a:t>
            </a:r>
            <a:r>
              <a:rPr sz="2000" spc="-5" dirty="0">
                <a:latin typeface="Times New Roman"/>
                <a:cs typeface="Times New Roman"/>
              </a:rPr>
              <a:t>if</a:t>
            </a:r>
            <a:r>
              <a:rPr sz="2000" spc="-10" dirty="0">
                <a:latin typeface="Times New Roman"/>
                <a:cs typeface="Times New Roman"/>
              </a:rPr>
              <a:t> </a:t>
            </a:r>
            <a:r>
              <a:rPr sz="2000" i="1" dirty="0">
                <a:latin typeface="Times New Roman"/>
                <a:cs typeface="Times New Roman"/>
              </a:rPr>
              <a:t>y</a:t>
            </a:r>
            <a:r>
              <a:rPr sz="2000" i="1" spc="-10" dirty="0">
                <a:latin typeface="Times New Roman"/>
                <a:cs typeface="Times New Roman"/>
              </a:rPr>
              <a:t> </a:t>
            </a:r>
            <a:r>
              <a:rPr sz="2000" dirty="0">
                <a:latin typeface="Times New Roman"/>
                <a:cs typeface="Times New Roman"/>
              </a:rPr>
              <a:t>&lt;</a:t>
            </a:r>
            <a:r>
              <a:rPr sz="2000" spc="-15" dirty="0">
                <a:latin typeface="Times New Roman"/>
                <a:cs typeface="Times New Roman"/>
              </a:rPr>
              <a:t> </a:t>
            </a:r>
            <a:r>
              <a:rPr sz="2000" dirty="0">
                <a:latin typeface="Times New Roman"/>
                <a:cs typeface="Times New Roman"/>
              </a:rPr>
              <a:t>3</a:t>
            </a:r>
          </a:p>
          <a:p>
            <a:pPr>
              <a:lnSpc>
                <a:spcPct val="100000"/>
              </a:lnSpc>
              <a:spcBef>
                <a:spcPts val="25"/>
              </a:spcBef>
            </a:pPr>
            <a:endParaRPr sz="2400" dirty="0">
              <a:latin typeface="Times New Roman"/>
              <a:cs typeface="Times New Roman"/>
            </a:endParaRPr>
          </a:p>
          <a:p>
            <a:pPr marL="241300" marR="5080" indent="-228600">
              <a:lnSpc>
                <a:spcPct val="100800"/>
              </a:lnSpc>
              <a:spcBef>
                <a:spcPts val="5"/>
              </a:spcBef>
            </a:pPr>
            <a:r>
              <a:rPr sz="2000" dirty="0">
                <a:latin typeface="Times New Roman"/>
                <a:cs typeface="Times New Roman"/>
              </a:rPr>
              <a:t>3</a:t>
            </a:r>
            <a:r>
              <a:rPr sz="2000" spc="-20" dirty="0">
                <a:latin typeface="Times New Roman"/>
                <a:cs typeface="Times New Roman"/>
              </a:rPr>
              <a:t> </a:t>
            </a:r>
            <a:r>
              <a:rPr sz="2000" spc="-5" dirty="0">
                <a:latin typeface="Times New Roman"/>
                <a:cs typeface="Times New Roman"/>
              </a:rPr>
              <a:t>(</a:t>
            </a:r>
            <a:r>
              <a:rPr sz="2000" i="1" spc="-5" dirty="0" err="1">
                <a:latin typeface="Times New Roman"/>
                <a:cs typeface="Times New Roman"/>
              </a:rPr>
              <a:t>x,y</a:t>
            </a:r>
            <a:r>
              <a:rPr sz="2000" spc="-5" dirty="0" smtClean="0">
                <a:latin typeface="Times New Roman"/>
                <a:cs typeface="Times New Roman"/>
              </a:rPr>
              <a:t>)</a:t>
            </a:r>
            <a:r>
              <a:rPr lang="en-IN" sz="2000" spc="-5" dirty="0" smtClean="0">
                <a:latin typeface="Times New Roman"/>
                <a:cs typeface="Times New Roman"/>
              </a:rPr>
              <a:t> </a:t>
            </a:r>
            <a:r>
              <a:rPr lang="en-IN" sz="2000" spc="-5" dirty="0" smtClean="0">
                <a:latin typeface="Times New Roman"/>
                <a:cs typeface="Times New Roman"/>
                <a:sym typeface="Wingdings" panose="05000000000000000000" pitchFamily="2" charset="2"/>
              </a:rPr>
              <a:t> </a:t>
            </a:r>
            <a:r>
              <a:rPr sz="2000" dirty="0" smtClean="0">
                <a:latin typeface="Times New Roman"/>
                <a:cs typeface="Times New Roman"/>
              </a:rPr>
              <a:t>(</a:t>
            </a:r>
            <a:r>
              <a:rPr sz="2000" i="1" dirty="0">
                <a:latin typeface="Times New Roman"/>
                <a:cs typeface="Times New Roman"/>
              </a:rPr>
              <a:t>x</a:t>
            </a:r>
            <a:r>
              <a:rPr sz="2000" i="1" spc="-20" dirty="0">
                <a:latin typeface="Times New Roman"/>
                <a:cs typeface="Times New Roman"/>
              </a:rPr>
              <a:t> </a:t>
            </a:r>
            <a:r>
              <a:rPr sz="2000" i="1" dirty="0">
                <a:latin typeface="Times New Roman"/>
                <a:cs typeface="Times New Roman"/>
              </a:rPr>
              <a:t>–</a:t>
            </a:r>
            <a:r>
              <a:rPr sz="2000" i="1" spc="-15" dirty="0">
                <a:latin typeface="Times New Roman"/>
                <a:cs typeface="Times New Roman"/>
              </a:rPr>
              <a:t> </a:t>
            </a:r>
            <a:r>
              <a:rPr sz="2000" i="1" dirty="0">
                <a:latin typeface="Times New Roman"/>
                <a:cs typeface="Times New Roman"/>
              </a:rPr>
              <a:t>d,y</a:t>
            </a:r>
            <a:r>
              <a:rPr sz="2000" dirty="0">
                <a:latin typeface="Times New Roman"/>
                <a:cs typeface="Times New Roman"/>
              </a:rPr>
              <a:t>) </a:t>
            </a:r>
            <a:r>
              <a:rPr sz="2000" spc="-585" dirty="0">
                <a:latin typeface="Times New Roman"/>
                <a:cs typeface="Times New Roman"/>
              </a:rPr>
              <a:t> </a:t>
            </a:r>
            <a:r>
              <a:rPr sz="2000" spc="-5" dirty="0">
                <a:latin typeface="Times New Roman"/>
                <a:cs typeface="Times New Roman"/>
              </a:rPr>
              <a:t>if</a:t>
            </a:r>
            <a:r>
              <a:rPr sz="2000" spc="-10" dirty="0">
                <a:latin typeface="Times New Roman"/>
                <a:cs typeface="Times New Roman"/>
              </a:rPr>
              <a:t> </a:t>
            </a:r>
            <a:r>
              <a:rPr sz="2000" i="1" dirty="0">
                <a:latin typeface="Times New Roman"/>
                <a:cs typeface="Times New Roman"/>
              </a:rPr>
              <a:t>x</a:t>
            </a:r>
            <a:r>
              <a:rPr sz="2000" i="1" spc="-5" dirty="0">
                <a:latin typeface="Times New Roman"/>
                <a:cs typeface="Times New Roman"/>
              </a:rPr>
              <a:t> </a:t>
            </a:r>
            <a:r>
              <a:rPr sz="2000" dirty="0">
                <a:latin typeface="Times New Roman"/>
                <a:cs typeface="Times New Roman"/>
              </a:rPr>
              <a:t>&gt;</a:t>
            </a:r>
            <a:r>
              <a:rPr sz="2000" spc="-10" dirty="0">
                <a:latin typeface="Times New Roman"/>
                <a:cs typeface="Times New Roman"/>
              </a:rPr>
              <a:t> </a:t>
            </a:r>
            <a:r>
              <a:rPr sz="2000" dirty="0">
                <a:latin typeface="Times New Roman"/>
                <a:cs typeface="Times New Roman"/>
              </a:rPr>
              <a:t>0</a:t>
            </a:r>
          </a:p>
          <a:p>
            <a:pPr>
              <a:lnSpc>
                <a:spcPct val="100000"/>
              </a:lnSpc>
              <a:spcBef>
                <a:spcPts val="25"/>
              </a:spcBef>
            </a:pPr>
            <a:endParaRPr sz="2400" dirty="0">
              <a:latin typeface="Times New Roman"/>
              <a:cs typeface="Times New Roman"/>
            </a:endParaRPr>
          </a:p>
          <a:p>
            <a:pPr marL="241300" marR="5080" indent="-228600">
              <a:lnSpc>
                <a:spcPct val="100800"/>
              </a:lnSpc>
            </a:pPr>
            <a:r>
              <a:rPr sz="2000" dirty="0">
                <a:latin typeface="Times New Roman"/>
                <a:cs typeface="Times New Roman"/>
              </a:rPr>
              <a:t>4</a:t>
            </a:r>
            <a:r>
              <a:rPr sz="2000" spc="-15" dirty="0">
                <a:latin typeface="Times New Roman"/>
                <a:cs typeface="Times New Roman"/>
              </a:rPr>
              <a:t> </a:t>
            </a:r>
            <a:r>
              <a:rPr sz="2000" spc="-5" dirty="0">
                <a:latin typeface="Times New Roman"/>
                <a:cs typeface="Times New Roman"/>
              </a:rPr>
              <a:t>(</a:t>
            </a:r>
            <a:r>
              <a:rPr sz="2000" i="1" spc="-5" dirty="0">
                <a:latin typeface="Times New Roman"/>
                <a:cs typeface="Times New Roman"/>
              </a:rPr>
              <a:t>x,y</a:t>
            </a:r>
            <a:r>
              <a:rPr sz="2000" spc="-5" dirty="0">
                <a:latin typeface="Times New Roman"/>
                <a:cs typeface="Times New Roman"/>
              </a:rPr>
              <a:t>)</a:t>
            </a:r>
            <a:r>
              <a:rPr sz="2000" spc="-15" dirty="0">
                <a:latin typeface="Times New Roman"/>
                <a:cs typeface="Times New Roman"/>
              </a:rPr>
              <a:t> </a:t>
            </a:r>
            <a:r>
              <a:rPr lang="en-IN" sz="2000" spc="-15" dirty="0" smtClean="0">
                <a:latin typeface="Times New Roman"/>
                <a:cs typeface="Times New Roman"/>
                <a:sym typeface="Wingdings" panose="05000000000000000000" pitchFamily="2" charset="2"/>
              </a:rPr>
              <a:t></a:t>
            </a:r>
            <a:r>
              <a:rPr sz="2000" spc="55" dirty="0" smtClean="0">
                <a:latin typeface="Cambria"/>
                <a:cs typeface="Cambria"/>
              </a:rPr>
              <a:t> </a:t>
            </a:r>
            <a:r>
              <a:rPr sz="2000" spc="-5" dirty="0">
                <a:latin typeface="Times New Roman"/>
                <a:cs typeface="Times New Roman"/>
              </a:rPr>
              <a:t>(</a:t>
            </a:r>
            <a:r>
              <a:rPr sz="2000" i="1" spc="-5" dirty="0">
                <a:latin typeface="Times New Roman"/>
                <a:cs typeface="Times New Roman"/>
              </a:rPr>
              <a:t>x,y</a:t>
            </a:r>
            <a:r>
              <a:rPr sz="2000" i="1" spc="-20" dirty="0">
                <a:latin typeface="Times New Roman"/>
                <a:cs typeface="Times New Roman"/>
              </a:rPr>
              <a:t> </a:t>
            </a:r>
            <a:r>
              <a:rPr sz="2000" i="1" dirty="0">
                <a:latin typeface="Times New Roman"/>
                <a:cs typeface="Times New Roman"/>
              </a:rPr>
              <a:t>–</a:t>
            </a:r>
            <a:r>
              <a:rPr sz="2000" i="1" spc="-15" dirty="0">
                <a:latin typeface="Times New Roman"/>
                <a:cs typeface="Times New Roman"/>
              </a:rPr>
              <a:t> </a:t>
            </a:r>
            <a:r>
              <a:rPr sz="2000" i="1" spc="5" dirty="0">
                <a:latin typeface="Times New Roman"/>
                <a:cs typeface="Times New Roman"/>
              </a:rPr>
              <a:t>d</a:t>
            </a:r>
            <a:r>
              <a:rPr sz="2000" spc="5" dirty="0">
                <a:latin typeface="Times New Roman"/>
                <a:cs typeface="Times New Roman"/>
              </a:rPr>
              <a:t>) </a:t>
            </a:r>
            <a:r>
              <a:rPr sz="2000" spc="-585" dirty="0">
                <a:latin typeface="Times New Roman"/>
                <a:cs typeface="Times New Roman"/>
              </a:rPr>
              <a:t> </a:t>
            </a:r>
            <a:r>
              <a:rPr sz="2000" spc="-5" dirty="0">
                <a:latin typeface="Times New Roman"/>
                <a:cs typeface="Times New Roman"/>
              </a:rPr>
              <a:t>if</a:t>
            </a:r>
            <a:r>
              <a:rPr sz="2000" spc="-10" dirty="0">
                <a:latin typeface="Times New Roman"/>
                <a:cs typeface="Times New Roman"/>
              </a:rPr>
              <a:t> </a:t>
            </a:r>
            <a:r>
              <a:rPr lang="en-IN" sz="2000" i="1" dirty="0">
                <a:latin typeface="Times New Roman"/>
                <a:cs typeface="Times New Roman"/>
              </a:rPr>
              <a:t>y</a:t>
            </a:r>
            <a:r>
              <a:rPr sz="2000" i="1" spc="-5" dirty="0" smtClean="0">
                <a:latin typeface="Times New Roman"/>
                <a:cs typeface="Times New Roman"/>
              </a:rPr>
              <a:t> </a:t>
            </a:r>
            <a:r>
              <a:rPr sz="2000" dirty="0">
                <a:latin typeface="Times New Roman"/>
                <a:cs typeface="Times New Roman"/>
              </a:rPr>
              <a:t>&gt;</a:t>
            </a:r>
            <a:r>
              <a:rPr sz="2000" spc="-10" dirty="0">
                <a:latin typeface="Times New Roman"/>
                <a:cs typeface="Times New Roman"/>
              </a:rPr>
              <a:t> </a:t>
            </a:r>
            <a:r>
              <a:rPr sz="2000" dirty="0">
                <a:latin typeface="Times New Roman"/>
                <a:cs typeface="Times New Roman"/>
              </a:rPr>
              <a:t>0</a:t>
            </a:r>
          </a:p>
          <a:p>
            <a:pPr>
              <a:lnSpc>
                <a:spcPct val="100000"/>
              </a:lnSpc>
              <a:spcBef>
                <a:spcPts val="25"/>
              </a:spcBef>
            </a:pPr>
            <a:endParaRPr sz="2400" dirty="0">
              <a:latin typeface="Times New Roman"/>
              <a:cs typeface="Times New Roman"/>
            </a:endParaRPr>
          </a:p>
          <a:p>
            <a:pPr marL="241300" marR="445134" indent="-228600">
              <a:lnSpc>
                <a:spcPct val="100800"/>
              </a:lnSpc>
            </a:pPr>
            <a:r>
              <a:rPr sz="2000" dirty="0">
                <a:latin typeface="Times New Roman"/>
                <a:cs typeface="Times New Roman"/>
              </a:rPr>
              <a:t>5</a:t>
            </a:r>
            <a:r>
              <a:rPr sz="2000" spc="-30" dirty="0">
                <a:latin typeface="Times New Roman"/>
                <a:cs typeface="Times New Roman"/>
              </a:rPr>
              <a:t> </a:t>
            </a:r>
            <a:r>
              <a:rPr sz="2000" spc="-5" dirty="0">
                <a:latin typeface="Times New Roman"/>
                <a:cs typeface="Times New Roman"/>
              </a:rPr>
              <a:t>(</a:t>
            </a:r>
            <a:r>
              <a:rPr sz="2000" i="1" spc="-5" dirty="0">
                <a:latin typeface="Times New Roman"/>
                <a:cs typeface="Times New Roman"/>
              </a:rPr>
              <a:t>x,y</a:t>
            </a:r>
            <a:r>
              <a:rPr sz="2000" spc="-5" dirty="0">
                <a:latin typeface="Times New Roman"/>
                <a:cs typeface="Times New Roman"/>
              </a:rPr>
              <a:t>)</a:t>
            </a:r>
            <a:r>
              <a:rPr sz="2000" spc="-30" dirty="0">
                <a:latin typeface="Times New Roman"/>
                <a:cs typeface="Times New Roman"/>
              </a:rPr>
              <a:t> </a:t>
            </a:r>
            <a:r>
              <a:rPr lang="en-IN" sz="2000" spc="-30" dirty="0" smtClean="0">
                <a:latin typeface="Times New Roman"/>
                <a:cs typeface="Times New Roman"/>
                <a:sym typeface="Wingdings" panose="05000000000000000000" pitchFamily="2" charset="2"/>
              </a:rPr>
              <a:t> </a:t>
            </a:r>
            <a:r>
              <a:rPr sz="2000" spc="45" dirty="0" smtClean="0">
                <a:latin typeface="Cambria"/>
                <a:cs typeface="Cambria"/>
              </a:rPr>
              <a:t> </a:t>
            </a:r>
            <a:r>
              <a:rPr sz="2000" dirty="0" smtClean="0">
                <a:latin typeface="Times New Roman"/>
                <a:cs typeface="Times New Roman"/>
              </a:rPr>
              <a:t>(</a:t>
            </a:r>
            <a:r>
              <a:rPr sz="2000" dirty="0">
                <a:latin typeface="Times New Roman"/>
                <a:cs typeface="Times New Roman"/>
              </a:rPr>
              <a:t>0,</a:t>
            </a:r>
            <a:r>
              <a:rPr sz="2000" i="1" dirty="0">
                <a:latin typeface="Times New Roman"/>
                <a:cs typeface="Times New Roman"/>
              </a:rPr>
              <a:t>y</a:t>
            </a:r>
            <a:r>
              <a:rPr sz="2000" dirty="0">
                <a:latin typeface="Times New Roman"/>
                <a:cs typeface="Times New Roman"/>
              </a:rPr>
              <a:t>) </a:t>
            </a:r>
            <a:r>
              <a:rPr sz="2000" spc="-585" dirty="0">
                <a:latin typeface="Times New Roman"/>
                <a:cs typeface="Times New Roman"/>
              </a:rPr>
              <a:t> </a:t>
            </a:r>
            <a:r>
              <a:rPr sz="2000" spc="-5" dirty="0">
                <a:latin typeface="Times New Roman"/>
                <a:cs typeface="Times New Roman"/>
              </a:rPr>
              <a:t>if</a:t>
            </a:r>
            <a:r>
              <a:rPr sz="2000" spc="-10" dirty="0">
                <a:latin typeface="Times New Roman"/>
                <a:cs typeface="Times New Roman"/>
              </a:rPr>
              <a:t> </a:t>
            </a:r>
            <a:r>
              <a:rPr sz="2000" i="1" dirty="0">
                <a:latin typeface="Times New Roman"/>
                <a:cs typeface="Times New Roman"/>
              </a:rPr>
              <a:t>x</a:t>
            </a:r>
            <a:r>
              <a:rPr sz="2000" i="1" spc="-10" dirty="0">
                <a:latin typeface="Times New Roman"/>
                <a:cs typeface="Times New Roman"/>
              </a:rPr>
              <a:t> </a:t>
            </a:r>
            <a:r>
              <a:rPr sz="2000" dirty="0">
                <a:latin typeface="Times New Roman"/>
                <a:cs typeface="Times New Roman"/>
              </a:rPr>
              <a:t>&gt;</a:t>
            </a:r>
            <a:r>
              <a:rPr sz="2000" spc="-15" dirty="0">
                <a:latin typeface="Times New Roman"/>
                <a:cs typeface="Times New Roman"/>
              </a:rPr>
              <a:t> </a:t>
            </a:r>
            <a:r>
              <a:rPr sz="2000" dirty="0" smtClean="0">
                <a:latin typeface="Times New Roman"/>
                <a:cs typeface="Times New Roman"/>
              </a:rPr>
              <a:t>0</a:t>
            </a:r>
            <a:endParaRPr lang="en-IN" sz="2000" dirty="0" smtClean="0">
              <a:latin typeface="Times New Roman"/>
              <a:cs typeface="Times New Roman"/>
            </a:endParaRPr>
          </a:p>
          <a:p>
            <a:pPr marL="241300" marR="445134" indent="-228600">
              <a:lnSpc>
                <a:spcPct val="100800"/>
              </a:lnSpc>
            </a:pPr>
            <a:endParaRPr lang="en-IN" sz="2000" dirty="0">
              <a:latin typeface="Times New Roman"/>
              <a:cs typeface="Times New Roman"/>
            </a:endParaRPr>
          </a:p>
          <a:p>
            <a:pPr marL="241300" marR="445134" indent="-228600">
              <a:lnSpc>
                <a:spcPct val="100800"/>
              </a:lnSpc>
            </a:pPr>
            <a:endParaRPr lang="en-IN" sz="2000" dirty="0" smtClean="0">
              <a:latin typeface="Times New Roman"/>
              <a:cs typeface="Times New Roman"/>
            </a:endParaRPr>
          </a:p>
          <a:p>
            <a:pPr marL="469900" marR="445134" indent="-457200">
              <a:lnSpc>
                <a:spcPct val="100800"/>
              </a:lnSpc>
              <a:buAutoNum type="arabicPeriod" startAt="6"/>
            </a:pPr>
            <a:r>
              <a:rPr lang="es-ES" sz="2000" spc="-5" dirty="0" smtClean="0">
                <a:latin typeface="Times New Roman"/>
                <a:cs typeface="Times New Roman"/>
              </a:rPr>
              <a:t>(</a:t>
            </a:r>
            <a:r>
              <a:rPr lang="es-ES" sz="2000" i="1" spc="-5" dirty="0" err="1">
                <a:latin typeface="Times New Roman"/>
                <a:cs typeface="Times New Roman"/>
              </a:rPr>
              <a:t>x,y</a:t>
            </a:r>
            <a:r>
              <a:rPr lang="es-ES" sz="2000" spc="-5" dirty="0">
                <a:latin typeface="Times New Roman"/>
                <a:cs typeface="Times New Roman"/>
              </a:rPr>
              <a:t>)</a:t>
            </a:r>
            <a:r>
              <a:rPr lang="es-ES" sz="2000" spc="-30" dirty="0">
                <a:latin typeface="Times New Roman"/>
                <a:cs typeface="Times New Roman"/>
              </a:rPr>
              <a:t> </a:t>
            </a:r>
            <a:r>
              <a:rPr lang="es-ES" sz="2000" spc="-30" dirty="0">
                <a:latin typeface="Times New Roman"/>
                <a:cs typeface="Times New Roman"/>
                <a:sym typeface="Wingdings" panose="05000000000000000000" pitchFamily="2" charset="2"/>
              </a:rPr>
              <a:t> </a:t>
            </a:r>
            <a:r>
              <a:rPr lang="es-ES" sz="2000" spc="45" dirty="0">
                <a:latin typeface="Cambria"/>
                <a:cs typeface="Cambria"/>
              </a:rPr>
              <a:t> </a:t>
            </a:r>
            <a:r>
              <a:rPr lang="es-ES" sz="2000" dirty="0" smtClean="0">
                <a:latin typeface="Times New Roman"/>
                <a:cs typeface="Times New Roman"/>
              </a:rPr>
              <a:t>(x,0) </a:t>
            </a:r>
            <a:r>
              <a:rPr lang="es-ES" sz="2000" spc="-585" dirty="0" smtClean="0">
                <a:latin typeface="Times New Roman"/>
                <a:cs typeface="Times New Roman"/>
              </a:rPr>
              <a:t> </a:t>
            </a:r>
            <a:r>
              <a:rPr lang="es-ES" sz="2000" spc="-5" dirty="0" err="1">
                <a:latin typeface="Times New Roman"/>
                <a:cs typeface="Times New Roman"/>
              </a:rPr>
              <a:t>if</a:t>
            </a:r>
            <a:r>
              <a:rPr lang="es-ES" sz="2000" spc="-10" dirty="0">
                <a:latin typeface="Times New Roman"/>
                <a:cs typeface="Times New Roman"/>
              </a:rPr>
              <a:t> </a:t>
            </a:r>
            <a:r>
              <a:rPr lang="es-ES" sz="2000" i="1" dirty="0" smtClean="0">
                <a:latin typeface="Times New Roman"/>
                <a:cs typeface="Times New Roman"/>
              </a:rPr>
              <a:t>y</a:t>
            </a:r>
            <a:r>
              <a:rPr lang="es-ES" sz="2000" i="1" spc="-10" dirty="0" smtClean="0">
                <a:latin typeface="Times New Roman"/>
                <a:cs typeface="Times New Roman"/>
              </a:rPr>
              <a:t> </a:t>
            </a:r>
            <a:r>
              <a:rPr lang="es-ES" sz="2000" dirty="0">
                <a:latin typeface="Times New Roman"/>
                <a:cs typeface="Times New Roman"/>
              </a:rPr>
              <a:t>&gt;</a:t>
            </a:r>
            <a:r>
              <a:rPr lang="es-ES" sz="2000" spc="-15" dirty="0">
                <a:latin typeface="Times New Roman"/>
                <a:cs typeface="Times New Roman"/>
              </a:rPr>
              <a:t> </a:t>
            </a:r>
            <a:r>
              <a:rPr lang="es-ES" sz="2000" dirty="0" smtClean="0">
                <a:latin typeface="Times New Roman"/>
                <a:cs typeface="Times New Roman"/>
              </a:rPr>
              <a:t>0</a:t>
            </a:r>
          </a:p>
          <a:p>
            <a:pPr marL="354965" marR="432434" indent="-342900">
              <a:lnSpc>
                <a:spcPct val="80000"/>
              </a:lnSpc>
              <a:spcBef>
                <a:spcPts val="675"/>
              </a:spcBef>
            </a:pPr>
            <a:r>
              <a:rPr lang="es-ES" sz="2000" i="1" spc="-5" dirty="0" smtClean="0">
                <a:latin typeface="Times New Roman"/>
                <a:cs typeface="Times New Roman"/>
              </a:rPr>
              <a:t>7. </a:t>
            </a:r>
            <a:r>
              <a:rPr lang="es-ES" sz="2000" i="1" spc="-5" dirty="0" err="1" smtClean="0">
                <a:latin typeface="Times New Roman"/>
                <a:cs typeface="Times New Roman"/>
              </a:rPr>
              <a:t>x,y</a:t>
            </a:r>
            <a:r>
              <a:rPr lang="es-ES" sz="2000" spc="-5" dirty="0">
                <a:latin typeface="Times New Roman"/>
                <a:cs typeface="Times New Roman"/>
              </a:rPr>
              <a:t>)</a:t>
            </a:r>
            <a:r>
              <a:rPr lang="es-ES" sz="2000" spc="-15" dirty="0">
                <a:latin typeface="Times New Roman"/>
                <a:cs typeface="Times New Roman"/>
              </a:rPr>
              <a:t>   </a:t>
            </a:r>
            <a:r>
              <a:rPr lang="es-ES" sz="2000" spc="-15" dirty="0">
                <a:latin typeface="Times New Roman"/>
                <a:cs typeface="Times New Roman"/>
                <a:sym typeface="Wingdings" panose="05000000000000000000" pitchFamily="2" charset="2"/>
              </a:rPr>
              <a:t></a:t>
            </a:r>
            <a:r>
              <a:rPr lang="es-ES" sz="2000" dirty="0" smtClean="0">
                <a:latin typeface="Times New Roman"/>
                <a:cs typeface="Times New Roman"/>
              </a:rPr>
              <a:t>(4, y</a:t>
            </a:r>
            <a:r>
              <a:rPr lang="es-ES" sz="2000" spc="-15" dirty="0" smtClean="0">
                <a:latin typeface="Times New Roman"/>
                <a:cs typeface="Times New Roman"/>
              </a:rPr>
              <a:t> </a:t>
            </a:r>
            <a:r>
              <a:rPr lang="es-ES" sz="2000" dirty="0">
                <a:latin typeface="Times New Roman"/>
                <a:cs typeface="Times New Roman"/>
              </a:rPr>
              <a:t>–</a:t>
            </a:r>
            <a:r>
              <a:rPr lang="es-ES" sz="2000" spc="-10" dirty="0">
                <a:latin typeface="Times New Roman"/>
                <a:cs typeface="Times New Roman"/>
              </a:rPr>
              <a:t> </a:t>
            </a:r>
            <a:r>
              <a:rPr lang="es-ES" sz="2000" dirty="0" smtClean="0">
                <a:latin typeface="Times New Roman"/>
                <a:cs typeface="Times New Roman"/>
              </a:rPr>
              <a:t>(4</a:t>
            </a:r>
            <a:r>
              <a:rPr lang="es-ES" sz="2000" spc="-15" dirty="0" smtClean="0">
                <a:latin typeface="Times New Roman"/>
                <a:cs typeface="Times New Roman"/>
              </a:rPr>
              <a:t> </a:t>
            </a:r>
            <a:r>
              <a:rPr lang="es-ES" sz="2000" dirty="0">
                <a:latin typeface="Times New Roman"/>
                <a:cs typeface="Times New Roman"/>
              </a:rPr>
              <a:t>– </a:t>
            </a:r>
            <a:r>
              <a:rPr lang="es-ES" sz="2000" dirty="0" smtClean="0">
                <a:latin typeface="Times New Roman"/>
                <a:cs typeface="Times New Roman"/>
              </a:rPr>
              <a:t>x</a:t>
            </a:r>
            <a:r>
              <a:rPr lang="es-ES" sz="2000" spc="-585" dirty="0" smtClean="0">
                <a:latin typeface="Times New Roman"/>
                <a:cs typeface="Times New Roman"/>
              </a:rPr>
              <a:t> </a:t>
            </a:r>
            <a:r>
              <a:rPr lang="es-ES" sz="2000" dirty="0" smtClean="0">
                <a:latin typeface="Times New Roman"/>
                <a:cs typeface="Times New Roman"/>
              </a:rPr>
              <a:t>)</a:t>
            </a:r>
            <a:endParaRPr lang="es-ES" sz="2000" dirty="0">
              <a:latin typeface="Times New Roman"/>
              <a:cs typeface="Times New Roman"/>
            </a:endParaRPr>
          </a:p>
          <a:p>
            <a:pPr marL="354965" marR="19685" indent="-114300">
              <a:lnSpc>
                <a:spcPts val="2300"/>
              </a:lnSpc>
              <a:spcBef>
                <a:spcPts val="580"/>
              </a:spcBef>
            </a:pPr>
            <a:r>
              <a:rPr lang="es-ES" sz="2000" spc="-5" dirty="0" err="1">
                <a:latin typeface="Times New Roman"/>
                <a:cs typeface="Times New Roman"/>
              </a:rPr>
              <a:t>if</a:t>
            </a:r>
            <a:r>
              <a:rPr lang="es-ES" sz="2000" spc="-15" dirty="0">
                <a:latin typeface="Times New Roman"/>
                <a:cs typeface="Times New Roman"/>
              </a:rPr>
              <a:t> </a:t>
            </a:r>
            <a:r>
              <a:rPr lang="es-ES" sz="2000" i="1" dirty="0">
                <a:latin typeface="Times New Roman"/>
                <a:cs typeface="Times New Roman"/>
              </a:rPr>
              <a:t>x</a:t>
            </a:r>
            <a:r>
              <a:rPr lang="es-ES" sz="2000" i="1" spc="-15" dirty="0">
                <a:latin typeface="Times New Roman"/>
                <a:cs typeface="Times New Roman"/>
              </a:rPr>
              <a:t> </a:t>
            </a:r>
            <a:r>
              <a:rPr lang="es-ES" sz="2000" i="1" dirty="0">
                <a:latin typeface="Times New Roman"/>
                <a:cs typeface="Times New Roman"/>
              </a:rPr>
              <a:t>+</a:t>
            </a:r>
            <a:r>
              <a:rPr lang="es-ES" sz="2000" i="1" spc="-15" dirty="0">
                <a:latin typeface="Times New Roman"/>
                <a:cs typeface="Times New Roman"/>
              </a:rPr>
              <a:t> </a:t>
            </a:r>
            <a:r>
              <a:rPr lang="es-ES" sz="2000" i="1" dirty="0">
                <a:latin typeface="Times New Roman"/>
                <a:cs typeface="Times New Roman"/>
              </a:rPr>
              <a:t>y</a:t>
            </a:r>
            <a:r>
              <a:rPr lang="es-ES" sz="2000" i="1" spc="-5" dirty="0">
                <a:latin typeface="Times New Roman"/>
                <a:cs typeface="Times New Roman"/>
              </a:rPr>
              <a:t> </a:t>
            </a:r>
            <a:r>
              <a:rPr lang="es-ES" sz="2000" dirty="0">
                <a:latin typeface="Times New Roman"/>
                <a:cs typeface="Times New Roman"/>
              </a:rPr>
              <a:t>≥</a:t>
            </a:r>
            <a:r>
              <a:rPr lang="es-ES" sz="2000" spc="-20" dirty="0">
                <a:latin typeface="Times New Roman"/>
                <a:cs typeface="Times New Roman"/>
              </a:rPr>
              <a:t> </a:t>
            </a:r>
            <a:r>
              <a:rPr lang="es-ES" sz="2000" spc="-20" dirty="0" smtClean="0">
                <a:latin typeface="Times New Roman"/>
                <a:cs typeface="Times New Roman"/>
              </a:rPr>
              <a:t>4</a:t>
            </a:r>
            <a:r>
              <a:rPr lang="es-ES" sz="2000" spc="-10" dirty="0" smtClean="0">
                <a:latin typeface="Times New Roman"/>
                <a:cs typeface="Times New Roman"/>
              </a:rPr>
              <a:t> </a:t>
            </a:r>
            <a:r>
              <a:rPr lang="es-ES" sz="2000" spc="-5" dirty="0">
                <a:latin typeface="Times New Roman"/>
                <a:cs typeface="Times New Roman"/>
              </a:rPr>
              <a:t>and</a:t>
            </a:r>
            <a:r>
              <a:rPr lang="es-ES" sz="2000" dirty="0">
                <a:latin typeface="Times New Roman"/>
                <a:cs typeface="Times New Roman"/>
              </a:rPr>
              <a:t> </a:t>
            </a:r>
            <a:r>
              <a:rPr lang="es-ES" sz="2000" i="1" dirty="0" smtClean="0">
                <a:latin typeface="Times New Roman"/>
                <a:cs typeface="Times New Roman"/>
              </a:rPr>
              <a:t>y</a:t>
            </a:r>
            <a:r>
              <a:rPr lang="es-ES" sz="2000" i="1" spc="-10" dirty="0" smtClean="0">
                <a:latin typeface="Times New Roman"/>
                <a:cs typeface="Times New Roman"/>
              </a:rPr>
              <a:t> </a:t>
            </a:r>
            <a:r>
              <a:rPr lang="es-ES" sz="2000" dirty="0">
                <a:latin typeface="Times New Roman"/>
                <a:cs typeface="Times New Roman"/>
              </a:rPr>
              <a:t>&gt; </a:t>
            </a:r>
            <a:r>
              <a:rPr lang="es-ES" sz="2000" spc="-585" dirty="0">
                <a:latin typeface="Times New Roman"/>
                <a:cs typeface="Times New Roman"/>
              </a:rPr>
              <a:t> </a:t>
            </a:r>
            <a:r>
              <a:rPr lang="es-ES" sz="2000" dirty="0">
                <a:latin typeface="Times New Roman"/>
                <a:cs typeface="Times New Roman"/>
              </a:rPr>
              <a:t>0</a:t>
            </a:r>
          </a:p>
          <a:p>
            <a:pPr marL="469900" marR="445134" indent="-457200">
              <a:lnSpc>
                <a:spcPct val="100800"/>
              </a:lnSpc>
              <a:buAutoNum type="arabicPeriod" startAt="6"/>
            </a:pPr>
            <a:endParaRPr lang="es-ES" sz="2000" dirty="0">
              <a:latin typeface="Times New Roman"/>
              <a:cs typeface="Times New Roman"/>
            </a:endParaRPr>
          </a:p>
          <a:p>
            <a:pPr marL="241300" marR="445134" indent="-228600">
              <a:lnSpc>
                <a:spcPct val="100800"/>
              </a:lnSpc>
            </a:pPr>
            <a:endParaRPr sz="2000" dirty="0">
              <a:latin typeface="Times New Roman"/>
              <a:cs typeface="Times New Roman"/>
            </a:endParaRPr>
          </a:p>
        </p:txBody>
      </p:sp>
    </p:spTree>
    <p:extLst>
      <p:ext uri="{BB962C8B-B14F-4D97-AF65-F5344CB8AC3E}">
        <p14:creationId xmlns:p14="http://schemas.microsoft.com/office/powerpoint/2010/main" val="24522543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6267" y="475487"/>
            <a:ext cx="7164070" cy="695960"/>
          </a:xfrm>
          <a:prstGeom prst="rect">
            <a:avLst/>
          </a:prstGeom>
        </p:spPr>
        <p:txBody>
          <a:bodyPr vert="horz" wrap="square" lIns="0" tIns="12700" rIns="0" bIns="0" rtlCol="0">
            <a:spAutoFit/>
          </a:bodyPr>
          <a:lstStyle/>
          <a:p>
            <a:pPr marL="12700">
              <a:lnSpc>
                <a:spcPct val="100000"/>
              </a:lnSpc>
              <a:spcBef>
                <a:spcPts val="100"/>
              </a:spcBef>
            </a:pPr>
            <a:r>
              <a:rPr spc="-5" dirty="0"/>
              <a:t>The</a:t>
            </a:r>
            <a:r>
              <a:rPr spc="-25" dirty="0"/>
              <a:t> </a:t>
            </a:r>
            <a:r>
              <a:rPr spc="-50" dirty="0"/>
              <a:t>Water</a:t>
            </a:r>
            <a:r>
              <a:rPr spc="-30" dirty="0"/>
              <a:t> </a:t>
            </a:r>
            <a:r>
              <a:rPr spc="-10" dirty="0"/>
              <a:t>Jug</a:t>
            </a:r>
            <a:r>
              <a:rPr spc="-25" dirty="0"/>
              <a:t> </a:t>
            </a:r>
            <a:r>
              <a:rPr spc="-15" dirty="0"/>
              <a:t>Problem</a:t>
            </a:r>
            <a:r>
              <a:rPr spc="-25" dirty="0"/>
              <a:t> </a:t>
            </a:r>
            <a:r>
              <a:rPr spc="-35" dirty="0"/>
              <a:t>(cont’d)</a:t>
            </a:r>
          </a:p>
        </p:txBody>
      </p:sp>
      <p:sp>
        <p:nvSpPr>
          <p:cNvPr id="3" name="object 3"/>
          <p:cNvSpPr txBox="1"/>
          <p:nvPr/>
        </p:nvSpPr>
        <p:spPr>
          <a:xfrm>
            <a:off x="1063745" y="2088406"/>
            <a:ext cx="2608580" cy="3357201"/>
          </a:xfrm>
          <a:prstGeom prst="rect">
            <a:avLst/>
          </a:prstGeom>
        </p:spPr>
        <p:txBody>
          <a:bodyPr vert="horz" wrap="square" lIns="0" tIns="85725" rIns="0" bIns="0" rtlCol="0">
            <a:spAutoFit/>
          </a:bodyPr>
          <a:lstStyle/>
          <a:p>
            <a:pPr marL="354965" marR="432434" indent="-342900">
              <a:lnSpc>
                <a:spcPct val="80000"/>
              </a:lnSpc>
              <a:spcBef>
                <a:spcPts val="675"/>
              </a:spcBef>
            </a:pPr>
            <a:r>
              <a:rPr dirty="0">
                <a:latin typeface="Times New Roman"/>
                <a:cs typeface="Times New Roman"/>
              </a:rPr>
              <a:t>8</a:t>
            </a:r>
            <a:r>
              <a:rPr spc="-15" dirty="0">
                <a:latin typeface="Times New Roman"/>
                <a:cs typeface="Times New Roman"/>
              </a:rPr>
              <a:t> </a:t>
            </a:r>
            <a:r>
              <a:rPr spc="-5" dirty="0">
                <a:latin typeface="Times New Roman"/>
                <a:cs typeface="Times New Roman"/>
              </a:rPr>
              <a:t>(</a:t>
            </a:r>
            <a:r>
              <a:rPr i="1" spc="-5" dirty="0">
                <a:latin typeface="Times New Roman"/>
                <a:cs typeface="Times New Roman"/>
              </a:rPr>
              <a:t>x,y</a:t>
            </a:r>
            <a:r>
              <a:rPr spc="-5" dirty="0">
                <a:latin typeface="Times New Roman"/>
                <a:cs typeface="Times New Roman"/>
              </a:rPr>
              <a:t>)</a:t>
            </a:r>
            <a:r>
              <a:rPr spc="-15" dirty="0">
                <a:latin typeface="Times New Roman"/>
                <a:cs typeface="Times New Roman"/>
              </a:rPr>
              <a:t> </a:t>
            </a:r>
            <a:r>
              <a:rPr lang="en-IN" spc="-15" dirty="0" smtClean="0">
                <a:latin typeface="Times New Roman"/>
                <a:cs typeface="Times New Roman"/>
              </a:rPr>
              <a:t>  </a:t>
            </a:r>
            <a:r>
              <a:rPr lang="en-IN" spc="-15" dirty="0" smtClean="0">
                <a:latin typeface="Times New Roman"/>
                <a:cs typeface="Times New Roman"/>
                <a:sym typeface="Wingdings" panose="05000000000000000000" pitchFamily="2" charset="2"/>
              </a:rPr>
              <a:t></a:t>
            </a:r>
            <a:r>
              <a:rPr dirty="0" smtClean="0">
                <a:latin typeface="Times New Roman"/>
                <a:cs typeface="Times New Roman"/>
              </a:rPr>
              <a:t>(</a:t>
            </a:r>
            <a:r>
              <a:rPr dirty="0">
                <a:latin typeface="Times New Roman"/>
                <a:cs typeface="Times New Roman"/>
              </a:rPr>
              <a:t>x</a:t>
            </a:r>
            <a:r>
              <a:rPr spc="-15" dirty="0">
                <a:latin typeface="Times New Roman"/>
                <a:cs typeface="Times New Roman"/>
              </a:rPr>
              <a:t> </a:t>
            </a:r>
            <a:r>
              <a:rPr dirty="0">
                <a:latin typeface="Times New Roman"/>
                <a:cs typeface="Times New Roman"/>
              </a:rPr>
              <a:t>–</a:t>
            </a:r>
            <a:r>
              <a:rPr spc="-10" dirty="0">
                <a:latin typeface="Times New Roman"/>
                <a:cs typeface="Times New Roman"/>
              </a:rPr>
              <a:t> </a:t>
            </a:r>
            <a:r>
              <a:rPr dirty="0">
                <a:latin typeface="Times New Roman"/>
                <a:cs typeface="Times New Roman"/>
              </a:rPr>
              <a:t>(3</a:t>
            </a:r>
            <a:r>
              <a:rPr spc="-15" dirty="0">
                <a:latin typeface="Times New Roman"/>
                <a:cs typeface="Times New Roman"/>
              </a:rPr>
              <a:t> </a:t>
            </a:r>
            <a:r>
              <a:rPr dirty="0">
                <a:latin typeface="Times New Roman"/>
                <a:cs typeface="Times New Roman"/>
              </a:rPr>
              <a:t>– </a:t>
            </a:r>
            <a:r>
              <a:rPr spc="-585" dirty="0">
                <a:latin typeface="Times New Roman"/>
                <a:cs typeface="Times New Roman"/>
              </a:rPr>
              <a:t> </a:t>
            </a:r>
            <a:r>
              <a:rPr dirty="0">
                <a:latin typeface="Times New Roman"/>
                <a:cs typeface="Times New Roman"/>
              </a:rPr>
              <a:t>y),3)</a:t>
            </a:r>
          </a:p>
          <a:p>
            <a:pPr marL="354965" marR="19685" indent="-114300">
              <a:lnSpc>
                <a:spcPts val="2300"/>
              </a:lnSpc>
              <a:spcBef>
                <a:spcPts val="580"/>
              </a:spcBef>
            </a:pPr>
            <a:r>
              <a:rPr spc="-5" dirty="0">
                <a:latin typeface="Times New Roman"/>
                <a:cs typeface="Times New Roman"/>
              </a:rPr>
              <a:t>if</a:t>
            </a:r>
            <a:r>
              <a:rPr spc="-15" dirty="0">
                <a:latin typeface="Times New Roman"/>
                <a:cs typeface="Times New Roman"/>
              </a:rPr>
              <a:t> </a:t>
            </a:r>
            <a:r>
              <a:rPr i="1" dirty="0">
                <a:latin typeface="Times New Roman"/>
                <a:cs typeface="Times New Roman"/>
              </a:rPr>
              <a:t>x</a:t>
            </a:r>
            <a:r>
              <a:rPr i="1" spc="-15" dirty="0">
                <a:latin typeface="Times New Roman"/>
                <a:cs typeface="Times New Roman"/>
              </a:rPr>
              <a:t> </a:t>
            </a:r>
            <a:r>
              <a:rPr i="1" dirty="0">
                <a:latin typeface="Times New Roman"/>
                <a:cs typeface="Times New Roman"/>
              </a:rPr>
              <a:t>+</a:t>
            </a:r>
            <a:r>
              <a:rPr i="1" spc="-15" dirty="0">
                <a:latin typeface="Times New Roman"/>
                <a:cs typeface="Times New Roman"/>
              </a:rPr>
              <a:t> </a:t>
            </a:r>
            <a:r>
              <a:rPr i="1" dirty="0">
                <a:latin typeface="Times New Roman"/>
                <a:cs typeface="Times New Roman"/>
              </a:rPr>
              <a:t>y</a:t>
            </a:r>
            <a:r>
              <a:rPr i="1" spc="-5" dirty="0">
                <a:latin typeface="Times New Roman"/>
                <a:cs typeface="Times New Roman"/>
              </a:rPr>
              <a:t> </a:t>
            </a:r>
            <a:r>
              <a:rPr dirty="0">
                <a:latin typeface="Times New Roman"/>
                <a:cs typeface="Times New Roman"/>
              </a:rPr>
              <a:t>≥</a:t>
            </a:r>
            <a:r>
              <a:rPr spc="-20" dirty="0">
                <a:latin typeface="Times New Roman"/>
                <a:cs typeface="Times New Roman"/>
              </a:rPr>
              <a:t> </a:t>
            </a:r>
            <a:r>
              <a:rPr dirty="0">
                <a:latin typeface="Times New Roman"/>
                <a:cs typeface="Times New Roman"/>
              </a:rPr>
              <a:t>3</a:t>
            </a:r>
            <a:r>
              <a:rPr spc="-10" dirty="0">
                <a:latin typeface="Times New Roman"/>
                <a:cs typeface="Times New Roman"/>
              </a:rPr>
              <a:t> </a:t>
            </a:r>
            <a:r>
              <a:rPr spc="-5" dirty="0">
                <a:latin typeface="Times New Roman"/>
                <a:cs typeface="Times New Roman"/>
              </a:rPr>
              <a:t>and</a:t>
            </a:r>
            <a:r>
              <a:rPr dirty="0">
                <a:latin typeface="Times New Roman"/>
                <a:cs typeface="Times New Roman"/>
              </a:rPr>
              <a:t> </a:t>
            </a:r>
            <a:r>
              <a:rPr i="1" dirty="0">
                <a:latin typeface="Times New Roman"/>
                <a:cs typeface="Times New Roman"/>
              </a:rPr>
              <a:t>x</a:t>
            </a:r>
            <a:r>
              <a:rPr i="1" spc="-10" dirty="0">
                <a:latin typeface="Times New Roman"/>
                <a:cs typeface="Times New Roman"/>
              </a:rPr>
              <a:t> </a:t>
            </a:r>
            <a:r>
              <a:rPr dirty="0">
                <a:latin typeface="Times New Roman"/>
                <a:cs typeface="Times New Roman"/>
              </a:rPr>
              <a:t>&gt; </a:t>
            </a:r>
            <a:r>
              <a:rPr spc="-585" dirty="0">
                <a:latin typeface="Times New Roman"/>
                <a:cs typeface="Times New Roman"/>
              </a:rPr>
              <a:t> </a:t>
            </a:r>
            <a:r>
              <a:rPr dirty="0">
                <a:latin typeface="Times New Roman"/>
                <a:cs typeface="Times New Roman"/>
              </a:rPr>
              <a:t>0</a:t>
            </a:r>
          </a:p>
          <a:p>
            <a:pPr>
              <a:lnSpc>
                <a:spcPct val="100000"/>
              </a:lnSpc>
            </a:pPr>
            <a:endParaRPr sz="2000" dirty="0">
              <a:latin typeface="Times New Roman"/>
              <a:cs typeface="Times New Roman"/>
            </a:endParaRPr>
          </a:p>
          <a:p>
            <a:pPr>
              <a:lnSpc>
                <a:spcPct val="100000"/>
              </a:lnSpc>
              <a:spcBef>
                <a:spcPts val="45"/>
              </a:spcBef>
            </a:pPr>
            <a:endParaRPr sz="2000" dirty="0">
              <a:latin typeface="Times New Roman"/>
              <a:cs typeface="Times New Roman"/>
            </a:endParaRPr>
          </a:p>
          <a:p>
            <a:pPr marL="12700">
              <a:lnSpc>
                <a:spcPct val="100000"/>
              </a:lnSpc>
            </a:pPr>
            <a:r>
              <a:rPr dirty="0">
                <a:latin typeface="Times New Roman"/>
                <a:cs typeface="Times New Roman"/>
              </a:rPr>
              <a:t>9</a:t>
            </a:r>
            <a:r>
              <a:rPr spc="-15" dirty="0">
                <a:latin typeface="Times New Roman"/>
                <a:cs typeface="Times New Roman"/>
              </a:rPr>
              <a:t> </a:t>
            </a:r>
            <a:r>
              <a:rPr spc="-5" dirty="0">
                <a:latin typeface="Times New Roman"/>
                <a:cs typeface="Times New Roman"/>
              </a:rPr>
              <a:t>(</a:t>
            </a:r>
            <a:r>
              <a:rPr i="1" spc="-5" dirty="0">
                <a:latin typeface="Times New Roman"/>
                <a:cs typeface="Times New Roman"/>
              </a:rPr>
              <a:t>x,y</a:t>
            </a:r>
            <a:r>
              <a:rPr spc="-5" dirty="0">
                <a:latin typeface="Times New Roman"/>
                <a:cs typeface="Times New Roman"/>
              </a:rPr>
              <a:t>)</a:t>
            </a:r>
            <a:r>
              <a:rPr spc="-10" dirty="0">
                <a:latin typeface="Times New Roman"/>
                <a:cs typeface="Times New Roman"/>
              </a:rPr>
              <a:t> </a:t>
            </a:r>
            <a:r>
              <a:rPr lang="en-IN" spc="-10" dirty="0" smtClean="0">
                <a:latin typeface="Times New Roman"/>
                <a:cs typeface="Times New Roman"/>
                <a:sym typeface="Wingdings" panose="05000000000000000000" pitchFamily="2" charset="2"/>
              </a:rPr>
              <a:t></a:t>
            </a:r>
            <a:r>
              <a:rPr spc="60" dirty="0" smtClean="0">
                <a:latin typeface="Cambria"/>
                <a:cs typeface="Cambria"/>
              </a:rPr>
              <a:t> </a:t>
            </a:r>
            <a:r>
              <a:rPr dirty="0">
                <a:latin typeface="Times New Roman"/>
                <a:cs typeface="Times New Roman"/>
              </a:rPr>
              <a:t>(</a:t>
            </a:r>
            <a:r>
              <a:rPr i="1" dirty="0">
                <a:latin typeface="Times New Roman"/>
                <a:cs typeface="Times New Roman"/>
              </a:rPr>
              <a:t>x</a:t>
            </a:r>
            <a:r>
              <a:rPr i="1" spc="-15" dirty="0">
                <a:latin typeface="Times New Roman"/>
                <a:cs typeface="Times New Roman"/>
              </a:rPr>
              <a:t> </a:t>
            </a:r>
            <a:r>
              <a:rPr i="1" dirty="0">
                <a:latin typeface="Times New Roman"/>
                <a:cs typeface="Times New Roman"/>
              </a:rPr>
              <a:t>+</a:t>
            </a:r>
            <a:r>
              <a:rPr i="1" spc="-15" dirty="0">
                <a:latin typeface="Times New Roman"/>
                <a:cs typeface="Times New Roman"/>
              </a:rPr>
              <a:t> </a:t>
            </a:r>
            <a:r>
              <a:rPr i="1" spc="-70" dirty="0">
                <a:latin typeface="Times New Roman"/>
                <a:cs typeface="Times New Roman"/>
              </a:rPr>
              <a:t>y,</a:t>
            </a:r>
            <a:r>
              <a:rPr i="1" spc="-5" dirty="0">
                <a:latin typeface="Times New Roman"/>
                <a:cs typeface="Times New Roman"/>
              </a:rPr>
              <a:t> </a:t>
            </a:r>
            <a:r>
              <a:rPr dirty="0">
                <a:latin typeface="Times New Roman"/>
                <a:cs typeface="Times New Roman"/>
              </a:rPr>
              <a:t>0)</a:t>
            </a:r>
          </a:p>
          <a:p>
            <a:pPr marL="354965" marR="19685" indent="-114300">
              <a:lnSpc>
                <a:spcPct val="80000"/>
              </a:lnSpc>
              <a:spcBef>
                <a:spcPts val="595"/>
              </a:spcBef>
            </a:pPr>
            <a:r>
              <a:rPr spc="-5" dirty="0">
                <a:latin typeface="Times New Roman"/>
                <a:cs typeface="Times New Roman"/>
              </a:rPr>
              <a:t>if</a:t>
            </a:r>
            <a:r>
              <a:rPr spc="-15" dirty="0">
                <a:latin typeface="Times New Roman"/>
                <a:cs typeface="Times New Roman"/>
              </a:rPr>
              <a:t> </a:t>
            </a:r>
            <a:r>
              <a:rPr i="1" dirty="0">
                <a:latin typeface="Times New Roman"/>
                <a:cs typeface="Times New Roman"/>
              </a:rPr>
              <a:t>x</a:t>
            </a:r>
            <a:r>
              <a:rPr i="1" spc="-15" dirty="0">
                <a:latin typeface="Times New Roman"/>
                <a:cs typeface="Times New Roman"/>
              </a:rPr>
              <a:t> </a:t>
            </a:r>
            <a:r>
              <a:rPr i="1" dirty="0">
                <a:latin typeface="Times New Roman"/>
                <a:cs typeface="Times New Roman"/>
              </a:rPr>
              <a:t>+</a:t>
            </a:r>
            <a:r>
              <a:rPr i="1" spc="-15" dirty="0">
                <a:latin typeface="Times New Roman"/>
                <a:cs typeface="Times New Roman"/>
              </a:rPr>
              <a:t> </a:t>
            </a:r>
            <a:r>
              <a:rPr i="1" dirty="0">
                <a:latin typeface="Times New Roman"/>
                <a:cs typeface="Times New Roman"/>
              </a:rPr>
              <a:t>y</a:t>
            </a:r>
            <a:r>
              <a:rPr i="1" spc="-5" dirty="0">
                <a:latin typeface="Times New Roman"/>
                <a:cs typeface="Times New Roman"/>
              </a:rPr>
              <a:t> </a:t>
            </a:r>
            <a:r>
              <a:rPr dirty="0">
                <a:latin typeface="Times New Roman"/>
                <a:cs typeface="Times New Roman"/>
              </a:rPr>
              <a:t>≤</a:t>
            </a:r>
            <a:r>
              <a:rPr spc="-20" dirty="0">
                <a:latin typeface="Times New Roman"/>
                <a:cs typeface="Times New Roman"/>
              </a:rPr>
              <a:t> </a:t>
            </a:r>
            <a:r>
              <a:rPr dirty="0">
                <a:latin typeface="Times New Roman"/>
                <a:cs typeface="Times New Roman"/>
              </a:rPr>
              <a:t>4</a:t>
            </a:r>
            <a:r>
              <a:rPr spc="-10" dirty="0">
                <a:latin typeface="Times New Roman"/>
                <a:cs typeface="Times New Roman"/>
              </a:rPr>
              <a:t> </a:t>
            </a:r>
            <a:r>
              <a:rPr spc="-5" dirty="0">
                <a:latin typeface="Times New Roman"/>
                <a:cs typeface="Times New Roman"/>
              </a:rPr>
              <a:t>and</a:t>
            </a:r>
            <a:r>
              <a:rPr dirty="0">
                <a:latin typeface="Times New Roman"/>
                <a:cs typeface="Times New Roman"/>
              </a:rPr>
              <a:t> </a:t>
            </a:r>
            <a:r>
              <a:rPr i="1" dirty="0">
                <a:latin typeface="Times New Roman"/>
                <a:cs typeface="Times New Roman"/>
              </a:rPr>
              <a:t>y</a:t>
            </a:r>
            <a:r>
              <a:rPr i="1" spc="-10" dirty="0">
                <a:latin typeface="Times New Roman"/>
                <a:cs typeface="Times New Roman"/>
              </a:rPr>
              <a:t> </a:t>
            </a:r>
            <a:r>
              <a:rPr dirty="0">
                <a:latin typeface="Times New Roman"/>
                <a:cs typeface="Times New Roman"/>
              </a:rPr>
              <a:t>&gt; </a:t>
            </a:r>
            <a:r>
              <a:rPr spc="-585" dirty="0">
                <a:latin typeface="Times New Roman"/>
                <a:cs typeface="Times New Roman"/>
              </a:rPr>
              <a:t> </a:t>
            </a:r>
            <a:r>
              <a:rPr dirty="0">
                <a:latin typeface="Times New Roman"/>
                <a:cs typeface="Times New Roman"/>
              </a:rPr>
              <a:t>0</a:t>
            </a:r>
          </a:p>
          <a:p>
            <a:pPr>
              <a:lnSpc>
                <a:spcPct val="100000"/>
              </a:lnSpc>
            </a:pPr>
            <a:endParaRPr sz="2000" dirty="0">
              <a:latin typeface="Times New Roman"/>
              <a:cs typeface="Times New Roman"/>
            </a:endParaRPr>
          </a:p>
          <a:p>
            <a:pPr>
              <a:lnSpc>
                <a:spcPct val="100000"/>
              </a:lnSpc>
              <a:spcBef>
                <a:spcPts val="20"/>
              </a:spcBef>
            </a:pPr>
            <a:endParaRPr sz="2000" dirty="0">
              <a:latin typeface="Times New Roman"/>
              <a:cs typeface="Times New Roman"/>
            </a:endParaRPr>
          </a:p>
          <a:p>
            <a:pPr marL="12700">
              <a:lnSpc>
                <a:spcPct val="100000"/>
              </a:lnSpc>
            </a:pPr>
            <a:r>
              <a:rPr dirty="0">
                <a:latin typeface="Times New Roman"/>
                <a:cs typeface="Times New Roman"/>
              </a:rPr>
              <a:t>10</a:t>
            </a:r>
            <a:r>
              <a:rPr spc="-15" dirty="0">
                <a:latin typeface="Times New Roman"/>
                <a:cs typeface="Times New Roman"/>
              </a:rPr>
              <a:t> </a:t>
            </a:r>
            <a:r>
              <a:rPr spc="-5" dirty="0">
                <a:latin typeface="Times New Roman"/>
                <a:cs typeface="Times New Roman"/>
              </a:rPr>
              <a:t>(</a:t>
            </a:r>
            <a:r>
              <a:rPr i="1" spc="-5" dirty="0">
                <a:latin typeface="Times New Roman"/>
                <a:cs typeface="Times New Roman"/>
              </a:rPr>
              <a:t>x,y</a:t>
            </a:r>
            <a:r>
              <a:rPr spc="-5" dirty="0">
                <a:latin typeface="Times New Roman"/>
                <a:cs typeface="Times New Roman"/>
              </a:rPr>
              <a:t>)</a:t>
            </a:r>
            <a:r>
              <a:rPr spc="-10" dirty="0">
                <a:latin typeface="Times New Roman"/>
                <a:cs typeface="Times New Roman"/>
              </a:rPr>
              <a:t> </a:t>
            </a:r>
            <a:r>
              <a:rPr lang="en-IN" spc="-10" dirty="0" smtClean="0">
                <a:latin typeface="Times New Roman"/>
                <a:cs typeface="Times New Roman"/>
                <a:sym typeface="Wingdings" panose="05000000000000000000" pitchFamily="2" charset="2"/>
              </a:rPr>
              <a:t></a:t>
            </a:r>
            <a:r>
              <a:rPr spc="60" dirty="0" smtClean="0">
                <a:latin typeface="Cambria"/>
                <a:cs typeface="Cambria"/>
              </a:rPr>
              <a:t> </a:t>
            </a:r>
            <a:r>
              <a:rPr dirty="0">
                <a:latin typeface="Times New Roman"/>
                <a:cs typeface="Times New Roman"/>
              </a:rPr>
              <a:t>(0,</a:t>
            </a:r>
            <a:r>
              <a:rPr spc="-15" dirty="0">
                <a:latin typeface="Times New Roman"/>
                <a:cs typeface="Times New Roman"/>
              </a:rPr>
              <a:t> </a:t>
            </a:r>
            <a:r>
              <a:rPr i="1" dirty="0">
                <a:latin typeface="Times New Roman"/>
                <a:cs typeface="Times New Roman"/>
              </a:rPr>
              <a:t>x</a:t>
            </a:r>
            <a:r>
              <a:rPr i="1" spc="-10" dirty="0">
                <a:latin typeface="Times New Roman"/>
                <a:cs typeface="Times New Roman"/>
              </a:rPr>
              <a:t> </a:t>
            </a:r>
            <a:r>
              <a:rPr dirty="0">
                <a:latin typeface="Times New Roman"/>
                <a:cs typeface="Times New Roman"/>
              </a:rPr>
              <a:t>+</a:t>
            </a:r>
            <a:r>
              <a:rPr spc="-10" dirty="0">
                <a:latin typeface="Times New Roman"/>
                <a:cs typeface="Times New Roman"/>
              </a:rPr>
              <a:t> </a:t>
            </a:r>
            <a:r>
              <a:rPr i="1" dirty="0">
                <a:latin typeface="Times New Roman"/>
                <a:cs typeface="Times New Roman"/>
              </a:rPr>
              <a:t>y</a:t>
            </a:r>
            <a:r>
              <a:rPr dirty="0">
                <a:latin typeface="Times New Roman"/>
                <a:cs typeface="Times New Roman"/>
              </a:rPr>
              <a:t>)</a:t>
            </a:r>
          </a:p>
          <a:p>
            <a:pPr marL="354965" marR="5080" indent="-114300">
              <a:lnSpc>
                <a:spcPts val="2300"/>
              </a:lnSpc>
              <a:spcBef>
                <a:spcPts val="585"/>
              </a:spcBef>
            </a:pPr>
            <a:r>
              <a:rPr spc="-5" dirty="0">
                <a:latin typeface="Times New Roman"/>
                <a:cs typeface="Times New Roman"/>
              </a:rPr>
              <a:t>if</a:t>
            </a:r>
            <a:r>
              <a:rPr spc="-15" dirty="0">
                <a:latin typeface="Times New Roman"/>
                <a:cs typeface="Times New Roman"/>
              </a:rPr>
              <a:t> </a:t>
            </a:r>
            <a:r>
              <a:rPr i="1" dirty="0">
                <a:latin typeface="Times New Roman"/>
                <a:cs typeface="Times New Roman"/>
              </a:rPr>
              <a:t>x</a:t>
            </a:r>
            <a:r>
              <a:rPr i="1" spc="-15" dirty="0">
                <a:latin typeface="Times New Roman"/>
                <a:cs typeface="Times New Roman"/>
              </a:rPr>
              <a:t> </a:t>
            </a:r>
            <a:r>
              <a:rPr i="1" dirty="0">
                <a:latin typeface="Times New Roman"/>
                <a:cs typeface="Times New Roman"/>
              </a:rPr>
              <a:t>+</a:t>
            </a:r>
            <a:r>
              <a:rPr i="1" spc="-15" dirty="0">
                <a:latin typeface="Times New Roman"/>
                <a:cs typeface="Times New Roman"/>
              </a:rPr>
              <a:t> </a:t>
            </a:r>
            <a:r>
              <a:rPr i="1" dirty="0">
                <a:latin typeface="Times New Roman"/>
                <a:cs typeface="Times New Roman"/>
              </a:rPr>
              <a:t>y</a:t>
            </a:r>
            <a:r>
              <a:rPr i="1" spc="-5" dirty="0">
                <a:latin typeface="Times New Roman"/>
                <a:cs typeface="Times New Roman"/>
              </a:rPr>
              <a:t> </a:t>
            </a:r>
            <a:r>
              <a:rPr dirty="0">
                <a:latin typeface="Times New Roman"/>
                <a:cs typeface="Times New Roman"/>
              </a:rPr>
              <a:t>≤</a:t>
            </a:r>
            <a:r>
              <a:rPr spc="-20" dirty="0">
                <a:latin typeface="Times New Roman"/>
                <a:cs typeface="Times New Roman"/>
              </a:rPr>
              <a:t> </a:t>
            </a:r>
            <a:r>
              <a:rPr dirty="0">
                <a:latin typeface="Times New Roman"/>
                <a:cs typeface="Times New Roman"/>
              </a:rPr>
              <a:t>3</a:t>
            </a:r>
            <a:r>
              <a:rPr spc="-10" dirty="0">
                <a:latin typeface="Times New Roman"/>
                <a:cs typeface="Times New Roman"/>
              </a:rPr>
              <a:t> </a:t>
            </a:r>
            <a:r>
              <a:rPr spc="-5" dirty="0">
                <a:latin typeface="Times New Roman"/>
                <a:cs typeface="Times New Roman"/>
              </a:rPr>
              <a:t>and</a:t>
            </a:r>
            <a:r>
              <a:rPr spc="-15" dirty="0">
                <a:latin typeface="Times New Roman"/>
                <a:cs typeface="Times New Roman"/>
              </a:rPr>
              <a:t> </a:t>
            </a:r>
            <a:r>
              <a:rPr dirty="0">
                <a:latin typeface="Times New Roman"/>
                <a:cs typeface="Times New Roman"/>
              </a:rPr>
              <a:t>x</a:t>
            </a:r>
            <a:r>
              <a:rPr spc="-10" dirty="0">
                <a:latin typeface="Times New Roman"/>
                <a:cs typeface="Times New Roman"/>
              </a:rPr>
              <a:t> </a:t>
            </a:r>
            <a:r>
              <a:rPr dirty="0">
                <a:latin typeface="Times New Roman"/>
                <a:cs typeface="Times New Roman"/>
              </a:rPr>
              <a:t>&gt; </a:t>
            </a:r>
            <a:r>
              <a:rPr spc="-585" dirty="0">
                <a:latin typeface="Times New Roman"/>
                <a:cs typeface="Times New Roman"/>
              </a:rPr>
              <a:t> </a:t>
            </a:r>
            <a:r>
              <a:rPr dirty="0">
                <a:latin typeface="Times New Roman"/>
                <a:cs typeface="Times New Roman"/>
              </a:rPr>
              <a:t>0</a:t>
            </a:r>
          </a:p>
        </p:txBody>
      </p:sp>
      <p:sp>
        <p:nvSpPr>
          <p:cNvPr id="4" name="object 4"/>
          <p:cNvSpPr txBox="1"/>
          <p:nvPr/>
        </p:nvSpPr>
        <p:spPr>
          <a:xfrm>
            <a:off x="3958865" y="2138845"/>
            <a:ext cx="4056379" cy="2616200"/>
          </a:xfrm>
          <a:prstGeom prst="rect">
            <a:avLst/>
          </a:prstGeom>
        </p:spPr>
        <p:txBody>
          <a:bodyPr vert="horz" wrap="square" lIns="0" tIns="12700" rIns="0" bIns="0" rtlCol="0">
            <a:spAutoFit/>
          </a:bodyPr>
          <a:lstStyle/>
          <a:p>
            <a:pPr marL="12700">
              <a:lnSpc>
                <a:spcPts val="1945"/>
              </a:lnSpc>
              <a:spcBef>
                <a:spcPts val="100"/>
              </a:spcBef>
            </a:pPr>
            <a:r>
              <a:rPr sz="1800" spc="-5" dirty="0">
                <a:latin typeface="Times New Roman"/>
                <a:cs typeface="Times New Roman"/>
              </a:rPr>
              <a:t>Pour</a:t>
            </a:r>
            <a:r>
              <a:rPr sz="1800" spc="-15" dirty="0">
                <a:latin typeface="Times New Roman"/>
                <a:cs typeface="Times New Roman"/>
              </a:rPr>
              <a:t> </a:t>
            </a:r>
            <a:r>
              <a:rPr sz="1800" spc="-5" dirty="0">
                <a:latin typeface="Times New Roman"/>
                <a:cs typeface="Times New Roman"/>
              </a:rPr>
              <a:t>water</a:t>
            </a:r>
            <a:r>
              <a:rPr sz="1800" spc="-15" dirty="0">
                <a:latin typeface="Times New Roman"/>
                <a:cs typeface="Times New Roman"/>
              </a:rPr>
              <a:t> </a:t>
            </a:r>
            <a:r>
              <a:rPr sz="1800" dirty="0">
                <a:latin typeface="Times New Roman"/>
                <a:cs typeface="Times New Roman"/>
              </a:rPr>
              <a:t>from</a:t>
            </a:r>
            <a:r>
              <a:rPr sz="1800" spc="-10" dirty="0">
                <a:latin typeface="Times New Roman"/>
                <a:cs typeface="Times New Roman"/>
              </a:rPr>
              <a:t> </a:t>
            </a:r>
            <a:r>
              <a:rPr sz="1800" spc="-5" dirty="0">
                <a:latin typeface="Times New Roman"/>
                <a:cs typeface="Times New Roman"/>
              </a:rPr>
              <a:t>the</a:t>
            </a:r>
            <a:r>
              <a:rPr sz="1800" spc="-15" dirty="0">
                <a:latin typeface="Times New Roman"/>
                <a:cs typeface="Times New Roman"/>
              </a:rPr>
              <a:t> </a:t>
            </a:r>
            <a:r>
              <a:rPr sz="1800" dirty="0">
                <a:latin typeface="Times New Roman"/>
                <a:cs typeface="Times New Roman"/>
              </a:rPr>
              <a:t>4-gallon</a:t>
            </a:r>
            <a:r>
              <a:rPr sz="1800" spc="-5" dirty="0">
                <a:latin typeface="Times New Roman"/>
                <a:cs typeface="Times New Roman"/>
              </a:rPr>
              <a:t> jug</a:t>
            </a:r>
            <a:r>
              <a:rPr sz="1800" spc="-15" dirty="0">
                <a:latin typeface="Times New Roman"/>
                <a:cs typeface="Times New Roman"/>
              </a:rPr>
              <a:t> </a:t>
            </a:r>
            <a:r>
              <a:rPr sz="1800" spc="-5" dirty="0">
                <a:latin typeface="Times New Roman"/>
                <a:cs typeface="Times New Roman"/>
              </a:rPr>
              <a:t>into</a:t>
            </a:r>
            <a:r>
              <a:rPr sz="1800" spc="-15" dirty="0">
                <a:latin typeface="Times New Roman"/>
                <a:cs typeface="Times New Roman"/>
              </a:rPr>
              <a:t> </a:t>
            </a:r>
            <a:r>
              <a:rPr sz="1800" spc="-5" dirty="0">
                <a:latin typeface="Times New Roman"/>
                <a:cs typeface="Times New Roman"/>
              </a:rPr>
              <a:t>the</a:t>
            </a:r>
            <a:endParaRPr sz="1800">
              <a:latin typeface="Times New Roman"/>
              <a:cs typeface="Times New Roman"/>
            </a:endParaRPr>
          </a:p>
          <a:p>
            <a:pPr marL="354965">
              <a:lnSpc>
                <a:spcPts val="1945"/>
              </a:lnSpc>
            </a:pPr>
            <a:r>
              <a:rPr sz="1800" dirty="0">
                <a:latin typeface="Times New Roman"/>
                <a:cs typeface="Times New Roman"/>
              </a:rPr>
              <a:t>3-gallon</a:t>
            </a:r>
            <a:r>
              <a:rPr sz="1800" spc="-15" dirty="0">
                <a:latin typeface="Times New Roman"/>
                <a:cs typeface="Times New Roman"/>
              </a:rPr>
              <a:t> </a:t>
            </a:r>
            <a:r>
              <a:rPr sz="1800" spc="-5" dirty="0">
                <a:latin typeface="Times New Roman"/>
                <a:cs typeface="Times New Roman"/>
              </a:rPr>
              <a:t>jug</a:t>
            </a:r>
            <a:r>
              <a:rPr sz="1800" spc="-15" dirty="0">
                <a:latin typeface="Times New Roman"/>
                <a:cs typeface="Times New Roman"/>
              </a:rPr>
              <a:t> </a:t>
            </a:r>
            <a:r>
              <a:rPr sz="1800" dirty="0">
                <a:latin typeface="Times New Roman"/>
                <a:cs typeface="Times New Roman"/>
              </a:rPr>
              <a:t>until</a:t>
            </a:r>
            <a:r>
              <a:rPr sz="1800" spc="-10" dirty="0">
                <a:latin typeface="Times New Roman"/>
                <a:cs typeface="Times New Roman"/>
              </a:rPr>
              <a:t> </a:t>
            </a:r>
            <a:r>
              <a:rPr sz="1800" spc="-5" dirty="0">
                <a:latin typeface="Times New Roman"/>
                <a:cs typeface="Times New Roman"/>
              </a:rPr>
              <a:t>the</a:t>
            </a:r>
            <a:r>
              <a:rPr sz="1800" spc="-15" dirty="0">
                <a:latin typeface="Times New Roman"/>
                <a:cs typeface="Times New Roman"/>
              </a:rPr>
              <a:t> </a:t>
            </a:r>
            <a:r>
              <a:rPr sz="1800" dirty="0">
                <a:latin typeface="Times New Roman"/>
                <a:cs typeface="Times New Roman"/>
              </a:rPr>
              <a:t>3-gallon</a:t>
            </a:r>
            <a:r>
              <a:rPr sz="1800" spc="-10" dirty="0">
                <a:latin typeface="Times New Roman"/>
                <a:cs typeface="Times New Roman"/>
              </a:rPr>
              <a:t> </a:t>
            </a:r>
            <a:r>
              <a:rPr sz="1800" spc="-5" dirty="0">
                <a:latin typeface="Times New Roman"/>
                <a:cs typeface="Times New Roman"/>
              </a:rPr>
              <a:t>jug</a:t>
            </a:r>
            <a:r>
              <a:rPr sz="1800" spc="-15" dirty="0">
                <a:latin typeface="Times New Roman"/>
                <a:cs typeface="Times New Roman"/>
              </a:rPr>
              <a:t> </a:t>
            </a:r>
            <a:r>
              <a:rPr sz="1800" spc="-5" dirty="0">
                <a:latin typeface="Times New Roman"/>
                <a:cs typeface="Times New Roman"/>
              </a:rPr>
              <a:t>is</a:t>
            </a:r>
            <a:r>
              <a:rPr sz="1800" spc="-15" dirty="0">
                <a:latin typeface="Times New Roman"/>
                <a:cs typeface="Times New Roman"/>
              </a:rPr>
              <a:t> </a:t>
            </a:r>
            <a:r>
              <a:rPr sz="1800" dirty="0">
                <a:latin typeface="Times New Roman"/>
                <a:cs typeface="Times New Roman"/>
              </a:rPr>
              <a:t>full</a:t>
            </a:r>
            <a:endParaRPr sz="1800">
              <a:latin typeface="Times New Roman"/>
              <a:cs typeface="Times New Roman"/>
            </a:endParaRPr>
          </a:p>
          <a:p>
            <a:pPr>
              <a:lnSpc>
                <a:spcPct val="100000"/>
              </a:lnSpc>
            </a:pPr>
            <a:endParaRPr sz="2000">
              <a:latin typeface="Times New Roman"/>
              <a:cs typeface="Times New Roman"/>
            </a:endParaRPr>
          </a:p>
          <a:p>
            <a:pPr>
              <a:lnSpc>
                <a:spcPct val="100000"/>
              </a:lnSpc>
              <a:spcBef>
                <a:spcPts val="25"/>
              </a:spcBef>
            </a:pPr>
            <a:endParaRPr sz="2150">
              <a:latin typeface="Times New Roman"/>
              <a:cs typeface="Times New Roman"/>
            </a:endParaRPr>
          </a:p>
          <a:p>
            <a:pPr marL="354965" marR="5080" indent="-342900">
              <a:lnSpc>
                <a:spcPct val="80000"/>
              </a:lnSpc>
            </a:pPr>
            <a:r>
              <a:rPr sz="1800" spc="-5" dirty="0">
                <a:latin typeface="Times New Roman"/>
                <a:cs typeface="Times New Roman"/>
              </a:rPr>
              <a:t>Pour all the water </a:t>
            </a:r>
            <a:r>
              <a:rPr sz="1800" dirty="0">
                <a:latin typeface="Times New Roman"/>
                <a:cs typeface="Times New Roman"/>
              </a:rPr>
              <a:t>from </a:t>
            </a:r>
            <a:r>
              <a:rPr sz="1800" spc="-5" dirty="0">
                <a:latin typeface="Times New Roman"/>
                <a:cs typeface="Times New Roman"/>
              </a:rPr>
              <a:t>the </a:t>
            </a:r>
            <a:r>
              <a:rPr sz="1800" dirty="0">
                <a:latin typeface="Times New Roman"/>
                <a:cs typeface="Times New Roman"/>
              </a:rPr>
              <a:t>3-gallon </a:t>
            </a:r>
            <a:r>
              <a:rPr sz="1800" spc="-5" dirty="0">
                <a:latin typeface="Times New Roman"/>
                <a:cs typeface="Times New Roman"/>
              </a:rPr>
              <a:t>jug into </a:t>
            </a:r>
            <a:r>
              <a:rPr sz="1800" spc="-434" dirty="0">
                <a:latin typeface="Times New Roman"/>
                <a:cs typeface="Times New Roman"/>
              </a:rPr>
              <a:t> </a:t>
            </a:r>
            <a:r>
              <a:rPr sz="1800" spc="-5" dirty="0">
                <a:latin typeface="Times New Roman"/>
                <a:cs typeface="Times New Roman"/>
              </a:rPr>
              <a:t>the</a:t>
            </a:r>
            <a:r>
              <a:rPr sz="1800" spc="-10" dirty="0">
                <a:latin typeface="Times New Roman"/>
                <a:cs typeface="Times New Roman"/>
              </a:rPr>
              <a:t> </a:t>
            </a:r>
            <a:r>
              <a:rPr sz="1800" dirty="0">
                <a:latin typeface="Times New Roman"/>
                <a:cs typeface="Times New Roman"/>
              </a:rPr>
              <a:t>4-gallon </a:t>
            </a:r>
            <a:r>
              <a:rPr sz="1800" spc="-5" dirty="0">
                <a:latin typeface="Times New Roman"/>
                <a:cs typeface="Times New Roman"/>
              </a:rPr>
              <a:t>jug</a:t>
            </a:r>
            <a:endParaRPr sz="1800">
              <a:latin typeface="Times New Roman"/>
              <a:cs typeface="Times New Roman"/>
            </a:endParaRPr>
          </a:p>
          <a:p>
            <a:pPr>
              <a:lnSpc>
                <a:spcPct val="100000"/>
              </a:lnSpc>
            </a:pPr>
            <a:endParaRPr sz="2000">
              <a:latin typeface="Times New Roman"/>
              <a:cs typeface="Times New Roman"/>
            </a:endParaRPr>
          </a:p>
          <a:p>
            <a:pPr>
              <a:lnSpc>
                <a:spcPct val="100000"/>
              </a:lnSpc>
              <a:spcBef>
                <a:spcPts val="10"/>
              </a:spcBef>
            </a:pPr>
            <a:endParaRPr sz="2150">
              <a:latin typeface="Times New Roman"/>
              <a:cs typeface="Times New Roman"/>
            </a:endParaRPr>
          </a:p>
          <a:p>
            <a:pPr marL="354965" marR="5080" indent="-342900">
              <a:lnSpc>
                <a:spcPts val="1730"/>
              </a:lnSpc>
              <a:spcBef>
                <a:spcPts val="5"/>
              </a:spcBef>
            </a:pPr>
            <a:r>
              <a:rPr sz="1800" spc="-5" dirty="0">
                <a:latin typeface="Times New Roman"/>
                <a:cs typeface="Times New Roman"/>
              </a:rPr>
              <a:t>Pour all the water </a:t>
            </a:r>
            <a:r>
              <a:rPr sz="1800" dirty="0">
                <a:latin typeface="Times New Roman"/>
                <a:cs typeface="Times New Roman"/>
              </a:rPr>
              <a:t>from </a:t>
            </a:r>
            <a:r>
              <a:rPr sz="1800" spc="-5" dirty="0">
                <a:latin typeface="Times New Roman"/>
                <a:cs typeface="Times New Roman"/>
              </a:rPr>
              <a:t>the </a:t>
            </a:r>
            <a:r>
              <a:rPr sz="1800" dirty="0">
                <a:latin typeface="Times New Roman"/>
                <a:cs typeface="Times New Roman"/>
              </a:rPr>
              <a:t>4-gallon </a:t>
            </a:r>
            <a:r>
              <a:rPr sz="1800" spc="-5" dirty="0">
                <a:latin typeface="Times New Roman"/>
                <a:cs typeface="Times New Roman"/>
              </a:rPr>
              <a:t>jug into </a:t>
            </a:r>
            <a:r>
              <a:rPr sz="1800" spc="-434" dirty="0">
                <a:latin typeface="Times New Roman"/>
                <a:cs typeface="Times New Roman"/>
              </a:rPr>
              <a:t> </a:t>
            </a:r>
            <a:r>
              <a:rPr sz="1800" spc="-5" dirty="0">
                <a:latin typeface="Times New Roman"/>
                <a:cs typeface="Times New Roman"/>
              </a:rPr>
              <a:t>the</a:t>
            </a:r>
            <a:r>
              <a:rPr sz="1800" spc="-10" dirty="0">
                <a:latin typeface="Times New Roman"/>
                <a:cs typeface="Times New Roman"/>
              </a:rPr>
              <a:t> </a:t>
            </a:r>
            <a:r>
              <a:rPr sz="1800" dirty="0">
                <a:latin typeface="Times New Roman"/>
                <a:cs typeface="Times New Roman"/>
              </a:rPr>
              <a:t>3-gallon </a:t>
            </a:r>
            <a:r>
              <a:rPr sz="1800" spc="-5" dirty="0">
                <a:latin typeface="Times New Roman"/>
                <a:cs typeface="Times New Roman"/>
              </a:rPr>
              <a:t>jug</a:t>
            </a:r>
            <a:endParaRPr sz="1800">
              <a:latin typeface="Times New Roman"/>
              <a:cs typeface="Times New Roman"/>
            </a:endParaRPr>
          </a:p>
        </p:txBody>
      </p:sp>
      <p:pic>
        <p:nvPicPr>
          <p:cNvPr id="5" name="object 5"/>
          <p:cNvPicPr/>
          <p:nvPr/>
        </p:nvPicPr>
        <p:blipFill>
          <a:blip r:embed="rId2" cstate="print"/>
          <a:stretch>
            <a:fillRect/>
          </a:stretch>
        </p:blipFill>
        <p:spPr>
          <a:xfrm>
            <a:off x="4495680" y="3352680"/>
            <a:ext cx="152639" cy="152639"/>
          </a:xfrm>
          <a:prstGeom prst="rect">
            <a:avLst/>
          </a:prstGeom>
        </p:spPr>
      </p:pic>
    </p:spTree>
    <p:extLst>
      <p:ext uri="{BB962C8B-B14F-4D97-AF65-F5344CB8AC3E}">
        <p14:creationId xmlns:p14="http://schemas.microsoft.com/office/powerpoint/2010/main" val="14478907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0597" y="214360"/>
            <a:ext cx="6561455" cy="635000"/>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739BDC"/>
                </a:solidFill>
              </a:rPr>
              <a:t>Can</a:t>
            </a:r>
            <a:r>
              <a:rPr sz="4000" spc="-20" dirty="0">
                <a:solidFill>
                  <a:srgbClr val="739BDC"/>
                </a:solidFill>
              </a:rPr>
              <a:t> Computers</a:t>
            </a:r>
            <a:r>
              <a:rPr sz="4000" spc="-15" dirty="0">
                <a:solidFill>
                  <a:srgbClr val="739BDC"/>
                </a:solidFill>
              </a:rPr>
              <a:t> beat</a:t>
            </a:r>
            <a:r>
              <a:rPr sz="4000" spc="-25" dirty="0">
                <a:solidFill>
                  <a:srgbClr val="739BDC"/>
                </a:solidFill>
              </a:rPr>
              <a:t> </a:t>
            </a:r>
            <a:r>
              <a:rPr sz="4000" spc="-5" dirty="0">
                <a:solidFill>
                  <a:srgbClr val="739BDC"/>
                </a:solidFill>
              </a:rPr>
              <a:t>Humans</a:t>
            </a:r>
            <a:r>
              <a:rPr sz="4000" spc="-15" dirty="0">
                <a:solidFill>
                  <a:srgbClr val="739BDC"/>
                </a:solidFill>
              </a:rPr>
              <a:t> </a:t>
            </a:r>
            <a:r>
              <a:rPr sz="4000" spc="-20" dirty="0">
                <a:solidFill>
                  <a:srgbClr val="739BDC"/>
                </a:solidFill>
              </a:rPr>
              <a:t>at</a:t>
            </a:r>
            <a:endParaRPr sz="4000"/>
          </a:p>
        </p:txBody>
      </p:sp>
      <p:sp>
        <p:nvSpPr>
          <p:cNvPr id="3" name="object 3"/>
          <p:cNvSpPr txBox="1"/>
          <p:nvPr/>
        </p:nvSpPr>
        <p:spPr>
          <a:xfrm>
            <a:off x="4118082" y="823960"/>
            <a:ext cx="1448435" cy="635000"/>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739BDC"/>
                </a:solidFill>
                <a:latin typeface="Calibri"/>
                <a:cs typeface="Calibri"/>
              </a:rPr>
              <a:t>Chess?</a:t>
            </a:r>
            <a:endParaRPr sz="4000">
              <a:latin typeface="Calibri"/>
              <a:cs typeface="Calibri"/>
            </a:endParaRPr>
          </a:p>
        </p:txBody>
      </p:sp>
      <p:sp>
        <p:nvSpPr>
          <p:cNvPr id="4" name="object 4"/>
          <p:cNvSpPr txBox="1"/>
          <p:nvPr/>
        </p:nvSpPr>
        <p:spPr>
          <a:xfrm>
            <a:off x="660331" y="1344297"/>
            <a:ext cx="3047365" cy="531495"/>
          </a:xfrm>
          <a:prstGeom prst="rect">
            <a:avLst/>
          </a:prstGeom>
        </p:spPr>
        <p:txBody>
          <a:bodyPr vert="horz" wrap="square" lIns="0" tIns="12700" rIns="0" bIns="0" rtlCol="0">
            <a:spAutoFit/>
          </a:bodyPr>
          <a:lstStyle/>
          <a:p>
            <a:pPr marL="443865" indent="-431800">
              <a:lnSpc>
                <a:spcPct val="100000"/>
              </a:lnSpc>
              <a:spcBef>
                <a:spcPts val="100"/>
              </a:spcBef>
              <a:buFont typeface="Cambria"/>
              <a:buChar char="◉"/>
              <a:tabLst>
                <a:tab pos="443865" algn="l"/>
                <a:tab pos="444500" algn="l"/>
              </a:tabLst>
            </a:pPr>
            <a:r>
              <a:rPr sz="1300" spc="-5" dirty="0">
                <a:latin typeface="Calibri"/>
                <a:cs typeface="Calibri"/>
              </a:rPr>
              <a:t>Chess</a:t>
            </a:r>
            <a:r>
              <a:rPr sz="1300" spc="-15" dirty="0">
                <a:latin typeface="Calibri"/>
                <a:cs typeface="Calibri"/>
              </a:rPr>
              <a:t> </a:t>
            </a:r>
            <a:r>
              <a:rPr sz="1300" spc="-10" dirty="0">
                <a:latin typeface="Calibri"/>
                <a:cs typeface="Calibri"/>
              </a:rPr>
              <a:t>Playing </a:t>
            </a:r>
            <a:r>
              <a:rPr sz="1300" spc="-5" dirty="0">
                <a:latin typeface="Calibri"/>
                <a:cs typeface="Calibri"/>
              </a:rPr>
              <a:t>is</a:t>
            </a:r>
            <a:r>
              <a:rPr sz="1300" spc="-10" dirty="0">
                <a:latin typeface="Calibri"/>
                <a:cs typeface="Calibri"/>
              </a:rPr>
              <a:t> </a:t>
            </a:r>
            <a:r>
              <a:rPr sz="1300" dirty="0">
                <a:latin typeface="Calibri"/>
                <a:cs typeface="Calibri"/>
              </a:rPr>
              <a:t>a</a:t>
            </a:r>
            <a:r>
              <a:rPr sz="1300" spc="-10" dirty="0">
                <a:latin typeface="Calibri"/>
                <a:cs typeface="Calibri"/>
              </a:rPr>
              <a:t> </a:t>
            </a:r>
            <a:r>
              <a:rPr sz="1300" spc="-5" dirty="0">
                <a:latin typeface="Calibri"/>
                <a:cs typeface="Calibri"/>
              </a:rPr>
              <a:t>classic</a:t>
            </a:r>
            <a:r>
              <a:rPr sz="1300" spc="-10" dirty="0">
                <a:latin typeface="Calibri"/>
                <a:cs typeface="Calibri"/>
              </a:rPr>
              <a:t> </a:t>
            </a:r>
            <a:r>
              <a:rPr sz="1300" spc="-5" dirty="0">
                <a:latin typeface="Calibri"/>
                <a:cs typeface="Calibri"/>
              </a:rPr>
              <a:t>AI</a:t>
            </a:r>
            <a:r>
              <a:rPr sz="1300" spc="-15" dirty="0">
                <a:latin typeface="Calibri"/>
                <a:cs typeface="Calibri"/>
              </a:rPr>
              <a:t> </a:t>
            </a:r>
            <a:r>
              <a:rPr sz="1300" spc="-10" dirty="0">
                <a:latin typeface="Calibri"/>
                <a:cs typeface="Calibri"/>
              </a:rPr>
              <a:t>problem</a:t>
            </a:r>
            <a:endParaRPr sz="1300">
              <a:latin typeface="Calibri"/>
              <a:cs typeface="Calibri"/>
            </a:endParaRPr>
          </a:p>
          <a:p>
            <a:pPr marL="544195">
              <a:lnSpc>
                <a:spcPct val="100000"/>
              </a:lnSpc>
              <a:spcBef>
                <a:spcPts val="25"/>
              </a:spcBef>
              <a:tabLst>
                <a:tab pos="818515" algn="l"/>
              </a:tabLst>
            </a:pPr>
            <a:r>
              <a:rPr sz="2000" dirty="0">
                <a:latin typeface="Verdana"/>
                <a:cs typeface="Verdana"/>
              </a:rPr>
              <a:t>›	</a:t>
            </a:r>
            <a:r>
              <a:rPr sz="2000" spc="-10" dirty="0">
                <a:latin typeface="Calibri"/>
                <a:cs typeface="Calibri"/>
              </a:rPr>
              <a:t>well-defined</a:t>
            </a:r>
            <a:r>
              <a:rPr sz="2000" spc="-50" dirty="0">
                <a:latin typeface="Calibri"/>
                <a:cs typeface="Calibri"/>
              </a:rPr>
              <a:t> </a:t>
            </a:r>
            <a:r>
              <a:rPr sz="2000" spc="-10" dirty="0">
                <a:latin typeface="Calibri"/>
                <a:cs typeface="Calibri"/>
              </a:rPr>
              <a:t>problem</a:t>
            </a:r>
            <a:endParaRPr sz="2000">
              <a:latin typeface="Calibri"/>
              <a:cs typeface="Calibri"/>
            </a:endParaRPr>
          </a:p>
        </p:txBody>
      </p:sp>
      <p:sp>
        <p:nvSpPr>
          <p:cNvPr id="5" name="object 5"/>
          <p:cNvSpPr txBox="1"/>
          <p:nvPr/>
        </p:nvSpPr>
        <p:spPr>
          <a:xfrm>
            <a:off x="660331" y="5474465"/>
            <a:ext cx="6386830" cy="531495"/>
          </a:xfrm>
          <a:prstGeom prst="rect">
            <a:avLst/>
          </a:prstGeom>
        </p:spPr>
        <p:txBody>
          <a:bodyPr vert="horz" wrap="square" lIns="0" tIns="12700" rIns="0" bIns="0" rtlCol="0">
            <a:spAutoFit/>
          </a:bodyPr>
          <a:lstStyle/>
          <a:p>
            <a:pPr marL="443865" indent="-431800">
              <a:lnSpc>
                <a:spcPct val="100000"/>
              </a:lnSpc>
              <a:spcBef>
                <a:spcPts val="100"/>
              </a:spcBef>
              <a:buFont typeface="Cambria"/>
              <a:buChar char="◉"/>
              <a:tabLst>
                <a:tab pos="443865" algn="l"/>
                <a:tab pos="444500" algn="l"/>
              </a:tabLst>
            </a:pPr>
            <a:r>
              <a:rPr sz="1300" spc="-5" dirty="0">
                <a:latin typeface="Calibri"/>
                <a:cs typeface="Calibri"/>
              </a:rPr>
              <a:t>Conclusion:</a:t>
            </a:r>
            <a:endParaRPr sz="1300">
              <a:latin typeface="Calibri"/>
              <a:cs typeface="Calibri"/>
            </a:endParaRPr>
          </a:p>
          <a:p>
            <a:pPr marL="544195">
              <a:lnSpc>
                <a:spcPct val="100000"/>
              </a:lnSpc>
              <a:spcBef>
                <a:spcPts val="25"/>
              </a:spcBef>
              <a:tabLst>
                <a:tab pos="818515" algn="l"/>
              </a:tabLst>
            </a:pPr>
            <a:r>
              <a:rPr sz="2000" dirty="0">
                <a:latin typeface="Verdana"/>
                <a:cs typeface="Verdana"/>
              </a:rPr>
              <a:t>›	</a:t>
            </a:r>
            <a:r>
              <a:rPr sz="2000" spc="-10" dirty="0">
                <a:latin typeface="Calibri"/>
                <a:cs typeface="Calibri"/>
              </a:rPr>
              <a:t>YES: </a:t>
            </a:r>
            <a:r>
              <a:rPr sz="2000" spc="-20" dirty="0">
                <a:latin typeface="Calibri"/>
                <a:cs typeface="Calibri"/>
              </a:rPr>
              <a:t>today’s</a:t>
            </a:r>
            <a:r>
              <a:rPr sz="2000" spc="-10" dirty="0">
                <a:latin typeface="Calibri"/>
                <a:cs typeface="Calibri"/>
              </a:rPr>
              <a:t> </a:t>
            </a:r>
            <a:r>
              <a:rPr sz="2000" spc="-15" dirty="0">
                <a:latin typeface="Calibri"/>
                <a:cs typeface="Calibri"/>
              </a:rPr>
              <a:t>computers</a:t>
            </a:r>
            <a:r>
              <a:rPr sz="2000" spc="-10" dirty="0">
                <a:latin typeface="Calibri"/>
                <a:cs typeface="Calibri"/>
              </a:rPr>
              <a:t> can</a:t>
            </a:r>
            <a:r>
              <a:rPr sz="2000" spc="-5" dirty="0">
                <a:latin typeface="Calibri"/>
                <a:cs typeface="Calibri"/>
              </a:rPr>
              <a:t> </a:t>
            </a:r>
            <a:r>
              <a:rPr sz="2000" spc="-10" dirty="0">
                <a:latin typeface="Calibri"/>
                <a:cs typeface="Calibri"/>
              </a:rPr>
              <a:t>beat even </a:t>
            </a:r>
            <a:r>
              <a:rPr sz="2000" spc="-5" dirty="0">
                <a:latin typeface="Calibri"/>
                <a:cs typeface="Calibri"/>
              </a:rPr>
              <a:t>the </a:t>
            </a:r>
            <a:r>
              <a:rPr sz="2000" spc="-10" dirty="0">
                <a:latin typeface="Calibri"/>
                <a:cs typeface="Calibri"/>
              </a:rPr>
              <a:t>best </a:t>
            </a:r>
            <a:r>
              <a:rPr sz="2000" spc="-5" dirty="0">
                <a:latin typeface="Calibri"/>
                <a:cs typeface="Calibri"/>
              </a:rPr>
              <a:t>human</a:t>
            </a:r>
            <a:endParaRPr sz="2000">
              <a:latin typeface="Calibri"/>
              <a:cs typeface="Calibri"/>
            </a:endParaRPr>
          </a:p>
        </p:txBody>
      </p:sp>
      <p:pic>
        <p:nvPicPr>
          <p:cNvPr id="6" name="object 6"/>
          <p:cNvPicPr/>
          <p:nvPr/>
        </p:nvPicPr>
        <p:blipFill>
          <a:blip r:embed="rId2" cstate="print"/>
          <a:stretch>
            <a:fillRect/>
          </a:stretch>
        </p:blipFill>
        <p:spPr>
          <a:xfrm>
            <a:off x="1285920" y="2786040"/>
            <a:ext cx="6172199" cy="3578399"/>
          </a:xfrm>
          <a:prstGeom prst="rect">
            <a:avLst/>
          </a:prstGeom>
        </p:spPr>
      </p:pic>
      <p:sp>
        <p:nvSpPr>
          <p:cNvPr id="7" name="object 7"/>
          <p:cNvSpPr txBox="1">
            <a:spLocks noGrp="1"/>
          </p:cNvSpPr>
          <p:nvPr>
            <p:ph type="body" idx="1"/>
          </p:nvPr>
        </p:nvSpPr>
        <p:spPr>
          <a:prstGeom prst="rect">
            <a:avLst/>
          </a:prstGeom>
        </p:spPr>
        <p:txBody>
          <a:bodyPr vert="horz" wrap="square" lIns="0" tIns="12700" rIns="0" bIns="0" rtlCol="0">
            <a:spAutoFit/>
          </a:bodyPr>
          <a:lstStyle/>
          <a:p>
            <a:pPr marL="12700">
              <a:lnSpc>
                <a:spcPct val="100000"/>
              </a:lnSpc>
              <a:spcBef>
                <a:spcPts val="100"/>
              </a:spcBef>
              <a:tabLst>
                <a:tab pos="286385" algn="l"/>
              </a:tabLst>
            </a:pPr>
            <a:r>
              <a:rPr dirty="0">
                <a:latin typeface="Verdana"/>
                <a:cs typeface="Verdana"/>
              </a:rPr>
              <a:t>›	</a:t>
            </a:r>
            <a:r>
              <a:rPr spc="-5" dirty="0"/>
              <a:t>very</a:t>
            </a:r>
            <a:r>
              <a:rPr spc="-10" dirty="0"/>
              <a:t> complex: difficult </a:t>
            </a:r>
            <a:r>
              <a:rPr spc="-20" dirty="0"/>
              <a:t>for</a:t>
            </a:r>
            <a:r>
              <a:rPr spc="-10" dirty="0"/>
              <a:t> </a:t>
            </a:r>
            <a:r>
              <a:rPr spc="-5" dirty="0"/>
              <a:t>humans</a:t>
            </a:r>
            <a:r>
              <a:rPr spc="-10" dirty="0"/>
              <a:t> to</a:t>
            </a:r>
            <a:r>
              <a:rPr spc="-5" dirty="0"/>
              <a:t> </a:t>
            </a:r>
            <a:r>
              <a:rPr spc="-15" dirty="0"/>
              <a:t>play</a:t>
            </a:r>
            <a:r>
              <a:rPr spc="-10" dirty="0"/>
              <a:t> well</a:t>
            </a:r>
          </a:p>
          <a:p>
            <a:pPr>
              <a:lnSpc>
                <a:spcPct val="100000"/>
              </a:lnSpc>
            </a:pPr>
            <a:endParaRPr sz="2850"/>
          </a:p>
          <a:p>
            <a:pPr marL="4816475">
              <a:lnSpc>
                <a:spcPts val="1440"/>
              </a:lnSpc>
            </a:pPr>
            <a:r>
              <a:rPr sz="1400" spc="-5" dirty="0">
                <a:latin typeface="Times New Roman"/>
                <a:cs typeface="Times New Roman"/>
              </a:rPr>
              <a:t>Deep</a:t>
            </a:r>
            <a:r>
              <a:rPr sz="1400" spc="-75" dirty="0">
                <a:latin typeface="Times New Roman"/>
                <a:cs typeface="Times New Roman"/>
              </a:rPr>
              <a:t> </a:t>
            </a:r>
            <a:r>
              <a:rPr sz="1400" spc="-5" dirty="0">
                <a:latin typeface="Times New Roman"/>
                <a:cs typeface="Times New Roman"/>
              </a:rPr>
              <a:t>Blue</a:t>
            </a:r>
            <a:endParaRPr sz="1400">
              <a:latin typeface="Times New Roman"/>
              <a:cs typeface="Times New Roman"/>
            </a:endParaRPr>
          </a:p>
          <a:p>
            <a:pPr marL="712470">
              <a:lnSpc>
                <a:spcPts val="1440"/>
              </a:lnSpc>
              <a:tabLst>
                <a:tab pos="1383030" algn="l"/>
                <a:tab pos="5332095" algn="l"/>
              </a:tabLst>
            </a:pPr>
            <a:r>
              <a:rPr sz="1400" u="sng" dirty="0">
                <a:uFill>
                  <a:solidFill>
                    <a:srgbClr val="000000"/>
                  </a:solidFill>
                </a:uFill>
                <a:latin typeface="Times New Roman"/>
                <a:cs typeface="Times New Roman"/>
              </a:rPr>
              <a:t> 	</a:t>
            </a:r>
            <a:r>
              <a:rPr sz="1400" u="sng" spc="-5" dirty="0">
                <a:uFill>
                  <a:solidFill>
                    <a:srgbClr val="000000"/>
                  </a:solidFill>
                </a:uFill>
                <a:latin typeface="Times New Roman"/>
                <a:cs typeface="Times New Roman"/>
              </a:rPr>
              <a:t>Human</a:t>
            </a:r>
            <a:r>
              <a:rPr sz="1400" u="sng" spc="-55" dirty="0">
                <a:uFill>
                  <a:solidFill>
                    <a:srgbClr val="000000"/>
                  </a:solidFill>
                </a:uFill>
                <a:latin typeface="Times New Roman"/>
                <a:cs typeface="Times New Roman"/>
              </a:rPr>
              <a:t> </a:t>
            </a:r>
            <a:r>
              <a:rPr sz="1400" u="sng" spc="-25" dirty="0">
                <a:uFill>
                  <a:solidFill>
                    <a:srgbClr val="000000"/>
                  </a:solidFill>
                </a:uFill>
                <a:latin typeface="Times New Roman"/>
                <a:cs typeface="Times New Roman"/>
              </a:rPr>
              <a:t>World </a:t>
            </a:r>
            <a:r>
              <a:rPr sz="1400" u="sng" spc="-5" dirty="0">
                <a:uFill>
                  <a:solidFill>
                    <a:srgbClr val="000000"/>
                  </a:solidFill>
                </a:uFill>
                <a:latin typeface="Times New Roman"/>
                <a:cs typeface="Times New Roman"/>
              </a:rPr>
              <a:t>Champion	</a:t>
            </a:r>
            <a:endParaRPr sz="1400">
              <a:latin typeface="Times New Roman"/>
              <a:cs typeface="Times New Roman"/>
            </a:endParaRPr>
          </a:p>
          <a:p>
            <a:pPr>
              <a:lnSpc>
                <a:spcPct val="100000"/>
              </a:lnSpc>
              <a:spcBef>
                <a:spcPts val="25"/>
              </a:spcBef>
            </a:pPr>
            <a:endParaRPr sz="1650">
              <a:latin typeface="Times New Roman"/>
              <a:cs typeface="Times New Roman"/>
            </a:endParaRPr>
          </a:p>
          <a:p>
            <a:pPr marR="353695" algn="r">
              <a:lnSpc>
                <a:spcPct val="100000"/>
              </a:lnSpc>
            </a:pPr>
            <a:r>
              <a:rPr sz="1400" spc="-5" dirty="0">
                <a:latin typeface="Times New Roman"/>
                <a:cs typeface="Times New Roman"/>
              </a:rPr>
              <a:t>Deep</a:t>
            </a:r>
            <a:r>
              <a:rPr sz="1400" spc="-70" dirty="0">
                <a:latin typeface="Times New Roman"/>
                <a:cs typeface="Times New Roman"/>
              </a:rPr>
              <a:t> </a:t>
            </a:r>
            <a:r>
              <a:rPr sz="1400" spc="-5" dirty="0">
                <a:latin typeface="Times New Roman"/>
                <a:cs typeface="Times New Roman"/>
              </a:rPr>
              <a:t>Thought</a:t>
            </a:r>
            <a:endParaRPr sz="1400">
              <a:latin typeface="Times New Roman"/>
              <a:cs typeface="Times New Roman"/>
            </a:endParaRPr>
          </a:p>
        </p:txBody>
      </p:sp>
      <p:sp>
        <p:nvSpPr>
          <p:cNvPr id="9" name="object 9"/>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90</a:t>
            </a:fld>
            <a:endParaRPr dirty="0"/>
          </a:p>
        </p:txBody>
      </p:sp>
      <p:sp>
        <p:nvSpPr>
          <p:cNvPr id="8" name="object 8"/>
          <p:cNvSpPr txBox="1"/>
          <p:nvPr/>
        </p:nvSpPr>
        <p:spPr>
          <a:xfrm>
            <a:off x="902987" y="3223422"/>
            <a:ext cx="278765" cy="1351280"/>
          </a:xfrm>
          <a:prstGeom prst="rect">
            <a:avLst/>
          </a:prstGeom>
        </p:spPr>
        <p:txBody>
          <a:bodyPr vert="vert270" wrap="square" lIns="0" tIns="0" rIns="0" bIns="0" rtlCol="0">
            <a:spAutoFit/>
          </a:bodyPr>
          <a:lstStyle/>
          <a:p>
            <a:pPr marL="12700">
              <a:lnSpc>
                <a:spcPts val="2065"/>
              </a:lnSpc>
            </a:pPr>
            <a:r>
              <a:rPr sz="1800" spc="-5" dirty="0">
                <a:latin typeface="Times New Roman"/>
                <a:cs typeface="Times New Roman"/>
              </a:rPr>
              <a:t>Points</a:t>
            </a:r>
            <a:r>
              <a:rPr sz="1800" spc="-80" dirty="0">
                <a:latin typeface="Times New Roman"/>
                <a:cs typeface="Times New Roman"/>
              </a:rPr>
              <a:t> </a:t>
            </a:r>
            <a:r>
              <a:rPr sz="1800" spc="-5" dirty="0">
                <a:latin typeface="Times New Roman"/>
                <a:cs typeface="Times New Roman"/>
              </a:rPr>
              <a:t>Ratings</a:t>
            </a:r>
            <a:endParaRPr sz="1800">
              <a:latin typeface="Times New Roman"/>
              <a:cs typeface="Times New Roman"/>
            </a:endParaRPr>
          </a:p>
        </p:txBody>
      </p:sp>
    </p:spTree>
    <p:extLst>
      <p:ext uri="{BB962C8B-B14F-4D97-AF65-F5344CB8AC3E}">
        <p14:creationId xmlns:p14="http://schemas.microsoft.com/office/powerpoint/2010/main" val="13573425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91</a:t>
            </a:fld>
            <a:endParaRPr dirty="0"/>
          </a:p>
        </p:txBody>
      </p:sp>
      <p:sp>
        <p:nvSpPr>
          <p:cNvPr id="2" name="object 2"/>
          <p:cNvSpPr txBox="1">
            <a:spLocks noGrp="1"/>
          </p:cNvSpPr>
          <p:nvPr>
            <p:ph type="title"/>
          </p:nvPr>
        </p:nvSpPr>
        <p:spPr>
          <a:xfrm>
            <a:off x="2246147" y="434040"/>
            <a:ext cx="4980940"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739BDC"/>
                </a:solidFill>
              </a:rPr>
              <a:t>Can</a:t>
            </a:r>
            <a:r>
              <a:rPr sz="2000" spc="-10" dirty="0">
                <a:solidFill>
                  <a:srgbClr val="739BDC"/>
                </a:solidFill>
              </a:rPr>
              <a:t> we </a:t>
            </a:r>
            <a:r>
              <a:rPr sz="2000" spc="-5" dirty="0">
                <a:solidFill>
                  <a:srgbClr val="739BDC"/>
                </a:solidFill>
              </a:rPr>
              <a:t>build </a:t>
            </a:r>
            <a:r>
              <a:rPr sz="2000" spc="-15" dirty="0">
                <a:solidFill>
                  <a:srgbClr val="739BDC"/>
                </a:solidFill>
              </a:rPr>
              <a:t>hardware</a:t>
            </a:r>
            <a:r>
              <a:rPr sz="2000" spc="-10" dirty="0">
                <a:solidFill>
                  <a:srgbClr val="739BDC"/>
                </a:solidFill>
              </a:rPr>
              <a:t> </a:t>
            </a:r>
            <a:r>
              <a:rPr sz="2000" dirty="0">
                <a:solidFill>
                  <a:srgbClr val="739BDC"/>
                </a:solidFill>
              </a:rPr>
              <a:t>as</a:t>
            </a:r>
            <a:r>
              <a:rPr sz="2000" spc="-5" dirty="0">
                <a:solidFill>
                  <a:srgbClr val="739BDC"/>
                </a:solidFill>
              </a:rPr>
              <a:t> </a:t>
            </a:r>
            <a:r>
              <a:rPr sz="2000" spc="-15" dirty="0">
                <a:solidFill>
                  <a:srgbClr val="739BDC"/>
                </a:solidFill>
              </a:rPr>
              <a:t>complex</a:t>
            </a:r>
            <a:r>
              <a:rPr sz="2000" spc="-10" dirty="0">
                <a:solidFill>
                  <a:srgbClr val="739BDC"/>
                </a:solidFill>
              </a:rPr>
              <a:t> </a:t>
            </a:r>
            <a:r>
              <a:rPr sz="2000" dirty="0">
                <a:solidFill>
                  <a:srgbClr val="739BDC"/>
                </a:solidFill>
              </a:rPr>
              <a:t>as</a:t>
            </a:r>
            <a:r>
              <a:rPr sz="2000" spc="-10" dirty="0">
                <a:solidFill>
                  <a:srgbClr val="739BDC"/>
                </a:solidFill>
              </a:rPr>
              <a:t> </a:t>
            </a:r>
            <a:r>
              <a:rPr sz="2000" spc="-5" dirty="0">
                <a:solidFill>
                  <a:srgbClr val="739BDC"/>
                </a:solidFill>
              </a:rPr>
              <a:t>the </a:t>
            </a:r>
            <a:r>
              <a:rPr sz="2000" spc="-10" dirty="0">
                <a:solidFill>
                  <a:srgbClr val="739BDC"/>
                </a:solidFill>
              </a:rPr>
              <a:t>brain?</a:t>
            </a:r>
            <a:endParaRPr sz="2000"/>
          </a:p>
        </p:txBody>
      </p:sp>
      <p:sp>
        <p:nvSpPr>
          <p:cNvPr id="3" name="object 3"/>
          <p:cNvSpPr txBox="1"/>
          <p:nvPr/>
        </p:nvSpPr>
        <p:spPr>
          <a:xfrm>
            <a:off x="728477" y="1257268"/>
            <a:ext cx="7284084" cy="4686935"/>
          </a:xfrm>
          <a:prstGeom prst="rect">
            <a:avLst/>
          </a:prstGeom>
        </p:spPr>
        <p:txBody>
          <a:bodyPr vert="horz" wrap="square" lIns="0" tIns="38735" rIns="0" bIns="0" rtlCol="0">
            <a:spAutoFit/>
          </a:bodyPr>
          <a:lstStyle/>
          <a:p>
            <a:pPr marL="518795" indent="-443230">
              <a:lnSpc>
                <a:spcPct val="100000"/>
              </a:lnSpc>
              <a:spcBef>
                <a:spcPts val="305"/>
              </a:spcBef>
              <a:buFont typeface="Cambria"/>
              <a:buChar char="◉"/>
              <a:tabLst>
                <a:tab pos="518795" algn="l"/>
                <a:tab pos="519430" algn="l"/>
              </a:tabLst>
            </a:pPr>
            <a:r>
              <a:rPr sz="1600" spc="-5" dirty="0">
                <a:latin typeface="Calibri"/>
                <a:cs typeface="Calibri"/>
              </a:rPr>
              <a:t>How</a:t>
            </a:r>
            <a:r>
              <a:rPr sz="1600" spc="-15" dirty="0">
                <a:latin typeface="Calibri"/>
                <a:cs typeface="Calibri"/>
              </a:rPr>
              <a:t> </a:t>
            </a:r>
            <a:r>
              <a:rPr sz="1600" spc="-10" dirty="0">
                <a:latin typeface="Calibri"/>
                <a:cs typeface="Calibri"/>
              </a:rPr>
              <a:t>complicated</a:t>
            </a:r>
            <a:r>
              <a:rPr sz="1600" spc="-15" dirty="0">
                <a:latin typeface="Calibri"/>
                <a:cs typeface="Calibri"/>
              </a:rPr>
              <a:t> </a:t>
            </a:r>
            <a:r>
              <a:rPr sz="1600" spc="-5" dirty="0">
                <a:latin typeface="Calibri"/>
                <a:cs typeface="Calibri"/>
              </a:rPr>
              <a:t>is</a:t>
            </a:r>
            <a:r>
              <a:rPr sz="1600" spc="-15" dirty="0">
                <a:latin typeface="Calibri"/>
                <a:cs typeface="Calibri"/>
              </a:rPr>
              <a:t> </a:t>
            </a:r>
            <a:r>
              <a:rPr sz="1600" spc="-5" dirty="0">
                <a:latin typeface="Calibri"/>
                <a:cs typeface="Calibri"/>
              </a:rPr>
              <a:t>our</a:t>
            </a:r>
            <a:r>
              <a:rPr sz="1600" spc="-15" dirty="0">
                <a:latin typeface="Calibri"/>
                <a:cs typeface="Calibri"/>
              </a:rPr>
              <a:t> </a:t>
            </a:r>
            <a:r>
              <a:rPr sz="1600" spc="-10" dirty="0">
                <a:latin typeface="Calibri"/>
                <a:cs typeface="Calibri"/>
              </a:rPr>
              <a:t>brain?</a:t>
            </a:r>
            <a:endParaRPr sz="1600">
              <a:latin typeface="Calibri"/>
              <a:cs typeface="Calibri"/>
            </a:endParaRPr>
          </a:p>
          <a:p>
            <a:pPr marL="617220">
              <a:lnSpc>
                <a:spcPct val="100000"/>
              </a:lnSpc>
              <a:spcBef>
                <a:spcPts val="210"/>
              </a:spcBef>
              <a:tabLst>
                <a:tab pos="893444" algn="l"/>
              </a:tabLst>
            </a:pPr>
            <a:r>
              <a:rPr sz="1600" dirty="0">
                <a:latin typeface="Verdana"/>
                <a:cs typeface="Verdana"/>
              </a:rPr>
              <a:t>›	</a:t>
            </a:r>
            <a:r>
              <a:rPr sz="1600" dirty="0">
                <a:latin typeface="Calibri"/>
                <a:cs typeface="Calibri"/>
              </a:rPr>
              <a:t>a</a:t>
            </a:r>
            <a:r>
              <a:rPr sz="1600" spc="-10" dirty="0">
                <a:latin typeface="Calibri"/>
                <a:cs typeface="Calibri"/>
              </a:rPr>
              <a:t> neuron,</a:t>
            </a:r>
            <a:r>
              <a:rPr sz="1600" spc="-5" dirty="0">
                <a:latin typeface="Calibri"/>
                <a:cs typeface="Calibri"/>
              </a:rPr>
              <a:t> or nerve cell, is</a:t>
            </a:r>
            <a:r>
              <a:rPr sz="1600" spc="-10" dirty="0">
                <a:latin typeface="Calibri"/>
                <a:cs typeface="Calibri"/>
              </a:rPr>
              <a:t> </a:t>
            </a:r>
            <a:r>
              <a:rPr sz="1600" spc="-5" dirty="0">
                <a:latin typeface="Calibri"/>
                <a:cs typeface="Calibri"/>
              </a:rPr>
              <a:t>the basic </a:t>
            </a:r>
            <a:r>
              <a:rPr sz="1600" spc="-10" dirty="0">
                <a:latin typeface="Calibri"/>
                <a:cs typeface="Calibri"/>
              </a:rPr>
              <a:t>information</a:t>
            </a:r>
            <a:r>
              <a:rPr sz="1600" spc="-5" dirty="0">
                <a:latin typeface="Calibri"/>
                <a:cs typeface="Calibri"/>
              </a:rPr>
              <a:t> </a:t>
            </a:r>
            <a:r>
              <a:rPr sz="1600" spc="-10" dirty="0">
                <a:latin typeface="Calibri"/>
                <a:cs typeface="Calibri"/>
              </a:rPr>
              <a:t>processing</a:t>
            </a:r>
            <a:r>
              <a:rPr sz="1600" spc="-5" dirty="0">
                <a:latin typeface="Calibri"/>
                <a:cs typeface="Calibri"/>
              </a:rPr>
              <a:t> unit</a:t>
            </a:r>
            <a:endParaRPr sz="1600">
              <a:latin typeface="Calibri"/>
              <a:cs typeface="Calibri"/>
            </a:endParaRPr>
          </a:p>
          <a:p>
            <a:pPr marL="617220">
              <a:lnSpc>
                <a:spcPct val="100000"/>
              </a:lnSpc>
              <a:spcBef>
                <a:spcPts val="204"/>
              </a:spcBef>
              <a:tabLst>
                <a:tab pos="893444" algn="l"/>
              </a:tabLst>
            </a:pPr>
            <a:r>
              <a:rPr sz="1600" dirty="0">
                <a:latin typeface="Verdana"/>
                <a:cs typeface="Verdana"/>
              </a:rPr>
              <a:t>›	</a:t>
            </a:r>
            <a:r>
              <a:rPr sz="1600" spc="-10" dirty="0">
                <a:latin typeface="Calibri"/>
                <a:cs typeface="Calibri"/>
              </a:rPr>
              <a:t>estimated to</a:t>
            </a:r>
            <a:r>
              <a:rPr sz="1600" spc="-5" dirty="0">
                <a:latin typeface="Calibri"/>
                <a:cs typeface="Calibri"/>
              </a:rPr>
              <a:t> be</a:t>
            </a:r>
            <a:r>
              <a:rPr sz="1600" spc="-10" dirty="0">
                <a:latin typeface="Calibri"/>
                <a:cs typeface="Calibri"/>
              </a:rPr>
              <a:t> </a:t>
            </a:r>
            <a:r>
              <a:rPr sz="1600" spc="-5" dirty="0">
                <a:latin typeface="Calibri"/>
                <a:cs typeface="Calibri"/>
              </a:rPr>
              <a:t>on the </a:t>
            </a:r>
            <a:r>
              <a:rPr sz="1600" spc="-10" dirty="0">
                <a:latin typeface="Calibri"/>
                <a:cs typeface="Calibri"/>
              </a:rPr>
              <a:t>order </a:t>
            </a:r>
            <a:r>
              <a:rPr sz="1600" spc="-5" dirty="0">
                <a:latin typeface="Calibri"/>
                <a:cs typeface="Calibri"/>
              </a:rPr>
              <a:t>of 10</a:t>
            </a:r>
            <a:r>
              <a:rPr sz="1600" spc="30" dirty="0">
                <a:latin typeface="Calibri"/>
                <a:cs typeface="Calibri"/>
              </a:rPr>
              <a:t> </a:t>
            </a:r>
            <a:r>
              <a:rPr sz="1575" spc="7" baseline="31746" dirty="0">
                <a:latin typeface="Calibri"/>
                <a:cs typeface="Calibri"/>
              </a:rPr>
              <a:t>12</a:t>
            </a:r>
            <a:r>
              <a:rPr sz="1575" baseline="31746" dirty="0">
                <a:latin typeface="Calibri"/>
                <a:cs typeface="Calibri"/>
              </a:rPr>
              <a:t> </a:t>
            </a:r>
            <a:r>
              <a:rPr sz="1600" spc="-10" dirty="0">
                <a:latin typeface="Calibri"/>
                <a:cs typeface="Calibri"/>
              </a:rPr>
              <a:t>neurons</a:t>
            </a:r>
            <a:r>
              <a:rPr sz="1600" spc="-5" dirty="0">
                <a:latin typeface="Calibri"/>
                <a:cs typeface="Calibri"/>
              </a:rPr>
              <a:t> in </a:t>
            </a:r>
            <a:r>
              <a:rPr sz="1600" dirty="0">
                <a:latin typeface="Calibri"/>
                <a:cs typeface="Calibri"/>
              </a:rPr>
              <a:t>a</a:t>
            </a:r>
            <a:r>
              <a:rPr sz="1600" spc="-10" dirty="0">
                <a:latin typeface="Calibri"/>
                <a:cs typeface="Calibri"/>
              </a:rPr>
              <a:t> </a:t>
            </a:r>
            <a:r>
              <a:rPr sz="1600" spc="-5" dirty="0">
                <a:latin typeface="Calibri"/>
                <a:cs typeface="Calibri"/>
              </a:rPr>
              <a:t>human </a:t>
            </a:r>
            <a:r>
              <a:rPr sz="1600" spc="-10" dirty="0">
                <a:latin typeface="Calibri"/>
                <a:cs typeface="Calibri"/>
              </a:rPr>
              <a:t>brain</a:t>
            </a:r>
            <a:endParaRPr sz="1600">
              <a:latin typeface="Calibri"/>
              <a:cs typeface="Calibri"/>
            </a:endParaRPr>
          </a:p>
          <a:p>
            <a:pPr marL="617220">
              <a:lnSpc>
                <a:spcPct val="100000"/>
              </a:lnSpc>
              <a:spcBef>
                <a:spcPts val="210"/>
              </a:spcBef>
              <a:tabLst>
                <a:tab pos="893444" algn="l"/>
              </a:tabLst>
            </a:pPr>
            <a:r>
              <a:rPr sz="1600" dirty="0">
                <a:latin typeface="Verdana"/>
                <a:cs typeface="Verdana"/>
              </a:rPr>
              <a:t>›	</a:t>
            </a:r>
            <a:r>
              <a:rPr sz="1600" spc="-15" dirty="0">
                <a:latin typeface="Calibri"/>
                <a:cs typeface="Calibri"/>
              </a:rPr>
              <a:t>many</a:t>
            </a:r>
            <a:r>
              <a:rPr sz="1600" spc="-5" dirty="0">
                <a:latin typeface="Calibri"/>
                <a:cs typeface="Calibri"/>
              </a:rPr>
              <a:t> </a:t>
            </a:r>
            <a:r>
              <a:rPr sz="1600" spc="-10" dirty="0">
                <a:latin typeface="Calibri"/>
                <a:cs typeface="Calibri"/>
              </a:rPr>
              <a:t>more</a:t>
            </a:r>
            <a:r>
              <a:rPr sz="1600" spc="-5" dirty="0">
                <a:latin typeface="Calibri"/>
                <a:cs typeface="Calibri"/>
              </a:rPr>
              <a:t> </a:t>
            </a:r>
            <a:r>
              <a:rPr sz="1600" spc="-10" dirty="0">
                <a:latin typeface="Calibri"/>
                <a:cs typeface="Calibri"/>
              </a:rPr>
              <a:t>synapses</a:t>
            </a:r>
            <a:r>
              <a:rPr sz="1600" spc="-5" dirty="0">
                <a:latin typeface="Calibri"/>
                <a:cs typeface="Calibri"/>
              </a:rPr>
              <a:t> (10</a:t>
            </a:r>
            <a:r>
              <a:rPr sz="1600" spc="15" dirty="0">
                <a:latin typeface="Calibri"/>
                <a:cs typeface="Calibri"/>
              </a:rPr>
              <a:t> </a:t>
            </a:r>
            <a:r>
              <a:rPr sz="1575" baseline="31746" dirty="0">
                <a:latin typeface="Calibri"/>
                <a:cs typeface="Calibri"/>
              </a:rPr>
              <a:t>14</a:t>
            </a:r>
            <a:r>
              <a:rPr sz="1600" dirty="0">
                <a:latin typeface="Calibri"/>
                <a:cs typeface="Calibri"/>
              </a:rPr>
              <a:t>)</a:t>
            </a:r>
            <a:r>
              <a:rPr sz="1600" spc="-5" dirty="0">
                <a:latin typeface="Calibri"/>
                <a:cs typeface="Calibri"/>
              </a:rPr>
              <a:t> </a:t>
            </a:r>
            <a:r>
              <a:rPr sz="1600" spc="-10" dirty="0">
                <a:latin typeface="Calibri"/>
                <a:cs typeface="Calibri"/>
              </a:rPr>
              <a:t>connecting</a:t>
            </a:r>
            <a:r>
              <a:rPr sz="1600" spc="-5" dirty="0">
                <a:latin typeface="Calibri"/>
                <a:cs typeface="Calibri"/>
              </a:rPr>
              <a:t> these </a:t>
            </a:r>
            <a:r>
              <a:rPr sz="1600" spc="-10" dirty="0">
                <a:latin typeface="Calibri"/>
                <a:cs typeface="Calibri"/>
              </a:rPr>
              <a:t>neurons</a:t>
            </a:r>
            <a:endParaRPr sz="1600">
              <a:latin typeface="Calibri"/>
              <a:cs typeface="Calibri"/>
            </a:endParaRPr>
          </a:p>
          <a:p>
            <a:pPr marL="617220">
              <a:lnSpc>
                <a:spcPct val="100000"/>
              </a:lnSpc>
              <a:spcBef>
                <a:spcPts val="209"/>
              </a:spcBef>
              <a:tabLst>
                <a:tab pos="893444" algn="l"/>
              </a:tabLst>
            </a:pPr>
            <a:r>
              <a:rPr sz="1600" dirty="0">
                <a:latin typeface="Verdana"/>
                <a:cs typeface="Verdana"/>
              </a:rPr>
              <a:t>›	</a:t>
            </a:r>
            <a:r>
              <a:rPr sz="1600" spc="-10" dirty="0">
                <a:latin typeface="Calibri"/>
                <a:cs typeface="Calibri"/>
              </a:rPr>
              <a:t>cycle</a:t>
            </a:r>
            <a:r>
              <a:rPr sz="1600" spc="-5" dirty="0">
                <a:latin typeface="Calibri"/>
                <a:cs typeface="Calibri"/>
              </a:rPr>
              <a:t> time: 10</a:t>
            </a:r>
            <a:r>
              <a:rPr sz="1600" spc="30" dirty="0">
                <a:latin typeface="Calibri"/>
                <a:cs typeface="Calibri"/>
              </a:rPr>
              <a:t> </a:t>
            </a:r>
            <a:r>
              <a:rPr sz="1575" baseline="31746" dirty="0">
                <a:latin typeface="Calibri"/>
                <a:cs typeface="Calibri"/>
              </a:rPr>
              <a:t>-3 </a:t>
            </a:r>
            <a:r>
              <a:rPr sz="1600" spc="-10" dirty="0">
                <a:latin typeface="Calibri"/>
                <a:cs typeface="Calibri"/>
              </a:rPr>
              <a:t>seconds</a:t>
            </a:r>
            <a:r>
              <a:rPr sz="1600" spc="-5" dirty="0">
                <a:latin typeface="Calibri"/>
                <a:cs typeface="Calibri"/>
              </a:rPr>
              <a:t> (1</a:t>
            </a:r>
            <a:r>
              <a:rPr sz="1600" dirty="0">
                <a:latin typeface="Calibri"/>
                <a:cs typeface="Calibri"/>
              </a:rPr>
              <a:t> </a:t>
            </a:r>
            <a:r>
              <a:rPr sz="1600" spc="-10" dirty="0">
                <a:latin typeface="Calibri"/>
                <a:cs typeface="Calibri"/>
              </a:rPr>
              <a:t>millisecond)</a:t>
            </a:r>
            <a:endParaRPr sz="1600">
              <a:latin typeface="Calibri"/>
              <a:cs typeface="Calibri"/>
            </a:endParaRPr>
          </a:p>
          <a:p>
            <a:pPr>
              <a:lnSpc>
                <a:spcPct val="100000"/>
              </a:lnSpc>
              <a:spcBef>
                <a:spcPts val="40"/>
              </a:spcBef>
            </a:pPr>
            <a:endParaRPr sz="1550">
              <a:latin typeface="Calibri"/>
              <a:cs typeface="Calibri"/>
            </a:endParaRPr>
          </a:p>
          <a:p>
            <a:pPr marL="518795" indent="-443230">
              <a:lnSpc>
                <a:spcPct val="100000"/>
              </a:lnSpc>
              <a:buFont typeface="Cambria"/>
              <a:buChar char="◉"/>
              <a:tabLst>
                <a:tab pos="518795" algn="l"/>
                <a:tab pos="519430" algn="l"/>
              </a:tabLst>
            </a:pPr>
            <a:r>
              <a:rPr sz="1600" spc="-5" dirty="0">
                <a:latin typeface="Calibri"/>
                <a:cs typeface="Calibri"/>
              </a:rPr>
              <a:t>How</a:t>
            </a:r>
            <a:r>
              <a:rPr sz="1600" spc="-15" dirty="0">
                <a:latin typeface="Calibri"/>
                <a:cs typeface="Calibri"/>
              </a:rPr>
              <a:t> </a:t>
            </a:r>
            <a:r>
              <a:rPr sz="1600" spc="-10" dirty="0">
                <a:latin typeface="Calibri"/>
                <a:cs typeface="Calibri"/>
              </a:rPr>
              <a:t>complex</a:t>
            </a:r>
            <a:r>
              <a:rPr sz="1600" spc="-15" dirty="0">
                <a:latin typeface="Calibri"/>
                <a:cs typeface="Calibri"/>
              </a:rPr>
              <a:t> </a:t>
            </a:r>
            <a:r>
              <a:rPr sz="1600" spc="-5" dirty="0">
                <a:latin typeface="Calibri"/>
                <a:cs typeface="Calibri"/>
              </a:rPr>
              <a:t>can</a:t>
            </a:r>
            <a:r>
              <a:rPr sz="1600" spc="-15" dirty="0">
                <a:latin typeface="Calibri"/>
                <a:cs typeface="Calibri"/>
              </a:rPr>
              <a:t> </a:t>
            </a:r>
            <a:r>
              <a:rPr sz="1600" spc="-10" dirty="0">
                <a:latin typeface="Calibri"/>
                <a:cs typeface="Calibri"/>
              </a:rPr>
              <a:t>we</a:t>
            </a:r>
            <a:r>
              <a:rPr sz="1600" spc="-15" dirty="0">
                <a:latin typeface="Calibri"/>
                <a:cs typeface="Calibri"/>
              </a:rPr>
              <a:t> </a:t>
            </a:r>
            <a:r>
              <a:rPr sz="1600" spc="-20" dirty="0">
                <a:latin typeface="Calibri"/>
                <a:cs typeface="Calibri"/>
              </a:rPr>
              <a:t>make</a:t>
            </a:r>
            <a:r>
              <a:rPr sz="1600" spc="-15" dirty="0">
                <a:latin typeface="Calibri"/>
                <a:cs typeface="Calibri"/>
              </a:rPr>
              <a:t> </a:t>
            </a:r>
            <a:r>
              <a:rPr sz="1600" spc="-10" dirty="0">
                <a:latin typeface="Calibri"/>
                <a:cs typeface="Calibri"/>
              </a:rPr>
              <a:t>computers?</a:t>
            </a:r>
            <a:endParaRPr sz="1600">
              <a:latin typeface="Calibri"/>
              <a:cs typeface="Calibri"/>
            </a:endParaRPr>
          </a:p>
          <a:p>
            <a:pPr marL="617220">
              <a:lnSpc>
                <a:spcPct val="100000"/>
              </a:lnSpc>
              <a:spcBef>
                <a:spcPts val="210"/>
              </a:spcBef>
              <a:tabLst>
                <a:tab pos="893444" algn="l"/>
              </a:tabLst>
            </a:pPr>
            <a:r>
              <a:rPr sz="1600" dirty="0">
                <a:latin typeface="Verdana"/>
                <a:cs typeface="Verdana"/>
              </a:rPr>
              <a:t>›	</a:t>
            </a:r>
            <a:r>
              <a:rPr sz="1600" dirty="0">
                <a:latin typeface="Calibri"/>
                <a:cs typeface="Calibri"/>
              </a:rPr>
              <a:t>10</a:t>
            </a:r>
            <a:r>
              <a:rPr sz="1575" baseline="31746" dirty="0">
                <a:latin typeface="Calibri"/>
                <a:cs typeface="Calibri"/>
              </a:rPr>
              <a:t>8</a:t>
            </a:r>
            <a:r>
              <a:rPr sz="1575" spc="172" baseline="31746" dirty="0">
                <a:latin typeface="Calibri"/>
                <a:cs typeface="Calibri"/>
              </a:rPr>
              <a:t> </a:t>
            </a:r>
            <a:r>
              <a:rPr sz="1600" spc="-5" dirty="0">
                <a:latin typeface="Calibri"/>
                <a:cs typeface="Calibri"/>
              </a:rPr>
              <a:t>or</a:t>
            </a:r>
            <a:r>
              <a:rPr sz="1600" spc="-10" dirty="0">
                <a:latin typeface="Calibri"/>
                <a:cs typeface="Calibri"/>
              </a:rPr>
              <a:t> more </a:t>
            </a:r>
            <a:r>
              <a:rPr sz="1600" spc="-15" dirty="0">
                <a:latin typeface="Calibri"/>
                <a:cs typeface="Calibri"/>
              </a:rPr>
              <a:t>transistors</a:t>
            </a:r>
            <a:r>
              <a:rPr sz="1600" spc="-10" dirty="0">
                <a:latin typeface="Calibri"/>
                <a:cs typeface="Calibri"/>
              </a:rPr>
              <a:t> </a:t>
            </a:r>
            <a:r>
              <a:rPr sz="1600" spc="-5" dirty="0">
                <a:latin typeface="Calibri"/>
                <a:cs typeface="Calibri"/>
              </a:rPr>
              <a:t>per</a:t>
            </a:r>
            <a:r>
              <a:rPr sz="1600" spc="-10" dirty="0">
                <a:latin typeface="Calibri"/>
                <a:cs typeface="Calibri"/>
              </a:rPr>
              <a:t> </a:t>
            </a:r>
            <a:r>
              <a:rPr sz="1600" spc="-5" dirty="0">
                <a:latin typeface="Calibri"/>
                <a:cs typeface="Calibri"/>
              </a:rPr>
              <a:t>CPU</a:t>
            </a:r>
            <a:endParaRPr sz="1600">
              <a:latin typeface="Calibri"/>
              <a:cs typeface="Calibri"/>
            </a:endParaRPr>
          </a:p>
          <a:p>
            <a:pPr marL="617220">
              <a:lnSpc>
                <a:spcPct val="100000"/>
              </a:lnSpc>
              <a:spcBef>
                <a:spcPts val="209"/>
              </a:spcBef>
              <a:tabLst>
                <a:tab pos="893444" algn="l"/>
              </a:tabLst>
            </a:pPr>
            <a:r>
              <a:rPr sz="1600" dirty="0">
                <a:latin typeface="Verdana"/>
                <a:cs typeface="Verdana"/>
              </a:rPr>
              <a:t>›	</a:t>
            </a:r>
            <a:r>
              <a:rPr sz="1600" spc="-10" dirty="0">
                <a:latin typeface="Calibri"/>
                <a:cs typeface="Calibri"/>
              </a:rPr>
              <a:t>supercomputer: hundreds </a:t>
            </a:r>
            <a:r>
              <a:rPr sz="1600" spc="-5" dirty="0">
                <a:latin typeface="Calibri"/>
                <a:cs typeface="Calibri"/>
              </a:rPr>
              <a:t>of CPUs,</a:t>
            </a:r>
            <a:r>
              <a:rPr sz="1600" spc="-10" dirty="0">
                <a:latin typeface="Calibri"/>
                <a:cs typeface="Calibri"/>
              </a:rPr>
              <a:t> </a:t>
            </a:r>
            <a:r>
              <a:rPr sz="1600" spc="5" dirty="0">
                <a:latin typeface="Calibri"/>
                <a:cs typeface="Calibri"/>
              </a:rPr>
              <a:t>10</a:t>
            </a:r>
            <a:r>
              <a:rPr sz="1575" spc="7" baseline="31746" dirty="0">
                <a:latin typeface="Calibri"/>
                <a:cs typeface="Calibri"/>
              </a:rPr>
              <a:t>12</a:t>
            </a:r>
            <a:r>
              <a:rPr sz="1575" spc="179" baseline="31746" dirty="0">
                <a:latin typeface="Calibri"/>
                <a:cs typeface="Calibri"/>
              </a:rPr>
              <a:t> </a:t>
            </a:r>
            <a:r>
              <a:rPr sz="1600" spc="-5" dirty="0">
                <a:latin typeface="Calibri"/>
                <a:cs typeface="Calibri"/>
              </a:rPr>
              <a:t>bits of</a:t>
            </a:r>
            <a:r>
              <a:rPr sz="1600" spc="-10" dirty="0">
                <a:latin typeface="Calibri"/>
                <a:cs typeface="Calibri"/>
              </a:rPr>
              <a:t> </a:t>
            </a:r>
            <a:r>
              <a:rPr sz="1600" spc="-5" dirty="0">
                <a:latin typeface="Calibri"/>
                <a:cs typeface="Calibri"/>
              </a:rPr>
              <a:t>RAM</a:t>
            </a:r>
            <a:endParaRPr sz="1600">
              <a:latin typeface="Calibri"/>
              <a:cs typeface="Calibri"/>
            </a:endParaRPr>
          </a:p>
          <a:p>
            <a:pPr marL="617220">
              <a:lnSpc>
                <a:spcPct val="100000"/>
              </a:lnSpc>
              <a:spcBef>
                <a:spcPts val="204"/>
              </a:spcBef>
              <a:tabLst>
                <a:tab pos="893444" algn="l"/>
              </a:tabLst>
            </a:pPr>
            <a:r>
              <a:rPr sz="1600" dirty="0">
                <a:latin typeface="Verdana"/>
                <a:cs typeface="Verdana"/>
              </a:rPr>
              <a:t>›	</a:t>
            </a:r>
            <a:r>
              <a:rPr sz="1600" spc="-10" dirty="0">
                <a:latin typeface="Calibri"/>
                <a:cs typeface="Calibri"/>
              </a:rPr>
              <a:t>cycle </a:t>
            </a:r>
            <a:r>
              <a:rPr sz="1600" spc="-5" dirty="0">
                <a:latin typeface="Calibri"/>
                <a:cs typeface="Calibri"/>
              </a:rPr>
              <a:t>times:</a:t>
            </a:r>
            <a:r>
              <a:rPr sz="1600" spc="-10" dirty="0">
                <a:latin typeface="Calibri"/>
                <a:cs typeface="Calibri"/>
              </a:rPr>
              <a:t> order </a:t>
            </a:r>
            <a:r>
              <a:rPr sz="1600" spc="-5" dirty="0">
                <a:latin typeface="Calibri"/>
                <a:cs typeface="Calibri"/>
              </a:rPr>
              <a:t>of</a:t>
            </a:r>
            <a:r>
              <a:rPr sz="1600" spc="-10" dirty="0">
                <a:latin typeface="Calibri"/>
                <a:cs typeface="Calibri"/>
              </a:rPr>
              <a:t> </a:t>
            </a:r>
            <a:r>
              <a:rPr sz="1600" spc="-5" dirty="0">
                <a:latin typeface="Calibri"/>
                <a:cs typeface="Calibri"/>
              </a:rPr>
              <a:t>10</a:t>
            </a:r>
            <a:r>
              <a:rPr sz="1600" spc="25" dirty="0">
                <a:latin typeface="Calibri"/>
                <a:cs typeface="Calibri"/>
              </a:rPr>
              <a:t> </a:t>
            </a:r>
            <a:r>
              <a:rPr sz="1575" spc="7" baseline="31746" dirty="0">
                <a:latin typeface="Calibri"/>
                <a:cs typeface="Calibri"/>
              </a:rPr>
              <a:t>-</a:t>
            </a:r>
            <a:r>
              <a:rPr sz="1575" spc="-7" baseline="31746" dirty="0">
                <a:latin typeface="Calibri"/>
                <a:cs typeface="Calibri"/>
              </a:rPr>
              <a:t> </a:t>
            </a:r>
            <a:r>
              <a:rPr sz="1575" spc="7" baseline="31746" dirty="0">
                <a:latin typeface="Calibri"/>
                <a:cs typeface="Calibri"/>
              </a:rPr>
              <a:t>9</a:t>
            </a:r>
            <a:r>
              <a:rPr sz="1575" baseline="31746" dirty="0">
                <a:latin typeface="Calibri"/>
                <a:cs typeface="Calibri"/>
              </a:rPr>
              <a:t> </a:t>
            </a:r>
            <a:r>
              <a:rPr sz="1600" spc="-10" dirty="0">
                <a:latin typeface="Calibri"/>
                <a:cs typeface="Calibri"/>
              </a:rPr>
              <a:t>seconds</a:t>
            </a:r>
            <a:endParaRPr sz="1600">
              <a:latin typeface="Calibri"/>
              <a:cs typeface="Calibri"/>
            </a:endParaRPr>
          </a:p>
          <a:p>
            <a:pPr>
              <a:lnSpc>
                <a:spcPct val="100000"/>
              </a:lnSpc>
              <a:spcBef>
                <a:spcPts val="45"/>
              </a:spcBef>
            </a:pPr>
            <a:endParaRPr sz="1550">
              <a:latin typeface="Calibri"/>
              <a:cs typeface="Calibri"/>
            </a:endParaRPr>
          </a:p>
          <a:p>
            <a:pPr marL="518795" indent="-443230">
              <a:lnSpc>
                <a:spcPct val="100000"/>
              </a:lnSpc>
              <a:buFont typeface="Cambria"/>
              <a:buChar char="◉"/>
              <a:tabLst>
                <a:tab pos="518795" algn="l"/>
                <a:tab pos="519430" algn="l"/>
              </a:tabLst>
            </a:pPr>
            <a:r>
              <a:rPr sz="1600" spc="-5" dirty="0">
                <a:latin typeface="Calibri"/>
                <a:cs typeface="Calibri"/>
              </a:rPr>
              <a:t>Conclusion</a:t>
            </a:r>
            <a:endParaRPr sz="1600">
              <a:latin typeface="Calibri"/>
              <a:cs typeface="Calibri"/>
            </a:endParaRPr>
          </a:p>
          <a:p>
            <a:pPr marL="893444" marR="17780" indent="-294640">
              <a:lnSpc>
                <a:spcPts val="1730"/>
              </a:lnSpc>
              <a:spcBef>
                <a:spcPts val="425"/>
              </a:spcBef>
              <a:tabLst>
                <a:tab pos="893444" algn="l"/>
              </a:tabLst>
            </a:pPr>
            <a:r>
              <a:rPr sz="1600" b="1" dirty="0">
                <a:latin typeface="Verdana"/>
                <a:cs typeface="Verdana"/>
              </a:rPr>
              <a:t>›	</a:t>
            </a:r>
            <a:r>
              <a:rPr sz="1600" b="1" spc="-10" dirty="0">
                <a:latin typeface="Calibri"/>
                <a:cs typeface="Calibri"/>
              </a:rPr>
              <a:t>YES:</a:t>
            </a:r>
            <a:r>
              <a:rPr sz="1600" b="1" spc="-5" dirty="0">
                <a:latin typeface="Calibri"/>
                <a:cs typeface="Calibri"/>
              </a:rPr>
              <a:t> in</a:t>
            </a:r>
            <a:r>
              <a:rPr sz="1600" b="1" spc="5" dirty="0">
                <a:latin typeface="Calibri"/>
                <a:cs typeface="Calibri"/>
              </a:rPr>
              <a:t> </a:t>
            </a:r>
            <a:r>
              <a:rPr sz="1600" spc="-5" dirty="0">
                <a:latin typeface="Calibri"/>
                <a:cs typeface="Calibri"/>
              </a:rPr>
              <a:t>the near </a:t>
            </a:r>
            <a:r>
              <a:rPr sz="1600" spc="-10" dirty="0">
                <a:latin typeface="Calibri"/>
                <a:cs typeface="Calibri"/>
              </a:rPr>
              <a:t>future</a:t>
            </a:r>
            <a:r>
              <a:rPr sz="1600" spc="-5" dirty="0">
                <a:latin typeface="Calibri"/>
                <a:cs typeface="Calibri"/>
              </a:rPr>
              <a:t> </a:t>
            </a:r>
            <a:r>
              <a:rPr sz="1600" spc="-10" dirty="0">
                <a:latin typeface="Calibri"/>
                <a:cs typeface="Calibri"/>
              </a:rPr>
              <a:t>we</a:t>
            </a:r>
            <a:r>
              <a:rPr sz="1600" spc="-5" dirty="0">
                <a:latin typeface="Calibri"/>
                <a:cs typeface="Calibri"/>
              </a:rPr>
              <a:t> can </a:t>
            </a:r>
            <a:r>
              <a:rPr sz="1600" spc="-15" dirty="0">
                <a:latin typeface="Calibri"/>
                <a:cs typeface="Calibri"/>
              </a:rPr>
              <a:t>have</a:t>
            </a:r>
            <a:r>
              <a:rPr sz="1600" spc="-5" dirty="0">
                <a:latin typeface="Calibri"/>
                <a:cs typeface="Calibri"/>
              </a:rPr>
              <a:t> </a:t>
            </a:r>
            <a:r>
              <a:rPr sz="1600" spc="-10" dirty="0">
                <a:latin typeface="Calibri"/>
                <a:cs typeface="Calibri"/>
              </a:rPr>
              <a:t>computers</a:t>
            </a:r>
            <a:r>
              <a:rPr sz="1600" spc="-5" dirty="0">
                <a:latin typeface="Calibri"/>
                <a:cs typeface="Calibri"/>
              </a:rPr>
              <a:t> with </a:t>
            </a:r>
            <a:r>
              <a:rPr sz="1600" dirty="0">
                <a:latin typeface="Calibri"/>
                <a:cs typeface="Calibri"/>
              </a:rPr>
              <a:t>as</a:t>
            </a:r>
            <a:r>
              <a:rPr sz="1600" spc="-5" dirty="0">
                <a:latin typeface="Calibri"/>
                <a:cs typeface="Calibri"/>
              </a:rPr>
              <a:t> </a:t>
            </a:r>
            <a:r>
              <a:rPr sz="1600" spc="-15" dirty="0">
                <a:latin typeface="Calibri"/>
                <a:cs typeface="Calibri"/>
              </a:rPr>
              <a:t>many</a:t>
            </a:r>
            <a:r>
              <a:rPr sz="1600" spc="-5" dirty="0">
                <a:latin typeface="Calibri"/>
                <a:cs typeface="Calibri"/>
              </a:rPr>
              <a:t> basic </a:t>
            </a:r>
            <a:r>
              <a:rPr sz="1600" spc="-10" dirty="0">
                <a:latin typeface="Calibri"/>
                <a:cs typeface="Calibri"/>
              </a:rPr>
              <a:t>processing </a:t>
            </a:r>
            <a:r>
              <a:rPr sz="1600" spc="-350" dirty="0">
                <a:latin typeface="Calibri"/>
                <a:cs typeface="Calibri"/>
              </a:rPr>
              <a:t> </a:t>
            </a:r>
            <a:r>
              <a:rPr sz="1600" spc="-10" dirty="0">
                <a:latin typeface="Calibri"/>
                <a:cs typeface="Calibri"/>
              </a:rPr>
              <a:t>elements </a:t>
            </a:r>
            <a:r>
              <a:rPr sz="1600" dirty="0">
                <a:latin typeface="Calibri"/>
                <a:cs typeface="Calibri"/>
              </a:rPr>
              <a:t>as</a:t>
            </a:r>
            <a:r>
              <a:rPr sz="1600" spc="-5" dirty="0">
                <a:latin typeface="Calibri"/>
                <a:cs typeface="Calibri"/>
              </a:rPr>
              <a:t> our </a:t>
            </a:r>
            <a:r>
              <a:rPr sz="1600" spc="-10" dirty="0">
                <a:latin typeface="Calibri"/>
                <a:cs typeface="Calibri"/>
              </a:rPr>
              <a:t>brain,</a:t>
            </a:r>
            <a:r>
              <a:rPr sz="1600" spc="-5" dirty="0">
                <a:latin typeface="Calibri"/>
                <a:cs typeface="Calibri"/>
              </a:rPr>
              <a:t> but with</a:t>
            </a:r>
            <a:endParaRPr sz="1600">
              <a:latin typeface="Calibri"/>
              <a:cs typeface="Calibri"/>
            </a:endParaRPr>
          </a:p>
          <a:p>
            <a:pPr marL="1176020" lvl="1" indent="-250190">
              <a:lnSpc>
                <a:spcPct val="100000"/>
              </a:lnSpc>
              <a:spcBef>
                <a:spcPts val="180"/>
              </a:spcBef>
              <a:buFont typeface="Arial MT"/>
              <a:buChar char="●"/>
              <a:tabLst>
                <a:tab pos="1176655" algn="l"/>
              </a:tabLst>
            </a:pPr>
            <a:r>
              <a:rPr sz="1600" spc="-15" dirty="0">
                <a:latin typeface="Calibri"/>
                <a:cs typeface="Calibri"/>
              </a:rPr>
              <a:t>far</a:t>
            </a:r>
            <a:r>
              <a:rPr sz="1600" spc="-5" dirty="0">
                <a:latin typeface="Calibri"/>
                <a:cs typeface="Calibri"/>
              </a:rPr>
              <a:t> </a:t>
            </a:r>
            <a:r>
              <a:rPr sz="1600" spc="-15" dirty="0">
                <a:latin typeface="Calibri"/>
                <a:cs typeface="Calibri"/>
              </a:rPr>
              <a:t>fewer</a:t>
            </a:r>
            <a:r>
              <a:rPr sz="1600" spc="-5" dirty="0">
                <a:latin typeface="Calibri"/>
                <a:cs typeface="Calibri"/>
              </a:rPr>
              <a:t> </a:t>
            </a:r>
            <a:r>
              <a:rPr sz="1600" spc="-10" dirty="0">
                <a:latin typeface="Calibri"/>
                <a:cs typeface="Calibri"/>
              </a:rPr>
              <a:t>interconnections</a:t>
            </a:r>
            <a:r>
              <a:rPr sz="1600" spc="-5" dirty="0">
                <a:latin typeface="Calibri"/>
                <a:cs typeface="Calibri"/>
              </a:rPr>
              <a:t> </a:t>
            </a:r>
            <a:r>
              <a:rPr sz="1600" spc="-10" dirty="0">
                <a:latin typeface="Calibri"/>
                <a:cs typeface="Calibri"/>
              </a:rPr>
              <a:t>(wires</a:t>
            </a:r>
            <a:r>
              <a:rPr sz="1600" spc="-5" dirty="0">
                <a:latin typeface="Calibri"/>
                <a:cs typeface="Calibri"/>
              </a:rPr>
              <a:t> or </a:t>
            </a:r>
            <a:r>
              <a:rPr sz="1600" spc="-10" dirty="0">
                <a:latin typeface="Calibri"/>
                <a:cs typeface="Calibri"/>
              </a:rPr>
              <a:t>synapses)</a:t>
            </a:r>
            <a:r>
              <a:rPr sz="1600" spc="-5" dirty="0">
                <a:latin typeface="Calibri"/>
                <a:cs typeface="Calibri"/>
              </a:rPr>
              <a:t> than the </a:t>
            </a:r>
            <a:r>
              <a:rPr sz="1600" spc="-10" dirty="0">
                <a:latin typeface="Calibri"/>
                <a:cs typeface="Calibri"/>
              </a:rPr>
              <a:t>brain</a:t>
            </a:r>
            <a:endParaRPr sz="1600">
              <a:latin typeface="Calibri"/>
              <a:cs typeface="Calibri"/>
            </a:endParaRPr>
          </a:p>
          <a:p>
            <a:pPr marL="1176020" lvl="1" indent="-250190">
              <a:lnSpc>
                <a:spcPct val="100000"/>
              </a:lnSpc>
              <a:spcBef>
                <a:spcPts val="204"/>
              </a:spcBef>
              <a:buFont typeface="Arial MT"/>
              <a:buChar char="●"/>
              <a:tabLst>
                <a:tab pos="1176655" algn="l"/>
              </a:tabLst>
            </a:pPr>
            <a:r>
              <a:rPr sz="1600" spc="-5" dirty="0">
                <a:latin typeface="Calibri"/>
                <a:cs typeface="Calibri"/>
              </a:rPr>
              <a:t>much</a:t>
            </a:r>
            <a:r>
              <a:rPr sz="1600" spc="-15" dirty="0">
                <a:latin typeface="Calibri"/>
                <a:cs typeface="Calibri"/>
              </a:rPr>
              <a:t> faster </a:t>
            </a:r>
            <a:r>
              <a:rPr sz="1600" spc="-10" dirty="0">
                <a:latin typeface="Calibri"/>
                <a:cs typeface="Calibri"/>
              </a:rPr>
              <a:t>updates </a:t>
            </a:r>
            <a:r>
              <a:rPr sz="1600" spc="-5" dirty="0">
                <a:latin typeface="Calibri"/>
                <a:cs typeface="Calibri"/>
              </a:rPr>
              <a:t>than</a:t>
            </a:r>
            <a:r>
              <a:rPr sz="1600" spc="-15" dirty="0">
                <a:latin typeface="Calibri"/>
                <a:cs typeface="Calibri"/>
              </a:rPr>
              <a:t> </a:t>
            </a:r>
            <a:r>
              <a:rPr sz="1600" spc="-5" dirty="0">
                <a:latin typeface="Calibri"/>
                <a:cs typeface="Calibri"/>
              </a:rPr>
              <a:t>the</a:t>
            </a:r>
            <a:r>
              <a:rPr sz="1600" spc="-10" dirty="0">
                <a:latin typeface="Calibri"/>
                <a:cs typeface="Calibri"/>
              </a:rPr>
              <a:t> brain</a:t>
            </a:r>
            <a:endParaRPr sz="1600">
              <a:latin typeface="Calibri"/>
              <a:cs typeface="Calibri"/>
            </a:endParaRPr>
          </a:p>
          <a:p>
            <a:pPr marL="893444" marR="31750" indent="-276860">
              <a:lnSpc>
                <a:spcPts val="1730"/>
              </a:lnSpc>
              <a:spcBef>
                <a:spcPts val="425"/>
              </a:spcBef>
              <a:tabLst>
                <a:tab pos="893444" algn="l"/>
              </a:tabLst>
            </a:pPr>
            <a:r>
              <a:rPr sz="1600" dirty="0">
                <a:latin typeface="Verdana"/>
                <a:cs typeface="Verdana"/>
              </a:rPr>
              <a:t>›	</a:t>
            </a:r>
            <a:r>
              <a:rPr sz="1600" spc="-5" dirty="0">
                <a:latin typeface="Calibri"/>
                <a:cs typeface="Calibri"/>
              </a:rPr>
              <a:t>but building </a:t>
            </a:r>
            <a:r>
              <a:rPr sz="1600" spc="-15" dirty="0">
                <a:latin typeface="Calibri"/>
                <a:cs typeface="Calibri"/>
              </a:rPr>
              <a:t>hardware</a:t>
            </a:r>
            <a:r>
              <a:rPr sz="1600" dirty="0">
                <a:latin typeface="Calibri"/>
                <a:cs typeface="Calibri"/>
              </a:rPr>
              <a:t> </a:t>
            </a:r>
            <a:r>
              <a:rPr sz="1600" spc="-5" dirty="0">
                <a:latin typeface="Calibri"/>
                <a:cs typeface="Calibri"/>
              </a:rPr>
              <a:t>is very</a:t>
            </a:r>
            <a:r>
              <a:rPr sz="1600" dirty="0">
                <a:latin typeface="Calibri"/>
                <a:cs typeface="Calibri"/>
              </a:rPr>
              <a:t> </a:t>
            </a:r>
            <a:r>
              <a:rPr sz="1600" spc="-15" dirty="0">
                <a:latin typeface="Calibri"/>
                <a:cs typeface="Calibri"/>
              </a:rPr>
              <a:t>different</a:t>
            </a:r>
            <a:r>
              <a:rPr sz="1600" spc="-5" dirty="0">
                <a:latin typeface="Calibri"/>
                <a:cs typeface="Calibri"/>
              </a:rPr>
              <a:t> </a:t>
            </a:r>
            <a:r>
              <a:rPr sz="1600" spc="-10" dirty="0">
                <a:latin typeface="Calibri"/>
                <a:cs typeface="Calibri"/>
              </a:rPr>
              <a:t>from</a:t>
            </a:r>
            <a:r>
              <a:rPr sz="1600" dirty="0">
                <a:latin typeface="Calibri"/>
                <a:cs typeface="Calibri"/>
              </a:rPr>
              <a:t> </a:t>
            </a:r>
            <a:r>
              <a:rPr sz="1600" spc="-5" dirty="0">
                <a:latin typeface="Calibri"/>
                <a:cs typeface="Calibri"/>
              </a:rPr>
              <a:t>making </a:t>
            </a:r>
            <a:r>
              <a:rPr sz="1600" dirty="0">
                <a:latin typeface="Calibri"/>
                <a:cs typeface="Calibri"/>
              </a:rPr>
              <a:t>a </a:t>
            </a:r>
            <a:r>
              <a:rPr sz="1600" spc="-10" dirty="0">
                <a:latin typeface="Calibri"/>
                <a:cs typeface="Calibri"/>
              </a:rPr>
              <a:t>computer</a:t>
            </a:r>
            <a:r>
              <a:rPr sz="1600" spc="-5" dirty="0">
                <a:latin typeface="Calibri"/>
                <a:cs typeface="Calibri"/>
              </a:rPr>
              <a:t> </a:t>
            </a:r>
            <a:r>
              <a:rPr sz="1600" spc="-15" dirty="0">
                <a:latin typeface="Calibri"/>
                <a:cs typeface="Calibri"/>
              </a:rPr>
              <a:t>behave</a:t>
            </a:r>
            <a:r>
              <a:rPr sz="1600" dirty="0">
                <a:latin typeface="Calibri"/>
                <a:cs typeface="Calibri"/>
              </a:rPr>
              <a:t> </a:t>
            </a:r>
            <a:r>
              <a:rPr sz="1600" spc="-20" dirty="0">
                <a:latin typeface="Calibri"/>
                <a:cs typeface="Calibri"/>
              </a:rPr>
              <a:t>like</a:t>
            </a:r>
            <a:r>
              <a:rPr sz="1600" spc="-5" dirty="0">
                <a:latin typeface="Calibri"/>
                <a:cs typeface="Calibri"/>
              </a:rPr>
              <a:t> </a:t>
            </a:r>
            <a:r>
              <a:rPr sz="1600" dirty="0">
                <a:latin typeface="Calibri"/>
                <a:cs typeface="Calibri"/>
              </a:rPr>
              <a:t>a </a:t>
            </a:r>
            <a:r>
              <a:rPr sz="1600" spc="-345" dirty="0">
                <a:latin typeface="Calibri"/>
                <a:cs typeface="Calibri"/>
              </a:rPr>
              <a:t> </a:t>
            </a:r>
            <a:r>
              <a:rPr sz="1600" spc="-10" dirty="0">
                <a:latin typeface="Calibri"/>
                <a:cs typeface="Calibri"/>
              </a:rPr>
              <a:t>brain!</a:t>
            </a:r>
            <a:endParaRPr sz="1600">
              <a:latin typeface="Calibri"/>
              <a:cs typeface="Calibri"/>
            </a:endParaRPr>
          </a:p>
        </p:txBody>
      </p:sp>
    </p:spTree>
    <p:extLst>
      <p:ext uri="{BB962C8B-B14F-4D97-AF65-F5344CB8AC3E}">
        <p14:creationId xmlns:p14="http://schemas.microsoft.com/office/powerpoint/2010/main" val="5361183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92</a:t>
            </a:fld>
            <a:endParaRPr dirty="0"/>
          </a:p>
        </p:txBody>
      </p:sp>
      <p:sp>
        <p:nvSpPr>
          <p:cNvPr id="2" name="object 2"/>
          <p:cNvSpPr txBox="1">
            <a:spLocks noGrp="1"/>
          </p:cNvSpPr>
          <p:nvPr>
            <p:ph type="title"/>
          </p:nvPr>
        </p:nvSpPr>
        <p:spPr>
          <a:xfrm>
            <a:off x="2389499" y="415007"/>
            <a:ext cx="4762500" cy="6959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739BDC"/>
                </a:solidFill>
              </a:rPr>
              <a:t>Can</a:t>
            </a:r>
            <a:r>
              <a:rPr spc="-40" dirty="0">
                <a:solidFill>
                  <a:srgbClr val="739BDC"/>
                </a:solidFill>
              </a:rPr>
              <a:t> </a:t>
            </a:r>
            <a:r>
              <a:rPr spc="-20" dirty="0">
                <a:solidFill>
                  <a:srgbClr val="739BDC"/>
                </a:solidFill>
              </a:rPr>
              <a:t>Computers</a:t>
            </a:r>
            <a:r>
              <a:rPr spc="-35" dirty="0">
                <a:solidFill>
                  <a:srgbClr val="739BDC"/>
                </a:solidFill>
              </a:rPr>
              <a:t> </a:t>
            </a:r>
            <a:r>
              <a:rPr spc="-70" dirty="0">
                <a:solidFill>
                  <a:srgbClr val="739BDC"/>
                </a:solidFill>
              </a:rPr>
              <a:t>Talk?</a:t>
            </a:r>
          </a:p>
        </p:txBody>
      </p:sp>
      <p:sp>
        <p:nvSpPr>
          <p:cNvPr id="3" name="object 3"/>
          <p:cNvSpPr txBox="1"/>
          <p:nvPr/>
        </p:nvSpPr>
        <p:spPr>
          <a:xfrm>
            <a:off x="720697" y="1114348"/>
            <a:ext cx="5906770" cy="4788535"/>
          </a:xfrm>
          <a:prstGeom prst="rect">
            <a:avLst/>
          </a:prstGeom>
        </p:spPr>
        <p:txBody>
          <a:bodyPr vert="horz" wrap="square" lIns="0" tIns="38735" rIns="0" bIns="0" rtlCol="0">
            <a:spAutoFit/>
          </a:bodyPr>
          <a:lstStyle/>
          <a:p>
            <a:pPr marL="442595" marR="2524125" indent="-442595" algn="r">
              <a:lnSpc>
                <a:spcPct val="100000"/>
              </a:lnSpc>
              <a:spcBef>
                <a:spcPts val="305"/>
              </a:spcBef>
              <a:buFont typeface="Cambria"/>
              <a:buChar char="◉"/>
              <a:tabLst>
                <a:tab pos="442595" algn="l"/>
                <a:tab pos="443230" algn="l"/>
              </a:tabLst>
            </a:pPr>
            <a:r>
              <a:rPr sz="1600" spc="-5" dirty="0">
                <a:latin typeface="Calibri"/>
                <a:cs typeface="Calibri"/>
              </a:rPr>
              <a:t>This</a:t>
            </a:r>
            <a:r>
              <a:rPr sz="1600" spc="-20" dirty="0">
                <a:latin typeface="Calibri"/>
                <a:cs typeface="Calibri"/>
              </a:rPr>
              <a:t> </a:t>
            </a:r>
            <a:r>
              <a:rPr sz="1600" spc="-5" dirty="0">
                <a:latin typeface="Calibri"/>
                <a:cs typeface="Calibri"/>
              </a:rPr>
              <a:t>is</a:t>
            </a:r>
            <a:r>
              <a:rPr sz="1600" spc="-20" dirty="0">
                <a:latin typeface="Calibri"/>
                <a:cs typeface="Calibri"/>
              </a:rPr>
              <a:t> </a:t>
            </a:r>
            <a:r>
              <a:rPr sz="1600" spc="-5" dirty="0">
                <a:latin typeface="Calibri"/>
                <a:cs typeface="Calibri"/>
              </a:rPr>
              <a:t>known</a:t>
            </a:r>
            <a:r>
              <a:rPr sz="1600" spc="-20" dirty="0">
                <a:latin typeface="Calibri"/>
                <a:cs typeface="Calibri"/>
              </a:rPr>
              <a:t> </a:t>
            </a:r>
            <a:r>
              <a:rPr sz="1600" dirty="0">
                <a:latin typeface="Calibri"/>
                <a:cs typeface="Calibri"/>
              </a:rPr>
              <a:t>as</a:t>
            </a:r>
            <a:r>
              <a:rPr sz="1600" spc="-20" dirty="0">
                <a:latin typeface="Calibri"/>
                <a:cs typeface="Calibri"/>
              </a:rPr>
              <a:t> </a:t>
            </a:r>
            <a:r>
              <a:rPr sz="1600" spc="-10" dirty="0">
                <a:latin typeface="Calibri"/>
                <a:cs typeface="Calibri"/>
              </a:rPr>
              <a:t>“speech</a:t>
            </a:r>
            <a:r>
              <a:rPr sz="1600" spc="-20" dirty="0">
                <a:latin typeface="Calibri"/>
                <a:cs typeface="Calibri"/>
              </a:rPr>
              <a:t> </a:t>
            </a:r>
            <a:r>
              <a:rPr sz="1600" spc="-10" dirty="0">
                <a:latin typeface="Calibri"/>
                <a:cs typeface="Calibri"/>
              </a:rPr>
              <a:t>synthesis”</a:t>
            </a:r>
            <a:endParaRPr sz="1600">
              <a:latin typeface="Calibri"/>
              <a:cs typeface="Calibri"/>
            </a:endParaRPr>
          </a:p>
          <a:p>
            <a:pPr marR="2540635" algn="r">
              <a:lnSpc>
                <a:spcPct val="100000"/>
              </a:lnSpc>
              <a:spcBef>
                <a:spcPts val="210"/>
              </a:spcBef>
              <a:tabLst>
                <a:tab pos="276225" algn="l"/>
              </a:tabLst>
            </a:pPr>
            <a:r>
              <a:rPr sz="1600" dirty="0">
                <a:latin typeface="Verdana"/>
                <a:cs typeface="Verdana"/>
              </a:rPr>
              <a:t>›	</a:t>
            </a:r>
            <a:r>
              <a:rPr sz="1600" spc="-10" dirty="0">
                <a:latin typeface="Calibri"/>
                <a:cs typeface="Calibri"/>
              </a:rPr>
              <a:t>translate</a:t>
            </a:r>
            <a:r>
              <a:rPr sz="1600" spc="-20" dirty="0">
                <a:latin typeface="Calibri"/>
                <a:cs typeface="Calibri"/>
              </a:rPr>
              <a:t> </a:t>
            </a:r>
            <a:r>
              <a:rPr sz="1600" spc="-15" dirty="0">
                <a:latin typeface="Calibri"/>
                <a:cs typeface="Calibri"/>
              </a:rPr>
              <a:t>text</a:t>
            </a:r>
            <a:r>
              <a:rPr sz="1600" spc="-20" dirty="0">
                <a:latin typeface="Calibri"/>
                <a:cs typeface="Calibri"/>
              </a:rPr>
              <a:t> </a:t>
            </a:r>
            <a:r>
              <a:rPr sz="1600" spc="-10" dirty="0">
                <a:latin typeface="Calibri"/>
                <a:cs typeface="Calibri"/>
              </a:rPr>
              <a:t>to</a:t>
            </a:r>
            <a:r>
              <a:rPr sz="1600" spc="-20" dirty="0">
                <a:latin typeface="Calibri"/>
                <a:cs typeface="Calibri"/>
              </a:rPr>
              <a:t> </a:t>
            </a:r>
            <a:r>
              <a:rPr sz="1600" spc="-5" dirty="0">
                <a:latin typeface="Calibri"/>
                <a:cs typeface="Calibri"/>
              </a:rPr>
              <a:t>phonetic</a:t>
            </a:r>
            <a:r>
              <a:rPr sz="1600" spc="-20" dirty="0">
                <a:latin typeface="Calibri"/>
                <a:cs typeface="Calibri"/>
              </a:rPr>
              <a:t> </a:t>
            </a:r>
            <a:r>
              <a:rPr sz="1600" spc="-15" dirty="0">
                <a:latin typeface="Calibri"/>
                <a:cs typeface="Calibri"/>
              </a:rPr>
              <a:t>form</a:t>
            </a:r>
            <a:endParaRPr sz="1600">
              <a:latin typeface="Calibri"/>
              <a:cs typeface="Calibri"/>
            </a:endParaRPr>
          </a:p>
          <a:p>
            <a:pPr marL="1112520" lvl="1" indent="-250190">
              <a:lnSpc>
                <a:spcPct val="100000"/>
              </a:lnSpc>
              <a:spcBef>
                <a:spcPts val="204"/>
              </a:spcBef>
              <a:buFont typeface="Arial MT"/>
              <a:buChar char="●"/>
              <a:tabLst>
                <a:tab pos="1113155" algn="l"/>
              </a:tabLst>
            </a:pPr>
            <a:r>
              <a:rPr sz="1600" dirty="0">
                <a:latin typeface="Calibri"/>
                <a:cs typeface="Calibri"/>
              </a:rPr>
              <a:t>e.g.,</a:t>
            </a:r>
            <a:r>
              <a:rPr sz="1600" spc="-25" dirty="0">
                <a:latin typeface="Calibri"/>
                <a:cs typeface="Calibri"/>
              </a:rPr>
              <a:t> </a:t>
            </a:r>
            <a:r>
              <a:rPr sz="1600" spc="-5" dirty="0">
                <a:latin typeface="Calibri"/>
                <a:cs typeface="Calibri"/>
              </a:rPr>
              <a:t>“fictitious”</a:t>
            </a:r>
            <a:r>
              <a:rPr sz="1600" spc="325" dirty="0">
                <a:latin typeface="Calibri"/>
                <a:cs typeface="Calibri"/>
              </a:rPr>
              <a:t> </a:t>
            </a:r>
            <a:r>
              <a:rPr sz="1600" spc="-5" dirty="0">
                <a:latin typeface="Calibri"/>
                <a:cs typeface="Calibri"/>
              </a:rPr>
              <a:t>-&gt;</a:t>
            </a:r>
            <a:r>
              <a:rPr sz="1600" spc="-20" dirty="0">
                <a:latin typeface="Calibri"/>
                <a:cs typeface="Calibri"/>
              </a:rPr>
              <a:t> </a:t>
            </a:r>
            <a:r>
              <a:rPr sz="1600" spc="-10" dirty="0">
                <a:latin typeface="Calibri"/>
                <a:cs typeface="Calibri"/>
              </a:rPr>
              <a:t>fik-tish-es</a:t>
            </a:r>
            <a:endParaRPr sz="1600">
              <a:latin typeface="Calibri"/>
              <a:cs typeface="Calibri"/>
            </a:endParaRPr>
          </a:p>
          <a:p>
            <a:pPr marL="553720">
              <a:lnSpc>
                <a:spcPct val="100000"/>
              </a:lnSpc>
              <a:spcBef>
                <a:spcPts val="210"/>
              </a:spcBef>
              <a:tabLst>
                <a:tab pos="829944" algn="l"/>
              </a:tabLst>
            </a:pPr>
            <a:r>
              <a:rPr sz="1600" dirty="0">
                <a:latin typeface="Verdana"/>
                <a:cs typeface="Verdana"/>
              </a:rPr>
              <a:t>›	</a:t>
            </a:r>
            <a:r>
              <a:rPr sz="1600" spc="-5" dirty="0">
                <a:latin typeface="Calibri"/>
                <a:cs typeface="Calibri"/>
              </a:rPr>
              <a:t>use</a:t>
            </a:r>
            <a:r>
              <a:rPr sz="1600" spc="-10" dirty="0">
                <a:latin typeface="Calibri"/>
                <a:cs typeface="Calibri"/>
              </a:rPr>
              <a:t> pronunciation </a:t>
            </a:r>
            <a:r>
              <a:rPr sz="1600" spc="-5" dirty="0">
                <a:latin typeface="Calibri"/>
                <a:cs typeface="Calibri"/>
              </a:rPr>
              <a:t>rules</a:t>
            </a:r>
            <a:r>
              <a:rPr sz="1600" spc="-10" dirty="0">
                <a:latin typeface="Calibri"/>
                <a:cs typeface="Calibri"/>
              </a:rPr>
              <a:t> to </a:t>
            </a:r>
            <a:r>
              <a:rPr sz="1600" spc="-5" dirty="0">
                <a:latin typeface="Calibri"/>
                <a:cs typeface="Calibri"/>
              </a:rPr>
              <a:t>map</a:t>
            </a:r>
            <a:r>
              <a:rPr sz="1600" spc="-10" dirty="0">
                <a:latin typeface="Calibri"/>
                <a:cs typeface="Calibri"/>
              </a:rPr>
              <a:t> </a:t>
            </a:r>
            <a:r>
              <a:rPr sz="1600" spc="-5" dirty="0">
                <a:latin typeface="Calibri"/>
                <a:cs typeface="Calibri"/>
              </a:rPr>
              <a:t>phonemes</a:t>
            </a:r>
            <a:r>
              <a:rPr sz="1600" spc="-10" dirty="0">
                <a:latin typeface="Calibri"/>
                <a:cs typeface="Calibri"/>
              </a:rPr>
              <a:t> to </a:t>
            </a:r>
            <a:r>
              <a:rPr sz="1600" dirty="0">
                <a:latin typeface="Calibri"/>
                <a:cs typeface="Calibri"/>
              </a:rPr>
              <a:t>actual</a:t>
            </a:r>
            <a:r>
              <a:rPr sz="1600" spc="-10" dirty="0">
                <a:latin typeface="Calibri"/>
                <a:cs typeface="Calibri"/>
              </a:rPr>
              <a:t> </a:t>
            </a:r>
            <a:r>
              <a:rPr sz="1600" spc="-5" dirty="0">
                <a:latin typeface="Calibri"/>
                <a:cs typeface="Calibri"/>
              </a:rPr>
              <a:t>sound</a:t>
            </a:r>
            <a:endParaRPr sz="1600">
              <a:latin typeface="Calibri"/>
              <a:cs typeface="Calibri"/>
            </a:endParaRPr>
          </a:p>
          <a:p>
            <a:pPr marL="1112520" lvl="1" indent="-250190">
              <a:lnSpc>
                <a:spcPct val="100000"/>
              </a:lnSpc>
              <a:spcBef>
                <a:spcPts val="209"/>
              </a:spcBef>
              <a:buFont typeface="Arial MT"/>
              <a:buChar char="●"/>
              <a:tabLst>
                <a:tab pos="1113155" algn="l"/>
              </a:tabLst>
            </a:pPr>
            <a:r>
              <a:rPr sz="1600" dirty="0">
                <a:latin typeface="Calibri"/>
                <a:cs typeface="Calibri"/>
              </a:rPr>
              <a:t>e.g.,</a:t>
            </a:r>
            <a:r>
              <a:rPr sz="1600" spc="-15" dirty="0">
                <a:latin typeface="Calibri"/>
                <a:cs typeface="Calibri"/>
              </a:rPr>
              <a:t> </a:t>
            </a:r>
            <a:r>
              <a:rPr sz="1600" spc="-5" dirty="0">
                <a:latin typeface="Calibri"/>
                <a:cs typeface="Calibri"/>
              </a:rPr>
              <a:t>“tish”</a:t>
            </a:r>
            <a:r>
              <a:rPr sz="1600" spc="340" dirty="0">
                <a:latin typeface="Calibri"/>
                <a:cs typeface="Calibri"/>
              </a:rPr>
              <a:t> </a:t>
            </a:r>
            <a:r>
              <a:rPr sz="1600" spc="-5" dirty="0">
                <a:latin typeface="Calibri"/>
                <a:cs typeface="Calibri"/>
              </a:rPr>
              <a:t>-&gt;</a:t>
            </a:r>
            <a:r>
              <a:rPr sz="1600" spc="-10" dirty="0">
                <a:latin typeface="Calibri"/>
                <a:cs typeface="Calibri"/>
              </a:rPr>
              <a:t> </a:t>
            </a:r>
            <a:r>
              <a:rPr sz="1600" spc="-5" dirty="0">
                <a:latin typeface="Calibri"/>
                <a:cs typeface="Calibri"/>
              </a:rPr>
              <a:t>sequence</a:t>
            </a:r>
            <a:r>
              <a:rPr sz="1600" spc="-15" dirty="0">
                <a:latin typeface="Calibri"/>
                <a:cs typeface="Calibri"/>
              </a:rPr>
              <a:t> </a:t>
            </a:r>
            <a:r>
              <a:rPr sz="1600" spc="-5" dirty="0">
                <a:latin typeface="Calibri"/>
                <a:cs typeface="Calibri"/>
              </a:rPr>
              <a:t>of</a:t>
            </a:r>
            <a:r>
              <a:rPr sz="1600" spc="-15" dirty="0">
                <a:latin typeface="Calibri"/>
                <a:cs typeface="Calibri"/>
              </a:rPr>
              <a:t> </a:t>
            </a:r>
            <a:r>
              <a:rPr sz="1600" spc="-5" dirty="0">
                <a:latin typeface="Calibri"/>
                <a:cs typeface="Calibri"/>
              </a:rPr>
              <a:t>basic</a:t>
            </a:r>
            <a:r>
              <a:rPr sz="1600" spc="-10" dirty="0">
                <a:latin typeface="Calibri"/>
                <a:cs typeface="Calibri"/>
              </a:rPr>
              <a:t> </a:t>
            </a:r>
            <a:r>
              <a:rPr sz="1600" dirty="0">
                <a:latin typeface="Calibri"/>
                <a:cs typeface="Calibri"/>
              </a:rPr>
              <a:t>audio</a:t>
            </a:r>
            <a:r>
              <a:rPr sz="1600" spc="-15" dirty="0">
                <a:latin typeface="Calibri"/>
                <a:cs typeface="Calibri"/>
              </a:rPr>
              <a:t> </a:t>
            </a:r>
            <a:r>
              <a:rPr sz="1600" spc="-5" dirty="0">
                <a:latin typeface="Calibri"/>
                <a:cs typeface="Calibri"/>
              </a:rPr>
              <a:t>sounds</a:t>
            </a:r>
            <a:endParaRPr sz="1600">
              <a:latin typeface="Calibri"/>
              <a:cs typeface="Calibri"/>
            </a:endParaRPr>
          </a:p>
          <a:p>
            <a:pPr lvl="1">
              <a:lnSpc>
                <a:spcPct val="100000"/>
              </a:lnSpc>
              <a:spcBef>
                <a:spcPts val="40"/>
              </a:spcBef>
              <a:buFont typeface="Arial MT"/>
              <a:buChar char="●"/>
            </a:pPr>
            <a:endParaRPr sz="1550">
              <a:latin typeface="Calibri"/>
              <a:cs typeface="Calibri"/>
            </a:endParaRPr>
          </a:p>
          <a:p>
            <a:pPr marL="455295" indent="-443230">
              <a:lnSpc>
                <a:spcPct val="100000"/>
              </a:lnSpc>
              <a:buFont typeface="Cambria"/>
              <a:buChar char="◉"/>
              <a:tabLst>
                <a:tab pos="455295" algn="l"/>
                <a:tab pos="455930" algn="l"/>
              </a:tabLst>
            </a:pPr>
            <a:r>
              <a:rPr sz="1600" spc="-10" dirty="0">
                <a:latin typeface="Calibri"/>
                <a:cs typeface="Calibri"/>
              </a:rPr>
              <a:t>Difficulties</a:t>
            </a:r>
            <a:endParaRPr sz="1600">
              <a:latin typeface="Calibri"/>
              <a:cs typeface="Calibri"/>
            </a:endParaRPr>
          </a:p>
          <a:p>
            <a:pPr marL="553720">
              <a:lnSpc>
                <a:spcPct val="100000"/>
              </a:lnSpc>
              <a:spcBef>
                <a:spcPts val="210"/>
              </a:spcBef>
              <a:tabLst>
                <a:tab pos="829944" algn="l"/>
              </a:tabLst>
            </a:pPr>
            <a:r>
              <a:rPr sz="1600" dirty="0">
                <a:latin typeface="Verdana"/>
                <a:cs typeface="Verdana"/>
              </a:rPr>
              <a:t>›	</a:t>
            </a:r>
            <a:r>
              <a:rPr sz="1600" spc="-5" dirty="0">
                <a:latin typeface="Calibri"/>
                <a:cs typeface="Calibri"/>
              </a:rPr>
              <a:t>sounds made by this </a:t>
            </a:r>
            <a:r>
              <a:rPr sz="1600" spc="-10" dirty="0">
                <a:latin typeface="Calibri"/>
                <a:cs typeface="Calibri"/>
              </a:rPr>
              <a:t>“lookup”</a:t>
            </a:r>
            <a:r>
              <a:rPr sz="1600" spc="-5" dirty="0">
                <a:latin typeface="Calibri"/>
                <a:cs typeface="Calibri"/>
              </a:rPr>
              <a:t> </a:t>
            </a:r>
            <a:r>
              <a:rPr sz="1600" spc="-10" dirty="0">
                <a:latin typeface="Calibri"/>
                <a:cs typeface="Calibri"/>
              </a:rPr>
              <a:t>approach</a:t>
            </a:r>
            <a:r>
              <a:rPr sz="1600" spc="-5" dirty="0">
                <a:latin typeface="Calibri"/>
                <a:cs typeface="Calibri"/>
              </a:rPr>
              <a:t> sound </a:t>
            </a:r>
            <a:r>
              <a:rPr sz="1600" spc="-10" dirty="0">
                <a:latin typeface="Calibri"/>
                <a:cs typeface="Calibri"/>
              </a:rPr>
              <a:t>unnatural</a:t>
            </a:r>
            <a:endParaRPr sz="1600">
              <a:latin typeface="Calibri"/>
              <a:cs typeface="Calibri"/>
            </a:endParaRPr>
          </a:p>
          <a:p>
            <a:pPr marL="553720">
              <a:lnSpc>
                <a:spcPct val="100000"/>
              </a:lnSpc>
              <a:spcBef>
                <a:spcPts val="209"/>
              </a:spcBef>
              <a:tabLst>
                <a:tab pos="829944" algn="l"/>
              </a:tabLst>
            </a:pPr>
            <a:r>
              <a:rPr sz="1600" dirty="0">
                <a:latin typeface="Verdana"/>
                <a:cs typeface="Verdana"/>
              </a:rPr>
              <a:t>›	</a:t>
            </a:r>
            <a:r>
              <a:rPr sz="1600" spc="-5" dirty="0">
                <a:latin typeface="Calibri"/>
                <a:cs typeface="Calibri"/>
              </a:rPr>
              <a:t>sounds</a:t>
            </a:r>
            <a:r>
              <a:rPr sz="1600" spc="-15" dirty="0">
                <a:latin typeface="Calibri"/>
                <a:cs typeface="Calibri"/>
              </a:rPr>
              <a:t> </a:t>
            </a:r>
            <a:r>
              <a:rPr sz="1600" spc="-10" dirty="0">
                <a:latin typeface="Calibri"/>
                <a:cs typeface="Calibri"/>
              </a:rPr>
              <a:t>are</a:t>
            </a:r>
            <a:r>
              <a:rPr sz="1600" spc="-15" dirty="0">
                <a:latin typeface="Calibri"/>
                <a:cs typeface="Calibri"/>
              </a:rPr>
              <a:t> </a:t>
            </a:r>
            <a:r>
              <a:rPr sz="1600" spc="-5" dirty="0">
                <a:latin typeface="Calibri"/>
                <a:cs typeface="Calibri"/>
              </a:rPr>
              <a:t>not</a:t>
            </a:r>
            <a:r>
              <a:rPr sz="1600" spc="-15" dirty="0">
                <a:latin typeface="Calibri"/>
                <a:cs typeface="Calibri"/>
              </a:rPr>
              <a:t> </a:t>
            </a:r>
            <a:r>
              <a:rPr sz="1600" spc="-10" dirty="0">
                <a:latin typeface="Calibri"/>
                <a:cs typeface="Calibri"/>
              </a:rPr>
              <a:t>independent</a:t>
            </a:r>
            <a:endParaRPr sz="1600">
              <a:latin typeface="Calibri"/>
              <a:cs typeface="Calibri"/>
            </a:endParaRPr>
          </a:p>
          <a:p>
            <a:pPr marL="1112520" lvl="1" indent="-250190">
              <a:lnSpc>
                <a:spcPct val="100000"/>
              </a:lnSpc>
              <a:spcBef>
                <a:spcPts val="204"/>
              </a:spcBef>
              <a:buFont typeface="Arial MT"/>
              <a:buChar char="●"/>
              <a:tabLst>
                <a:tab pos="1113155" algn="l"/>
              </a:tabLst>
            </a:pPr>
            <a:r>
              <a:rPr sz="1600" dirty="0">
                <a:latin typeface="Calibri"/>
                <a:cs typeface="Calibri"/>
              </a:rPr>
              <a:t>e.g.,</a:t>
            </a:r>
            <a:r>
              <a:rPr sz="1600" spc="-25" dirty="0">
                <a:latin typeface="Calibri"/>
                <a:cs typeface="Calibri"/>
              </a:rPr>
              <a:t> </a:t>
            </a:r>
            <a:r>
              <a:rPr sz="1600" dirty="0">
                <a:latin typeface="Calibri"/>
                <a:cs typeface="Calibri"/>
              </a:rPr>
              <a:t>“act”</a:t>
            </a:r>
            <a:r>
              <a:rPr sz="1600" spc="-25" dirty="0">
                <a:latin typeface="Calibri"/>
                <a:cs typeface="Calibri"/>
              </a:rPr>
              <a:t> </a:t>
            </a:r>
            <a:r>
              <a:rPr sz="1600" dirty="0">
                <a:latin typeface="Calibri"/>
                <a:cs typeface="Calibri"/>
              </a:rPr>
              <a:t>and</a:t>
            </a:r>
            <a:r>
              <a:rPr sz="1600" spc="-30" dirty="0">
                <a:latin typeface="Calibri"/>
                <a:cs typeface="Calibri"/>
              </a:rPr>
              <a:t> </a:t>
            </a:r>
            <a:r>
              <a:rPr sz="1600" spc="-5" dirty="0">
                <a:latin typeface="Calibri"/>
                <a:cs typeface="Calibri"/>
              </a:rPr>
              <a:t>“action”</a:t>
            </a:r>
            <a:endParaRPr sz="1600">
              <a:latin typeface="Calibri"/>
              <a:cs typeface="Calibri"/>
            </a:endParaRPr>
          </a:p>
          <a:p>
            <a:pPr marL="1112520" lvl="1" indent="-250190">
              <a:lnSpc>
                <a:spcPct val="100000"/>
              </a:lnSpc>
              <a:spcBef>
                <a:spcPts val="210"/>
              </a:spcBef>
              <a:buFont typeface="Arial MT"/>
              <a:buChar char="●"/>
              <a:tabLst>
                <a:tab pos="1113155" algn="l"/>
              </a:tabLst>
            </a:pPr>
            <a:r>
              <a:rPr sz="1600" spc="-5" dirty="0">
                <a:latin typeface="Calibri"/>
                <a:cs typeface="Calibri"/>
              </a:rPr>
              <a:t>modern</a:t>
            </a:r>
            <a:r>
              <a:rPr sz="1600" spc="-10" dirty="0">
                <a:latin typeface="Calibri"/>
                <a:cs typeface="Calibri"/>
              </a:rPr>
              <a:t> </a:t>
            </a:r>
            <a:r>
              <a:rPr sz="1600" spc="-15" dirty="0">
                <a:latin typeface="Calibri"/>
                <a:cs typeface="Calibri"/>
              </a:rPr>
              <a:t>systems</a:t>
            </a:r>
            <a:r>
              <a:rPr sz="1600" spc="-5" dirty="0">
                <a:latin typeface="Calibri"/>
                <a:cs typeface="Calibri"/>
              </a:rPr>
              <a:t> (e.g., </a:t>
            </a:r>
            <a:r>
              <a:rPr sz="1600" spc="-10" dirty="0">
                <a:latin typeface="Calibri"/>
                <a:cs typeface="Calibri"/>
              </a:rPr>
              <a:t>at </a:t>
            </a:r>
            <a:r>
              <a:rPr sz="1600" spc="-30" dirty="0">
                <a:latin typeface="Calibri"/>
                <a:cs typeface="Calibri"/>
              </a:rPr>
              <a:t>AT&amp;T)</a:t>
            </a:r>
            <a:r>
              <a:rPr sz="1600" spc="-5" dirty="0">
                <a:latin typeface="Calibri"/>
                <a:cs typeface="Calibri"/>
              </a:rPr>
              <a:t> can handle</a:t>
            </a:r>
            <a:r>
              <a:rPr sz="1600" spc="-10" dirty="0">
                <a:latin typeface="Calibri"/>
                <a:cs typeface="Calibri"/>
              </a:rPr>
              <a:t> </a:t>
            </a:r>
            <a:r>
              <a:rPr sz="1600" spc="-5" dirty="0">
                <a:latin typeface="Calibri"/>
                <a:cs typeface="Calibri"/>
              </a:rPr>
              <a:t>this </a:t>
            </a:r>
            <a:r>
              <a:rPr sz="1600" spc="-15" dirty="0">
                <a:latin typeface="Calibri"/>
                <a:cs typeface="Calibri"/>
              </a:rPr>
              <a:t>pretty</a:t>
            </a:r>
            <a:r>
              <a:rPr sz="1600" spc="-5" dirty="0">
                <a:latin typeface="Calibri"/>
                <a:cs typeface="Calibri"/>
              </a:rPr>
              <a:t> </a:t>
            </a:r>
            <a:r>
              <a:rPr sz="1600" spc="-10" dirty="0">
                <a:latin typeface="Calibri"/>
                <a:cs typeface="Calibri"/>
              </a:rPr>
              <a:t>well</a:t>
            </a:r>
            <a:endParaRPr sz="1600">
              <a:latin typeface="Calibri"/>
              <a:cs typeface="Calibri"/>
            </a:endParaRPr>
          </a:p>
          <a:p>
            <a:pPr marL="553720">
              <a:lnSpc>
                <a:spcPct val="100000"/>
              </a:lnSpc>
              <a:spcBef>
                <a:spcPts val="204"/>
              </a:spcBef>
              <a:tabLst>
                <a:tab pos="829944" algn="l"/>
              </a:tabLst>
            </a:pPr>
            <a:r>
              <a:rPr sz="1600" dirty="0">
                <a:latin typeface="Verdana"/>
                <a:cs typeface="Verdana"/>
              </a:rPr>
              <a:t>›	</a:t>
            </a:r>
            <a:r>
              <a:rPr sz="1600" dirty="0">
                <a:latin typeface="Calibri"/>
                <a:cs typeface="Calibri"/>
              </a:rPr>
              <a:t>a</a:t>
            </a:r>
            <a:r>
              <a:rPr sz="1600" spc="-15" dirty="0">
                <a:latin typeface="Calibri"/>
                <a:cs typeface="Calibri"/>
              </a:rPr>
              <a:t> </a:t>
            </a:r>
            <a:r>
              <a:rPr sz="1600" spc="-10" dirty="0">
                <a:latin typeface="Calibri"/>
                <a:cs typeface="Calibri"/>
              </a:rPr>
              <a:t>harder problem </a:t>
            </a:r>
            <a:r>
              <a:rPr sz="1600" spc="-5" dirty="0">
                <a:latin typeface="Calibri"/>
                <a:cs typeface="Calibri"/>
              </a:rPr>
              <a:t>is</a:t>
            </a:r>
            <a:r>
              <a:rPr sz="1600" spc="-10" dirty="0">
                <a:latin typeface="Calibri"/>
                <a:cs typeface="Calibri"/>
              </a:rPr>
              <a:t> </a:t>
            </a:r>
            <a:r>
              <a:rPr sz="1600" spc="-5" dirty="0">
                <a:latin typeface="Calibri"/>
                <a:cs typeface="Calibri"/>
              </a:rPr>
              <a:t>emphasis,</a:t>
            </a:r>
            <a:r>
              <a:rPr sz="1600" spc="-10" dirty="0">
                <a:latin typeface="Calibri"/>
                <a:cs typeface="Calibri"/>
              </a:rPr>
              <a:t> </a:t>
            </a:r>
            <a:r>
              <a:rPr sz="1600" spc="-5" dirty="0">
                <a:latin typeface="Calibri"/>
                <a:cs typeface="Calibri"/>
              </a:rPr>
              <a:t>emotion,</a:t>
            </a:r>
            <a:r>
              <a:rPr sz="1600" spc="-15" dirty="0">
                <a:latin typeface="Calibri"/>
                <a:cs typeface="Calibri"/>
              </a:rPr>
              <a:t> etc</a:t>
            </a:r>
            <a:endParaRPr sz="1600">
              <a:latin typeface="Calibri"/>
              <a:cs typeface="Calibri"/>
            </a:endParaRPr>
          </a:p>
          <a:p>
            <a:pPr marL="1112520" lvl="1" indent="-250190">
              <a:lnSpc>
                <a:spcPct val="100000"/>
              </a:lnSpc>
              <a:spcBef>
                <a:spcPts val="210"/>
              </a:spcBef>
              <a:buFont typeface="Arial MT"/>
              <a:buChar char="●"/>
              <a:tabLst>
                <a:tab pos="1113155" algn="l"/>
              </a:tabLst>
            </a:pPr>
            <a:r>
              <a:rPr sz="1600" spc="-5" dirty="0">
                <a:latin typeface="Calibri"/>
                <a:cs typeface="Calibri"/>
              </a:rPr>
              <a:t>humans</a:t>
            </a:r>
            <a:r>
              <a:rPr sz="1600" spc="-20" dirty="0">
                <a:latin typeface="Calibri"/>
                <a:cs typeface="Calibri"/>
              </a:rPr>
              <a:t> </a:t>
            </a:r>
            <a:r>
              <a:rPr sz="1600" spc="-10" dirty="0">
                <a:latin typeface="Calibri"/>
                <a:cs typeface="Calibri"/>
              </a:rPr>
              <a:t>understand</a:t>
            </a:r>
            <a:r>
              <a:rPr sz="1600" spc="-15" dirty="0">
                <a:latin typeface="Calibri"/>
                <a:cs typeface="Calibri"/>
              </a:rPr>
              <a:t> </a:t>
            </a:r>
            <a:r>
              <a:rPr sz="1600" spc="-10" dirty="0">
                <a:latin typeface="Calibri"/>
                <a:cs typeface="Calibri"/>
              </a:rPr>
              <a:t>what</a:t>
            </a:r>
            <a:r>
              <a:rPr sz="1600" spc="-15" dirty="0">
                <a:latin typeface="Calibri"/>
                <a:cs typeface="Calibri"/>
              </a:rPr>
              <a:t> </a:t>
            </a:r>
            <a:r>
              <a:rPr sz="1600" spc="-10" dirty="0">
                <a:latin typeface="Calibri"/>
                <a:cs typeface="Calibri"/>
              </a:rPr>
              <a:t>they</a:t>
            </a:r>
            <a:r>
              <a:rPr sz="1600" spc="-15" dirty="0">
                <a:latin typeface="Calibri"/>
                <a:cs typeface="Calibri"/>
              </a:rPr>
              <a:t> </a:t>
            </a:r>
            <a:r>
              <a:rPr sz="1600" spc="-10" dirty="0">
                <a:latin typeface="Calibri"/>
                <a:cs typeface="Calibri"/>
              </a:rPr>
              <a:t>are</a:t>
            </a:r>
            <a:r>
              <a:rPr sz="1600" spc="-15" dirty="0">
                <a:latin typeface="Calibri"/>
                <a:cs typeface="Calibri"/>
              </a:rPr>
              <a:t> </a:t>
            </a:r>
            <a:r>
              <a:rPr sz="1600" spc="-10" dirty="0">
                <a:latin typeface="Calibri"/>
                <a:cs typeface="Calibri"/>
              </a:rPr>
              <a:t>saying</a:t>
            </a:r>
            <a:endParaRPr sz="1600">
              <a:latin typeface="Calibri"/>
              <a:cs typeface="Calibri"/>
            </a:endParaRPr>
          </a:p>
          <a:p>
            <a:pPr marL="1112520" lvl="1" indent="-250190">
              <a:lnSpc>
                <a:spcPct val="100000"/>
              </a:lnSpc>
              <a:spcBef>
                <a:spcPts val="209"/>
              </a:spcBef>
              <a:buFont typeface="Arial MT"/>
              <a:buChar char="●"/>
              <a:tabLst>
                <a:tab pos="1113155" algn="l"/>
              </a:tabLst>
            </a:pPr>
            <a:r>
              <a:rPr sz="1600" spc="-5" dirty="0">
                <a:latin typeface="Calibri"/>
                <a:cs typeface="Calibri"/>
              </a:rPr>
              <a:t>machines</a:t>
            </a:r>
            <a:r>
              <a:rPr sz="1600" spc="-15" dirty="0">
                <a:latin typeface="Calibri"/>
                <a:cs typeface="Calibri"/>
              </a:rPr>
              <a:t> </a:t>
            </a:r>
            <a:r>
              <a:rPr sz="1600" spc="-5" dirty="0">
                <a:latin typeface="Calibri"/>
                <a:cs typeface="Calibri"/>
              </a:rPr>
              <a:t>don’t:</a:t>
            </a:r>
            <a:r>
              <a:rPr sz="1600" spc="-15" dirty="0">
                <a:latin typeface="Calibri"/>
                <a:cs typeface="Calibri"/>
              </a:rPr>
              <a:t> </a:t>
            </a:r>
            <a:r>
              <a:rPr sz="1600" spc="-5" dirty="0">
                <a:latin typeface="Calibri"/>
                <a:cs typeface="Calibri"/>
              </a:rPr>
              <a:t>so</a:t>
            </a:r>
            <a:r>
              <a:rPr sz="1600" spc="-15" dirty="0">
                <a:latin typeface="Calibri"/>
                <a:cs typeface="Calibri"/>
              </a:rPr>
              <a:t> </a:t>
            </a:r>
            <a:r>
              <a:rPr sz="1600" spc="-10" dirty="0">
                <a:latin typeface="Calibri"/>
                <a:cs typeface="Calibri"/>
              </a:rPr>
              <a:t>they</a:t>
            </a:r>
            <a:r>
              <a:rPr sz="1600" spc="-15" dirty="0">
                <a:latin typeface="Calibri"/>
                <a:cs typeface="Calibri"/>
              </a:rPr>
              <a:t> </a:t>
            </a:r>
            <a:r>
              <a:rPr sz="1600" spc="-5" dirty="0">
                <a:latin typeface="Calibri"/>
                <a:cs typeface="Calibri"/>
              </a:rPr>
              <a:t>sound</a:t>
            </a:r>
            <a:r>
              <a:rPr sz="1600" spc="-15" dirty="0">
                <a:latin typeface="Calibri"/>
                <a:cs typeface="Calibri"/>
              </a:rPr>
              <a:t> </a:t>
            </a:r>
            <a:r>
              <a:rPr sz="1600" spc="-10" dirty="0">
                <a:latin typeface="Calibri"/>
                <a:cs typeface="Calibri"/>
              </a:rPr>
              <a:t>unnatural</a:t>
            </a:r>
            <a:endParaRPr sz="1600">
              <a:latin typeface="Calibri"/>
              <a:cs typeface="Calibri"/>
            </a:endParaRPr>
          </a:p>
          <a:p>
            <a:pPr lvl="1">
              <a:lnSpc>
                <a:spcPct val="100000"/>
              </a:lnSpc>
              <a:spcBef>
                <a:spcPts val="40"/>
              </a:spcBef>
              <a:buFont typeface="Arial MT"/>
              <a:buChar char="●"/>
            </a:pPr>
            <a:endParaRPr sz="1550">
              <a:latin typeface="Calibri"/>
              <a:cs typeface="Calibri"/>
            </a:endParaRPr>
          </a:p>
          <a:p>
            <a:pPr marL="455295" indent="-443230">
              <a:lnSpc>
                <a:spcPct val="100000"/>
              </a:lnSpc>
              <a:buFont typeface="Cambria"/>
              <a:buChar char="◉"/>
              <a:tabLst>
                <a:tab pos="455295" algn="l"/>
                <a:tab pos="455930" algn="l"/>
              </a:tabLst>
            </a:pPr>
            <a:r>
              <a:rPr sz="1600" spc="-5" dirty="0">
                <a:latin typeface="Calibri"/>
                <a:cs typeface="Calibri"/>
              </a:rPr>
              <a:t>Conclusion:</a:t>
            </a:r>
            <a:endParaRPr sz="1600">
              <a:latin typeface="Calibri"/>
              <a:cs typeface="Calibri"/>
            </a:endParaRPr>
          </a:p>
          <a:p>
            <a:pPr marL="535305">
              <a:lnSpc>
                <a:spcPct val="100000"/>
              </a:lnSpc>
              <a:spcBef>
                <a:spcPts val="210"/>
              </a:spcBef>
              <a:tabLst>
                <a:tab pos="829944" algn="l"/>
              </a:tabLst>
            </a:pPr>
            <a:r>
              <a:rPr sz="1600" b="1" dirty="0">
                <a:latin typeface="Verdana"/>
                <a:cs typeface="Verdana"/>
              </a:rPr>
              <a:t>›	</a:t>
            </a:r>
            <a:r>
              <a:rPr sz="1600" b="1" spc="-5" dirty="0">
                <a:latin typeface="Calibri"/>
                <a:cs typeface="Calibri"/>
              </a:rPr>
              <a:t>NO</a:t>
            </a:r>
            <a:r>
              <a:rPr sz="1600" spc="-5" dirty="0">
                <a:latin typeface="Calibri"/>
                <a:cs typeface="Calibri"/>
              </a:rPr>
              <a:t>,</a:t>
            </a:r>
            <a:r>
              <a:rPr sz="1600" spc="-20" dirty="0">
                <a:latin typeface="Calibri"/>
                <a:cs typeface="Calibri"/>
              </a:rPr>
              <a:t> </a:t>
            </a:r>
            <a:r>
              <a:rPr sz="1600" spc="-15" dirty="0">
                <a:latin typeface="Calibri"/>
                <a:cs typeface="Calibri"/>
              </a:rPr>
              <a:t>for </a:t>
            </a:r>
            <a:r>
              <a:rPr sz="1600" spc="-10" dirty="0">
                <a:latin typeface="Calibri"/>
                <a:cs typeface="Calibri"/>
              </a:rPr>
              <a:t>complete</a:t>
            </a:r>
            <a:r>
              <a:rPr sz="1600" spc="-15" dirty="0">
                <a:latin typeface="Calibri"/>
                <a:cs typeface="Calibri"/>
              </a:rPr>
              <a:t> </a:t>
            </a:r>
            <a:r>
              <a:rPr sz="1600" spc="-10" dirty="0">
                <a:latin typeface="Calibri"/>
                <a:cs typeface="Calibri"/>
              </a:rPr>
              <a:t>sentences</a:t>
            </a:r>
            <a:endParaRPr sz="1600">
              <a:latin typeface="Calibri"/>
              <a:cs typeface="Calibri"/>
            </a:endParaRPr>
          </a:p>
          <a:p>
            <a:pPr marL="535305">
              <a:lnSpc>
                <a:spcPct val="100000"/>
              </a:lnSpc>
              <a:spcBef>
                <a:spcPts val="209"/>
              </a:spcBef>
              <a:tabLst>
                <a:tab pos="829944" algn="l"/>
              </a:tabLst>
            </a:pPr>
            <a:r>
              <a:rPr sz="1600" b="1" dirty="0">
                <a:latin typeface="Verdana"/>
                <a:cs typeface="Verdana"/>
              </a:rPr>
              <a:t>›	</a:t>
            </a:r>
            <a:r>
              <a:rPr sz="1600" b="1" spc="-10" dirty="0">
                <a:latin typeface="Calibri"/>
                <a:cs typeface="Calibri"/>
              </a:rPr>
              <a:t>YES</a:t>
            </a:r>
            <a:r>
              <a:rPr sz="1600" spc="-10" dirty="0">
                <a:latin typeface="Calibri"/>
                <a:cs typeface="Calibri"/>
              </a:rPr>
              <a:t>,</a:t>
            </a:r>
            <a:r>
              <a:rPr sz="1600" spc="-20" dirty="0">
                <a:latin typeface="Calibri"/>
                <a:cs typeface="Calibri"/>
              </a:rPr>
              <a:t> </a:t>
            </a:r>
            <a:r>
              <a:rPr sz="1600" spc="-15" dirty="0">
                <a:latin typeface="Calibri"/>
                <a:cs typeface="Calibri"/>
              </a:rPr>
              <a:t>for</a:t>
            </a:r>
            <a:r>
              <a:rPr sz="1600" spc="-20" dirty="0">
                <a:latin typeface="Calibri"/>
                <a:cs typeface="Calibri"/>
              </a:rPr>
              <a:t> </a:t>
            </a:r>
            <a:r>
              <a:rPr sz="1600" spc="-5" dirty="0">
                <a:latin typeface="Calibri"/>
                <a:cs typeface="Calibri"/>
              </a:rPr>
              <a:t>individual</a:t>
            </a:r>
            <a:r>
              <a:rPr sz="1600" spc="-20" dirty="0">
                <a:latin typeface="Calibri"/>
                <a:cs typeface="Calibri"/>
              </a:rPr>
              <a:t> </a:t>
            </a:r>
            <a:r>
              <a:rPr sz="1600" spc="-15" dirty="0">
                <a:latin typeface="Calibri"/>
                <a:cs typeface="Calibri"/>
              </a:rPr>
              <a:t>words</a:t>
            </a:r>
            <a:endParaRPr sz="1600">
              <a:latin typeface="Calibri"/>
              <a:cs typeface="Calibri"/>
            </a:endParaRPr>
          </a:p>
        </p:txBody>
      </p:sp>
    </p:spTree>
    <p:extLst>
      <p:ext uri="{BB962C8B-B14F-4D97-AF65-F5344CB8AC3E}">
        <p14:creationId xmlns:p14="http://schemas.microsoft.com/office/powerpoint/2010/main" val="21495061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93</a:t>
            </a:fld>
            <a:endParaRPr dirty="0"/>
          </a:p>
        </p:txBody>
      </p:sp>
      <p:sp>
        <p:nvSpPr>
          <p:cNvPr id="2" name="object 2"/>
          <p:cNvSpPr txBox="1">
            <a:spLocks noGrp="1"/>
          </p:cNvSpPr>
          <p:nvPr>
            <p:ph type="title"/>
          </p:nvPr>
        </p:nvSpPr>
        <p:spPr>
          <a:xfrm>
            <a:off x="1608263" y="480031"/>
            <a:ext cx="6477635"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739BDC"/>
                </a:solidFill>
              </a:rPr>
              <a:t>Can</a:t>
            </a:r>
            <a:r>
              <a:rPr sz="3600" spc="-30" dirty="0">
                <a:solidFill>
                  <a:srgbClr val="739BDC"/>
                </a:solidFill>
              </a:rPr>
              <a:t> </a:t>
            </a:r>
            <a:r>
              <a:rPr sz="3600" spc="-15" dirty="0">
                <a:solidFill>
                  <a:srgbClr val="739BDC"/>
                </a:solidFill>
              </a:rPr>
              <a:t>Computers</a:t>
            </a:r>
            <a:r>
              <a:rPr sz="3600" spc="-30" dirty="0">
                <a:solidFill>
                  <a:srgbClr val="739BDC"/>
                </a:solidFill>
              </a:rPr>
              <a:t> </a:t>
            </a:r>
            <a:r>
              <a:rPr sz="3600" spc="-25" dirty="0">
                <a:solidFill>
                  <a:srgbClr val="739BDC"/>
                </a:solidFill>
              </a:rPr>
              <a:t>Recognize</a:t>
            </a:r>
            <a:r>
              <a:rPr sz="3600" spc="-30" dirty="0">
                <a:solidFill>
                  <a:srgbClr val="739BDC"/>
                </a:solidFill>
              </a:rPr>
              <a:t> </a:t>
            </a:r>
            <a:r>
              <a:rPr sz="3600" spc="-5" dirty="0">
                <a:solidFill>
                  <a:srgbClr val="739BDC"/>
                </a:solidFill>
              </a:rPr>
              <a:t>Speech?</a:t>
            </a:r>
            <a:endParaRPr sz="3600"/>
          </a:p>
        </p:txBody>
      </p:sp>
      <p:sp>
        <p:nvSpPr>
          <p:cNvPr id="3" name="object 3"/>
          <p:cNvSpPr txBox="1"/>
          <p:nvPr/>
        </p:nvSpPr>
        <p:spPr>
          <a:xfrm>
            <a:off x="746462" y="1466592"/>
            <a:ext cx="7345680" cy="4603115"/>
          </a:xfrm>
          <a:prstGeom prst="rect">
            <a:avLst/>
          </a:prstGeom>
        </p:spPr>
        <p:txBody>
          <a:bodyPr vert="horz" wrap="square" lIns="0" tIns="63500" rIns="0" bIns="0" rtlCol="0">
            <a:spAutoFit/>
          </a:bodyPr>
          <a:lstStyle/>
          <a:p>
            <a:pPr marL="324485" indent="-312420">
              <a:lnSpc>
                <a:spcPct val="100000"/>
              </a:lnSpc>
              <a:spcBef>
                <a:spcPts val="500"/>
              </a:spcBef>
              <a:buFont typeface="Arial"/>
              <a:buChar char="•"/>
              <a:tabLst>
                <a:tab pos="324485" algn="l"/>
                <a:tab pos="325120" algn="l"/>
              </a:tabLst>
            </a:pPr>
            <a:r>
              <a:rPr sz="1600" b="1" spc="-5" dirty="0">
                <a:latin typeface="Calibri"/>
                <a:cs typeface="Calibri"/>
              </a:rPr>
              <a:t>Speech</a:t>
            </a:r>
            <a:r>
              <a:rPr sz="1600" b="1" spc="-30" dirty="0">
                <a:latin typeface="Calibri"/>
                <a:cs typeface="Calibri"/>
              </a:rPr>
              <a:t> </a:t>
            </a:r>
            <a:r>
              <a:rPr sz="1600" b="1" spc="-10" dirty="0">
                <a:latin typeface="Calibri"/>
                <a:cs typeface="Calibri"/>
              </a:rPr>
              <a:t>Recognition:</a:t>
            </a:r>
            <a:endParaRPr sz="1600">
              <a:latin typeface="Calibri"/>
              <a:cs typeface="Calibri"/>
            </a:endParaRPr>
          </a:p>
          <a:p>
            <a:pPr marL="724535" lvl="1" indent="-297180">
              <a:lnSpc>
                <a:spcPct val="100000"/>
              </a:lnSpc>
              <a:spcBef>
                <a:spcPts val="400"/>
              </a:spcBef>
              <a:buFont typeface="Arial MT"/>
              <a:buChar char="–"/>
              <a:tabLst>
                <a:tab pos="724535" algn="l"/>
                <a:tab pos="725170" algn="l"/>
              </a:tabLst>
            </a:pPr>
            <a:r>
              <a:rPr sz="1600" spc="-5" dirty="0">
                <a:latin typeface="Calibri"/>
                <a:cs typeface="Calibri"/>
              </a:rPr>
              <a:t>mapping</a:t>
            </a:r>
            <a:r>
              <a:rPr sz="1600" spc="-10" dirty="0">
                <a:latin typeface="Calibri"/>
                <a:cs typeface="Calibri"/>
              </a:rPr>
              <a:t> </a:t>
            </a:r>
            <a:r>
              <a:rPr sz="1600" spc="-5" dirty="0">
                <a:latin typeface="Calibri"/>
                <a:cs typeface="Calibri"/>
              </a:rPr>
              <a:t>sounds </a:t>
            </a:r>
            <a:r>
              <a:rPr sz="1600" spc="-10" dirty="0">
                <a:latin typeface="Calibri"/>
                <a:cs typeface="Calibri"/>
              </a:rPr>
              <a:t>from</a:t>
            </a:r>
            <a:r>
              <a:rPr sz="1600" spc="-5" dirty="0">
                <a:latin typeface="Calibri"/>
                <a:cs typeface="Calibri"/>
              </a:rPr>
              <a:t> </a:t>
            </a:r>
            <a:r>
              <a:rPr sz="1600" dirty="0">
                <a:latin typeface="Calibri"/>
                <a:cs typeface="Calibri"/>
              </a:rPr>
              <a:t>a</a:t>
            </a:r>
            <a:r>
              <a:rPr sz="1600" spc="-10" dirty="0">
                <a:latin typeface="Calibri"/>
                <a:cs typeface="Calibri"/>
              </a:rPr>
              <a:t> microphone</a:t>
            </a:r>
            <a:r>
              <a:rPr sz="1600" spc="-5" dirty="0">
                <a:latin typeface="Calibri"/>
                <a:cs typeface="Calibri"/>
              </a:rPr>
              <a:t> </a:t>
            </a:r>
            <a:r>
              <a:rPr sz="1600" spc="-15" dirty="0">
                <a:latin typeface="Calibri"/>
                <a:cs typeface="Calibri"/>
              </a:rPr>
              <a:t>into</a:t>
            </a:r>
            <a:r>
              <a:rPr sz="1600" spc="-5" dirty="0">
                <a:latin typeface="Calibri"/>
                <a:cs typeface="Calibri"/>
              </a:rPr>
              <a:t> </a:t>
            </a:r>
            <a:r>
              <a:rPr sz="1600" dirty="0">
                <a:latin typeface="Calibri"/>
                <a:cs typeface="Calibri"/>
              </a:rPr>
              <a:t>a</a:t>
            </a:r>
            <a:r>
              <a:rPr sz="1600" spc="-5" dirty="0">
                <a:latin typeface="Calibri"/>
                <a:cs typeface="Calibri"/>
              </a:rPr>
              <a:t> </a:t>
            </a:r>
            <a:r>
              <a:rPr sz="1600" spc="-10" dirty="0">
                <a:latin typeface="Calibri"/>
                <a:cs typeface="Calibri"/>
              </a:rPr>
              <a:t>list </a:t>
            </a:r>
            <a:r>
              <a:rPr sz="1600" spc="-5" dirty="0">
                <a:latin typeface="Calibri"/>
                <a:cs typeface="Calibri"/>
              </a:rPr>
              <a:t>of </a:t>
            </a:r>
            <a:r>
              <a:rPr sz="1600" spc="-15" dirty="0">
                <a:latin typeface="Calibri"/>
                <a:cs typeface="Calibri"/>
              </a:rPr>
              <a:t>words</a:t>
            </a:r>
            <a:endParaRPr sz="1600">
              <a:latin typeface="Calibri"/>
              <a:cs typeface="Calibri"/>
            </a:endParaRPr>
          </a:p>
          <a:p>
            <a:pPr marL="724535" lvl="1" indent="-297180">
              <a:lnSpc>
                <a:spcPct val="100000"/>
              </a:lnSpc>
              <a:spcBef>
                <a:spcPts val="400"/>
              </a:spcBef>
              <a:buFont typeface="Arial MT"/>
              <a:buChar char="–"/>
              <a:tabLst>
                <a:tab pos="724535" algn="l"/>
                <a:tab pos="725170" algn="l"/>
              </a:tabLst>
            </a:pPr>
            <a:r>
              <a:rPr sz="1600" spc="-5" dirty="0">
                <a:latin typeface="Calibri"/>
                <a:cs typeface="Calibri"/>
              </a:rPr>
              <a:t>classic</a:t>
            </a:r>
            <a:r>
              <a:rPr sz="1600" spc="-15" dirty="0">
                <a:latin typeface="Calibri"/>
                <a:cs typeface="Calibri"/>
              </a:rPr>
              <a:t> </a:t>
            </a:r>
            <a:r>
              <a:rPr sz="1600" spc="-10" dirty="0">
                <a:latin typeface="Calibri"/>
                <a:cs typeface="Calibri"/>
              </a:rPr>
              <a:t>problem </a:t>
            </a:r>
            <a:r>
              <a:rPr sz="1600" spc="-5" dirty="0">
                <a:latin typeface="Calibri"/>
                <a:cs typeface="Calibri"/>
              </a:rPr>
              <a:t>in</a:t>
            </a:r>
            <a:r>
              <a:rPr sz="1600" spc="-10" dirty="0">
                <a:latin typeface="Calibri"/>
                <a:cs typeface="Calibri"/>
              </a:rPr>
              <a:t> </a:t>
            </a:r>
            <a:r>
              <a:rPr sz="1600" spc="-5" dirty="0">
                <a:latin typeface="Calibri"/>
                <a:cs typeface="Calibri"/>
              </a:rPr>
              <a:t>AI,</a:t>
            </a:r>
            <a:r>
              <a:rPr sz="1600" spc="-10" dirty="0">
                <a:latin typeface="Calibri"/>
                <a:cs typeface="Calibri"/>
              </a:rPr>
              <a:t> </a:t>
            </a:r>
            <a:r>
              <a:rPr sz="1600" spc="-5" dirty="0">
                <a:latin typeface="Calibri"/>
                <a:cs typeface="Calibri"/>
              </a:rPr>
              <a:t>very</a:t>
            </a:r>
            <a:r>
              <a:rPr sz="1600" spc="-10" dirty="0">
                <a:latin typeface="Calibri"/>
                <a:cs typeface="Calibri"/>
              </a:rPr>
              <a:t> difficult</a:t>
            </a:r>
            <a:endParaRPr sz="1600">
              <a:latin typeface="Calibri"/>
              <a:cs typeface="Calibri"/>
            </a:endParaRPr>
          </a:p>
          <a:p>
            <a:pPr marL="1125220" lvl="2" indent="-198755">
              <a:lnSpc>
                <a:spcPct val="100000"/>
              </a:lnSpc>
              <a:spcBef>
                <a:spcPts val="400"/>
              </a:spcBef>
              <a:buFont typeface="Arial MT"/>
              <a:buChar char="•"/>
              <a:tabLst>
                <a:tab pos="1125220" algn="l"/>
              </a:tabLst>
            </a:pPr>
            <a:r>
              <a:rPr sz="1600" spc="-5" dirty="0">
                <a:latin typeface="Calibri"/>
                <a:cs typeface="Calibri"/>
              </a:rPr>
              <a:t>“Lets</a:t>
            </a:r>
            <a:r>
              <a:rPr sz="1600" spc="-15" dirty="0">
                <a:latin typeface="Calibri"/>
                <a:cs typeface="Calibri"/>
              </a:rPr>
              <a:t> </a:t>
            </a:r>
            <a:r>
              <a:rPr sz="1600" spc="-10" dirty="0">
                <a:latin typeface="Calibri"/>
                <a:cs typeface="Calibri"/>
              </a:rPr>
              <a:t>talk </a:t>
            </a:r>
            <a:r>
              <a:rPr sz="1600" dirty="0">
                <a:latin typeface="Calibri"/>
                <a:cs typeface="Calibri"/>
              </a:rPr>
              <a:t>about</a:t>
            </a:r>
            <a:r>
              <a:rPr sz="1600" spc="-15" dirty="0">
                <a:latin typeface="Calibri"/>
                <a:cs typeface="Calibri"/>
              </a:rPr>
              <a:t> </a:t>
            </a:r>
            <a:r>
              <a:rPr sz="1600" spc="-5" dirty="0">
                <a:latin typeface="Calibri"/>
                <a:cs typeface="Calibri"/>
              </a:rPr>
              <a:t>how</a:t>
            </a:r>
            <a:r>
              <a:rPr sz="1600" spc="-10" dirty="0">
                <a:latin typeface="Calibri"/>
                <a:cs typeface="Calibri"/>
              </a:rPr>
              <a:t> to</a:t>
            </a:r>
            <a:r>
              <a:rPr sz="1600" spc="-15" dirty="0">
                <a:latin typeface="Calibri"/>
                <a:cs typeface="Calibri"/>
              </a:rPr>
              <a:t> </a:t>
            </a:r>
            <a:r>
              <a:rPr sz="1600" spc="-10" dirty="0">
                <a:latin typeface="Calibri"/>
                <a:cs typeface="Calibri"/>
              </a:rPr>
              <a:t>wreck </a:t>
            </a:r>
            <a:r>
              <a:rPr sz="1600" dirty="0">
                <a:latin typeface="Calibri"/>
                <a:cs typeface="Calibri"/>
              </a:rPr>
              <a:t>a</a:t>
            </a:r>
            <a:r>
              <a:rPr sz="1600" spc="-15" dirty="0">
                <a:latin typeface="Calibri"/>
                <a:cs typeface="Calibri"/>
              </a:rPr>
              <a:t> </a:t>
            </a:r>
            <a:r>
              <a:rPr sz="1600" spc="-5" dirty="0">
                <a:latin typeface="Calibri"/>
                <a:cs typeface="Calibri"/>
              </a:rPr>
              <a:t>nice</a:t>
            </a:r>
            <a:r>
              <a:rPr sz="1600" spc="-10" dirty="0">
                <a:latin typeface="Calibri"/>
                <a:cs typeface="Calibri"/>
              </a:rPr>
              <a:t> </a:t>
            </a:r>
            <a:r>
              <a:rPr sz="1600" spc="-5" dirty="0">
                <a:latin typeface="Calibri"/>
                <a:cs typeface="Calibri"/>
              </a:rPr>
              <a:t>beach”</a:t>
            </a:r>
            <a:endParaRPr sz="1600">
              <a:latin typeface="Calibri"/>
              <a:cs typeface="Calibri"/>
            </a:endParaRPr>
          </a:p>
          <a:p>
            <a:pPr lvl="2">
              <a:lnSpc>
                <a:spcPct val="100000"/>
              </a:lnSpc>
              <a:buFont typeface="Arial MT"/>
              <a:buChar char="•"/>
            </a:pPr>
            <a:endParaRPr sz="1900">
              <a:latin typeface="Calibri"/>
              <a:cs typeface="Calibri"/>
            </a:endParaRPr>
          </a:p>
          <a:p>
            <a:pPr marL="1125220" lvl="2" indent="-198755">
              <a:lnSpc>
                <a:spcPct val="100000"/>
              </a:lnSpc>
              <a:buFont typeface="Arial MT"/>
              <a:buChar char="•"/>
              <a:tabLst>
                <a:tab pos="1125220" algn="l"/>
                <a:tab pos="4667250" algn="l"/>
              </a:tabLst>
            </a:pPr>
            <a:r>
              <a:rPr sz="1600" spc="-5" dirty="0">
                <a:latin typeface="Calibri"/>
                <a:cs typeface="Calibri"/>
              </a:rPr>
              <a:t>(I </a:t>
            </a:r>
            <a:r>
              <a:rPr sz="1600" spc="-10" dirty="0">
                <a:latin typeface="Calibri"/>
                <a:cs typeface="Calibri"/>
              </a:rPr>
              <a:t>really</a:t>
            </a:r>
            <a:r>
              <a:rPr sz="1600" dirty="0">
                <a:latin typeface="Calibri"/>
                <a:cs typeface="Calibri"/>
              </a:rPr>
              <a:t> </a:t>
            </a:r>
            <a:r>
              <a:rPr sz="1600" spc="-5" dirty="0">
                <a:latin typeface="Calibri"/>
                <a:cs typeface="Calibri"/>
              </a:rPr>
              <a:t>said</a:t>
            </a:r>
            <a:r>
              <a:rPr sz="1600" dirty="0">
                <a:latin typeface="Calibri"/>
                <a:cs typeface="Calibri"/>
              </a:rPr>
              <a:t> </a:t>
            </a:r>
            <a:r>
              <a:rPr sz="1600" spc="-5" dirty="0">
                <a:latin typeface="Calibri"/>
                <a:cs typeface="Calibri"/>
              </a:rPr>
              <a:t>“</a:t>
            </a:r>
            <a:r>
              <a:rPr sz="1600" u="heavy" spc="-5" dirty="0">
                <a:uFill>
                  <a:solidFill>
                    <a:srgbClr val="000000"/>
                  </a:solidFill>
                </a:uFill>
                <a:latin typeface="Times New Roman"/>
                <a:cs typeface="Times New Roman"/>
              </a:rPr>
              <a:t>	</a:t>
            </a:r>
            <a:r>
              <a:rPr sz="1600" spc="-5" dirty="0">
                <a:latin typeface="Calibri"/>
                <a:cs typeface="Calibri"/>
              </a:rPr>
              <a:t>”)</a:t>
            </a:r>
            <a:endParaRPr sz="1600">
              <a:latin typeface="Calibri"/>
              <a:cs typeface="Calibri"/>
            </a:endParaRPr>
          </a:p>
          <a:p>
            <a:pPr lvl="2">
              <a:lnSpc>
                <a:spcPct val="100000"/>
              </a:lnSpc>
              <a:buFont typeface="Arial MT"/>
              <a:buChar char="•"/>
            </a:pPr>
            <a:endParaRPr sz="1800">
              <a:latin typeface="Calibri"/>
              <a:cs typeface="Calibri"/>
            </a:endParaRPr>
          </a:p>
          <a:p>
            <a:pPr lvl="2">
              <a:lnSpc>
                <a:spcPct val="100000"/>
              </a:lnSpc>
              <a:spcBef>
                <a:spcPts val="55"/>
              </a:spcBef>
              <a:buFont typeface="Arial MT"/>
              <a:buChar char="•"/>
            </a:pPr>
            <a:endParaRPr sz="2150">
              <a:latin typeface="Calibri"/>
              <a:cs typeface="Calibri"/>
            </a:endParaRPr>
          </a:p>
          <a:p>
            <a:pPr marL="370840" indent="-358775">
              <a:lnSpc>
                <a:spcPct val="100000"/>
              </a:lnSpc>
              <a:buFont typeface="Arial"/>
              <a:buChar char="•"/>
              <a:tabLst>
                <a:tab pos="370205" algn="l"/>
                <a:tab pos="371475" algn="l"/>
              </a:tabLst>
            </a:pPr>
            <a:r>
              <a:rPr sz="1600" b="1" spc="-10" dirty="0">
                <a:latin typeface="Calibri"/>
                <a:cs typeface="Calibri"/>
              </a:rPr>
              <a:t>Recognizing</a:t>
            </a:r>
            <a:r>
              <a:rPr sz="1600" b="1" spc="-15" dirty="0">
                <a:latin typeface="Calibri"/>
                <a:cs typeface="Calibri"/>
              </a:rPr>
              <a:t> </a:t>
            </a:r>
            <a:r>
              <a:rPr sz="1600" b="1" spc="-5" dirty="0">
                <a:latin typeface="Calibri"/>
                <a:cs typeface="Calibri"/>
              </a:rPr>
              <a:t>single</a:t>
            </a:r>
            <a:r>
              <a:rPr sz="1600" b="1" spc="-10" dirty="0">
                <a:latin typeface="Calibri"/>
                <a:cs typeface="Calibri"/>
              </a:rPr>
              <a:t> words from </a:t>
            </a:r>
            <a:r>
              <a:rPr sz="1600" b="1" dirty="0">
                <a:latin typeface="Calibri"/>
                <a:cs typeface="Calibri"/>
              </a:rPr>
              <a:t>a</a:t>
            </a:r>
            <a:r>
              <a:rPr sz="1600" b="1" spc="-10" dirty="0">
                <a:latin typeface="Calibri"/>
                <a:cs typeface="Calibri"/>
              </a:rPr>
              <a:t> </a:t>
            </a:r>
            <a:r>
              <a:rPr sz="1600" b="1" spc="-5" dirty="0">
                <a:latin typeface="Calibri"/>
                <a:cs typeface="Calibri"/>
              </a:rPr>
              <a:t>small</a:t>
            </a:r>
            <a:r>
              <a:rPr sz="1600" b="1" spc="-15" dirty="0">
                <a:latin typeface="Calibri"/>
                <a:cs typeface="Calibri"/>
              </a:rPr>
              <a:t> </a:t>
            </a:r>
            <a:r>
              <a:rPr sz="1600" b="1" spc="-5" dirty="0">
                <a:latin typeface="Calibri"/>
                <a:cs typeface="Calibri"/>
              </a:rPr>
              <a:t>vocabulary</a:t>
            </a:r>
            <a:endParaRPr sz="1600">
              <a:latin typeface="Calibri"/>
              <a:cs typeface="Calibri"/>
            </a:endParaRPr>
          </a:p>
          <a:p>
            <a:pPr marL="1125220" indent="-198755">
              <a:lnSpc>
                <a:spcPct val="100000"/>
              </a:lnSpc>
              <a:spcBef>
                <a:spcPts val="400"/>
              </a:spcBef>
              <a:buFont typeface="Arial MT"/>
              <a:buChar char="•"/>
              <a:tabLst>
                <a:tab pos="1125220" algn="l"/>
              </a:tabLst>
            </a:pPr>
            <a:r>
              <a:rPr sz="1600" spc="-15" dirty="0">
                <a:latin typeface="Calibri"/>
                <a:cs typeface="Calibri"/>
              </a:rPr>
              <a:t>systems</a:t>
            </a:r>
            <a:r>
              <a:rPr sz="1600" spc="-10" dirty="0">
                <a:latin typeface="Calibri"/>
                <a:cs typeface="Calibri"/>
              </a:rPr>
              <a:t> </a:t>
            </a:r>
            <a:r>
              <a:rPr sz="1600" spc="-5" dirty="0">
                <a:latin typeface="Calibri"/>
                <a:cs typeface="Calibri"/>
              </a:rPr>
              <a:t>can</a:t>
            </a:r>
            <a:r>
              <a:rPr sz="1600" spc="-10" dirty="0">
                <a:latin typeface="Calibri"/>
                <a:cs typeface="Calibri"/>
              </a:rPr>
              <a:t> </a:t>
            </a:r>
            <a:r>
              <a:rPr sz="1600" spc="-5" dirty="0">
                <a:latin typeface="Calibri"/>
                <a:cs typeface="Calibri"/>
              </a:rPr>
              <a:t>do</a:t>
            </a:r>
            <a:r>
              <a:rPr sz="1600" spc="-10" dirty="0">
                <a:latin typeface="Calibri"/>
                <a:cs typeface="Calibri"/>
              </a:rPr>
              <a:t> </a:t>
            </a:r>
            <a:r>
              <a:rPr sz="1600" spc="-5" dirty="0">
                <a:latin typeface="Calibri"/>
                <a:cs typeface="Calibri"/>
              </a:rPr>
              <a:t>this</a:t>
            </a:r>
            <a:r>
              <a:rPr sz="1600" spc="-10" dirty="0">
                <a:latin typeface="Calibri"/>
                <a:cs typeface="Calibri"/>
              </a:rPr>
              <a:t> </a:t>
            </a:r>
            <a:r>
              <a:rPr sz="1600" spc="-5" dirty="0">
                <a:latin typeface="Calibri"/>
                <a:cs typeface="Calibri"/>
              </a:rPr>
              <a:t>with</a:t>
            </a:r>
            <a:r>
              <a:rPr sz="1600" spc="-10" dirty="0">
                <a:latin typeface="Calibri"/>
                <a:cs typeface="Calibri"/>
              </a:rPr>
              <a:t> </a:t>
            </a:r>
            <a:r>
              <a:rPr sz="1600" spc="-5" dirty="0">
                <a:latin typeface="Calibri"/>
                <a:cs typeface="Calibri"/>
              </a:rPr>
              <a:t>high</a:t>
            </a:r>
            <a:r>
              <a:rPr sz="1600" spc="-10" dirty="0">
                <a:latin typeface="Calibri"/>
                <a:cs typeface="Calibri"/>
              </a:rPr>
              <a:t> </a:t>
            </a:r>
            <a:r>
              <a:rPr sz="1600" spc="-5" dirty="0">
                <a:latin typeface="Calibri"/>
                <a:cs typeface="Calibri"/>
              </a:rPr>
              <a:t>accuracy</a:t>
            </a:r>
            <a:r>
              <a:rPr sz="1600" spc="-10" dirty="0">
                <a:latin typeface="Calibri"/>
                <a:cs typeface="Calibri"/>
              </a:rPr>
              <a:t> (order </a:t>
            </a:r>
            <a:r>
              <a:rPr sz="1600" spc="-5" dirty="0">
                <a:latin typeface="Calibri"/>
                <a:cs typeface="Calibri"/>
              </a:rPr>
              <a:t>of</a:t>
            </a:r>
            <a:r>
              <a:rPr sz="1600" spc="-10" dirty="0">
                <a:latin typeface="Calibri"/>
                <a:cs typeface="Calibri"/>
              </a:rPr>
              <a:t> </a:t>
            </a:r>
            <a:r>
              <a:rPr sz="1600" spc="-5" dirty="0">
                <a:latin typeface="Calibri"/>
                <a:cs typeface="Calibri"/>
              </a:rPr>
              <a:t>99%)</a:t>
            </a:r>
            <a:endParaRPr sz="1600">
              <a:latin typeface="Calibri"/>
              <a:cs typeface="Calibri"/>
            </a:endParaRPr>
          </a:p>
          <a:p>
            <a:pPr marL="1125220" indent="-198755">
              <a:lnSpc>
                <a:spcPct val="100000"/>
              </a:lnSpc>
              <a:spcBef>
                <a:spcPts val="400"/>
              </a:spcBef>
              <a:buFont typeface="Arial MT"/>
              <a:buChar char="•"/>
              <a:tabLst>
                <a:tab pos="1125220" algn="l"/>
              </a:tabLst>
            </a:pPr>
            <a:r>
              <a:rPr sz="1600" dirty="0">
                <a:latin typeface="Calibri"/>
                <a:cs typeface="Calibri"/>
              </a:rPr>
              <a:t>e.g.,</a:t>
            </a:r>
            <a:r>
              <a:rPr sz="1600" spc="-30" dirty="0">
                <a:latin typeface="Calibri"/>
                <a:cs typeface="Calibri"/>
              </a:rPr>
              <a:t> </a:t>
            </a:r>
            <a:r>
              <a:rPr sz="1600" spc="-10" dirty="0">
                <a:latin typeface="Calibri"/>
                <a:cs typeface="Calibri"/>
              </a:rPr>
              <a:t>directory</a:t>
            </a:r>
            <a:r>
              <a:rPr sz="1600" spc="-25" dirty="0">
                <a:latin typeface="Calibri"/>
                <a:cs typeface="Calibri"/>
              </a:rPr>
              <a:t> </a:t>
            </a:r>
            <a:r>
              <a:rPr sz="1600" spc="-5" dirty="0">
                <a:latin typeface="Calibri"/>
                <a:cs typeface="Calibri"/>
              </a:rPr>
              <a:t>inquiries</a:t>
            </a:r>
            <a:endParaRPr sz="1600">
              <a:latin typeface="Calibri"/>
              <a:cs typeface="Calibri"/>
            </a:endParaRPr>
          </a:p>
          <a:p>
            <a:pPr marL="1582420" lvl="1" indent="-243204">
              <a:lnSpc>
                <a:spcPct val="100000"/>
              </a:lnSpc>
              <a:spcBef>
                <a:spcPts val="484"/>
              </a:spcBef>
              <a:buFont typeface="Arial MT"/>
              <a:buChar char="–"/>
              <a:tabLst>
                <a:tab pos="1582420" algn="l"/>
              </a:tabLst>
            </a:pPr>
            <a:r>
              <a:rPr sz="2000" spc="-10" dirty="0">
                <a:latin typeface="Calibri"/>
                <a:cs typeface="Calibri"/>
              </a:rPr>
              <a:t>limited</a:t>
            </a:r>
            <a:r>
              <a:rPr sz="2000" spc="-15" dirty="0">
                <a:latin typeface="Calibri"/>
                <a:cs typeface="Calibri"/>
              </a:rPr>
              <a:t> </a:t>
            </a:r>
            <a:r>
              <a:rPr sz="2000" spc="-5" dirty="0">
                <a:latin typeface="Calibri"/>
                <a:cs typeface="Calibri"/>
              </a:rPr>
              <a:t>vocabulary</a:t>
            </a:r>
            <a:r>
              <a:rPr sz="2000" spc="-10" dirty="0">
                <a:latin typeface="Calibri"/>
                <a:cs typeface="Calibri"/>
              </a:rPr>
              <a:t> (area codes, </a:t>
            </a:r>
            <a:r>
              <a:rPr sz="2000" spc="-5" dirty="0">
                <a:latin typeface="Calibri"/>
                <a:cs typeface="Calibri"/>
              </a:rPr>
              <a:t>city</a:t>
            </a:r>
            <a:r>
              <a:rPr sz="2000" spc="-15" dirty="0">
                <a:latin typeface="Calibri"/>
                <a:cs typeface="Calibri"/>
              </a:rPr>
              <a:t> </a:t>
            </a:r>
            <a:r>
              <a:rPr sz="2000" spc="-5" dirty="0">
                <a:latin typeface="Calibri"/>
                <a:cs typeface="Calibri"/>
              </a:rPr>
              <a:t>names)</a:t>
            </a:r>
            <a:endParaRPr sz="2000">
              <a:latin typeface="Calibri"/>
              <a:cs typeface="Calibri"/>
            </a:endParaRPr>
          </a:p>
          <a:p>
            <a:pPr marL="1582420" marR="410209" lvl="1" indent="-243204">
              <a:lnSpc>
                <a:spcPct val="100000"/>
              </a:lnSpc>
              <a:spcBef>
                <a:spcPts val="500"/>
              </a:spcBef>
              <a:buFont typeface="Arial MT"/>
              <a:buChar char="–"/>
              <a:tabLst>
                <a:tab pos="1582420" algn="l"/>
              </a:tabLst>
            </a:pPr>
            <a:r>
              <a:rPr sz="2000" spc="-10" dirty="0">
                <a:latin typeface="Calibri"/>
                <a:cs typeface="Calibri"/>
              </a:rPr>
              <a:t>computer </a:t>
            </a:r>
            <a:r>
              <a:rPr sz="2000" spc="-5" dirty="0">
                <a:latin typeface="Calibri"/>
                <a:cs typeface="Calibri"/>
              </a:rPr>
              <a:t>tries </a:t>
            </a:r>
            <a:r>
              <a:rPr sz="2000" spc="-10" dirty="0">
                <a:latin typeface="Calibri"/>
                <a:cs typeface="Calibri"/>
              </a:rPr>
              <a:t>to</a:t>
            </a:r>
            <a:r>
              <a:rPr sz="2000" spc="-5" dirty="0">
                <a:latin typeface="Calibri"/>
                <a:cs typeface="Calibri"/>
              </a:rPr>
              <a:t> </a:t>
            </a:r>
            <a:r>
              <a:rPr sz="2000" spc="-15" dirty="0">
                <a:latin typeface="Calibri"/>
                <a:cs typeface="Calibri"/>
              </a:rPr>
              <a:t>recognize</a:t>
            </a:r>
            <a:r>
              <a:rPr sz="2000" spc="-5" dirty="0">
                <a:latin typeface="Calibri"/>
                <a:cs typeface="Calibri"/>
              </a:rPr>
              <a:t> </a:t>
            </a:r>
            <a:r>
              <a:rPr sz="2000" spc="-10" dirty="0">
                <a:latin typeface="Calibri"/>
                <a:cs typeface="Calibri"/>
              </a:rPr>
              <a:t>you</a:t>
            </a:r>
            <a:r>
              <a:rPr sz="2000" spc="-5" dirty="0">
                <a:latin typeface="Calibri"/>
                <a:cs typeface="Calibri"/>
              </a:rPr>
              <a:t> </a:t>
            </a:r>
            <a:r>
              <a:rPr sz="2000" spc="-15" dirty="0">
                <a:latin typeface="Calibri"/>
                <a:cs typeface="Calibri"/>
              </a:rPr>
              <a:t>first,</a:t>
            </a:r>
            <a:r>
              <a:rPr sz="2000" spc="-5" dirty="0">
                <a:latin typeface="Calibri"/>
                <a:cs typeface="Calibri"/>
              </a:rPr>
              <a:t> if </a:t>
            </a:r>
            <a:r>
              <a:rPr sz="2000" spc="-10" dirty="0">
                <a:latin typeface="Calibri"/>
                <a:cs typeface="Calibri"/>
              </a:rPr>
              <a:t>unsuccessful </a:t>
            </a:r>
            <a:r>
              <a:rPr sz="2000" spc="-440" dirty="0">
                <a:latin typeface="Calibri"/>
                <a:cs typeface="Calibri"/>
              </a:rPr>
              <a:t> </a:t>
            </a:r>
            <a:r>
              <a:rPr sz="2000" spc="-5" dirty="0">
                <a:latin typeface="Calibri"/>
                <a:cs typeface="Calibri"/>
              </a:rPr>
              <a:t>hands</a:t>
            </a:r>
            <a:r>
              <a:rPr sz="2000" spc="-10" dirty="0">
                <a:latin typeface="Calibri"/>
                <a:cs typeface="Calibri"/>
              </a:rPr>
              <a:t> you</a:t>
            </a:r>
            <a:r>
              <a:rPr sz="2000" spc="-5" dirty="0">
                <a:latin typeface="Calibri"/>
                <a:cs typeface="Calibri"/>
              </a:rPr>
              <a:t> </a:t>
            </a:r>
            <a:r>
              <a:rPr sz="2000" spc="-10" dirty="0">
                <a:latin typeface="Calibri"/>
                <a:cs typeface="Calibri"/>
              </a:rPr>
              <a:t>over to</a:t>
            </a:r>
            <a:r>
              <a:rPr sz="2000" spc="-5" dirty="0">
                <a:latin typeface="Calibri"/>
                <a:cs typeface="Calibri"/>
              </a:rPr>
              <a:t> </a:t>
            </a:r>
            <a:r>
              <a:rPr sz="2000" dirty="0">
                <a:latin typeface="Calibri"/>
                <a:cs typeface="Calibri"/>
              </a:rPr>
              <a:t>a</a:t>
            </a:r>
            <a:r>
              <a:rPr sz="2000" spc="-10" dirty="0">
                <a:latin typeface="Calibri"/>
                <a:cs typeface="Calibri"/>
              </a:rPr>
              <a:t> </a:t>
            </a:r>
            <a:r>
              <a:rPr sz="2000" spc="-5" dirty="0">
                <a:latin typeface="Calibri"/>
                <a:cs typeface="Calibri"/>
              </a:rPr>
              <a:t>human </a:t>
            </a:r>
            <a:r>
              <a:rPr sz="2000" spc="-15" dirty="0">
                <a:latin typeface="Calibri"/>
                <a:cs typeface="Calibri"/>
              </a:rPr>
              <a:t>operator</a:t>
            </a:r>
            <a:endParaRPr sz="2000">
              <a:latin typeface="Calibri"/>
              <a:cs typeface="Calibri"/>
            </a:endParaRPr>
          </a:p>
          <a:p>
            <a:pPr marL="1582420" lvl="1" indent="-243204">
              <a:lnSpc>
                <a:spcPct val="100000"/>
              </a:lnSpc>
              <a:spcBef>
                <a:spcPts val="500"/>
              </a:spcBef>
              <a:buFont typeface="Arial MT"/>
              <a:buChar char="–"/>
              <a:tabLst>
                <a:tab pos="1582420" algn="l"/>
              </a:tabLst>
            </a:pPr>
            <a:r>
              <a:rPr sz="2000" spc="-15" dirty="0">
                <a:latin typeface="Calibri"/>
                <a:cs typeface="Calibri"/>
              </a:rPr>
              <a:t>saves</a:t>
            </a:r>
            <a:r>
              <a:rPr sz="2000" spc="-10" dirty="0">
                <a:latin typeface="Calibri"/>
                <a:cs typeface="Calibri"/>
              </a:rPr>
              <a:t> </a:t>
            </a:r>
            <a:r>
              <a:rPr sz="2000" spc="-5" dirty="0">
                <a:latin typeface="Calibri"/>
                <a:cs typeface="Calibri"/>
              </a:rPr>
              <a:t>millions of</a:t>
            </a:r>
            <a:r>
              <a:rPr sz="2000" spc="-10" dirty="0">
                <a:latin typeface="Calibri"/>
                <a:cs typeface="Calibri"/>
              </a:rPr>
              <a:t> dollars</a:t>
            </a:r>
            <a:r>
              <a:rPr sz="2000" spc="-5" dirty="0">
                <a:latin typeface="Calibri"/>
                <a:cs typeface="Calibri"/>
              </a:rPr>
              <a:t> </a:t>
            </a:r>
            <a:r>
              <a:rPr sz="2000" dirty="0">
                <a:latin typeface="Calibri"/>
                <a:cs typeface="Calibri"/>
              </a:rPr>
              <a:t>a</a:t>
            </a:r>
            <a:r>
              <a:rPr sz="2000" spc="-10" dirty="0">
                <a:latin typeface="Calibri"/>
                <a:cs typeface="Calibri"/>
              </a:rPr>
              <a:t> year</a:t>
            </a:r>
            <a:r>
              <a:rPr sz="2000" spc="-5" dirty="0">
                <a:latin typeface="Calibri"/>
                <a:cs typeface="Calibri"/>
              </a:rPr>
              <a:t> </a:t>
            </a:r>
            <a:r>
              <a:rPr sz="2000" spc="-20" dirty="0">
                <a:latin typeface="Calibri"/>
                <a:cs typeface="Calibri"/>
              </a:rPr>
              <a:t>for</a:t>
            </a:r>
            <a:r>
              <a:rPr sz="2000" spc="-5" dirty="0">
                <a:latin typeface="Calibri"/>
                <a:cs typeface="Calibri"/>
              </a:rPr>
              <a:t> the</a:t>
            </a:r>
            <a:r>
              <a:rPr sz="2000" spc="-10" dirty="0">
                <a:latin typeface="Calibri"/>
                <a:cs typeface="Calibri"/>
              </a:rPr>
              <a:t> </a:t>
            </a:r>
            <a:r>
              <a:rPr sz="2000" spc="-5" dirty="0">
                <a:latin typeface="Calibri"/>
                <a:cs typeface="Calibri"/>
              </a:rPr>
              <a:t>phone </a:t>
            </a:r>
            <a:r>
              <a:rPr sz="2000" spc="-10" dirty="0">
                <a:latin typeface="Calibri"/>
                <a:cs typeface="Calibri"/>
              </a:rPr>
              <a:t>companies</a:t>
            </a:r>
            <a:endParaRPr sz="2000">
              <a:latin typeface="Calibri"/>
              <a:cs typeface="Calibri"/>
            </a:endParaRPr>
          </a:p>
        </p:txBody>
      </p:sp>
    </p:spTree>
    <p:extLst>
      <p:ext uri="{BB962C8B-B14F-4D97-AF65-F5344CB8AC3E}">
        <p14:creationId xmlns:p14="http://schemas.microsoft.com/office/powerpoint/2010/main" val="25472062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94</a:t>
            </a:fld>
            <a:endParaRPr dirty="0"/>
          </a:p>
        </p:txBody>
      </p:sp>
      <p:sp>
        <p:nvSpPr>
          <p:cNvPr id="2" name="object 2"/>
          <p:cNvSpPr txBox="1">
            <a:spLocks noGrp="1"/>
          </p:cNvSpPr>
          <p:nvPr>
            <p:ph type="title"/>
          </p:nvPr>
        </p:nvSpPr>
        <p:spPr>
          <a:xfrm>
            <a:off x="1299884" y="233319"/>
            <a:ext cx="7021830" cy="635000"/>
          </a:xfrm>
          <a:prstGeom prst="rect">
            <a:avLst/>
          </a:prstGeom>
        </p:spPr>
        <p:txBody>
          <a:bodyPr vert="horz" wrap="square" lIns="0" tIns="12700" rIns="0" bIns="0" rtlCol="0">
            <a:spAutoFit/>
          </a:bodyPr>
          <a:lstStyle/>
          <a:p>
            <a:pPr marL="12700">
              <a:lnSpc>
                <a:spcPct val="100000"/>
              </a:lnSpc>
              <a:spcBef>
                <a:spcPts val="100"/>
              </a:spcBef>
              <a:tabLst>
                <a:tab pos="5927090" algn="l"/>
              </a:tabLst>
            </a:pPr>
            <a:r>
              <a:rPr sz="4000" spc="-15" dirty="0">
                <a:solidFill>
                  <a:srgbClr val="739BDC"/>
                </a:solidFill>
              </a:rPr>
              <a:t>Recognizing</a:t>
            </a:r>
            <a:r>
              <a:rPr sz="4000" dirty="0">
                <a:solidFill>
                  <a:srgbClr val="739BDC"/>
                </a:solidFill>
              </a:rPr>
              <a:t> </a:t>
            </a:r>
            <a:r>
              <a:rPr sz="4000" spc="-5" dirty="0">
                <a:solidFill>
                  <a:srgbClr val="739BDC"/>
                </a:solidFill>
              </a:rPr>
              <a:t>human</a:t>
            </a:r>
            <a:r>
              <a:rPr sz="4000" dirty="0">
                <a:solidFill>
                  <a:srgbClr val="739BDC"/>
                </a:solidFill>
              </a:rPr>
              <a:t> </a:t>
            </a:r>
            <a:r>
              <a:rPr sz="4000" spc="-5" dirty="0">
                <a:solidFill>
                  <a:srgbClr val="739BDC"/>
                </a:solidFill>
              </a:rPr>
              <a:t>speech	</a:t>
            </a:r>
            <a:r>
              <a:rPr sz="4000" spc="-15" dirty="0">
                <a:solidFill>
                  <a:srgbClr val="739BDC"/>
                </a:solidFill>
              </a:rPr>
              <a:t>(ctd.)</a:t>
            </a:r>
            <a:endParaRPr sz="4000"/>
          </a:p>
        </p:txBody>
      </p:sp>
      <p:sp>
        <p:nvSpPr>
          <p:cNvPr id="3" name="object 3"/>
          <p:cNvSpPr txBox="1"/>
          <p:nvPr/>
        </p:nvSpPr>
        <p:spPr>
          <a:xfrm>
            <a:off x="893172" y="1316560"/>
            <a:ext cx="6762115" cy="3331845"/>
          </a:xfrm>
          <a:prstGeom prst="rect">
            <a:avLst/>
          </a:prstGeom>
        </p:spPr>
        <p:txBody>
          <a:bodyPr vert="horz" wrap="square" lIns="0" tIns="69215" rIns="0" bIns="0" rtlCol="0">
            <a:spAutoFit/>
          </a:bodyPr>
          <a:lstStyle/>
          <a:p>
            <a:pPr marL="320675" indent="-308610">
              <a:lnSpc>
                <a:spcPct val="100000"/>
              </a:lnSpc>
              <a:spcBef>
                <a:spcPts val="545"/>
              </a:spcBef>
              <a:buFont typeface="Arial MT"/>
              <a:buChar char="•"/>
              <a:tabLst>
                <a:tab pos="320675" algn="l"/>
                <a:tab pos="321310" algn="l"/>
              </a:tabLst>
            </a:pPr>
            <a:r>
              <a:rPr sz="1800" spc="-10" dirty="0">
                <a:latin typeface="Calibri"/>
                <a:cs typeface="Calibri"/>
              </a:rPr>
              <a:t>Recognizing </a:t>
            </a:r>
            <a:r>
              <a:rPr sz="1800" spc="-5" dirty="0">
                <a:latin typeface="Calibri"/>
                <a:cs typeface="Calibri"/>
              </a:rPr>
              <a:t>normal</a:t>
            </a:r>
            <a:r>
              <a:rPr sz="1800" spc="-10" dirty="0">
                <a:latin typeface="Calibri"/>
                <a:cs typeface="Calibri"/>
              </a:rPr>
              <a:t> </a:t>
            </a:r>
            <a:r>
              <a:rPr sz="1800" spc="-5" dirty="0">
                <a:latin typeface="Calibri"/>
                <a:cs typeface="Calibri"/>
              </a:rPr>
              <a:t>speech</a:t>
            </a:r>
            <a:r>
              <a:rPr sz="1800" spc="-10" dirty="0">
                <a:latin typeface="Calibri"/>
                <a:cs typeface="Calibri"/>
              </a:rPr>
              <a:t> </a:t>
            </a:r>
            <a:r>
              <a:rPr sz="1800" spc="-5" dirty="0">
                <a:latin typeface="Calibri"/>
                <a:cs typeface="Calibri"/>
              </a:rPr>
              <a:t>is</a:t>
            </a:r>
            <a:r>
              <a:rPr sz="1800" spc="-10" dirty="0">
                <a:latin typeface="Calibri"/>
                <a:cs typeface="Calibri"/>
              </a:rPr>
              <a:t> </a:t>
            </a:r>
            <a:r>
              <a:rPr sz="1800" spc="-5" dirty="0">
                <a:latin typeface="Calibri"/>
                <a:cs typeface="Calibri"/>
              </a:rPr>
              <a:t>much </a:t>
            </a:r>
            <a:r>
              <a:rPr sz="1800" spc="-10" dirty="0">
                <a:latin typeface="Calibri"/>
                <a:cs typeface="Calibri"/>
              </a:rPr>
              <a:t>more difficult</a:t>
            </a:r>
            <a:endParaRPr sz="1800">
              <a:latin typeface="Calibri"/>
              <a:cs typeface="Calibri"/>
            </a:endParaRPr>
          </a:p>
          <a:p>
            <a:pPr marL="720725" lvl="1" indent="-299085">
              <a:lnSpc>
                <a:spcPct val="100000"/>
              </a:lnSpc>
              <a:spcBef>
                <a:spcPts val="450"/>
              </a:spcBef>
              <a:buFont typeface="Arial MT"/>
              <a:buChar char="–"/>
              <a:tabLst>
                <a:tab pos="720725" algn="l"/>
                <a:tab pos="721360" algn="l"/>
              </a:tabLst>
            </a:pPr>
            <a:r>
              <a:rPr sz="1800" spc="-5" dirty="0">
                <a:latin typeface="Calibri"/>
                <a:cs typeface="Calibri"/>
              </a:rPr>
              <a:t>speech is </a:t>
            </a:r>
            <a:r>
              <a:rPr sz="1800" spc="-10" dirty="0">
                <a:latin typeface="Calibri"/>
                <a:cs typeface="Calibri"/>
              </a:rPr>
              <a:t>continuous:</a:t>
            </a:r>
            <a:r>
              <a:rPr sz="1800" spc="-5" dirty="0">
                <a:latin typeface="Calibri"/>
                <a:cs typeface="Calibri"/>
              </a:rPr>
              <a:t> </a:t>
            </a:r>
            <a:r>
              <a:rPr sz="1800" spc="-10" dirty="0">
                <a:latin typeface="Calibri"/>
                <a:cs typeface="Calibri"/>
              </a:rPr>
              <a:t>where</a:t>
            </a:r>
            <a:r>
              <a:rPr sz="1800" spc="-5" dirty="0">
                <a:latin typeface="Calibri"/>
                <a:cs typeface="Calibri"/>
              </a:rPr>
              <a:t> </a:t>
            </a:r>
            <a:r>
              <a:rPr sz="1800" spc="-10" dirty="0">
                <a:latin typeface="Calibri"/>
                <a:cs typeface="Calibri"/>
              </a:rPr>
              <a:t>are</a:t>
            </a:r>
            <a:r>
              <a:rPr sz="1800" dirty="0">
                <a:latin typeface="Calibri"/>
                <a:cs typeface="Calibri"/>
              </a:rPr>
              <a:t> </a:t>
            </a:r>
            <a:r>
              <a:rPr sz="1800" spc="-5" dirty="0">
                <a:latin typeface="Calibri"/>
                <a:cs typeface="Calibri"/>
              </a:rPr>
              <a:t>the boundaries </a:t>
            </a:r>
            <a:r>
              <a:rPr sz="1800" spc="-10" dirty="0">
                <a:latin typeface="Calibri"/>
                <a:cs typeface="Calibri"/>
              </a:rPr>
              <a:t>between</a:t>
            </a:r>
            <a:r>
              <a:rPr sz="1800" spc="-5" dirty="0">
                <a:latin typeface="Calibri"/>
                <a:cs typeface="Calibri"/>
              </a:rPr>
              <a:t> </a:t>
            </a:r>
            <a:r>
              <a:rPr sz="1800" spc="-15" dirty="0">
                <a:latin typeface="Calibri"/>
                <a:cs typeface="Calibri"/>
              </a:rPr>
              <a:t>words?</a:t>
            </a:r>
            <a:endParaRPr sz="1800">
              <a:latin typeface="Calibri"/>
              <a:cs typeface="Calibri"/>
            </a:endParaRPr>
          </a:p>
          <a:p>
            <a:pPr marL="1121410" lvl="2" indent="-194945">
              <a:lnSpc>
                <a:spcPct val="100000"/>
              </a:lnSpc>
              <a:spcBef>
                <a:spcPts val="445"/>
              </a:spcBef>
              <a:buFont typeface="Arial MT"/>
              <a:buChar char="•"/>
              <a:tabLst>
                <a:tab pos="1122045" algn="l"/>
              </a:tabLst>
            </a:pPr>
            <a:r>
              <a:rPr sz="1800" dirty="0">
                <a:latin typeface="Calibri"/>
                <a:cs typeface="Calibri"/>
              </a:rPr>
              <a:t>e.g.,</a:t>
            </a:r>
            <a:r>
              <a:rPr sz="1800" spc="-15" dirty="0">
                <a:latin typeface="Calibri"/>
                <a:cs typeface="Calibri"/>
              </a:rPr>
              <a:t> </a:t>
            </a:r>
            <a:r>
              <a:rPr sz="1800" spc="-35" dirty="0">
                <a:latin typeface="Calibri"/>
                <a:cs typeface="Calibri"/>
              </a:rPr>
              <a:t>“John’s</a:t>
            </a:r>
            <a:r>
              <a:rPr sz="1800" spc="-10" dirty="0">
                <a:latin typeface="Calibri"/>
                <a:cs typeface="Calibri"/>
              </a:rPr>
              <a:t> car </a:t>
            </a:r>
            <a:r>
              <a:rPr sz="1800" spc="-5" dirty="0">
                <a:latin typeface="Calibri"/>
                <a:cs typeface="Calibri"/>
              </a:rPr>
              <a:t>has</a:t>
            </a:r>
            <a:r>
              <a:rPr sz="1800" spc="-10" dirty="0">
                <a:latin typeface="Calibri"/>
                <a:cs typeface="Calibri"/>
              </a:rPr>
              <a:t> </a:t>
            </a:r>
            <a:r>
              <a:rPr sz="1800" dirty="0">
                <a:latin typeface="Calibri"/>
                <a:cs typeface="Calibri"/>
              </a:rPr>
              <a:t>a</a:t>
            </a:r>
            <a:r>
              <a:rPr sz="1800" spc="-10" dirty="0">
                <a:latin typeface="Calibri"/>
                <a:cs typeface="Calibri"/>
              </a:rPr>
              <a:t> flat</a:t>
            </a:r>
            <a:r>
              <a:rPr sz="1800" spc="-15" dirty="0">
                <a:latin typeface="Calibri"/>
                <a:cs typeface="Calibri"/>
              </a:rPr>
              <a:t> </a:t>
            </a:r>
            <a:r>
              <a:rPr sz="1800" spc="-10" dirty="0">
                <a:latin typeface="Calibri"/>
                <a:cs typeface="Calibri"/>
              </a:rPr>
              <a:t>tire”</a:t>
            </a:r>
            <a:endParaRPr sz="1800">
              <a:latin typeface="Calibri"/>
              <a:cs typeface="Calibri"/>
            </a:endParaRPr>
          </a:p>
          <a:p>
            <a:pPr marL="720725" lvl="1" indent="-299085">
              <a:lnSpc>
                <a:spcPct val="100000"/>
              </a:lnSpc>
              <a:spcBef>
                <a:spcPts val="450"/>
              </a:spcBef>
              <a:buFont typeface="Arial MT"/>
              <a:buChar char="–"/>
              <a:tabLst>
                <a:tab pos="720725" algn="l"/>
                <a:tab pos="721360" algn="l"/>
              </a:tabLst>
            </a:pPr>
            <a:r>
              <a:rPr sz="1800" spc="-15" dirty="0">
                <a:latin typeface="Calibri"/>
                <a:cs typeface="Calibri"/>
              </a:rPr>
              <a:t>large</a:t>
            </a:r>
            <a:r>
              <a:rPr sz="1800" spc="-30" dirty="0">
                <a:latin typeface="Calibri"/>
                <a:cs typeface="Calibri"/>
              </a:rPr>
              <a:t> </a:t>
            </a:r>
            <a:r>
              <a:rPr sz="1800" spc="-5" dirty="0">
                <a:latin typeface="Calibri"/>
                <a:cs typeface="Calibri"/>
              </a:rPr>
              <a:t>vocabularies</a:t>
            </a:r>
            <a:endParaRPr sz="1800">
              <a:latin typeface="Calibri"/>
              <a:cs typeface="Calibri"/>
            </a:endParaRPr>
          </a:p>
          <a:p>
            <a:pPr marL="1121410" lvl="2" indent="-194945">
              <a:lnSpc>
                <a:spcPct val="100000"/>
              </a:lnSpc>
              <a:spcBef>
                <a:spcPts val="450"/>
              </a:spcBef>
              <a:buFont typeface="Arial MT"/>
              <a:buChar char="•"/>
              <a:tabLst>
                <a:tab pos="1122045" algn="l"/>
              </a:tabLst>
            </a:pPr>
            <a:r>
              <a:rPr sz="1800" spc="-10" dirty="0">
                <a:latin typeface="Calibri"/>
                <a:cs typeface="Calibri"/>
              </a:rPr>
              <a:t>can</a:t>
            </a:r>
            <a:r>
              <a:rPr sz="1800" spc="-15" dirty="0">
                <a:latin typeface="Calibri"/>
                <a:cs typeface="Calibri"/>
              </a:rPr>
              <a:t> </a:t>
            </a:r>
            <a:r>
              <a:rPr sz="1800" spc="-5" dirty="0">
                <a:latin typeface="Calibri"/>
                <a:cs typeface="Calibri"/>
              </a:rPr>
              <a:t>be</a:t>
            </a:r>
            <a:r>
              <a:rPr sz="1800" spc="-10" dirty="0">
                <a:latin typeface="Calibri"/>
                <a:cs typeface="Calibri"/>
              </a:rPr>
              <a:t> </a:t>
            </a:r>
            <a:r>
              <a:rPr sz="1800" spc="-15" dirty="0">
                <a:latin typeface="Calibri"/>
                <a:cs typeface="Calibri"/>
              </a:rPr>
              <a:t>many</a:t>
            </a:r>
            <a:r>
              <a:rPr sz="1800" spc="-10" dirty="0">
                <a:latin typeface="Calibri"/>
                <a:cs typeface="Calibri"/>
              </a:rPr>
              <a:t> </a:t>
            </a:r>
            <a:r>
              <a:rPr sz="1800" spc="-5" dirty="0">
                <a:latin typeface="Calibri"/>
                <a:cs typeface="Calibri"/>
              </a:rPr>
              <a:t>thousands</a:t>
            </a:r>
            <a:r>
              <a:rPr sz="1800" spc="-10" dirty="0">
                <a:latin typeface="Calibri"/>
                <a:cs typeface="Calibri"/>
              </a:rPr>
              <a:t> </a:t>
            </a:r>
            <a:r>
              <a:rPr sz="1800" spc="-5" dirty="0">
                <a:latin typeface="Calibri"/>
                <a:cs typeface="Calibri"/>
              </a:rPr>
              <a:t>of</a:t>
            </a:r>
            <a:r>
              <a:rPr sz="1800" spc="-10" dirty="0">
                <a:latin typeface="Calibri"/>
                <a:cs typeface="Calibri"/>
              </a:rPr>
              <a:t> </a:t>
            </a:r>
            <a:r>
              <a:rPr sz="1800" spc="-5" dirty="0">
                <a:latin typeface="Calibri"/>
                <a:cs typeface="Calibri"/>
              </a:rPr>
              <a:t>possible</a:t>
            </a:r>
            <a:r>
              <a:rPr sz="1800" spc="-10" dirty="0">
                <a:latin typeface="Calibri"/>
                <a:cs typeface="Calibri"/>
              </a:rPr>
              <a:t> </a:t>
            </a:r>
            <a:r>
              <a:rPr sz="1800" spc="-15" dirty="0">
                <a:latin typeface="Calibri"/>
                <a:cs typeface="Calibri"/>
              </a:rPr>
              <a:t>words</a:t>
            </a:r>
            <a:endParaRPr sz="1800">
              <a:latin typeface="Calibri"/>
              <a:cs typeface="Calibri"/>
            </a:endParaRPr>
          </a:p>
          <a:p>
            <a:pPr marL="1121410" lvl="2" indent="-194945">
              <a:lnSpc>
                <a:spcPct val="100000"/>
              </a:lnSpc>
              <a:spcBef>
                <a:spcPts val="445"/>
              </a:spcBef>
              <a:buFont typeface="Arial MT"/>
              <a:buChar char="•"/>
              <a:tabLst>
                <a:tab pos="1122045" algn="l"/>
              </a:tabLst>
            </a:pPr>
            <a:r>
              <a:rPr sz="1800" spc="-10" dirty="0">
                <a:latin typeface="Calibri"/>
                <a:cs typeface="Calibri"/>
              </a:rPr>
              <a:t>we can </a:t>
            </a:r>
            <a:r>
              <a:rPr sz="1800" spc="-5" dirty="0">
                <a:latin typeface="Calibri"/>
                <a:cs typeface="Calibri"/>
              </a:rPr>
              <a:t>use</a:t>
            </a:r>
            <a:r>
              <a:rPr sz="1800" spc="5" dirty="0">
                <a:latin typeface="Calibri"/>
                <a:cs typeface="Calibri"/>
              </a:rPr>
              <a:t> </a:t>
            </a:r>
            <a:r>
              <a:rPr sz="1800" b="1" spc="-15" dirty="0">
                <a:latin typeface="Calibri"/>
                <a:cs typeface="Calibri"/>
              </a:rPr>
              <a:t>context</a:t>
            </a:r>
            <a:r>
              <a:rPr sz="1800" b="1" spc="-5" dirty="0">
                <a:latin typeface="Calibri"/>
                <a:cs typeface="Calibri"/>
              </a:rPr>
              <a:t> </a:t>
            </a:r>
            <a:r>
              <a:rPr sz="1800" spc="-10" dirty="0">
                <a:latin typeface="Calibri"/>
                <a:cs typeface="Calibri"/>
              </a:rPr>
              <a:t>to </a:t>
            </a:r>
            <a:r>
              <a:rPr sz="1800" spc="-5" dirty="0">
                <a:latin typeface="Calibri"/>
                <a:cs typeface="Calibri"/>
              </a:rPr>
              <a:t>help </a:t>
            </a:r>
            <a:r>
              <a:rPr sz="1800" spc="-10" dirty="0">
                <a:latin typeface="Calibri"/>
                <a:cs typeface="Calibri"/>
              </a:rPr>
              <a:t>figure </a:t>
            </a:r>
            <a:r>
              <a:rPr sz="1800" spc="-5" dirty="0">
                <a:latin typeface="Calibri"/>
                <a:cs typeface="Calibri"/>
              </a:rPr>
              <a:t>out </a:t>
            </a:r>
            <a:r>
              <a:rPr sz="1800" spc="-10" dirty="0">
                <a:latin typeface="Calibri"/>
                <a:cs typeface="Calibri"/>
              </a:rPr>
              <a:t>what </a:t>
            </a:r>
            <a:r>
              <a:rPr sz="1800" spc="-5" dirty="0">
                <a:latin typeface="Calibri"/>
                <a:cs typeface="Calibri"/>
              </a:rPr>
              <a:t>someone</a:t>
            </a:r>
            <a:r>
              <a:rPr sz="1800" spc="-10" dirty="0">
                <a:latin typeface="Calibri"/>
                <a:cs typeface="Calibri"/>
              </a:rPr>
              <a:t> </a:t>
            </a:r>
            <a:r>
              <a:rPr sz="1800" spc="-5" dirty="0">
                <a:latin typeface="Calibri"/>
                <a:cs typeface="Calibri"/>
              </a:rPr>
              <a:t>said</a:t>
            </a:r>
            <a:endParaRPr sz="1800">
              <a:latin typeface="Calibri"/>
              <a:cs typeface="Calibri"/>
            </a:endParaRPr>
          </a:p>
          <a:p>
            <a:pPr lvl="2">
              <a:lnSpc>
                <a:spcPct val="100000"/>
              </a:lnSpc>
              <a:spcBef>
                <a:spcPts val="5"/>
              </a:spcBef>
              <a:buFont typeface="Arial MT"/>
              <a:buChar char="•"/>
            </a:pPr>
            <a:endParaRPr sz="2500">
              <a:latin typeface="Calibri"/>
              <a:cs typeface="Calibri"/>
            </a:endParaRPr>
          </a:p>
          <a:p>
            <a:pPr marL="320675" indent="-308610">
              <a:lnSpc>
                <a:spcPct val="100000"/>
              </a:lnSpc>
              <a:buFont typeface="Arial MT"/>
              <a:buChar char="•"/>
              <a:tabLst>
                <a:tab pos="320675" algn="l"/>
                <a:tab pos="321310" algn="l"/>
              </a:tabLst>
            </a:pPr>
            <a:r>
              <a:rPr sz="1800" spc="-5" dirty="0">
                <a:latin typeface="Calibri"/>
                <a:cs typeface="Calibri"/>
              </a:rPr>
              <a:t>Conclusion:</a:t>
            </a:r>
            <a:endParaRPr sz="1800">
              <a:latin typeface="Calibri"/>
              <a:cs typeface="Calibri"/>
            </a:endParaRPr>
          </a:p>
          <a:p>
            <a:pPr marL="720725" indent="-299085">
              <a:lnSpc>
                <a:spcPct val="100000"/>
              </a:lnSpc>
              <a:spcBef>
                <a:spcPts val="450"/>
              </a:spcBef>
              <a:buFont typeface="Arial"/>
              <a:buChar char="–"/>
              <a:tabLst>
                <a:tab pos="720725" algn="l"/>
                <a:tab pos="721360" algn="l"/>
              </a:tabLst>
            </a:pPr>
            <a:r>
              <a:rPr sz="1800" b="1" spc="-5" dirty="0">
                <a:latin typeface="Calibri"/>
                <a:cs typeface="Calibri"/>
              </a:rPr>
              <a:t>NO</a:t>
            </a:r>
            <a:r>
              <a:rPr sz="1800" spc="-5" dirty="0">
                <a:latin typeface="Calibri"/>
                <a:cs typeface="Calibri"/>
              </a:rPr>
              <a:t>,</a:t>
            </a:r>
            <a:r>
              <a:rPr sz="1800" spc="-10" dirty="0">
                <a:latin typeface="Calibri"/>
                <a:cs typeface="Calibri"/>
              </a:rPr>
              <a:t> </a:t>
            </a:r>
            <a:r>
              <a:rPr sz="1800" spc="-5" dirty="0">
                <a:latin typeface="Calibri"/>
                <a:cs typeface="Calibri"/>
              </a:rPr>
              <a:t>normal</a:t>
            </a:r>
            <a:r>
              <a:rPr sz="1800" spc="-10" dirty="0">
                <a:latin typeface="Calibri"/>
                <a:cs typeface="Calibri"/>
              </a:rPr>
              <a:t> </a:t>
            </a:r>
            <a:r>
              <a:rPr sz="1800" spc="-5" dirty="0">
                <a:latin typeface="Calibri"/>
                <a:cs typeface="Calibri"/>
              </a:rPr>
              <a:t>speech</a:t>
            </a:r>
            <a:r>
              <a:rPr sz="1800" spc="-10" dirty="0">
                <a:latin typeface="Calibri"/>
                <a:cs typeface="Calibri"/>
              </a:rPr>
              <a:t> </a:t>
            </a:r>
            <a:r>
              <a:rPr sz="1800" spc="-5" dirty="0">
                <a:latin typeface="Calibri"/>
                <a:cs typeface="Calibri"/>
              </a:rPr>
              <a:t>is</a:t>
            </a:r>
            <a:r>
              <a:rPr sz="1800" spc="-10" dirty="0">
                <a:latin typeface="Calibri"/>
                <a:cs typeface="Calibri"/>
              </a:rPr>
              <a:t> too complex to</a:t>
            </a:r>
            <a:r>
              <a:rPr sz="1800" spc="-5" dirty="0">
                <a:latin typeface="Calibri"/>
                <a:cs typeface="Calibri"/>
              </a:rPr>
              <a:t> </a:t>
            </a:r>
            <a:r>
              <a:rPr sz="1800" spc="-10" dirty="0">
                <a:latin typeface="Calibri"/>
                <a:cs typeface="Calibri"/>
              </a:rPr>
              <a:t>accurately </a:t>
            </a:r>
            <a:r>
              <a:rPr sz="1800" spc="-15" dirty="0">
                <a:latin typeface="Calibri"/>
                <a:cs typeface="Calibri"/>
              </a:rPr>
              <a:t>recognize</a:t>
            </a:r>
            <a:endParaRPr sz="1800">
              <a:latin typeface="Calibri"/>
              <a:cs typeface="Calibri"/>
            </a:endParaRPr>
          </a:p>
          <a:p>
            <a:pPr marL="720725" indent="-299085">
              <a:lnSpc>
                <a:spcPct val="100000"/>
              </a:lnSpc>
              <a:spcBef>
                <a:spcPts val="400"/>
              </a:spcBef>
              <a:buFont typeface="Arial"/>
              <a:buChar char="–"/>
              <a:tabLst>
                <a:tab pos="720725" algn="l"/>
                <a:tab pos="721360" algn="l"/>
              </a:tabLst>
            </a:pPr>
            <a:r>
              <a:rPr sz="1800" b="1" spc="-10" dirty="0">
                <a:latin typeface="Calibri"/>
                <a:cs typeface="Calibri"/>
              </a:rPr>
              <a:t>YES</a:t>
            </a:r>
            <a:r>
              <a:rPr sz="1800" spc="-10" dirty="0">
                <a:latin typeface="Calibri"/>
                <a:cs typeface="Calibri"/>
              </a:rPr>
              <a:t>, </a:t>
            </a:r>
            <a:r>
              <a:rPr sz="1800" spc="-15" dirty="0">
                <a:latin typeface="Calibri"/>
                <a:cs typeface="Calibri"/>
              </a:rPr>
              <a:t>for</a:t>
            </a:r>
            <a:r>
              <a:rPr sz="1800" spc="-10" dirty="0">
                <a:latin typeface="Calibri"/>
                <a:cs typeface="Calibri"/>
              </a:rPr>
              <a:t> restricted problems</a:t>
            </a:r>
            <a:r>
              <a:rPr sz="1800" spc="-5" dirty="0">
                <a:latin typeface="Calibri"/>
                <a:cs typeface="Calibri"/>
              </a:rPr>
              <a:t> (small</a:t>
            </a:r>
            <a:r>
              <a:rPr sz="1800" spc="-10" dirty="0">
                <a:latin typeface="Calibri"/>
                <a:cs typeface="Calibri"/>
              </a:rPr>
              <a:t> </a:t>
            </a:r>
            <a:r>
              <a:rPr sz="1800" spc="-15" dirty="0">
                <a:latin typeface="Calibri"/>
                <a:cs typeface="Calibri"/>
              </a:rPr>
              <a:t>vocabulary,</a:t>
            </a:r>
            <a:r>
              <a:rPr sz="1800" spc="-10" dirty="0">
                <a:latin typeface="Calibri"/>
                <a:cs typeface="Calibri"/>
              </a:rPr>
              <a:t> </a:t>
            </a:r>
            <a:r>
              <a:rPr sz="1800" spc="-5" dirty="0">
                <a:latin typeface="Calibri"/>
                <a:cs typeface="Calibri"/>
              </a:rPr>
              <a:t>single </a:t>
            </a:r>
            <a:r>
              <a:rPr sz="1800" spc="-10" dirty="0">
                <a:latin typeface="Calibri"/>
                <a:cs typeface="Calibri"/>
              </a:rPr>
              <a:t>speake</a:t>
            </a:r>
            <a:r>
              <a:rPr sz="1600" spc="-10" dirty="0">
                <a:latin typeface="Calibri"/>
                <a:cs typeface="Calibri"/>
              </a:rPr>
              <a:t>r)</a:t>
            </a:r>
            <a:endParaRPr sz="1600">
              <a:latin typeface="Calibri"/>
              <a:cs typeface="Calibri"/>
            </a:endParaRPr>
          </a:p>
        </p:txBody>
      </p:sp>
    </p:spTree>
    <p:extLst>
      <p:ext uri="{BB962C8B-B14F-4D97-AF65-F5344CB8AC3E}">
        <p14:creationId xmlns:p14="http://schemas.microsoft.com/office/powerpoint/2010/main" val="25558858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95</a:t>
            </a:fld>
            <a:endParaRPr dirty="0"/>
          </a:p>
        </p:txBody>
      </p:sp>
      <p:sp>
        <p:nvSpPr>
          <p:cNvPr id="2" name="object 2"/>
          <p:cNvSpPr txBox="1">
            <a:spLocks noGrp="1"/>
          </p:cNvSpPr>
          <p:nvPr>
            <p:ph type="title"/>
          </p:nvPr>
        </p:nvSpPr>
        <p:spPr>
          <a:xfrm>
            <a:off x="1055706" y="508000"/>
            <a:ext cx="7513955" cy="635000"/>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739BDC"/>
                </a:solidFill>
              </a:rPr>
              <a:t>Can</a:t>
            </a:r>
            <a:r>
              <a:rPr sz="4000" spc="-25" dirty="0">
                <a:solidFill>
                  <a:srgbClr val="739BDC"/>
                </a:solidFill>
              </a:rPr>
              <a:t> </a:t>
            </a:r>
            <a:r>
              <a:rPr sz="4000" spc="-20" dirty="0">
                <a:solidFill>
                  <a:srgbClr val="739BDC"/>
                </a:solidFill>
              </a:rPr>
              <a:t>Computers</a:t>
            </a:r>
            <a:r>
              <a:rPr sz="4000" spc="-25" dirty="0">
                <a:solidFill>
                  <a:srgbClr val="739BDC"/>
                </a:solidFill>
              </a:rPr>
              <a:t> </a:t>
            </a:r>
            <a:r>
              <a:rPr sz="4000" spc="-20" dirty="0">
                <a:solidFill>
                  <a:srgbClr val="739BDC"/>
                </a:solidFill>
              </a:rPr>
              <a:t>Understand</a:t>
            </a:r>
            <a:r>
              <a:rPr sz="4000" spc="-25" dirty="0">
                <a:solidFill>
                  <a:srgbClr val="739BDC"/>
                </a:solidFill>
              </a:rPr>
              <a:t> </a:t>
            </a:r>
            <a:r>
              <a:rPr sz="4000" spc="-5" dirty="0">
                <a:solidFill>
                  <a:srgbClr val="739BDC"/>
                </a:solidFill>
              </a:rPr>
              <a:t>speech?</a:t>
            </a:r>
            <a:endParaRPr sz="4000"/>
          </a:p>
        </p:txBody>
      </p:sp>
      <p:sp>
        <p:nvSpPr>
          <p:cNvPr id="3" name="object 3"/>
          <p:cNvSpPr txBox="1"/>
          <p:nvPr/>
        </p:nvSpPr>
        <p:spPr>
          <a:xfrm>
            <a:off x="564492" y="1562816"/>
            <a:ext cx="7474584" cy="2998470"/>
          </a:xfrm>
          <a:prstGeom prst="rect">
            <a:avLst/>
          </a:prstGeom>
        </p:spPr>
        <p:txBody>
          <a:bodyPr vert="horz" wrap="square" lIns="0" tIns="66040" rIns="0" bIns="0" rtlCol="0">
            <a:spAutoFit/>
          </a:bodyPr>
          <a:lstStyle/>
          <a:p>
            <a:pPr marL="320675" indent="-308610">
              <a:lnSpc>
                <a:spcPct val="100000"/>
              </a:lnSpc>
              <a:spcBef>
                <a:spcPts val="520"/>
              </a:spcBef>
              <a:buFont typeface="Arial MT"/>
              <a:buChar char="•"/>
              <a:tabLst>
                <a:tab pos="320675" algn="l"/>
                <a:tab pos="321310" algn="l"/>
              </a:tabLst>
            </a:pPr>
            <a:r>
              <a:rPr sz="1800" spc="-10" dirty="0">
                <a:latin typeface="Calibri"/>
                <a:cs typeface="Calibri"/>
              </a:rPr>
              <a:t>Understanding</a:t>
            </a:r>
            <a:r>
              <a:rPr sz="1800" spc="-15" dirty="0">
                <a:latin typeface="Calibri"/>
                <a:cs typeface="Calibri"/>
              </a:rPr>
              <a:t> </a:t>
            </a:r>
            <a:r>
              <a:rPr sz="1800" spc="-5" dirty="0">
                <a:latin typeface="Calibri"/>
                <a:cs typeface="Calibri"/>
              </a:rPr>
              <a:t>is</a:t>
            </a:r>
            <a:r>
              <a:rPr sz="1800" spc="-10" dirty="0">
                <a:latin typeface="Calibri"/>
                <a:cs typeface="Calibri"/>
              </a:rPr>
              <a:t> </a:t>
            </a:r>
            <a:r>
              <a:rPr sz="1800" spc="-15" dirty="0">
                <a:latin typeface="Calibri"/>
                <a:cs typeface="Calibri"/>
              </a:rPr>
              <a:t>different</a:t>
            </a:r>
            <a:r>
              <a:rPr sz="1800" spc="-10" dirty="0">
                <a:latin typeface="Calibri"/>
                <a:cs typeface="Calibri"/>
              </a:rPr>
              <a:t> to</a:t>
            </a:r>
            <a:r>
              <a:rPr sz="1800" spc="-15" dirty="0">
                <a:latin typeface="Calibri"/>
                <a:cs typeface="Calibri"/>
              </a:rPr>
              <a:t> </a:t>
            </a:r>
            <a:r>
              <a:rPr sz="1800" spc="-10" dirty="0">
                <a:latin typeface="Calibri"/>
                <a:cs typeface="Calibri"/>
              </a:rPr>
              <a:t>recognition:</a:t>
            </a:r>
            <a:endParaRPr sz="1800">
              <a:latin typeface="Calibri"/>
              <a:cs typeface="Calibri"/>
            </a:endParaRPr>
          </a:p>
          <a:p>
            <a:pPr marL="720725" lvl="1" indent="-306070">
              <a:lnSpc>
                <a:spcPct val="100000"/>
              </a:lnSpc>
              <a:spcBef>
                <a:spcPts val="660"/>
              </a:spcBef>
              <a:buFont typeface="Arial MT"/>
              <a:buChar char="–"/>
              <a:tabLst>
                <a:tab pos="721360" algn="l"/>
              </a:tabLst>
            </a:pPr>
            <a:r>
              <a:rPr sz="2800" spc="20" dirty="0">
                <a:latin typeface="Calibri"/>
                <a:cs typeface="Calibri"/>
              </a:rPr>
              <a:t>“Time</a:t>
            </a:r>
            <a:r>
              <a:rPr sz="2800" spc="-15" dirty="0">
                <a:latin typeface="Calibri"/>
                <a:cs typeface="Calibri"/>
              </a:rPr>
              <a:t> </a:t>
            </a:r>
            <a:r>
              <a:rPr sz="2800" spc="-5" dirty="0">
                <a:latin typeface="Calibri"/>
                <a:cs typeface="Calibri"/>
              </a:rPr>
              <a:t>flies</a:t>
            </a:r>
            <a:r>
              <a:rPr sz="2800" spc="-20" dirty="0">
                <a:latin typeface="Calibri"/>
                <a:cs typeface="Calibri"/>
              </a:rPr>
              <a:t> </a:t>
            </a:r>
            <a:r>
              <a:rPr sz="2800" spc="-30" dirty="0">
                <a:latin typeface="Calibri"/>
                <a:cs typeface="Calibri"/>
              </a:rPr>
              <a:t>like</a:t>
            </a:r>
            <a:r>
              <a:rPr sz="2800" spc="-15" dirty="0">
                <a:latin typeface="Calibri"/>
                <a:cs typeface="Calibri"/>
              </a:rPr>
              <a:t> </a:t>
            </a:r>
            <a:r>
              <a:rPr sz="2800" dirty="0">
                <a:latin typeface="Calibri"/>
                <a:cs typeface="Calibri"/>
              </a:rPr>
              <a:t>an</a:t>
            </a:r>
            <a:r>
              <a:rPr sz="2800" spc="-15" dirty="0">
                <a:latin typeface="Calibri"/>
                <a:cs typeface="Calibri"/>
              </a:rPr>
              <a:t> </a:t>
            </a:r>
            <a:r>
              <a:rPr sz="2800" dirty="0">
                <a:latin typeface="Calibri"/>
                <a:cs typeface="Calibri"/>
              </a:rPr>
              <a:t>arrow”</a:t>
            </a:r>
            <a:endParaRPr sz="2800">
              <a:latin typeface="Calibri"/>
              <a:cs typeface="Calibri"/>
            </a:endParaRPr>
          </a:p>
          <a:p>
            <a:pPr marL="1121410" lvl="2" indent="-184150">
              <a:lnSpc>
                <a:spcPct val="100000"/>
              </a:lnSpc>
              <a:spcBef>
                <a:spcPts val="610"/>
              </a:spcBef>
              <a:buFont typeface="Arial MT"/>
              <a:buChar char="•"/>
              <a:tabLst>
                <a:tab pos="1122045" algn="l"/>
              </a:tabLst>
            </a:pPr>
            <a:r>
              <a:rPr sz="2400" dirty="0">
                <a:latin typeface="Calibri"/>
                <a:cs typeface="Calibri"/>
              </a:rPr>
              <a:t>assume</a:t>
            </a:r>
            <a:r>
              <a:rPr sz="2400" spc="-10" dirty="0">
                <a:latin typeface="Calibri"/>
                <a:cs typeface="Calibri"/>
              </a:rPr>
              <a:t> </a:t>
            </a:r>
            <a:r>
              <a:rPr sz="2400" spc="-5" dirty="0">
                <a:latin typeface="Calibri"/>
                <a:cs typeface="Calibri"/>
              </a:rPr>
              <a:t>the</a:t>
            </a:r>
            <a:r>
              <a:rPr sz="2400" spc="-10" dirty="0">
                <a:latin typeface="Calibri"/>
                <a:cs typeface="Calibri"/>
              </a:rPr>
              <a:t> computer can </a:t>
            </a:r>
            <a:r>
              <a:rPr sz="2400" spc="-20" dirty="0">
                <a:latin typeface="Calibri"/>
                <a:cs typeface="Calibri"/>
              </a:rPr>
              <a:t>recognize</a:t>
            </a:r>
            <a:r>
              <a:rPr sz="2400" spc="-10" dirty="0">
                <a:latin typeface="Calibri"/>
                <a:cs typeface="Calibri"/>
              </a:rPr>
              <a:t> </a:t>
            </a:r>
            <a:r>
              <a:rPr sz="2400" dirty="0">
                <a:latin typeface="Calibri"/>
                <a:cs typeface="Calibri"/>
              </a:rPr>
              <a:t>all</a:t>
            </a:r>
            <a:r>
              <a:rPr sz="2400" spc="-10" dirty="0">
                <a:latin typeface="Calibri"/>
                <a:cs typeface="Calibri"/>
              </a:rPr>
              <a:t> </a:t>
            </a:r>
            <a:r>
              <a:rPr sz="2400" spc="-5" dirty="0">
                <a:latin typeface="Calibri"/>
                <a:cs typeface="Calibri"/>
              </a:rPr>
              <a:t>the</a:t>
            </a:r>
            <a:r>
              <a:rPr sz="2400" spc="-10" dirty="0">
                <a:latin typeface="Calibri"/>
                <a:cs typeface="Calibri"/>
              </a:rPr>
              <a:t> </a:t>
            </a:r>
            <a:r>
              <a:rPr sz="2400" spc="-15" dirty="0">
                <a:latin typeface="Calibri"/>
                <a:cs typeface="Calibri"/>
              </a:rPr>
              <a:t>words</a:t>
            </a:r>
            <a:endParaRPr sz="2400">
              <a:latin typeface="Calibri"/>
              <a:cs typeface="Calibri"/>
            </a:endParaRPr>
          </a:p>
          <a:p>
            <a:pPr marL="1121410" lvl="2" indent="-184150">
              <a:lnSpc>
                <a:spcPct val="100000"/>
              </a:lnSpc>
              <a:spcBef>
                <a:spcPts val="600"/>
              </a:spcBef>
              <a:buFont typeface="Arial MT"/>
              <a:buChar char="•"/>
              <a:tabLst>
                <a:tab pos="1122045" algn="l"/>
              </a:tabLst>
            </a:pPr>
            <a:r>
              <a:rPr sz="2400" spc="-5" dirty="0">
                <a:latin typeface="Calibri"/>
                <a:cs typeface="Calibri"/>
              </a:rPr>
              <a:t>How</a:t>
            </a:r>
            <a:endParaRPr sz="2400">
              <a:latin typeface="Calibri"/>
              <a:cs typeface="Calibri"/>
            </a:endParaRPr>
          </a:p>
          <a:p>
            <a:pPr marL="1121410" marR="5080" indent="-228600">
              <a:lnSpc>
                <a:spcPct val="100000"/>
              </a:lnSpc>
              <a:spcBef>
                <a:spcPts val="600"/>
              </a:spcBef>
            </a:pPr>
            <a:r>
              <a:rPr sz="2400" spc="-5" dirty="0">
                <a:latin typeface="Calibri"/>
                <a:cs typeface="Calibri"/>
              </a:rPr>
              <a:t>Conclusion:</a:t>
            </a:r>
            <a:r>
              <a:rPr sz="2400" dirty="0">
                <a:latin typeface="Calibri"/>
                <a:cs typeface="Calibri"/>
              </a:rPr>
              <a:t> </a:t>
            </a:r>
            <a:r>
              <a:rPr sz="2400" b="1" spc="-20" dirty="0">
                <a:latin typeface="Calibri"/>
                <a:cs typeface="Calibri"/>
              </a:rPr>
              <a:t>NO,</a:t>
            </a:r>
            <a:r>
              <a:rPr sz="2400" b="1" spc="-5" dirty="0">
                <a:latin typeface="Calibri"/>
                <a:cs typeface="Calibri"/>
              </a:rPr>
              <a:t> </a:t>
            </a:r>
            <a:r>
              <a:rPr sz="2400" spc="-5" dirty="0">
                <a:latin typeface="Calibri"/>
                <a:cs typeface="Calibri"/>
              </a:rPr>
              <a:t>much of</a:t>
            </a:r>
            <a:r>
              <a:rPr sz="2400" spc="-10" dirty="0">
                <a:latin typeface="Calibri"/>
                <a:cs typeface="Calibri"/>
              </a:rPr>
              <a:t> what</a:t>
            </a:r>
            <a:r>
              <a:rPr sz="2400" spc="-5" dirty="0">
                <a:latin typeface="Calibri"/>
                <a:cs typeface="Calibri"/>
              </a:rPr>
              <a:t> </a:t>
            </a:r>
            <a:r>
              <a:rPr sz="2400" spc="-15" dirty="0">
                <a:latin typeface="Calibri"/>
                <a:cs typeface="Calibri"/>
              </a:rPr>
              <a:t>we</a:t>
            </a:r>
            <a:r>
              <a:rPr sz="2400" spc="-10" dirty="0">
                <a:latin typeface="Calibri"/>
                <a:cs typeface="Calibri"/>
              </a:rPr>
              <a:t> </a:t>
            </a:r>
            <a:r>
              <a:rPr sz="2400" spc="-20" dirty="0">
                <a:latin typeface="Calibri"/>
                <a:cs typeface="Calibri"/>
              </a:rPr>
              <a:t>say</a:t>
            </a:r>
            <a:r>
              <a:rPr sz="2400" spc="-10" dirty="0">
                <a:latin typeface="Calibri"/>
                <a:cs typeface="Calibri"/>
              </a:rPr>
              <a:t> </a:t>
            </a:r>
            <a:r>
              <a:rPr sz="2400" spc="-5" dirty="0">
                <a:latin typeface="Calibri"/>
                <a:cs typeface="Calibri"/>
              </a:rPr>
              <a:t>is </a:t>
            </a:r>
            <a:r>
              <a:rPr sz="2400" spc="-15" dirty="0">
                <a:latin typeface="Calibri"/>
                <a:cs typeface="Calibri"/>
              </a:rPr>
              <a:t>beyond</a:t>
            </a:r>
            <a:r>
              <a:rPr sz="2400" spc="-10" dirty="0">
                <a:latin typeface="Calibri"/>
                <a:cs typeface="Calibri"/>
              </a:rPr>
              <a:t> </a:t>
            </a:r>
            <a:r>
              <a:rPr sz="2400" spc="-5" dirty="0">
                <a:latin typeface="Calibri"/>
                <a:cs typeface="Calibri"/>
              </a:rPr>
              <a:t>the </a:t>
            </a:r>
            <a:r>
              <a:rPr sz="2400" dirty="0">
                <a:latin typeface="Calibri"/>
                <a:cs typeface="Calibri"/>
              </a:rPr>
              <a:t> </a:t>
            </a:r>
            <a:r>
              <a:rPr sz="2400" spc="-5" dirty="0">
                <a:latin typeface="Calibri"/>
                <a:cs typeface="Calibri"/>
              </a:rPr>
              <a:t>capabilities of </a:t>
            </a:r>
            <a:r>
              <a:rPr sz="2400" dirty="0">
                <a:latin typeface="Calibri"/>
                <a:cs typeface="Calibri"/>
              </a:rPr>
              <a:t>a</a:t>
            </a:r>
            <a:r>
              <a:rPr sz="2400" spc="-5" dirty="0">
                <a:latin typeface="Calibri"/>
                <a:cs typeface="Calibri"/>
              </a:rPr>
              <a:t> </a:t>
            </a:r>
            <a:r>
              <a:rPr sz="2400" spc="-10" dirty="0">
                <a:latin typeface="Calibri"/>
                <a:cs typeface="Calibri"/>
              </a:rPr>
              <a:t>computer</a:t>
            </a:r>
            <a:r>
              <a:rPr sz="2400" spc="-5" dirty="0">
                <a:latin typeface="Calibri"/>
                <a:cs typeface="Calibri"/>
              </a:rPr>
              <a:t> </a:t>
            </a:r>
            <a:r>
              <a:rPr sz="2400" spc="-15" dirty="0">
                <a:latin typeface="Calibri"/>
                <a:cs typeface="Calibri"/>
              </a:rPr>
              <a:t>to</a:t>
            </a:r>
            <a:r>
              <a:rPr sz="2400" spc="-5" dirty="0">
                <a:latin typeface="Calibri"/>
                <a:cs typeface="Calibri"/>
              </a:rPr>
              <a:t> </a:t>
            </a:r>
            <a:r>
              <a:rPr sz="2400" spc="-15" dirty="0">
                <a:latin typeface="Calibri"/>
                <a:cs typeface="Calibri"/>
              </a:rPr>
              <a:t>understand</a:t>
            </a:r>
            <a:r>
              <a:rPr sz="2400" spc="-5" dirty="0">
                <a:latin typeface="Calibri"/>
                <a:cs typeface="Calibri"/>
              </a:rPr>
              <a:t> </a:t>
            </a:r>
            <a:r>
              <a:rPr sz="2400" spc="-15" dirty="0">
                <a:latin typeface="Calibri"/>
                <a:cs typeface="Calibri"/>
              </a:rPr>
              <a:t>at</a:t>
            </a:r>
            <a:r>
              <a:rPr sz="2400" spc="-5" dirty="0">
                <a:latin typeface="Calibri"/>
                <a:cs typeface="Calibri"/>
              </a:rPr>
              <a:t> </a:t>
            </a:r>
            <a:r>
              <a:rPr sz="2400" spc="-15" dirty="0">
                <a:latin typeface="Calibri"/>
                <a:cs typeface="Calibri"/>
              </a:rPr>
              <a:t>present</a:t>
            </a:r>
            <a:endParaRPr sz="2400">
              <a:latin typeface="Calibri"/>
              <a:cs typeface="Calibri"/>
            </a:endParaRPr>
          </a:p>
          <a:p>
            <a:pPr marL="1189990" lvl="2" indent="-252729">
              <a:lnSpc>
                <a:spcPct val="100000"/>
              </a:lnSpc>
              <a:spcBef>
                <a:spcPts val="595"/>
              </a:spcBef>
              <a:buFont typeface="Arial MT"/>
              <a:buChar char="•"/>
              <a:tabLst>
                <a:tab pos="1189990" algn="l"/>
                <a:tab pos="1190625" algn="l"/>
              </a:tabLst>
            </a:pPr>
            <a:r>
              <a:rPr sz="2400" spc="-15" dirty="0">
                <a:latin typeface="Calibri"/>
                <a:cs typeface="Calibri"/>
              </a:rPr>
              <a:t>many</a:t>
            </a:r>
            <a:r>
              <a:rPr sz="2400" spc="-20" dirty="0">
                <a:latin typeface="Calibri"/>
                <a:cs typeface="Calibri"/>
              </a:rPr>
              <a:t> different </a:t>
            </a:r>
            <a:r>
              <a:rPr sz="2400" spc="-15" dirty="0">
                <a:latin typeface="Calibri"/>
                <a:cs typeface="Calibri"/>
              </a:rPr>
              <a:t>interpretations</a:t>
            </a:r>
            <a:r>
              <a:rPr sz="2400" spc="-20" dirty="0">
                <a:latin typeface="Calibri"/>
                <a:cs typeface="Calibri"/>
              </a:rPr>
              <a:t> </a:t>
            </a:r>
            <a:r>
              <a:rPr sz="2400" spc="-15" dirty="0">
                <a:latin typeface="Calibri"/>
                <a:cs typeface="Calibri"/>
              </a:rPr>
              <a:t>are </a:t>
            </a:r>
            <a:r>
              <a:rPr sz="2400" spc="-10" dirty="0">
                <a:latin typeface="Calibri"/>
                <a:cs typeface="Calibri"/>
              </a:rPr>
              <a:t>there?</a:t>
            </a:r>
            <a:endParaRPr sz="2400">
              <a:latin typeface="Calibri"/>
              <a:cs typeface="Calibri"/>
            </a:endParaRPr>
          </a:p>
        </p:txBody>
      </p:sp>
    </p:spTree>
    <p:extLst>
      <p:ext uri="{BB962C8B-B14F-4D97-AF65-F5344CB8AC3E}">
        <p14:creationId xmlns:p14="http://schemas.microsoft.com/office/powerpoint/2010/main" val="360254710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96</a:t>
            </a:fld>
            <a:endParaRPr dirty="0"/>
          </a:p>
        </p:txBody>
      </p:sp>
      <p:sp>
        <p:nvSpPr>
          <p:cNvPr id="2" name="object 2"/>
          <p:cNvSpPr txBox="1">
            <a:spLocks noGrp="1"/>
          </p:cNvSpPr>
          <p:nvPr>
            <p:ph type="title"/>
          </p:nvPr>
        </p:nvSpPr>
        <p:spPr>
          <a:xfrm>
            <a:off x="1246999" y="340779"/>
            <a:ext cx="7043420" cy="635000"/>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739BDC"/>
                </a:solidFill>
              </a:rPr>
              <a:t>Can</a:t>
            </a:r>
            <a:r>
              <a:rPr sz="4000" spc="-15" dirty="0">
                <a:solidFill>
                  <a:srgbClr val="739BDC"/>
                </a:solidFill>
              </a:rPr>
              <a:t> </a:t>
            </a:r>
            <a:r>
              <a:rPr sz="4000" spc="-20" dirty="0">
                <a:solidFill>
                  <a:srgbClr val="739BDC"/>
                </a:solidFill>
              </a:rPr>
              <a:t>Computers</a:t>
            </a:r>
            <a:r>
              <a:rPr sz="4000" spc="-15" dirty="0">
                <a:solidFill>
                  <a:srgbClr val="739BDC"/>
                </a:solidFill>
              </a:rPr>
              <a:t> </a:t>
            </a:r>
            <a:r>
              <a:rPr sz="4000" spc="-5" dirty="0">
                <a:solidFill>
                  <a:srgbClr val="739BDC"/>
                </a:solidFill>
              </a:rPr>
              <a:t>Learn</a:t>
            </a:r>
            <a:r>
              <a:rPr sz="4000" spc="-15" dirty="0">
                <a:solidFill>
                  <a:srgbClr val="739BDC"/>
                </a:solidFill>
              </a:rPr>
              <a:t> </a:t>
            </a:r>
            <a:r>
              <a:rPr sz="4000" dirty="0">
                <a:solidFill>
                  <a:srgbClr val="739BDC"/>
                </a:solidFill>
              </a:rPr>
              <a:t>and</a:t>
            </a:r>
            <a:r>
              <a:rPr sz="4000" spc="-10" dirty="0">
                <a:solidFill>
                  <a:srgbClr val="739BDC"/>
                </a:solidFill>
              </a:rPr>
              <a:t> Adapt</a:t>
            </a:r>
            <a:r>
              <a:rPr sz="4000" spc="-20" dirty="0">
                <a:solidFill>
                  <a:srgbClr val="739BDC"/>
                </a:solidFill>
              </a:rPr>
              <a:t> </a:t>
            </a:r>
            <a:r>
              <a:rPr sz="4000" dirty="0">
                <a:solidFill>
                  <a:srgbClr val="739BDC"/>
                </a:solidFill>
              </a:rPr>
              <a:t>?</a:t>
            </a:r>
            <a:endParaRPr sz="4000"/>
          </a:p>
        </p:txBody>
      </p:sp>
      <p:sp>
        <p:nvSpPr>
          <p:cNvPr id="3" name="object 3"/>
          <p:cNvSpPr txBox="1"/>
          <p:nvPr/>
        </p:nvSpPr>
        <p:spPr>
          <a:xfrm>
            <a:off x="791977" y="1543108"/>
            <a:ext cx="7634605" cy="4437380"/>
          </a:xfrm>
          <a:prstGeom prst="rect">
            <a:avLst/>
          </a:prstGeom>
        </p:spPr>
        <p:txBody>
          <a:bodyPr vert="horz" wrap="square" lIns="0" tIns="38735" rIns="0" bIns="0" rtlCol="0">
            <a:spAutoFit/>
          </a:bodyPr>
          <a:lstStyle/>
          <a:p>
            <a:pPr marL="455295" indent="-443230">
              <a:lnSpc>
                <a:spcPct val="100000"/>
              </a:lnSpc>
              <a:spcBef>
                <a:spcPts val="305"/>
              </a:spcBef>
              <a:buFont typeface="Yu Gothic UI"/>
              <a:buChar char="◉"/>
              <a:tabLst>
                <a:tab pos="455295" algn="l"/>
                <a:tab pos="455930" algn="l"/>
              </a:tabLst>
            </a:pPr>
            <a:r>
              <a:rPr sz="1600" b="1" spc="-5" dirty="0">
                <a:latin typeface="Calibri"/>
                <a:cs typeface="Calibri"/>
              </a:rPr>
              <a:t>Learning</a:t>
            </a:r>
            <a:r>
              <a:rPr sz="1600" b="1" spc="-30" dirty="0">
                <a:latin typeface="Calibri"/>
                <a:cs typeface="Calibri"/>
              </a:rPr>
              <a:t> </a:t>
            </a:r>
            <a:r>
              <a:rPr sz="1600" b="1" spc="-5" dirty="0">
                <a:latin typeface="Calibri"/>
                <a:cs typeface="Calibri"/>
              </a:rPr>
              <a:t>and</a:t>
            </a:r>
            <a:r>
              <a:rPr sz="1600" b="1" spc="-25" dirty="0">
                <a:latin typeface="Calibri"/>
                <a:cs typeface="Calibri"/>
              </a:rPr>
              <a:t> </a:t>
            </a:r>
            <a:r>
              <a:rPr sz="1600" b="1" spc="-10" dirty="0">
                <a:latin typeface="Calibri"/>
                <a:cs typeface="Calibri"/>
              </a:rPr>
              <a:t>Adaptation</a:t>
            </a:r>
            <a:endParaRPr sz="1600">
              <a:latin typeface="Calibri"/>
              <a:cs typeface="Calibri"/>
            </a:endParaRPr>
          </a:p>
          <a:p>
            <a:pPr marL="553720">
              <a:lnSpc>
                <a:spcPct val="100000"/>
              </a:lnSpc>
              <a:spcBef>
                <a:spcPts val="210"/>
              </a:spcBef>
              <a:tabLst>
                <a:tab pos="829944" algn="l"/>
              </a:tabLst>
            </a:pPr>
            <a:r>
              <a:rPr sz="1600" dirty="0">
                <a:latin typeface="Verdana"/>
                <a:cs typeface="Verdana"/>
              </a:rPr>
              <a:t>›	</a:t>
            </a:r>
            <a:r>
              <a:rPr sz="1600" spc="-10" dirty="0">
                <a:latin typeface="Calibri"/>
                <a:cs typeface="Calibri"/>
              </a:rPr>
              <a:t>consider</a:t>
            </a:r>
            <a:r>
              <a:rPr sz="1600" spc="-5" dirty="0">
                <a:latin typeface="Calibri"/>
                <a:cs typeface="Calibri"/>
              </a:rPr>
              <a:t> </a:t>
            </a:r>
            <a:r>
              <a:rPr sz="1600" dirty="0">
                <a:latin typeface="Calibri"/>
                <a:cs typeface="Calibri"/>
              </a:rPr>
              <a:t>a</a:t>
            </a:r>
            <a:r>
              <a:rPr sz="1600" spc="-5" dirty="0">
                <a:latin typeface="Calibri"/>
                <a:cs typeface="Calibri"/>
              </a:rPr>
              <a:t> </a:t>
            </a:r>
            <a:r>
              <a:rPr sz="1600" spc="-10" dirty="0">
                <a:latin typeface="Calibri"/>
                <a:cs typeface="Calibri"/>
              </a:rPr>
              <a:t>computer</a:t>
            </a:r>
            <a:r>
              <a:rPr sz="1600" spc="-5" dirty="0">
                <a:latin typeface="Calibri"/>
                <a:cs typeface="Calibri"/>
              </a:rPr>
              <a:t> learning </a:t>
            </a:r>
            <a:r>
              <a:rPr sz="1600" spc="-10" dirty="0">
                <a:latin typeface="Calibri"/>
                <a:cs typeface="Calibri"/>
              </a:rPr>
              <a:t>to</a:t>
            </a:r>
            <a:r>
              <a:rPr sz="1600" spc="-5" dirty="0">
                <a:latin typeface="Calibri"/>
                <a:cs typeface="Calibri"/>
              </a:rPr>
              <a:t> </a:t>
            </a:r>
            <a:r>
              <a:rPr sz="1600" spc="-10" dirty="0">
                <a:latin typeface="Calibri"/>
                <a:cs typeface="Calibri"/>
              </a:rPr>
              <a:t>drive</a:t>
            </a:r>
            <a:r>
              <a:rPr sz="1600" spc="-5" dirty="0">
                <a:latin typeface="Calibri"/>
                <a:cs typeface="Calibri"/>
              </a:rPr>
              <a:t> on the </a:t>
            </a:r>
            <a:r>
              <a:rPr sz="1600" spc="-15" dirty="0">
                <a:latin typeface="Calibri"/>
                <a:cs typeface="Calibri"/>
              </a:rPr>
              <a:t>freeway</a:t>
            </a:r>
            <a:endParaRPr sz="1600">
              <a:latin typeface="Calibri"/>
              <a:cs typeface="Calibri"/>
            </a:endParaRPr>
          </a:p>
          <a:p>
            <a:pPr marL="553720">
              <a:lnSpc>
                <a:spcPct val="100000"/>
              </a:lnSpc>
              <a:spcBef>
                <a:spcPts val="204"/>
              </a:spcBef>
              <a:tabLst>
                <a:tab pos="829944" algn="l"/>
              </a:tabLst>
            </a:pPr>
            <a:r>
              <a:rPr sz="1600" dirty="0">
                <a:latin typeface="Verdana"/>
                <a:cs typeface="Verdana"/>
              </a:rPr>
              <a:t>›	</a:t>
            </a:r>
            <a:r>
              <a:rPr sz="1600" spc="-10" dirty="0">
                <a:latin typeface="Calibri"/>
                <a:cs typeface="Calibri"/>
              </a:rPr>
              <a:t>we could teach</a:t>
            </a:r>
            <a:r>
              <a:rPr sz="1600" spc="-5" dirty="0">
                <a:latin typeface="Calibri"/>
                <a:cs typeface="Calibri"/>
              </a:rPr>
              <a:t> it</a:t>
            </a:r>
            <a:r>
              <a:rPr sz="1600" spc="-10" dirty="0">
                <a:latin typeface="Calibri"/>
                <a:cs typeface="Calibri"/>
              </a:rPr>
              <a:t> </a:t>
            </a:r>
            <a:r>
              <a:rPr sz="1600" spc="-5" dirty="0">
                <a:latin typeface="Calibri"/>
                <a:cs typeface="Calibri"/>
              </a:rPr>
              <a:t>lots of</a:t>
            </a:r>
            <a:r>
              <a:rPr sz="1600" spc="-10" dirty="0">
                <a:latin typeface="Calibri"/>
                <a:cs typeface="Calibri"/>
              </a:rPr>
              <a:t> </a:t>
            </a:r>
            <a:r>
              <a:rPr sz="1600" spc="-5" dirty="0">
                <a:latin typeface="Calibri"/>
                <a:cs typeface="Calibri"/>
              </a:rPr>
              <a:t>rules </a:t>
            </a:r>
            <a:r>
              <a:rPr sz="1600" dirty="0">
                <a:latin typeface="Calibri"/>
                <a:cs typeface="Calibri"/>
              </a:rPr>
              <a:t>about</a:t>
            </a:r>
            <a:r>
              <a:rPr sz="1600" spc="-10" dirty="0">
                <a:latin typeface="Calibri"/>
                <a:cs typeface="Calibri"/>
              </a:rPr>
              <a:t> what</a:t>
            </a:r>
            <a:r>
              <a:rPr sz="1600" spc="-5" dirty="0">
                <a:latin typeface="Calibri"/>
                <a:cs typeface="Calibri"/>
              </a:rPr>
              <a:t> </a:t>
            </a:r>
            <a:r>
              <a:rPr sz="1600" spc="-10" dirty="0">
                <a:latin typeface="Calibri"/>
                <a:cs typeface="Calibri"/>
              </a:rPr>
              <a:t>to </a:t>
            </a:r>
            <a:r>
              <a:rPr sz="1600" spc="-5" dirty="0">
                <a:latin typeface="Calibri"/>
                <a:cs typeface="Calibri"/>
              </a:rPr>
              <a:t>do</a:t>
            </a:r>
            <a:endParaRPr sz="1600">
              <a:latin typeface="Calibri"/>
              <a:cs typeface="Calibri"/>
            </a:endParaRPr>
          </a:p>
          <a:p>
            <a:pPr marL="829944" marR="889635" indent="-276860">
              <a:lnSpc>
                <a:spcPts val="1730"/>
              </a:lnSpc>
              <a:spcBef>
                <a:spcPts val="425"/>
              </a:spcBef>
              <a:tabLst>
                <a:tab pos="829944" algn="l"/>
              </a:tabLst>
            </a:pPr>
            <a:r>
              <a:rPr sz="1600" dirty="0">
                <a:latin typeface="Verdana"/>
                <a:cs typeface="Verdana"/>
              </a:rPr>
              <a:t>›	</a:t>
            </a:r>
            <a:r>
              <a:rPr sz="1600" spc="-5" dirty="0">
                <a:latin typeface="Calibri"/>
                <a:cs typeface="Calibri"/>
              </a:rPr>
              <a:t>or</a:t>
            </a:r>
            <a:r>
              <a:rPr sz="1600" spc="-10" dirty="0">
                <a:latin typeface="Calibri"/>
                <a:cs typeface="Calibri"/>
              </a:rPr>
              <a:t> we</a:t>
            </a:r>
            <a:r>
              <a:rPr sz="1600" spc="-5" dirty="0">
                <a:latin typeface="Calibri"/>
                <a:cs typeface="Calibri"/>
              </a:rPr>
              <a:t> </a:t>
            </a:r>
            <a:r>
              <a:rPr sz="1600" spc="-10" dirty="0">
                <a:latin typeface="Calibri"/>
                <a:cs typeface="Calibri"/>
              </a:rPr>
              <a:t>could</a:t>
            </a:r>
            <a:r>
              <a:rPr sz="1600" spc="-5" dirty="0">
                <a:latin typeface="Calibri"/>
                <a:cs typeface="Calibri"/>
              </a:rPr>
              <a:t> let it </a:t>
            </a:r>
            <a:r>
              <a:rPr sz="1600" spc="-10" dirty="0">
                <a:latin typeface="Calibri"/>
                <a:cs typeface="Calibri"/>
              </a:rPr>
              <a:t>drive</a:t>
            </a:r>
            <a:r>
              <a:rPr sz="1600" spc="-5" dirty="0">
                <a:latin typeface="Calibri"/>
                <a:cs typeface="Calibri"/>
              </a:rPr>
              <a:t> </a:t>
            </a:r>
            <a:r>
              <a:rPr sz="1600" dirty="0">
                <a:latin typeface="Calibri"/>
                <a:cs typeface="Calibri"/>
              </a:rPr>
              <a:t>and</a:t>
            </a:r>
            <a:r>
              <a:rPr sz="1600" spc="-5" dirty="0">
                <a:latin typeface="Calibri"/>
                <a:cs typeface="Calibri"/>
              </a:rPr>
              <a:t> </a:t>
            </a:r>
            <a:r>
              <a:rPr sz="1600" spc="-10" dirty="0">
                <a:latin typeface="Calibri"/>
                <a:cs typeface="Calibri"/>
              </a:rPr>
              <a:t>steer</a:t>
            </a:r>
            <a:r>
              <a:rPr sz="1600" spc="-5" dirty="0">
                <a:latin typeface="Calibri"/>
                <a:cs typeface="Calibri"/>
              </a:rPr>
              <a:t> it</a:t>
            </a:r>
            <a:r>
              <a:rPr sz="1600" spc="-10" dirty="0">
                <a:latin typeface="Calibri"/>
                <a:cs typeface="Calibri"/>
              </a:rPr>
              <a:t> </a:t>
            </a:r>
            <a:r>
              <a:rPr sz="1600" spc="-5" dirty="0">
                <a:latin typeface="Calibri"/>
                <a:cs typeface="Calibri"/>
              </a:rPr>
              <a:t>back on </a:t>
            </a:r>
            <a:r>
              <a:rPr sz="1600" spc="-10" dirty="0">
                <a:latin typeface="Calibri"/>
                <a:cs typeface="Calibri"/>
              </a:rPr>
              <a:t>course</a:t>
            </a:r>
            <a:r>
              <a:rPr sz="1600" spc="-5" dirty="0">
                <a:latin typeface="Calibri"/>
                <a:cs typeface="Calibri"/>
              </a:rPr>
              <a:t> when it heads </a:t>
            </a:r>
            <a:r>
              <a:rPr sz="1600" spc="-15" dirty="0">
                <a:latin typeface="Calibri"/>
                <a:cs typeface="Calibri"/>
              </a:rPr>
              <a:t>for</a:t>
            </a:r>
            <a:r>
              <a:rPr sz="1600" spc="-5" dirty="0">
                <a:latin typeface="Calibri"/>
                <a:cs typeface="Calibri"/>
              </a:rPr>
              <a:t> the </a:t>
            </a:r>
            <a:r>
              <a:rPr sz="1600" spc="-350" dirty="0">
                <a:latin typeface="Calibri"/>
                <a:cs typeface="Calibri"/>
              </a:rPr>
              <a:t> </a:t>
            </a:r>
            <a:r>
              <a:rPr sz="1600" spc="-10" dirty="0">
                <a:latin typeface="Calibri"/>
                <a:cs typeface="Calibri"/>
              </a:rPr>
              <a:t>embankment</a:t>
            </a:r>
            <a:endParaRPr sz="1600">
              <a:latin typeface="Calibri"/>
              <a:cs typeface="Calibri"/>
            </a:endParaRPr>
          </a:p>
          <a:p>
            <a:pPr marL="1112520" lvl="1" indent="-250190">
              <a:lnSpc>
                <a:spcPct val="100000"/>
              </a:lnSpc>
              <a:spcBef>
                <a:spcPts val="180"/>
              </a:spcBef>
              <a:buFont typeface="Arial MT"/>
              <a:buChar char="●"/>
              <a:tabLst>
                <a:tab pos="1113155" algn="l"/>
              </a:tabLst>
            </a:pPr>
            <a:r>
              <a:rPr sz="1600" spc="-15" dirty="0">
                <a:latin typeface="Calibri"/>
                <a:cs typeface="Calibri"/>
              </a:rPr>
              <a:t>systems</a:t>
            </a:r>
            <a:r>
              <a:rPr sz="1600" spc="-10" dirty="0">
                <a:latin typeface="Calibri"/>
                <a:cs typeface="Calibri"/>
              </a:rPr>
              <a:t> </a:t>
            </a:r>
            <a:r>
              <a:rPr sz="1600" spc="-20" dirty="0">
                <a:latin typeface="Calibri"/>
                <a:cs typeface="Calibri"/>
              </a:rPr>
              <a:t>like</a:t>
            </a:r>
            <a:r>
              <a:rPr sz="1600" spc="-5" dirty="0">
                <a:latin typeface="Calibri"/>
                <a:cs typeface="Calibri"/>
              </a:rPr>
              <a:t> this </a:t>
            </a:r>
            <a:r>
              <a:rPr sz="1600" spc="-10" dirty="0">
                <a:latin typeface="Calibri"/>
                <a:cs typeface="Calibri"/>
              </a:rPr>
              <a:t>are</a:t>
            </a:r>
            <a:r>
              <a:rPr sz="1600" spc="-5" dirty="0">
                <a:latin typeface="Calibri"/>
                <a:cs typeface="Calibri"/>
              </a:rPr>
              <a:t> under</a:t>
            </a:r>
            <a:r>
              <a:rPr sz="1600" spc="-10" dirty="0">
                <a:latin typeface="Calibri"/>
                <a:cs typeface="Calibri"/>
              </a:rPr>
              <a:t> development</a:t>
            </a:r>
            <a:r>
              <a:rPr sz="1600" spc="-5" dirty="0">
                <a:latin typeface="Calibri"/>
                <a:cs typeface="Calibri"/>
              </a:rPr>
              <a:t> (e.g., Daimler Benz)</a:t>
            </a:r>
            <a:endParaRPr sz="1600">
              <a:latin typeface="Calibri"/>
              <a:cs typeface="Calibri"/>
            </a:endParaRPr>
          </a:p>
          <a:p>
            <a:pPr marL="1112520" lvl="1" indent="-250190">
              <a:lnSpc>
                <a:spcPct val="100000"/>
              </a:lnSpc>
              <a:spcBef>
                <a:spcPts val="210"/>
              </a:spcBef>
              <a:buFont typeface="Arial MT"/>
              <a:buChar char="●"/>
              <a:tabLst>
                <a:tab pos="1113155" algn="l"/>
              </a:tabLst>
            </a:pPr>
            <a:r>
              <a:rPr sz="1600" dirty="0">
                <a:latin typeface="Calibri"/>
                <a:cs typeface="Calibri"/>
              </a:rPr>
              <a:t>e.g.,</a:t>
            </a:r>
            <a:r>
              <a:rPr sz="1600" spc="-25" dirty="0">
                <a:latin typeface="Calibri"/>
                <a:cs typeface="Calibri"/>
              </a:rPr>
              <a:t> </a:t>
            </a:r>
            <a:r>
              <a:rPr sz="1600" spc="-5" dirty="0">
                <a:latin typeface="Calibri"/>
                <a:cs typeface="Calibri"/>
              </a:rPr>
              <a:t>RALPH</a:t>
            </a:r>
            <a:r>
              <a:rPr sz="1600" spc="-25" dirty="0">
                <a:latin typeface="Calibri"/>
                <a:cs typeface="Calibri"/>
              </a:rPr>
              <a:t> </a:t>
            </a:r>
            <a:r>
              <a:rPr sz="1600" spc="-10" dirty="0">
                <a:latin typeface="Calibri"/>
                <a:cs typeface="Calibri"/>
              </a:rPr>
              <a:t>at</a:t>
            </a:r>
            <a:r>
              <a:rPr sz="1600" spc="-30" dirty="0">
                <a:latin typeface="Calibri"/>
                <a:cs typeface="Calibri"/>
              </a:rPr>
              <a:t> </a:t>
            </a:r>
            <a:r>
              <a:rPr sz="1600" spc="-5" dirty="0">
                <a:latin typeface="Calibri"/>
                <a:cs typeface="Calibri"/>
              </a:rPr>
              <a:t>CMU</a:t>
            </a:r>
            <a:endParaRPr sz="1600">
              <a:latin typeface="Calibri"/>
              <a:cs typeface="Calibri"/>
            </a:endParaRPr>
          </a:p>
          <a:p>
            <a:pPr marL="1607820" marR="5080" lvl="2" indent="-236854">
              <a:lnSpc>
                <a:spcPts val="2160"/>
              </a:lnSpc>
              <a:spcBef>
                <a:spcPts val="525"/>
              </a:spcBef>
              <a:buFont typeface="Arial MT"/>
              <a:buChar char="●"/>
              <a:tabLst>
                <a:tab pos="1664970" algn="l"/>
                <a:tab pos="1665605" algn="l"/>
              </a:tabLst>
            </a:pPr>
            <a:r>
              <a:rPr dirty="0"/>
              <a:t>	</a:t>
            </a:r>
            <a:r>
              <a:rPr sz="2000" spc="-5" dirty="0">
                <a:latin typeface="Calibri"/>
                <a:cs typeface="Calibri"/>
              </a:rPr>
              <a:t>in</a:t>
            </a:r>
            <a:r>
              <a:rPr sz="2000" spc="-10" dirty="0">
                <a:latin typeface="Calibri"/>
                <a:cs typeface="Calibri"/>
              </a:rPr>
              <a:t> </a:t>
            </a:r>
            <a:r>
              <a:rPr sz="2000" spc="-5" dirty="0">
                <a:latin typeface="Calibri"/>
                <a:cs typeface="Calibri"/>
              </a:rPr>
              <a:t>mid </a:t>
            </a:r>
            <a:r>
              <a:rPr sz="2000" spc="-35" dirty="0">
                <a:latin typeface="Calibri"/>
                <a:cs typeface="Calibri"/>
              </a:rPr>
              <a:t>90’s</a:t>
            </a:r>
            <a:r>
              <a:rPr sz="2000" spc="-10" dirty="0">
                <a:latin typeface="Calibri"/>
                <a:cs typeface="Calibri"/>
              </a:rPr>
              <a:t> </a:t>
            </a:r>
            <a:r>
              <a:rPr sz="2000" spc="-5" dirty="0">
                <a:latin typeface="Calibri"/>
                <a:cs typeface="Calibri"/>
              </a:rPr>
              <a:t>it </a:t>
            </a:r>
            <a:r>
              <a:rPr sz="2000" spc="-15" dirty="0">
                <a:latin typeface="Calibri"/>
                <a:cs typeface="Calibri"/>
              </a:rPr>
              <a:t>drove</a:t>
            </a:r>
            <a:r>
              <a:rPr sz="2000" spc="-10" dirty="0">
                <a:latin typeface="Calibri"/>
                <a:cs typeface="Calibri"/>
              </a:rPr>
              <a:t> </a:t>
            </a:r>
            <a:r>
              <a:rPr sz="2000" spc="-5" dirty="0">
                <a:latin typeface="Calibri"/>
                <a:cs typeface="Calibri"/>
              </a:rPr>
              <a:t>98% of</a:t>
            </a:r>
            <a:r>
              <a:rPr sz="2000" spc="-10" dirty="0">
                <a:latin typeface="Calibri"/>
                <a:cs typeface="Calibri"/>
              </a:rPr>
              <a:t> </a:t>
            </a:r>
            <a:r>
              <a:rPr sz="2000" spc="-5" dirty="0">
                <a:latin typeface="Calibri"/>
                <a:cs typeface="Calibri"/>
              </a:rPr>
              <a:t>the </a:t>
            </a:r>
            <a:r>
              <a:rPr sz="2000" spc="-25" dirty="0">
                <a:latin typeface="Calibri"/>
                <a:cs typeface="Calibri"/>
              </a:rPr>
              <a:t>way</a:t>
            </a:r>
            <a:r>
              <a:rPr sz="2000" spc="-10" dirty="0">
                <a:latin typeface="Calibri"/>
                <a:cs typeface="Calibri"/>
              </a:rPr>
              <a:t> </a:t>
            </a:r>
            <a:r>
              <a:rPr sz="2000" spc="-15" dirty="0">
                <a:latin typeface="Calibri"/>
                <a:cs typeface="Calibri"/>
              </a:rPr>
              <a:t>from</a:t>
            </a:r>
            <a:r>
              <a:rPr sz="2000" spc="-5" dirty="0">
                <a:latin typeface="Calibri"/>
                <a:cs typeface="Calibri"/>
              </a:rPr>
              <a:t> </a:t>
            </a:r>
            <a:r>
              <a:rPr sz="2000" spc="-10" dirty="0">
                <a:latin typeface="Calibri"/>
                <a:cs typeface="Calibri"/>
              </a:rPr>
              <a:t>Pittsburgh to</a:t>
            </a:r>
            <a:r>
              <a:rPr sz="2000" spc="-5" dirty="0">
                <a:latin typeface="Calibri"/>
                <a:cs typeface="Calibri"/>
              </a:rPr>
              <a:t> San </a:t>
            </a:r>
            <a:r>
              <a:rPr sz="2000" spc="-440" dirty="0">
                <a:latin typeface="Calibri"/>
                <a:cs typeface="Calibri"/>
              </a:rPr>
              <a:t> </a:t>
            </a:r>
            <a:r>
              <a:rPr sz="2000" spc="-10" dirty="0">
                <a:latin typeface="Calibri"/>
                <a:cs typeface="Calibri"/>
              </a:rPr>
              <a:t>Diego </a:t>
            </a:r>
            <a:r>
              <a:rPr sz="2000" spc="-5" dirty="0">
                <a:latin typeface="Calibri"/>
                <a:cs typeface="Calibri"/>
              </a:rPr>
              <a:t>without </a:t>
            </a:r>
            <a:r>
              <a:rPr sz="2000" spc="-15" dirty="0">
                <a:latin typeface="Calibri"/>
                <a:cs typeface="Calibri"/>
              </a:rPr>
              <a:t>any</a:t>
            </a:r>
            <a:r>
              <a:rPr sz="2000" spc="-5" dirty="0">
                <a:latin typeface="Calibri"/>
                <a:cs typeface="Calibri"/>
              </a:rPr>
              <a:t> human </a:t>
            </a:r>
            <a:r>
              <a:rPr sz="2000" spc="-10" dirty="0">
                <a:latin typeface="Calibri"/>
                <a:cs typeface="Calibri"/>
              </a:rPr>
              <a:t>assistance</a:t>
            </a:r>
            <a:endParaRPr sz="2000">
              <a:latin typeface="Calibri"/>
              <a:cs typeface="Calibri"/>
            </a:endParaRPr>
          </a:p>
          <a:p>
            <a:pPr marL="829944" marR="811530" indent="-294640">
              <a:lnSpc>
                <a:spcPts val="1730"/>
              </a:lnSpc>
              <a:spcBef>
                <a:spcPts val="395"/>
              </a:spcBef>
              <a:tabLst>
                <a:tab pos="829944" algn="l"/>
              </a:tabLst>
            </a:pPr>
            <a:r>
              <a:rPr sz="1600" b="1" dirty="0">
                <a:latin typeface="Verdana"/>
                <a:cs typeface="Verdana"/>
              </a:rPr>
              <a:t>›	</a:t>
            </a:r>
            <a:r>
              <a:rPr sz="1600" b="1" spc="-5" dirty="0">
                <a:latin typeface="Calibri"/>
                <a:cs typeface="Calibri"/>
              </a:rPr>
              <a:t>machine</a:t>
            </a:r>
            <a:r>
              <a:rPr sz="1600" b="1" spc="-10" dirty="0">
                <a:latin typeface="Calibri"/>
                <a:cs typeface="Calibri"/>
              </a:rPr>
              <a:t> </a:t>
            </a:r>
            <a:r>
              <a:rPr sz="1600" b="1" spc="-5" dirty="0">
                <a:latin typeface="Calibri"/>
                <a:cs typeface="Calibri"/>
              </a:rPr>
              <a:t>learning</a:t>
            </a:r>
            <a:r>
              <a:rPr sz="1600" b="1" spc="15" dirty="0">
                <a:latin typeface="Calibri"/>
                <a:cs typeface="Calibri"/>
              </a:rPr>
              <a:t> </a:t>
            </a:r>
            <a:r>
              <a:rPr sz="1600" spc="-5" dirty="0">
                <a:latin typeface="Calibri"/>
                <a:cs typeface="Calibri"/>
              </a:rPr>
              <a:t>allows</a:t>
            </a:r>
            <a:r>
              <a:rPr sz="1600" spc="-10" dirty="0">
                <a:latin typeface="Calibri"/>
                <a:cs typeface="Calibri"/>
              </a:rPr>
              <a:t> computers to</a:t>
            </a:r>
            <a:r>
              <a:rPr sz="1600" spc="-5" dirty="0">
                <a:latin typeface="Calibri"/>
                <a:cs typeface="Calibri"/>
              </a:rPr>
              <a:t> learn</a:t>
            </a:r>
            <a:r>
              <a:rPr sz="1600" spc="-10" dirty="0">
                <a:latin typeface="Calibri"/>
                <a:cs typeface="Calibri"/>
              </a:rPr>
              <a:t> to </a:t>
            </a:r>
            <a:r>
              <a:rPr sz="1600" spc="-5" dirty="0">
                <a:latin typeface="Calibri"/>
                <a:cs typeface="Calibri"/>
              </a:rPr>
              <a:t>do</a:t>
            </a:r>
            <a:r>
              <a:rPr sz="1600" spc="-10" dirty="0">
                <a:latin typeface="Calibri"/>
                <a:cs typeface="Calibri"/>
              </a:rPr>
              <a:t> </a:t>
            </a:r>
            <a:r>
              <a:rPr sz="1600" spc="-5" dirty="0">
                <a:latin typeface="Calibri"/>
                <a:cs typeface="Calibri"/>
              </a:rPr>
              <a:t>things without</a:t>
            </a:r>
            <a:r>
              <a:rPr sz="1600" spc="-10" dirty="0">
                <a:latin typeface="Calibri"/>
                <a:cs typeface="Calibri"/>
              </a:rPr>
              <a:t> explicit </a:t>
            </a:r>
            <a:r>
              <a:rPr sz="1600" spc="-345" dirty="0">
                <a:latin typeface="Calibri"/>
                <a:cs typeface="Calibri"/>
              </a:rPr>
              <a:t> </a:t>
            </a:r>
            <a:r>
              <a:rPr sz="1600" spc="-10" dirty="0">
                <a:latin typeface="Calibri"/>
                <a:cs typeface="Calibri"/>
              </a:rPr>
              <a:t>programming</a:t>
            </a:r>
            <a:endParaRPr sz="1600">
              <a:latin typeface="Calibri"/>
              <a:cs typeface="Calibri"/>
            </a:endParaRPr>
          </a:p>
          <a:p>
            <a:pPr marL="553720">
              <a:lnSpc>
                <a:spcPct val="100000"/>
              </a:lnSpc>
              <a:spcBef>
                <a:spcPts val="185"/>
              </a:spcBef>
              <a:tabLst>
                <a:tab pos="829944" algn="l"/>
              </a:tabLst>
            </a:pPr>
            <a:r>
              <a:rPr sz="1600" dirty="0">
                <a:latin typeface="Verdana"/>
                <a:cs typeface="Verdana"/>
              </a:rPr>
              <a:t>›	</a:t>
            </a:r>
            <a:r>
              <a:rPr sz="1600" spc="-15" dirty="0">
                <a:latin typeface="Calibri"/>
                <a:cs typeface="Calibri"/>
              </a:rPr>
              <a:t>many </a:t>
            </a:r>
            <a:r>
              <a:rPr sz="1600" spc="-10" dirty="0">
                <a:latin typeface="Calibri"/>
                <a:cs typeface="Calibri"/>
              </a:rPr>
              <a:t>successful</a:t>
            </a:r>
            <a:r>
              <a:rPr sz="1600" spc="-15" dirty="0">
                <a:latin typeface="Calibri"/>
                <a:cs typeface="Calibri"/>
              </a:rPr>
              <a:t> </a:t>
            </a:r>
            <a:r>
              <a:rPr sz="1600" spc="-5" dirty="0">
                <a:latin typeface="Calibri"/>
                <a:cs typeface="Calibri"/>
              </a:rPr>
              <a:t>applications:</a:t>
            </a:r>
            <a:endParaRPr sz="1600">
              <a:latin typeface="Calibri"/>
              <a:cs typeface="Calibri"/>
            </a:endParaRPr>
          </a:p>
          <a:p>
            <a:pPr marL="1112520" marR="78105" lvl="1" indent="-250190">
              <a:lnSpc>
                <a:spcPts val="1730"/>
              </a:lnSpc>
              <a:spcBef>
                <a:spcPts val="420"/>
              </a:spcBef>
              <a:buFont typeface="Arial MT"/>
              <a:buChar char="●"/>
              <a:tabLst>
                <a:tab pos="1113155" algn="l"/>
              </a:tabLst>
            </a:pPr>
            <a:r>
              <a:rPr sz="1600" spc="-10" dirty="0">
                <a:latin typeface="Calibri"/>
                <a:cs typeface="Calibri"/>
              </a:rPr>
              <a:t>requires </a:t>
            </a:r>
            <a:r>
              <a:rPr sz="1600" spc="-5" dirty="0">
                <a:latin typeface="Calibri"/>
                <a:cs typeface="Calibri"/>
              </a:rPr>
              <a:t>some </a:t>
            </a:r>
            <a:r>
              <a:rPr sz="1600" spc="-15" dirty="0">
                <a:latin typeface="Calibri"/>
                <a:cs typeface="Calibri"/>
              </a:rPr>
              <a:t>“set-up”:</a:t>
            </a:r>
            <a:r>
              <a:rPr sz="1600" spc="-5" dirty="0">
                <a:latin typeface="Calibri"/>
                <a:cs typeface="Calibri"/>
              </a:rPr>
              <a:t> does not mean </a:t>
            </a:r>
            <a:r>
              <a:rPr sz="1600" spc="-10" dirty="0">
                <a:latin typeface="Calibri"/>
                <a:cs typeface="Calibri"/>
              </a:rPr>
              <a:t>your</a:t>
            </a:r>
            <a:r>
              <a:rPr sz="1600" spc="-5" dirty="0">
                <a:latin typeface="Calibri"/>
                <a:cs typeface="Calibri"/>
              </a:rPr>
              <a:t> PC can learn </a:t>
            </a:r>
            <a:r>
              <a:rPr sz="1600" spc="-10" dirty="0">
                <a:latin typeface="Calibri"/>
                <a:cs typeface="Calibri"/>
              </a:rPr>
              <a:t>to</a:t>
            </a:r>
            <a:r>
              <a:rPr sz="1600" spc="-5" dirty="0">
                <a:latin typeface="Calibri"/>
                <a:cs typeface="Calibri"/>
              </a:rPr>
              <a:t> </a:t>
            </a:r>
            <a:r>
              <a:rPr sz="1600" spc="-15" dirty="0">
                <a:latin typeface="Calibri"/>
                <a:cs typeface="Calibri"/>
              </a:rPr>
              <a:t>forecast</a:t>
            </a:r>
            <a:r>
              <a:rPr sz="1600" spc="-5" dirty="0">
                <a:latin typeface="Calibri"/>
                <a:cs typeface="Calibri"/>
              </a:rPr>
              <a:t> the </a:t>
            </a:r>
            <a:r>
              <a:rPr sz="1600" spc="-15" dirty="0">
                <a:latin typeface="Calibri"/>
                <a:cs typeface="Calibri"/>
              </a:rPr>
              <a:t>stock </a:t>
            </a:r>
            <a:r>
              <a:rPr sz="1600" spc="-350" dirty="0">
                <a:latin typeface="Calibri"/>
                <a:cs typeface="Calibri"/>
              </a:rPr>
              <a:t> </a:t>
            </a:r>
            <a:r>
              <a:rPr sz="1600" spc="-15" dirty="0">
                <a:latin typeface="Calibri"/>
                <a:cs typeface="Calibri"/>
              </a:rPr>
              <a:t>market</a:t>
            </a:r>
            <a:r>
              <a:rPr sz="1600" spc="-10" dirty="0">
                <a:latin typeface="Calibri"/>
                <a:cs typeface="Calibri"/>
              </a:rPr>
              <a:t> </a:t>
            </a:r>
            <a:r>
              <a:rPr sz="1600" spc="-5" dirty="0">
                <a:latin typeface="Calibri"/>
                <a:cs typeface="Calibri"/>
              </a:rPr>
              <a:t>or </a:t>
            </a:r>
            <a:r>
              <a:rPr sz="1600" spc="-10" dirty="0">
                <a:latin typeface="Calibri"/>
                <a:cs typeface="Calibri"/>
              </a:rPr>
              <a:t>become</a:t>
            </a:r>
            <a:r>
              <a:rPr sz="1600" spc="-5" dirty="0">
                <a:latin typeface="Calibri"/>
                <a:cs typeface="Calibri"/>
              </a:rPr>
              <a:t> </a:t>
            </a:r>
            <a:r>
              <a:rPr sz="1600" dirty="0">
                <a:latin typeface="Calibri"/>
                <a:cs typeface="Calibri"/>
              </a:rPr>
              <a:t>a</a:t>
            </a:r>
            <a:r>
              <a:rPr sz="1600" spc="-5" dirty="0">
                <a:latin typeface="Calibri"/>
                <a:cs typeface="Calibri"/>
              </a:rPr>
              <a:t> </a:t>
            </a:r>
            <a:r>
              <a:rPr sz="1600" spc="-10" dirty="0">
                <a:latin typeface="Calibri"/>
                <a:cs typeface="Calibri"/>
              </a:rPr>
              <a:t>brain</a:t>
            </a:r>
            <a:r>
              <a:rPr sz="1600" spc="-5" dirty="0">
                <a:latin typeface="Calibri"/>
                <a:cs typeface="Calibri"/>
              </a:rPr>
              <a:t> </a:t>
            </a:r>
            <a:r>
              <a:rPr sz="1600" spc="-10" dirty="0">
                <a:latin typeface="Calibri"/>
                <a:cs typeface="Calibri"/>
              </a:rPr>
              <a:t>surgeon</a:t>
            </a:r>
            <a:endParaRPr sz="1600">
              <a:latin typeface="Calibri"/>
              <a:cs typeface="Calibri"/>
            </a:endParaRPr>
          </a:p>
          <a:p>
            <a:pPr>
              <a:lnSpc>
                <a:spcPct val="100000"/>
              </a:lnSpc>
              <a:spcBef>
                <a:spcPts val="50"/>
              </a:spcBef>
            </a:pPr>
            <a:endParaRPr sz="1700">
              <a:latin typeface="Calibri"/>
              <a:cs typeface="Calibri"/>
            </a:endParaRPr>
          </a:p>
          <a:p>
            <a:pPr marL="455295" marR="148590" indent="-443230">
              <a:lnSpc>
                <a:spcPts val="1730"/>
              </a:lnSpc>
              <a:buFont typeface="Cambria"/>
              <a:buChar char="◉"/>
              <a:tabLst>
                <a:tab pos="455295" algn="l"/>
                <a:tab pos="455930" algn="l"/>
              </a:tabLst>
            </a:pPr>
            <a:r>
              <a:rPr sz="1600" spc="-5" dirty="0">
                <a:latin typeface="Calibri"/>
                <a:cs typeface="Calibri"/>
              </a:rPr>
              <a:t>Conclusion: </a:t>
            </a:r>
            <a:r>
              <a:rPr sz="1600" b="1" spc="-10" dirty="0">
                <a:latin typeface="Calibri"/>
                <a:cs typeface="Calibri"/>
              </a:rPr>
              <a:t>YES, </a:t>
            </a:r>
            <a:r>
              <a:rPr sz="1600" spc="-10" dirty="0">
                <a:latin typeface="Calibri"/>
                <a:cs typeface="Calibri"/>
              </a:rPr>
              <a:t>computers </a:t>
            </a:r>
            <a:r>
              <a:rPr sz="1600" spc="-5" dirty="0">
                <a:latin typeface="Calibri"/>
                <a:cs typeface="Calibri"/>
              </a:rPr>
              <a:t>can learn </a:t>
            </a:r>
            <a:r>
              <a:rPr sz="1600" dirty="0">
                <a:latin typeface="Calibri"/>
                <a:cs typeface="Calibri"/>
              </a:rPr>
              <a:t>and </a:t>
            </a:r>
            <a:r>
              <a:rPr sz="1600" spc="-5" dirty="0">
                <a:latin typeface="Calibri"/>
                <a:cs typeface="Calibri"/>
              </a:rPr>
              <a:t>adapt, when </a:t>
            </a:r>
            <a:r>
              <a:rPr sz="1600" spc="-10" dirty="0">
                <a:latin typeface="Calibri"/>
                <a:cs typeface="Calibri"/>
              </a:rPr>
              <a:t>presented </a:t>
            </a:r>
            <a:r>
              <a:rPr sz="1600" spc="-5" dirty="0">
                <a:latin typeface="Calibri"/>
                <a:cs typeface="Calibri"/>
              </a:rPr>
              <a:t>with </a:t>
            </a:r>
            <a:r>
              <a:rPr sz="1600" spc="-10" dirty="0">
                <a:latin typeface="Calibri"/>
                <a:cs typeface="Calibri"/>
              </a:rPr>
              <a:t>information </a:t>
            </a:r>
            <a:r>
              <a:rPr sz="1600" spc="-5" dirty="0">
                <a:latin typeface="Calibri"/>
                <a:cs typeface="Calibri"/>
              </a:rPr>
              <a:t>in </a:t>
            </a:r>
            <a:r>
              <a:rPr sz="1600" spc="-350" dirty="0">
                <a:latin typeface="Calibri"/>
                <a:cs typeface="Calibri"/>
              </a:rPr>
              <a:t> </a:t>
            </a:r>
            <a:r>
              <a:rPr sz="1600" spc="-5" dirty="0">
                <a:latin typeface="Calibri"/>
                <a:cs typeface="Calibri"/>
              </a:rPr>
              <a:t>the</a:t>
            </a:r>
            <a:r>
              <a:rPr sz="1600" spc="-10" dirty="0">
                <a:latin typeface="Calibri"/>
                <a:cs typeface="Calibri"/>
              </a:rPr>
              <a:t> appropriate</a:t>
            </a:r>
            <a:r>
              <a:rPr sz="1600" spc="-5" dirty="0">
                <a:latin typeface="Calibri"/>
                <a:cs typeface="Calibri"/>
              </a:rPr>
              <a:t> </a:t>
            </a:r>
            <a:r>
              <a:rPr sz="1600" spc="-20" dirty="0">
                <a:latin typeface="Calibri"/>
                <a:cs typeface="Calibri"/>
              </a:rPr>
              <a:t>way</a:t>
            </a:r>
            <a:endParaRPr sz="1600">
              <a:latin typeface="Calibri"/>
              <a:cs typeface="Calibri"/>
            </a:endParaRPr>
          </a:p>
        </p:txBody>
      </p:sp>
    </p:spTree>
    <p:extLst>
      <p:ext uri="{BB962C8B-B14F-4D97-AF65-F5344CB8AC3E}">
        <p14:creationId xmlns:p14="http://schemas.microsoft.com/office/powerpoint/2010/main" val="33823512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5363" y="415007"/>
            <a:ext cx="5113655" cy="6959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739BDC"/>
                </a:solidFill>
              </a:rPr>
              <a:t>Can</a:t>
            </a:r>
            <a:r>
              <a:rPr spc="-30" dirty="0">
                <a:solidFill>
                  <a:srgbClr val="739BDC"/>
                </a:solidFill>
              </a:rPr>
              <a:t> </a:t>
            </a:r>
            <a:r>
              <a:rPr spc="-20" dirty="0">
                <a:solidFill>
                  <a:srgbClr val="739BDC"/>
                </a:solidFill>
              </a:rPr>
              <a:t>Computers</a:t>
            </a:r>
            <a:r>
              <a:rPr spc="-25" dirty="0">
                <a:solidFill>
                  <a:srgbClr val="739BDC"/>
                </a:solidFill>
              </a:rPr>
              <a:t> “see”?</a:t>
            </a:r>
          </a:p>
        </p:txBody>
      </p:sp>
      <p:sp>
        <p:nvSpPr>
          <p:cNvPr id="3" name="object 3"/>
          <p:cNvSpPr txBox="1"/>
          <p:nvPr/>
        </p:nvSpPr>
        <p:spPr>
          <a:xfrm>
            <a:off x="960662" y="1323312"/>
            <a:ext cx="5302885" cy="2037080"/>
          </a:xfrm>
          <a:prstGeom prst="rect">
            <a:avLst/>
          </a:prstGeom>
        </p:spPr>
        <p:txBody>
          <a:bodyPr vert="horz" wrap="square" lIns="0" tIns="63500" rIns="0" bIns="0" rtlCol="0">
            <a:spAutoFit/>
          </a:bodyPr>
          <a:lstStyle/>
          <a:p>
            <a:pPr marL="324485" indent="-312420">
              <a:lnSpc>
                <a:spcPct val="100000"/>
              </a:lnSpc>
              <a:spcBef>
                <a:spcPts val="500"/>
              </a:spcBef>
              <a:buFont typeface="Arial MT"/>
              <a:buChar char="•"/>
              <a:tabLst>
                <a:tab pos="324485" algn="l"/>
                <a:tab pos="325120" algn="l"/>
              </a:tabLst>
            </a:pPr>
            <a:r>
              <a:rPr sz="1600" spc="-10" dirty="0">
                <a:latin typeface="Calibri"/>
                <a:cs typeface="Calibri"/>
              </a:rPr>
              <a:t>Recognition</a:t>
            </a:r>
            <a:r>
              <a:rPr sz="1600" spc="-15" dirty="0">
                <a:latin typeface="Calibri"/>
                <a:cs typeface="Calibri"/>
              </a:rPr>
              <a:t> </a:t>
            </a:r>
            <a:r>
              <a:rPr sz="1600" spc="-70" dirty="0">
                <a:latin typeface="Calibri"/>
                <a:cs typeface="Calibri"/>
              </a:rPr>
              <a:t>v.</a:t>
            </a:r>
            <a:r>
              <a:rPr sz="1600" spc="-10" dirty="0">
                <a:latin typeface="Calibri"/>
                <a:cs typeface="Calibri"/>
              </a:rPr>
              <a:t> Understanding </a:t>
            </a:r>
            <a:r>
              <a:rPr sz="1600" spc="-15" dirty="0">
                <a:latin typeface="Calibri"/>
                <a:cs typeface="Calibri"/>
              </a:rPr>
              <a:t>(like</a:t>
            </a:r>
            <a:r>
              <a:rPr sz="1600" spc="-10" dirty="0">
                <a:latin typeface="Calibri"/>
                <a:cs typeface="Calibri"/>
              </a:rPr>
              <a:t> </a:t>
            </a:r>
            <a:r>
              <a:rPr sz="1600" spc="-5" dirty="0">
                <a:latin typeface="Calibri"/>
                <a:cs typeface="Calibri"/>
              </a:rPr>
              <a:t>Speech)</a:t>
            </a:r>
            <a:endParaRPr sz="1600">
              <a:latin typeface="Calibri"/>
              <a:cs typeface="Calibri"/>
            </a:endParaRPr>
          </a:p>
          <a:p>
            <a:pPr marL="724535" lvl="1" indent="-297180">
              <a:lnSpc>
                <a:spcPct val="100000"/>
              </a:lnSpc>
              <a:spcBef>
                <a:spcPts val="400"/>
              </a:spcBef>
              <a:buFont typeface="Arial MT"/>
              <a:buChar char="–"/>
              <a:tabLst>
                <a:tab pos="724535" algn="l"/>
                <a:tab pos="725170" algn="l"/>
              </a:tabLst>
            </a:pPr>
            <a:r>
              <a:rPr sz="1600" spc="-10" dirty="0">
                <a:latin typeface="Calibri"/>
                <a:cs typeface="Calibri"/>
              </a:rPr>
              <a:t>Recognition </a:t>
            </a:r>
            <a:r>
              <a:rPr sz="1600" dirty="0">
                <a:latin typeface="Calibri"/>
                <a:cs typeface="Calibri"/>
              </a:rPr>
              <a:t>and</a:t>
            </a:r>
            <a:r>
              <a:rPr sz="1600" spc="-10" dirty="0">
                <a:latin typeface="Calibri"/>
                <a:cs typeface="Calibri"/>
              </a:rPr>
              <a:t> Understanding</a:t>
            </a:r>
            <a:r>
              <a:rPr sz="1600" spc="-5" dirty="0">
                <a:latin typeface="Calibri"/>
                <a:cs typeface="Calibri"/>
              </a:rPr>
              <a:t> of</a:t>
            </a:r>
            <a:r>
              <a:rPr sz="1600" spc="-10" dirty="0">
                <a:latin typeface="Calibri"/>
                <a:cs typeface="Calibri"/>
              </a:rPr>
              <a:t> </a:t>
            </a:r>
            <a:r>
              <a:rPr sz="1600" spc="-5" dirty="0">
                <a:latin typeface="Calibri"/>
                <a:cs typeface="Calibri"/>
              </a:rPr>
              <a:t>Objects in</a:t>
            </a:r>
            <a:r>
              <a:rPr sz="1600" spc="-10" dirty="0">
                <a:latin typeface="Calibri"/>
                <a:cs typeface="Calibri"/>
              </a:rPr>
              <a:t> </a:t>
            </a:r>
            <a:r>
              <a:rPr sz="1600" dirty="0">
                <a:latin typeface="Calibri"/>
                <a:cs typeface="Calibri"/>
              </a:rPr>
              <a:t>a</a:t>
            </a:r>
            <a:r>
              <a:rPr sz="1600" spc="-10" dirty="0">
                <a:latin typeface="Calibri"/>
                <a:cs typeface="Calibri"/>
              </a:rPr>
              <a:t> </a:t>
            </a:r>
            <a:r>
              <a:rPr sz="1600" spc="-5" dirty="0">
                <a:latin typeface="Calibri"/>
                <a:cs typeface="Calibri"/>
              </a:rPr>
              <a:t>scene</a:t>
            </a:r>
            <a:endParaRPr sz="1600">
              <a:latin typeface="Calibri"/>
              <a:cs typeface="Calibri"/>
            </a:endParaRPr>
          </a:p>
          <a:p>
            <a:pPr marL="1125220" lvl="2" indent="-198755">
              <a:lnSpc>
                <a:spcPct val="100000"/>
              </a:lnSpc>
              <a:spcBef>
                <a:spcPts val="400"/>
              </a:spcBef>
              <a:buFont typeface="Arial MT"/>
              <a:buChar char="•"/>
              <a:tabLst>
                <a:tab pos="1125220" algn="l"/>
              </a:tabLst>
            </a:pPr>
            <a:r>
              <a:rPr sz="1600" spc="-5" dirty="0">
                <a:latin typeface="Calibri"/>
                <a:cs typeface="Calibri"/>
              </a:rPr>
              <a:t>look</a:t>
            </a:r>
            <a:r>
              <a:rPr sz="1600" spc="-20" dirty="0">
                <a:latin typeface="Calibri"/>
                <a:cs typeface="Calibri"/>
              </a:rPr>
              <a:t> </a:t>
            </a:r>
            <a:r>
              <a:rPr sz="1600" spc="-10" dirty="0">
                <a:latin typeface="Calibri"/>
                <a:cs typeface="Calibri"/>
              </a:rPr>
              <a:t>around</a:t>
            </a:r>
            <a:r>
              <a:rPr sz="1600" spc="-20" dirty="0">
                <a:latin typeface="Calibri"/>
                <a:cs typeface="Calibri"/>
              </a:rPr>
              <a:t> </a:t>
            </a:r>
            <a:r>
              <a:rPr sz="1600" spc="-5" dirty="0">
                <a:latin typeface="Calibri"/>
                <a:cs typeface="Calibri"/>
              </a:rPr>
              <a:t>this</a:t>
            </a:r>
            <a:r>
              <a:rPr sz="1600" spc="-15" dirty="0">
                <a:latin typeface="Calibri"/>
                <a:cs typeface="Calibri"/>
              </a:rPr>
              <a:t> room</a:t>
            </a:r>
            <a:endParaRPr sz="1600">
              <a:latin typeface="Calibri"/>
              <a:cs typeface="Calibri"/>
            </a:endParaRPr>
          </a:p>
          <a:p>
            <a:pPr marL="1125220" lvl="2" indent="-198755">
              <a:lnSpc>
                <a:spcPct val="100000"/>
              </a:lnSpc>
              <a:spcBef>
                <a:spcPts val="400"/>
              </a:spcBef>
              <a:buFont typeface="Arial MT"/>
              <a:buChar char="•"/>
              <a:tabLst>
                <a:tab pos="1125220" algn="l"/>
              </a:tabLst>
            </a:pPr>
            <a:r>
              <a:rPr sz="1600" spc="-10" dirty="0">
                <a:latin typeface="Calibri"/>
                <a:cs typeface="Calibri"/>
              </a:rPr>
              <a:t>you</a:t>
            </a:r>
            <a:r>
              <a:rPr sz="1600" spc="-15" dirty="0">
                <a:latin typeface="Calibri"/>
                <a:cs typeface="Calibri"/>
              </a:rPr>
              <a:t> </a:t>
            </a:r>
            <a:r>
              <a:rPr sz="1600" spc="-5" dirty="0">
                <a:latin typeface="Calibri"/>
                <a:cs typeface="Calibri"/>
              </a:rPr>
              <a:t>can</a:t>
            </a:r>
            <a:r>
              <a:rPr sz="1600" spc="-15" dirty="0">
                <a:latin typeface="Calibri"/>
                <a:cs typeface="Calibri"/>
              </a:rPr>
              <a:t> </a:t>
            </a:r>
            <a:r>
              <a:rPr sz="1600" spc="-10" dirty="0">
                <a:latin typeface="Calibri"/>
                <a:cs typeface="Calibri"/>
              </a:rPr>
              <a:t>effortlessly</a:t>
            </a:r>
            <a:r>
              <a:rPr sz="1600" spc="-15" dirty="0">
                <a:latin typeface="Calibri"/>
                <a:cs typeface="Calibri"/>
              </a:rPr>
              <a:t> recognize </a:t>
            </a:r>
            <a:r>
              <a:rPr sz="1600" spc="-5" dirty="0">
                <a:latin typeface="Calibri"/>
                <a:cs typeface="Calibri"/>
              </a:rPr>
              <a:t>objects</a:t>
            </a:r>
            <a:endParaRPr sz="1600">
              <a:latin typeface="Calibri"/>
              <a:cs typeface="Calibri"/>
            </a:endParaRPr>
          </a:p>
          <a:p>
            <a:pPr marL="1125220" lvl="2" indent="-198755">
              <a:lnSpc>
                <a:spcPct val="100000"/>
              </a:lnSpc>
              <a:spcBef>
                <a:spcPts val="400"/>
              </a:spcBef>
              <a:buFont typeface="Arial MT"/>
              <a:buChar char="•"/>
              <a:tabLst>
                <a:tab pos="1125220" algn="l"/>
              </a:tabLst>
            </a:pPr>
            <a:r>
              <a:rPr sz="1600" spc="-5" dirty="0">
                <a:latin typeface="Calibri"/>
                <a:cs typeface="Calibri"/>
              </a:rPr>
              <a:t>human</a:t>
            </a:r>
            <a:r>
              <a:rPr sz="1600" spc="-10" dirty="0">
                <a:latin typeface="Calibri"/>
                <a:cs typeface="Calibri"/>
              </a:rPr>
              <a:t> brain </a:t>
            </a:r>
            <a:r>
              <a:rPr sz="1600" spc="-5" dirty="0">
                <a:latin typeface="Calibri"/>
                <a:cs typeface="Calibri"/>
              </a:rPr>
              <a:t>can</a:t>
            </a:r>
            <a:r>
              <a:rPr sz="1600" spc="-10" dirty="0">
                <a:latin typeface="Calibri"/>
                <a:cs typeface="Calibri"/>
              </a:rPr>
              <a:t> </a:t>
            </a:r>
            <a:r>
              <a:rPr sz="1600" spc="-5" dirty="0">
                <a:latin typeface="Calibri"/>
                <a:cs typeface="Calibri"/>
              </a:rPr>
              <a:t>map</a:t>
            </a:r>
            <a:r>
              <a:rPr sz="1600" spc="-10" dirty="0">
                <a:latin typeface="Calibri"/>
                <a:cs typeface="Calibri"/>
              </a:rPr>
              <a:t> </a:t>
            </a:r>
            <a:r>
              <a:rPr sz="1600" spc="-5" dirty="0">
                <a:latin typeface="Calibri"/>
                <a:cs typeface="Calibri"/>
              </a:rPr>
              <a:t>2d</a:t>
            </a:r>
            <a:r>
              <a:rPr sz="1600" spc="-10" dirty="0">
                <a:latin typeface="Calibri"/>
                <a:cs typeface="Calibri"/>
              </a:rPr>
              <a:t> </a:t>
            </a:r>
            <a:r>
              <a:rPr sz="1600" spc="-5" dirty="0">
                <a:latin typeface="Calibri"/>
                <a:cs typeface="Calibri"/>
              </a:rPr>
              <a:t>visual</a:t>
            </a:r>
            <a:r>
              <a:rPr sz="1600" spc="-10" dirty="0">
                <a:latin typeface="Calibri"/>
                <a:cs typeface="Calibri"/>
              </a:rPr>
              <a:t> image to </a:t>
            </a:r>
            <a:r>
              <a:rPr sz="1600" spc="-5" dirty="0">
                <a:latin typeface="Calibri"/>
                <a:cs typeface="Calibri"/>
              </a:rPr>
              <a:t>3d</a:t>
            </a:r>
            <a:r>
              <a:rPr sz="1600" spc="-10" dirty="0">
                <a:latin typeface="Calibri"/>
                <a:cs typeface="Calibri"/>
              </a:rPr>
              <a:t> </a:t>
            </a:r>
            <a:r>
              <a:rPr sz="1600" spc="-5" dirty="0">
                <a:latin typeface="Calibri"/>
                <a:cs typeface="Calibri"/>
              </a:rPr>
              <a:t>“map”</a:t>
            </a:r>
            <a:endParaRPr sz="1600">
              <a:latin typeface="Calibri"/>
              <a:cs typeface="Calibri"/>
            </a:endParaRPr>
          </a:p>
          <a:p>
            <a:pPr lvl="2">
              <a:lnSpc>
                <a:spcPct val="100000"/>
              </a:lnSpc>
              <a:buFont typeface="Arial MT"/>
              <a:buChar char="•"/>
            </a:pPr>
            <a:endParaRPr sz="1900">
              <a:latin typeface="Calibri"/>
              <a:cs typeface="Calibri"/>
            </a:endParaRPr>
          </a:p>
          <a:p>
            <a:pPr marL="324485" indent="-312420">
              <a:lnSpc>
                <a:spcPct val="100000"/>
              </a:lnSpc>
              <a:buFont typeface="Arial MT"/>
              <a:buChar char="•"/>
              <a:tabLst>
                <a:tab pos="324485" algn="l"/>
                <a:tab pos="325120" algn="l"/>
              </a:tabLst>
            </a:pPr>
            <a:r>
              <a:rPr sz="1600" spc="-15" dirty="0">
                <a:latin typeface="Calibri"/>
                <a:cs typeface="Calibri"/>
              </a:rPr>
              <a:t>Why</a:t>
            </a:r>
            <a:r>
              <a:rPr sz="1600" spc="-10" dirty="0">
                <a:latin typeface="Calibri"/>
                <a:cs typeface="Calibri"/>
              </a:rPr>
              <a:t> </a:t>
            </a:r>
            <a:r>
              <a:rPr sz="1600" spc="-5" dirty="0">
                <a:latin typeface="Calibri"/>
                <a:cs typeface="Calibri"/>
              </a:rPr>
              <a:t>is</a:t>
            </a:r>
            <a:r>
              <a:rPr sz="1600" spc="-10" dirty="0">
                <a:latin typeface="Calibri"/>
                <a:cs typeface="Calibri"/>
              </a:rPr>
              <a:t> </a:t>
            </a:r>
            <a:r>
              <a:rPr sz="1600" spc="-5" dirty="0">
                <a:latin typeface="Calibri"/>
                <a:cs typeface="Calibri"/>
              </a:rPr>
              <a:t>visual</a:t>
            </a:r>
            <a:r>
              <a:rPr sz="1600" spc="-10" dirty="0">
                <a:latin typeface="Calibri"/>
                <a:cs typeface="Calibri"/>
              </a:rPr>
              <a:t> recognition </a:t>
            </a:r>
            <a:r>
              <a:rPr sz="1600" dirty="0">
                <a:latin typeface="Calibri"/>
                <a:cs typeface="Calibri"/>
              </a:rPr>
              <a:t>a</a:t>
            </a:r>
            <a:r>
              <a:rPr sz="1600" spc="-5" dirty="0">
                <a:latin typeface="Calibri"/>
                <a:cs typeface="Calibri"/>
              </a:rPr>
              <a:t> </a:t>
            </a:r>
            <a:r>
              <a:rPr sz="1600" spc="-10" dirty="0">
                <a:latin typeface="Calibri"/>
                <a:cs typeface="Calibri"/>
              </a:rPr>
              <a:t>hard problem?</a:t>
            </a:r>
            <a:endParaRPr sz="1600">
              <a:latin typeface="Calibri"/>
              <a:cs typeface="Calibri"/>
            </a:endParaRPr>
          </a:p>
        </p:txBody>
      </p:sp>
      <p:sp>
        <p:nvSpPr>
          <p:cNvPr id="4" name="object 4"/>
          <p:cNvSpPr txBox="1"/>
          <p:nvPr/>
        </p:nvSpPr>
        <p:spPr>
          <a:xfrm>
            <a:off x="960662" y="5224752"/>
            <a:ext cx="6934200" cy="1153160"/>
          </a:xfrm>
          <a:prstGeom prst="rect">
            <a:avLst/>
          </a:prstGeom>
        </p:spPr>
        <p:txBody>
          <a:bodyPr vert="horz" wrap="square" lIns="0" tIns="63500" rIns="0" bIns="0" rtlCol="0">
            <a:spAutoFit/>
          </a:bodyPr>
          <a:lstStyle/>
          <a:p>
            <a:pPr marL="324485" indent="-312420">
              <a:lnSpc>
                <a:spcPct val="100000"/>
              </a:lnSpc>
              <a:spcBef>
                <a:spcPts val="500"/>
              </a:spcBef>
              <a:buFont typeface="Arial MT"/>
              <a:buChar char="•"/>
              <a:tabLst>
                <a:tab pos="324485" algn="l"/>
                <a:tab pos="325120" algn="l"/>
              </a:tabLst>
            </a:pPr>
            <a:r>
              <a:rPr sz="1600" spc="-5" dirty="0">
                <a:latin typeface="Calibri"/>
                <a:cs typeface="Calibri"/>
              </a:rPr>
              <a:t>Conclusion:</a:t>
            </a:r>
            <a:endParaRPr sz="1600">
              <a:latin typeface="Calibri"/>
              <a:cs typeface="Calibri"/>
            </a:endParaRPr>
          </a:p>
          <a:p>
            <a:pPr marL="724535" marR="5080" lvl="1" indent="-297180">
              <a:lnSpc>
                <a:spcPct val="100000"/>
              </a:lnSpc>
              <a:spcBef>
                <a:spcPts val="400"/>
              </a:spcBef>
              <a:buFont typeface="Arial MT"/>
              <a:buChar char="–"/>
              <a:tabLst>
                <a:tab pos="724535" algn="l"/>
                <a:tab pos="725170" algn="l"/>
              </a:tabLst>
            </a:pPr>
            <a:r>
              <a:rPr sz="1600" spc="-10" dirty="0">
                <a:latin typeface="Calibri"/>
                <a:cs typeface="Calibri"/>
              </a:rPr>
              <a:t>mostly</a:t>
            </a:r>
            <a:r>
              <a:rPr sz="1600" spc="-5" dirty="0">
                <a:latin typeface="Calibri"/>
                <a:cs typeface="Calibri"/>
              </a:rPr>
              <a:t> NO:</a:t>
            </a:r>
            <a:r>
              <a:rPr sz="1600" spc="10" dirty="0">
                <a:latin typeface="Calibri"/>
                <a:cs typeface="Calibri"/>
              </a:rPr>
              <a:t> </a:t>
            </a:r>
            <a:r>
              <a:rPr sz="1600" spc="-10" dirty="0">
                <a:latin typeface="Calibri"/>
                <a:cs typeface="Calibri"/>
              </a:rPr>
              <a:t>computers</a:t>
            </a:r>
            <a:r>
              <a:rPr sz="1600" dirty="0">
                <a:latin typeface="Calibri"/>
                <a:cs typeface="Calibri"/>
              </a:rPr>
              <a:t> </a:t>
            </a:r>
            <a:r>
              <a:rPr sz="1600" spc="-5" dirty="0">
                <a:latin typeface="Calibri"/>
                <a:cs typeface="Calibri"/>
              </a:rPr>
              <a:t>can only </a:t>
            </a:r>
            <a:r>
              <a:rPr sz="1600" spc="-15" dirty="0">
                <a:latin typeface="Calibri"/>
                <a:cs typeface="Calibri"/>
              </a:rPr>
              <a:t>“see”</a:t>
            </a:r>
            <a:r>
              <a:rPr sz="1600" dirty="0">
                <a:latin typeface="Calibri"/>
                <a:cs typeface="Calibri"/>
              </a:rPr>
              <a:t> </a:t>
            </a:r>
            <a:r>
              <a:rPr sz="1600" spc="-10" dirty="0">
                <a:latin typeface="Calibri"/>
                <a:cs typeface="Calibri"/>
              </a:rPr>
              <a:t>certain</a:t>
            </a:r>
            <a:r>
              <a:rPr sz="1600" spc="-5" dirty="0">
                <a:latin typeface="Calibri"/>
                <a:cs typeface="Calibri"/>
              </a:rPr>
              <a:t> types of</a:t>
            </a:r>
            <a:r>
              <a:rPr sz="1600" dirty="0">
                <a:latin typeface="Calibri"/>
                <a:cs typeface="Calibri"/>
              </a:rPr>
              <a:t> </a:t>
            </a:r>
            <a:r>
              <a:rPr sz="1600" spc="-5" dirty="0">
                <a:latin typeface="Calibri"/>
                <a:cs typeface="Calibri"/>
              </a:rPr>
              <a:t>objects under </a:t>
            </a:r>
            <a:r>
              <a:rPr sz="1600" spc="-10" dirty="0">
                <a:latin typeface="Calibri"/>
                <a:cs typeface="Calibri"/>
              </a:rPr>
              <a:t>limited </a:t>
            </a:r>
            <a:r>
              <a:rPr sz="1600" spc="-345" dirty="0">
                <a:latin typeface="Calibri"/>
                <a:cs typeface="Calibri"/>
              </a:rPr>
              <a:t> </a:t>
            </a:r>
            <a:r>
              <a:rPr sz="1600" spc="-10" dirty="0">
                <a:latin typeface="Calibri"/>
                <a:cs typeface="Calibri"/>
              </a:rPr>
              <a:t>circumstances</a:t>
            </a:r>
            <a:endParaRPr sz="1600">
              <a:latin typeface="Calibri"/>
              <a:cs typeface="Calibri"/>
            </a:endParaRPr>
          </a:p>
          <a:p>
            <a:pPr marL="724535" lvl="1" indent="-297180">
              <a:lnSpc>
                <a:spcPct val="100000"/>
              </a:lnSpc>
              <a:spcBef>
                <a:spcPts val="400"/>
              </a:spcBef>
              <a:buFont typeface="Arial MT"/>
              <a:buChar char="–"/>
              <a:tabLst>
                <a:tab pos="724535" algn="l"/>
                <a:tab pos="725170" algn="l"/>
              </a:tabLst>
            </a:pPr>
            <a:r>
              <a:rPr sz="1600" spc="-10" dirty="0">
                <a:latin typeface="Calibri"/>
                <a:cs typeface="Calibri"/>
              </a:rPr>
              <a:t>YES</a:t>
            </a:r>
            <a:r>
              <a:rPr sz="1600" dirty="0">
                <a:latin typeface="Calibri"/>
                <a:cs typeface="Calibri"/>
              </a:rPr>
              <a:t> </a:t>
            </a:r>
            <a:r>
              <a:rPr sz="1600" spc="-15" dirty="0">
                <a:latin typeface="Calibri"/>
                <a:cs typeface="Calibri"/>
              </a:rPr>
              <a:t>for</a:t>
            </a:r>
            <a:r>
              <a:rPr sz="1600" dirty="0">
                <a:latin typeface="Calibri"/>
                <a:cs typeface="Calibri"/>
              </a:rPr>
              <a:t> </a:t>
            </a:r>
            <a:r>
              <a:rPr sz="1600" spc="-10" dirty="0">
                <a:latin typeface="Calibri"/>
                <a:cs typeface="Calibri"/>
              </a:rPr>
              <a:t>certain</a:t>
            </a:r>
            <a:r>
              <a:rPr sz="1600" dirty="0">
                <a:latin typeface="Calibri"/>
                <a:cs typeface="Calibri"/>
              </a:rPr>
              <a:t> </a:t>
            </a:r>
            <a:r>
              <a:rPr sz="1600" spc="-10" dirty="0">
                <a:latin typeface="Calibri"/>
                <a:cs typeface="Calibri"/>
              </a:rPr>
              <a:t>constrained</a:t>
            </a:r>
            <a:r>
              <a:rPr sz="1600" dirty="0">
                <a:latin typeface="Calibri"/>
                <a:cs typeface="Calibri"/>
              </a:rPr>
              <a:t> </a:t>
            </a:r>
            <a:r>
              <a:rPr sz="1600" spc="-10" dirty="0">
                <a:latin typeface="Calibri"/>
                <a:cs typeface="Calibri"/>
              </a:rPr>
              <a:t>problems</a:t>
            </a:r>
            <a:r>
              <a:rPr sz="1600" dirty="0">
                <a:latin typeface="Calibri"/>
                <a:cs typeface="Calibri"/>
              </a:rPr>
              <a:t> </a:t>
            </a:r>
            <a:r>
              <a:rPr sz="1600" spc="-5" dirty="0">
                <a:latin typeface="Calibri"/>
                <a:cs typeface="Calibri"/>
              </a:rPr>
              <a:t>(e.g.,</a:t>
            </a:r>
            <a:r>
              <a:rPr sz="1600" spc="5" dirty="0">
                <a:latin typeface="Calibri"/>
                <a:cs typeface="Calibri"/>
              </a:rPr>
              <a:t> </a:t>
            </a:r>
            <a:r>
              <a:rPr sz="1600" spc="-10" dirty="0">
                <a:latin typeface="Calibri"/>
                <a:cs typeface="Calibri"/>
              </a:rPr>
              <a:t>face</a:t>
            </a:r>
            <a:r>
              <a:rPr sz="1600" dirty="0">
                <a:latin typeface="Calibri"/>
                <a:cs typeface="Calibri"/>
              </a:rPr>
              <a:t> </a:t>
            </a:r>
            <a:r>
              <a:rPr sz="1600" spc="-10" dirty="0">
                <a:latin typeface="Calibri"/>
                <a:cs typeface="Calibri"/>
              </a:rPr>
              <a:t>recognition)</a:t>
            </a:r>
            <a:endParaRPr sz="1600">
              <a:latin typeface="Calibri"/>
              <a:cs typeface="Calibri"/>
            </a:endParaRPr>
          </a:p>
        </p:txBody>
      </p:sp>
      <p:sp>
        <p:nvSpPr>
          <p:cNvPr id="5" name="object 5"/>
          <p:cNvSpPr/>
          <p:nvPr/>
        </p:nvSpPr>
        <p:spPr>
          <a:xfrm>
            <a:off x="1822319" y="3664079"/>
            <a:ext cx="457200" cy="596900"/>
          </a:xfrm>
          <a:custGeom>
            <a:avLst/>
            <a:gdLst/>
            <a:ahLst/>
            <a:cxnLst/>
            <a:rect l="l" t="t" r="r" b="b"/>
            <a:pathLst>
              <a:path w="457200" h="596900">
                <a:moveTo>
                  <a:pt x="317519" y="0"/>
                </a:moveTo>
                <a:lnTo>
                  <a:pt x="0" y="596879"/>
                </a:lnTo>
              </a:path>
              <a:path w="457200" h="596900">
                <a:moveTo>
                  <a:pt x="317519" y="0"/>
                </a:moveTo>
                <a:lnTo>
                  <a:pt x="457199" y="596879"/>
                </a:lnTo>
              </a:path>
              <a:path w="457200" h="596900">
                <a:moveTo>
                  <a:pt x="165239" y="298439"/>
                </a:moveTo>
                <a:lnTo>
                  <a:pt x="381239" y="298439"/>
                </a:lnTo>
              </a:path>
            </a:pathLst>
          </a:custGeom>
          <a:ln w="12599">
            <a:solidFill>
              <a:srgbClr val="000000"/>
            </a:solidFill>
          </a:ln>
        </p:spPr>
        <p:txBody>
          <a:bodyPr wrap="square" lIns="0" tIns="0" rIns="0" bIns="0" rtlCol="0"/>
          <a:lstStyle/>
          <a:p>
            <a:endParaRPr/>
          </a:p>
        </p:txBody>
      </p:sp>
      <p:sp>
        <p:nvSpPr>
          <p:cNvPr id="6" name="object 6"/>
          <p:cNvSpPr/>
          <p:nvPr/>
        </p:nvSpPr>
        <p:spPr>
          <a:xfrm>
            <a:off x="3448079" y="3828960"/>
            <a:ext cx="457200" cy="572135"/>
          </a:xfrm>
          <a:custGeom>
            <a:avLst/>
            <a:gdLst/>
            <a:ahLst/>
            <a:cxnLst/>
            <a:rect l="l" t="t" r="r" b="b"/>
            <a:pathLst>
              <a:path w="457200" h="572135">
                <a:moveTo>
                  <a:pt x="0" y="0"/>
                </a:moveTo>
                <a:lnTo>
                  <a:pt x="266759" y="571679"/>
                </a:lnTo>
              </a:path>
              <a:path w="457200" h="572135">
                <a:moveTo>
                  <a:pt x="456839" y="0"/>
                </a:moveTo>
                <a:lnTo>
                  <a:pt x="266399" y="571679"/>
                </a:lnTo>
              </a:path>
              <a:path w="457200" h="572135">
                <a:moveTo>
                  <a:pt x="380519" y="285839"/>
                </a:moveTo>
                <a:lnTo>
                  <a:pt x="113759" y="285839"/>
                </a:lnTo>
              </a:path>
            </a:pathLst>
          </a:custGeom>
          <a:ln w="38149">
            <a:solidFill>
              <a:srgbClr val="000000"/>
            </a:solidFill>
          </a:ln>
        </p:spPr>
        <p:txBody>
          <a:bodyPr wrap="square" lIns="0" tIns="0" rIns="0" bIns="0" rtlCol="0"/>
          <a:lstStyle/>
          <a:p>
            <a:endParaRPr/>
          </a:p>
        </p:txBody>
      </p:sp>
      <p:grpSp>
        <p:nvGrpSpPr>
          <p:cNvPr id="7" name="object 7"/>
          <p:cNvGrpSpPr/>
          <p:nvPr/>
        </p:nvGrpSpPr>
        <p:grpSpPr>
          <a:xfrm>
            <a:off x="4876929" y="3962529"/>
            <a:ext cx="609600" cy="558800"/>
            <a:chOff x="4876929" y="3962529"/>
            <a:chExt cx="609600" cy="558800"/>
          </a:xfrm>
        </p:grpSpPr>
        <p:sp>
          <p:nvSpPr>
            <p:cNvPr id="8" name="object 8"/>
            <p:cNvSpPr/>
            <p:nvPr/>
          </p:nvSpPr>
          <p:spPr>
            <a:xfrm>
              <a:off x="4927679" y="4013279"/>
              <a:ext cx="508000" cy="457200"/>
            </a:xfrm>
            <a:custGeom>
              <a:avLst/>
              <a:gdLst/>
              <a:ahLst/>
              <a:cxnLst/>
              <a:rect l="l" t="t" r="r" b="b"/>
              <a:pathLst>
                <a:path w="508000" h="457200">
                  <a:moveTo>
                    <a:pt x="0" y="456839"/>
                  </a:moveTo>
                  <a:lnTo>
                    <a:pt x="507959" y="50399"/>
                  </a:lnTo>
                </a:path>
                <a:path w="508000" h="457200">
                  <a:moveTo>
                    <a:pt x="0" y="0"/>
                  </a:moveTo>
                  <a:lnTo>
                    <a:pt x="507959" y="50759"/>
                  </a:lnTo>
                </a:path>
              </a:pathLst>
            </a:custGeom>
            <a:ln w="101499">
              <a:solidFill>
                <a:srgbClr val="000000"/>
              </a:solidFill>
            </a:ln>
          </p:spPr>
          <p:txBody>
            <a:bodyPr wrap="square" lIns="0" tIns="0" rIns="0" bIns="0" rtlCol="0"/>
            <a:lstStyle/>
            <a:p>
              <a:endParaRPr/>
            </a:p>
          </p:txBody>
        </p:sp>
        <p:sp>
          <p:nvSpPr>
            <p:cNvPr id="9" name="object 9"/>
            <p:cNvSpPr/>
            <p:nvPr/>
          </p:nvSpPr>
          <p:spPr>
            <a:xfrm>
              <a:off x="5130730" y="4089239"/>
              <a:ext cx="101600" cy="127635"/>
            </a:xfrm>
            <a:custGeom>
              <a:avLst/>
              <a:gdLst/>
              <a:ahLst/>
              <a:cxnLst/>
              <a:rect l="l" t="t" r="r" b="b"/>
              <a:pathLst>
                <a:path w="101600" h="127635">
                  <a:moveTo>
                    <a:pt x="0" y="0"/>
                  </a:moveTo>
                  <a:lnTo>
                    <a:pt x="101499" y="0"/>
                  </a:lnTo>
                  <a:lnTo>
                    <a:pt x="101499" y="127079"/>
                  </a:lnTo>
                  <a:lnTo>
                    <a:pt x="0" y="127079"/>
                  </a:lnTo>
                  <a:lnTo>
                    <a:pt x="0" y="0"/>
                  </a:lnTo>
                  <a:close/>
                </a:path>
              </a:pathLst>
            </a:custGeom>
            <a:solidFill>
              <a:srgbClr val="000000"/>
            </a:solidFill>
          </p:spPr>
          <p:txBody>
            <a:bodyPr wrap="square" lIns="0" tIns="0" rIns="0" bIns="0" rtlCol="0"/>
            <a:lstStyle/>
            <a:p>
              <a:endParaRPr/>
            </a:p>
          </p:txBody>
        </p:sp>
      </p:grpSp>
      <p:sp>
        <p:nvSpPr>
          <p:cNvPr id="10" name="object 10"/>
          <p:cNvSpPr/>
          <p:nvPr/>
        </p:nvSpPr>
        <p:spPr>
          <a:xfrm>
            <a:off x="2749680" y="4349879"/>
            <a:ext cx="292100" cy="228600"/>
          </a:xfrm>
          <a:custGeom>
            <a:avLst/>
            <a:gdLst/>
            <a:ahLst/>
            <a:cxnLst/>
            <a:rect l="l" t="t" r="r" b="b"/>
            <a:pathLst>
              <a:path w="292100" h="228600">
                <a:moveTo>
                  <a:pt x="0" y="228239"/>
                </a:moveTo>
                <a:lnTo>
                  <a:pt x="291959" y="62999"/>
                </a:lnTo>
              </a:path>
              <a:path w="292100" h="228600">
                <a:moveTo>
                  <a:pt x="0" y="0"/>
                </a:moveTo>
                <a:lnTo>
                  <a:pt x="291959" y="63359"/>
                </a:lnTo>
              </a:path>
              <a:path w="292100" h="228600">
                <a:moveTo>
                  <a:pt x="145799" y="37799"/>
                </a:moveTo>
                <a:lnTo>
                  <a:pt x="145799" y="139679"/>
                </a:lnTo>
              </a:path>
            </a:pathLst>
          </a:custGeom>
          <a:ln w="12599">
            <a:solidFill>
              <a:srgbClr val="000000"/>
            </a:solidFill>
          </a:ln>
        </p:spPr>
        <p:txBody>
          <a:bodyPr wrap="square" lIns="0" tIns="0" rIns="0" bIns="0" rtlCol="0"/>
          <a:lstStyle/>
          <a:p>
            <a:endParaRPr/>
          </a:p>
        </p:txBody>
      </p:sp>
      <p:sp>
        <p:nvSpPr>
          <p:cNvPr id="11" name="object 11"/>
          <p:cNvSpPr/>
          <p:nvPr/>
        </p:nvSpPr>
        <p:spPr>
          <a:xfrm>
            <a:off x="5721479" y="3435479"/>
            <a:ext cx="1511300" cy="1054100"/>
          </a:xfrm>
          <a:custGeom>
            <a:avLst/>
            <a:gdLst/>
            <a:ahLst/>
            <a:cxnLst/>
            <a:rect l="l" t="t" r="r" b="b"/>
            <a:pathLst>
              <a:path w="1511300" h="1054100">
                <a:moveTo>
                  <a:pt x="0" y="0"/>
                </a:moveTo>
                <a:lnTo>
                  <a:pt x="596879" y="1054079"/>
                </a:lnTo>
              </a:path>
              <a:path w="1511300" h="1054100">
                <a:moveTo>
                  <a:pt x="0" y="0"/>
                </a:moveTo>
                <a:lnTo>
                  <a:pt x="1511279" y="1054079"/>
                </a:lnTo>
              </a:path>
              <a:path w="1511300" h="1054100">
                <a:moveTo>
                  <a:pt x="304559" y="527039"/>
                </a:moveTo>
                <a:lnTo>
                  <a:pt x="749159" y="527039"/>
                </a:lnTo>
              </a:path>
            </a:pathLst>
          </a:custGeom>
          <a:ln w="12599">
            <a:solidFill>
              <a:srgbClr val="000000"/>
            </a:solidFill>
          </a:ln>
        </p:spPr>
        <p:txBody>
          <a:bodyPr wrap="square" lIns="0" tIns="0" rIns="0" bIns="0" rtlCol="0"/>
          <a:lstStyle/>
          <a:p>
            <a:endParaRPr/>
          </a:p>
        </p:txBody>
      </p:sp>
      <p:sp>
        <p:nvSpPr>
          <p:cNvPr id="12" name="object 12"/>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97</a:t>
            </a:fld>
            <a:endParaRPr dirty="0"/>
          </a:p>
        </p:txBody>
      </p:sp>
    </p:spTree>
    <p:extLst>
      <p:ext uri="{BB962C8B-B14F-4D97-AF65-F5344CB8AC3E}">
        <p14:creationId xmlns:p14="http://schemas.microsoft.com/office/powerpoint/2010/main" val="252998699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98</a:t>
            </a:fld>
            <a:endParaRPr dirty="0"/>
          </a:p>
        </p:txBody>
      </p:sp>
      <p:sp>
        <p:nvSpPr>
          <p:cNvPr id="2" name="object 2"/>
          <p:cNvSpPr txBox="1">
            <a:spLocks noGrp="1"/>
          </p:cNvSpPr>
          <p:nvPr>
            <p:ph type="title"/>
          </p:nvPr>
        </p:nvSpPr>
        <p:spPr>
          <a:xfrm>
            <a:off x="2257132" y="281940"/>
            <a:ext cx="5109845"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739BDC"/>
                </a:solidFill>
              </a:rPr>
              <a:t>Can</a:t>
            </a:r>
            <a:r>
              <a:rPr sz="2000" spc="-15" dirty="0">
                <a:solidFill>
                  <a:srgbClr val="739BDC"/>
                </a:solidFill>
              </a:rPr>
              <a:t> computers </a:t>
            </a:r>
            <a:r>
              <a:rPr sz="2000" spc="-5" dirty="0">
                <a:solidFill>
                  <a:srgbClr val="739BDC"/>
                </a:solidFill>
              </a:rPr>
              <a:t>plan</a:t>
            </a:r>
            <a:r>
              <a:rPr sz="2000" spc="-15" dirty="0">
                <a:solidFill>
                  <a:srgbClr val="739BDC"/>
                </a:solidFill>
              </a:rPr>
              <a:t> </a:t>
            </a:r>
            <a:r>
              <a:rPr sz="2000" dirty="0">
                <a:solidFill>
                  <a:srgbClr val="739BDC"/>
                </a:solidFill>
              </a:rPr>
              <a:t>and</a:t>
            </a:r>
            <a:r>
              <a:rPr sz="2000" spc="-15" dirty="0">
                <a:solidFill>
                  <a:srgbClr val="739BDC"/>
                </a:solidFill>
              </a:rPr>
              <a:t> </a:t>
            </a:r>
            <a:r>
              <a:rPr sz="2000" spc="-20" dirty="0">
                <a:solidFill>
                  <a:srgbClr val="739BDC"/>
                </a:solidFill>
              </a:rPr>
              <a:t>make</a:t>
            </a:r>
            <a:r>
              <a:rPr sz="2000" spc="-15" dirty="0">
                <a:solidFill>
                  <a:srgbClr val="739BDC"/>
                </a:solidFill>
              </a:rPr>
              <a:t> </a:t>
            </a:r>
            <a:r>
              <a:rPr sz="2000" spc="-5" dirty="0">
                <a:solidFill>
                  <a:srgbClr val="739BDC"/>
                </a:solidFill>
              </a:rPr>
              <a:t>optimal</a:t>
            </a:r>
            <a:r>
              <a:rPr sz="2000" spc="-15" dirty="0">
                <a:solidFill>
                  <a:srgbClr val="739BDC"/>
                </a:solidFill>
              </a:rPr>
              <a:t> </a:t>
            </a:r>
            <a:r>
              <a:rPr sz="2000" spc="-5" dirty="0">
                <a:solidFill>
                  <a:srgbClr val="739BDC"/>
                </a:solidFill>
              </a:rPr>
              <a:t>decisions?</a:t>
            </a:r>
            <a:endParaRPr sz="2000"/>
          </a:p>
        </p:txBody>
      </p:sp>
      <p:sp>
        <p:nvSpPr>
          <p:cNvPr id="3" name="object 3"/>
          <p:cNvSpPr txBox="1"/>
          <p:nvPr/>
        </p:nvSpPr>
        <p:spPr>
          <a:xfrm>
            <a:off x="712982" y="803536"/>
            <a:ext cx="7517765" cy="4674235"/>
          </a:xfrm>
          <a:prstGeom prst="rect">
            <a:avLst/>
          </a:prstGeom>
        </p:spPr>
        <p:txBody>
          <a:bodyPr vert="horz" wrap="square" lIns="0" tIns="64135" rIns="0" bIns="0" rtlCol="0">
            <a:spAutoFit/>
          </a:bodyPr>
          <a:lstStyle/>
          <a:p>
            <a:pPr marL="324485" indent="-312420">
              <a:lnSpc>
                <a:spcPct val="100000"/>
              </a:lnSpc>
              <a:spcBef>
                <a:spcPts val="505"/>
              </a:spcBef>
              <a:buFont typeface="Arial MT"/>
              <a:buChar char="•"/>
              <a:tabLst>
                <a:tab pos="324485" algn="l"/>
                <a:tab pos="325120" algn="l"/>
              </a:tabLst>
            </a:pPr>
            <a:r>
              <a:rPr sz="1600" spc="-10" dirty="0">
                <a:latin typeface="Calibri"/>
                <a:cs typeface="Calibri"/>
              </a:rPr>
              <a:t>Intelligence</a:t>
            </a:r>
            <a:endParaRPr sz="1600">
              <a:latin typeface="Calibri"/>
              <a:cs typeface="Calibri"/>
            </a:endParaRPr>
          </a:p>
          <a:p>
            <a:pPr marL="724535" lvl="1" indent="-295910">
              <a:lnSpc>
                <a:spcPct val="100000"/>
              </a:lnSpc>
              <a:spcBef>
                <a:spcPts val="359"/>
              </a:spcBef>
              <a:buFont typeface="Arial MT"/>
              <a:buChar char="–"/>
              <a:tabLst>
                <a:tab pos="724535" algn="l"/>
                <a:tab pos="725170" algn="l"/>
              </a:tabLst>
            </a:pPr>
            <a:r>
              <a:rPr sz="1400" spc="-10" dirty="0">
                <a:latin typeface="Calibri"/>
                <a:cs typeface="Calibri"/>
              </a:rPr>
              <a:t>involves</a:t>
            </a:r>
            <a:r>
              <a:rPr sz="1400" spc="-15" dirty="0">
                <a:latin typeface="Calibri"/>
                <a:cs typeface="Calibri"/>
              </a:rPr>
              <a:t> </a:t>
            </a:r>
            <a:r>
              <a:rPr sz="1400" spc="-5" dirty="0">
                <a:latin typeface="Calibri"/>
                <a:cs typeface="Calibri"/>
              </a:rPr>
              <a:t>solving</a:t>
            </a:r>
            <a:r>
              <a:rPr sz="1400" spc="-10" dirty="0">
                <a:latin typeface="Calibri"/>
                <a:cs typeface="Calibri"/>
              </a:rPr>
              <a:t> problems </a:t>
            </a:r>
            <a:r>
              <a:rPr sz="1400" dirty="0">
                <a:latin typeface="Calibri"/>
                <a:cs typeface="Calibri"/>
              </a:rPr>
              <a:t>and</a:t>
            </a:r>
            <a:r>
              <a:rPr sz="1400" spc="-15" dirty="0">
                <a:latin typeface="Calibri"/>
                <a:cs typeface="Calibri"/>
              </a:rPr>
              <a:t> </a:t>
            </a:r>
            <a:r>
              <a:rPr sz="1400" spc="-5" dirty="0">
                <a:latin typeface="Calibri"/>
                <a:cs typeface="Calibri"/>
              </a:rPr>
              <a:t>making</a:t>
            </a:r>
            <a:r>
              <a:rPr sz="1400" spc="-10" dirty="0">
                <a:latin typeface="Calibri"/>
                <a:cs typeface="Calibri"/>
              </a:rPr>
              <a:t> </a:t>
            </a:r>
            <a:r>
              <a:rPr sz="1400" spc="-5" dirty="0">
                <a:latin typeface="Calibri"/>
                <a:cs typeface="Calibri"/>
              </a:rPr>
              <a:t>decisions</a:t>
            </a:r>
            <a:r>
              <a:rPr sz="1400" spc="-10" dirty="0">
                <a:latin typeface="Calibri"/>
                <a:cs typeface="Calibri"/>
              </a:rPr>
              <a:t> </a:t>
            </a:r>
            <a:r>
              <a:rPr sz="1400" dirty="0">
                <a:latin typeface="Calibri"/>
                <a:cs typeface="Calibri"/>
              </a:rPr>
              <a:t>and</a:t>
            </a:r>
            <a:r>
              <a:rPr sz="1400" spc="-15" dirty="0">
                <a:latin typeface="Calibri"/>
                <a:cs typeface="Calibri"/>
              </a:rPr>
              <a:t> </a:t>
            </a:r>
            <a:r>
              <a:rPr sz="1400" spc="-5" dirty="0">
                <a:latin typeface="Calibri"/>
                <a:cs typeface="Calibri"/>
              </a:rPr>
              <a:t>plans</a:t>
            </a:r>
            <a:endParaRPr sz="1400">
              <a:latin typeface="Calibri"/>
              <a:cs typeface="Calibri"/>
            </a:endParaRPr>
          </a:p>
          <a:p>
            <a:pPr marL="724535" lvl="1" indent="-295910">
              <a:lnSpc>
                <a:spcPct val="100000"/>
              </a:lnSpc>
              <a:spcBef>
                <a:spcPts val="345"/>
              </a:spcBef>
              <a:buFont typeface="Arial MT"/>
              <a:buChar char="–"/>
              <a:tabLst>
                <a:tab pos="724535" algn="l"/>
                <a:tab pos="725170" algn="l"/>
              </a:tabLst>
            </a:pPr>
            <a:r>
              <a:rPr sz="1400" spc="-5" dirty="0">
                <a:latin typeface="Calibri"/>
                <a:cs typeface="Calibri"/>
              </a:rPr>
              <a:t>e.g.,</a:t>
            </a:r>
            <a:r>
              <a:rPr sz="1400" spc="-10" dirty="0">
                <a:latin typeface="Calibri"/>
                <a:cs typeface="Calibri"/>
              </a:rPr>
              <a:t> you</a:t>
            </a:r>
            <a:r>
              <a:rPr sz="1400" spc="-5" dirty="0">
                <a:latin typeface="Calibri"/>
                <a:cs typeface="Calibri"/>
              </a:rPr>
              <a:t> </a:t>
            </a:r>
            <a:r>
              <a:rPr sz="1400" spc="-10" dirty="0">
                <a:latin typeface="Calibri"/>
                <a:cs typeface="Calibri"/>
              </a:rPr>
              <a:t>want</a:t>
            </a:r>
            <a:r>
              <a:rPr sz="1400" spc="-5" dirty="0">
                <a:latin typeface="Calibri"/>
                <a:cs typeface="Calibri"/>
              </a:rPr>
              <a:t> </a:t>
            </a:r>
            <a:r>
              <a:rPr sz="1400" spc="-10" dirty="0">
                <a:latin typeface="Calibri"/>
                <a:cs typeface="Calibri"/>
              </a:rPr>
              <a:t>to</a:t>
            </a:r>
            <a:r>
              <a:rPr sz="1400" spc="-5" dirty="0">
                <a:latin typeface="Calibri"/>
                <a:cs typeface="Calibri"/>
              </a:rPr>
              <a:t> </a:t>
            </a:r>
            <a:r>
              <a:rPr sz="1400" spc="-20" dirty="0">
                <a:latin typeface="Calibri"/>
                <a:cs typeface="Calibri"/>
              </a:rPr>
              <a:t>take</a:t>
            </a:r>
            <a:r>
              <a:rPr sz="1400" spc="-5" dirty="0">
                <a:latin typeface="Calibri"/>
                <a:cs typeface="Calibri"/>
              </a:rPr>
              <a:t> </a:t>
            </a:r>
            <a:r>
              <a:rPr sz="1400" dirty="0">
                <a:latin typeface="Calibri"/>
                <a:cs typeface="Calibri"/>
              </a:rPr>
              <a:t>a</a:t>
            </a:r>
            <a:r>
              <a:rPr sz="1400" spc="-5" dirty="0">
                <a:latin typeface="Calibri"/>
                <a:cs typeface="Calibri"/>
              </a:rPr>
              <a:t> </a:t>
            </a:r>
            <a:r>
              <a:rPr sz="1400" spc="-10" dirty="0">
                <a:latin typeface="Calibri"/>
                <a:cs typeface="Calibri"/>
              </a:rPr>
              <a:t>holiday</a:t>
            </a:r>
            <a:r>
              <a:rPr sz="1400" spc="-5" dirty="0">
                <a:latin typeface="Calibri"/>
                <a:cs typeface="Calibri"/>
              </a:rPr>
              <a:t> in </a:t>
            </a:r>
            <a:r>
              <a:rPr sz="1400" spc="-10" dirty="0">
                <a:latin typeface="Calibri"/>
                <a:cs typeface="Calibri"/>
              </a:rPr>
              <a:t>Brazil</a:t>
            </a:r>
            <a:endParaRPr sz="1400">
              <a:latin typeface="Calibri"/>
              <a:cs typeface="Calibri"/>
            </a:endParaRPr>
          </a:p>
          <a:p>
            <a:pPr marL="1125220" lvl="2" indent="-201930">
              <a:lnSpc>
                <a:spcPct val="100000"/>
              </a:lnSpc>
              <a:spcBef>
                <a:spcPts val="350"/>
              </a:spcBef>
              <a:buFont typeface="Arial MT"/>
              <a:buChar char="•"/>
              <a:tabLst>
                <a:tab pos="1124585" algn="l"/>
                <a:tab pos="1125220" algn="l"/>
              </a:tabLst>
            </a:pPr>
            <a:r>
              <a:rPr sz="1400" spc="-10" dirty="0">
                <a:latin typeface="Calibri"/>
                <a:cs typeface="Calibri"/>
              </a:rPr>
              <a:t>you</a:t>
            </a:r>
            <a:r>
              <a:rPr sz="1400" spc="-15" dirty="0">
                <a:latin typeface="Calibri"/>
                <a:cs typeface="Calibri"/>
              </a:rPr>
              <a:t> </a:t>
            </a:r>
            <a:r>
              <a:rPr sz="1400" spc="-5" dirty="0">
                <a:latin typeface="Calibri"/>
                <a:cs typeface="Calibri"/>
              </a:rPr>
              <a:t>need</a:t>
            </a:r>
            <a:r>
              <a:rPr sz="1400" spc="-10" dirty="0">
                <a:latin typeface="Calibri"/>
                <a:cs typeface="Calibri"/>
              </a:rPr>
              <a:t> to </a:t>
            </a:r>
            <a:r>
              <a:rPr sz="1400" spc="-5" dirty="0">
                <a:latin typeface="Calibri"/>
                <a:cs typeface="Calibri"/>
              </a:rPr>
              <a:t>decide</a:t>
            </a:r>
            <a:r>
              <a:rPr sz="1400" spc="-10" dirty="0">
                <a:latin typeface="Calibri"/>
                <a:cs typeface="Calibri"/>
              </a:rPr>
              <a:t> </a:t>
            </a:r>
            <a:r>
              <a:rPr sz="1400" spc="-5" dirty="0">
                <a:latin typeface="Calibri"/>
                <a:cs typeface="Calibri"/>
              </a:rPr>
              <a:t>on</a:t>
            </a:r>
            <a:r>
              <a:rPr sz="1400" spc="-10" dirty="0">
                <a:latin typeface="Calibri"/>
                <a:cs typeface="Calibri"/>
              </a:rPr>
              <a:t> dates, flights</a:t>
            </a:r>
            <a:endParaRPr sz="1400">
              <a:latin typeface="Calibri"/>
              <a:cs typeface="Calibri"/>
            </a:endParaRPr>
          </a:p>
          <a:p>
            <a:pPr marL="1125220" lvl="2" indent="-201930">
              <a:lnSpc>
                <a:spcPct val="100000"/>
              </a:lnSpc>
              <a:spcBef>
                <a:spcPts val="350"/>
              </a:spcBef>
              <a:buFont typeface="Arial MT"/>
              <a:buChar char="•"/>
              <a:tabLst>
                <a:tab pos="1124585" algn="l"/>
                <a:tab pos="1125220" algn="l"/>
              </a:tabLst>
            </a:pPr>
            <a:r>
              <a:rPr sz="1400" spc="-10" dirty="0">
                <a:latin typeface="Calibri"/>
                <a:cs typeface="Calibri"/>
              </a:rPr>
              <a:t>you</a:t>
            </a:r>
            <a:r>
              <a:rPr sz="1400" spc="-15" dirty="0">
                <a:latin typeface="Calibri"/>
                <a:cs typeface="Calibri"/>
              </a:rPr>
              <a:t> </a:t>
            </a:r>
            <a:r>
              <a:rPr sz="1400" spc="-5" dirty="0">
                <a:latin typeface="Calibri"/>
                <a:cs typeface="Calibri"/>
              </a:rPr>
              <a:t>need</a:t>
            </a:r>
            <a:r>
              <a:rPr sz="1400" spc="-15" dirty="0">
                <a:latin typeface="Calibri"/>
                <a:cs typeface="Calibri"/>
              </a:rPr>
              <a:t> </a:t>
            </a:r>
            <a:r>
              <a:rPr sz="1400" spc="-10" dirty="0">
                <a:latin typeface="Calibri"/>
                <a:cs typeface="Calibri"/>
              </a:rPr>
              <a:t>to get</a:t>
            </a:r>
            <a:r>
              <a:rPr sz="1400" spc="-15" dirty="0">
                <a:latin typeface="Calibri"/>
                <a:cs typeface="Calibri"/>
              </a:rPr>
              <a:t> </a:t>
            </a:r>
            <a:r>
              <a:rPr sz="1400" spc="-10" dirty="0">
                <a:latin typeface="Calibri"/>
                <a:cs typeface="Calibri"/>
              </a:rPr>
              <a:t>to</a:t>
            </a:r>
            <a:r>
              <a:rPr sz="1400" spc="-15" dirty="0">
                <a:latin typeface="Calibri"/>
                <a:cs typeface="Calibri"/>
              </a:rPr>
              <a:t> </a:t>
            </a:r>
            <a:r>
              <a:rPr sz="1400" spc="-5" dirty="0">
                <a:latin typeface="Calibri"/>
                <a:cs typeface="Calibri"/>
              </a:rPr>
              <a:t>the</a:t>
            </a:r>
            <a:r>
              <a:rPr sz="1400" spc="-10" dirty="0">
                <a:latin typeface="Calibri"/>
                <a:cs typeface="Calibri"/>
              </a:rPr>
              <a:t> </a:t>
            </a:r>
            <a:r>
              <a:rPr sz="1400" dirty="0">
                <a:latin typeface="Calibri"/>
                <a:cs typeface="Calibri"/>
              </a:rPr>
              <a:t>airport,</a:t>
            </a:r>
            <a:r>
              <a:rPr sz="1400" spc="-15" dirty="0">
                <a:latin typeface="Calibri"/>
                <a:cs typeface="Calibri"/>
              </a:rPr>
              <a:t> </a:t>
            </a:r>
            <a:r>
              <a:rPr sz="1400" spc="-10" dirty="0">
                <a:latin typeface="Calibri"/>
                <a:cs typeface="Calibri"/>
              </a:rPr>
              <a:t>etc</a:t>
            </a:r>
            <a:endParaRPr sz="1400">
              <a:latin typeface="Calibri"/>
              <a:cs typeface="Calibri"/>
            </a:endParaRPr>
          </a:p>
          <a:p>
            <a:pPr marL="1125220" lvl="2" indent="-201930">
              <a:lnSpc>
                <a:spcPct val="100000"/>
              </a:lnSpc>
              <a:spcBef>
                <a:spcPts val="350"/>
              </a:spcBef>
              <a:buFont typeface="Arial MT"/>
              <a:buChar char="•"/>
              <a:tabLst>
                <a:tab pos="1124585" algn="l"/>
                <a:tab pos="1125220" algn="l"/>
              </a:tabLst>
            </a:pPr>
            <a:r>
              <a:rPr sz="1400" spc="-10" dirty="0">
                <a:latin typeface="Calibri"/>
                <a:cs typeface="Calibri"/>
              </a:rPr>
              <a:t>involves</a:t>
            </a:r>
            <a:r>
              <a:rPr sz="1400" spc="-15" dirty="0">
                <a:latin typeface="Calibri"/>
                <a:cs typeface="Calibri"/>
              </a:rPr>
              <a:t> </a:t>
            </a:r>
            <a:r>
              <a:rPr sz="1400" dirty="0">
                <a:latin typeface="Calibri"/>
                <a:cs typeface="Calibri"/>
              </a:rPr>
              <a:t>a</a:t>
            </a:r>
            <a:r>
              <a:rPr sz="1400" spc="-15" dirty="0">
                <a:latin typeface="Calibri"/>
                <a:cs typeface="Calibri"/>
              </a:rPr>
              <a:t> </a:t>
            </a:r>
            <a:r>
              <a:rPr sz="1400" spc="-5" dirty="0">
                <a:latin typeface="Calibri"/>
                <a:cs typeface="Calibri"/>
              </a:rPr>
              <a:t>sequence</a:t>
            </a:r>
            <a:r>
              <a:rPr sz="1400" spc="-15" dirty="0">
                <a:latin typeface="Calibri"/>
                <a:cs typeface="Calibri"/>
              </a:rPr>
              <a:t> </a:t>
            </a:r>
            <a:r>
              <a:rPr sz="1400" spc="-5" dirty="0">
                <a:latin typeface="Calibri"/>
                <a:cs typeface="Calibri"/>
              </a:rPr>
              <a:t>of</a:t>
            </a:r>
            <a:r>
              <a:rPr sz="1400" spc="-15" dirty="0">
                <a:latin typeface="Calibri"/>
                <a:cs typeface="Calibri"/>
              </a:rPr>
              <a:t> </a:t>
            </a:r>
            <a:r>
              <a:rPr sz="1400" spc="-5" dirty="0">
                <a:latin typeface="Calibri"/>
                <a:cs typeface="Calibri"/>
              </a:rPr>
              <a:t>decisions,</a:t>
            </a:r>
            <a:r>
              <a:rPr sz="1400" spc="-10" dirty="0">
                <a:latin typeface="Calibri"/>
                <a:cs typeface="Calibri"/>
              </a:rPr>
              <a:t> </a:t>
            </a:r>
            <a:r>
              <a:rPr sz="1400" spc="-5" dirty="0">
                <a:latin typeface="Calibri"/>
                <a:cs typeface="Calibri"/>
              </a:rPr>
              <a:t>plans,</a:t>
            </a:r>
            <a:r>
              <a:rPr sz="1400" spc="-15" dirty="0">
                <a:latin typeface="Calibri"/>
                <a:cs typeface="Calibri"/>
              </a:rPr>
              <a:t> </a:t>
            </a:r>
            <a:r>
              <a:rPr sz="1400" dirty="0">
                <a:latin typeface="Calibri"/>
                <a:cs typeface="Calibri"/>
              </a:rPr>
              <a:t>and</a:t>
            </a:r>
            <a:r>
              <a:rPr sz="1400" spc="-15" dirty="0">
                <a:latin typeface="Calibri"/>
                <a:cs typeface="Calibri"/>
              </a:rPr>
              <a:t> </a:t>
            </a:r>
            <a:r>
              <a:rPr sz="1400" dirty="0">
                <a:latin typeface="Calibri"/>
                <a:cs typeface="Calibri"/>
              </a:rPr>
              <a:t>actions</a:t>
            </a:r>
            <a:endParaRPr sz="1400">
              <a:latin typeface="Calibri"/>
              <a:cs typeface="Calibri"/>
            </a:endParaRPr>
          </a:p>
          <a:p>
            <a:pPr lvl="2">
              <a:lnSpc>
                <a:spcPct val="100000"/>
              </a:lnSpc>
              <a:spcBef>
                <a:spcPts val="55"/>
              </a:spcBef>
              <a:buFont typeface="Arial MT"/>
              <a:buChar char="•"/>
            </a:pPr>
            <a:endParaRPr sz="1650">
              <a:latin typeface="Calibri"/>
              <a:cs typeface="Calibri"/>
            </a:endParaRPr>
          </a:p>
          <a:p>
            <a:pPr marL="324485" indent="-312420">
              <a:lnSpc>
                <a:spcPct val="100000"/>
              </a:lnSpc>
              <a:buFont typeface="Arial MT"/>
              <a:buChar char="•"/>
              <a:tabLst>
                <a:tab pos="324485" algn="l"/>
                <a:tab pos="325120" algn="l"/>
              </a:tabLst>
            </a:pPr>
            <a:r>
              <a:rPr sz="1600" spc="-10" dirty="0">
                <a:latin typeface="Calibri"/>
                <a:cs typeface="Calibri"/>
              </a:rPr>
              <a:t>What</a:t>
            </a:r>
            <a:r>
              <a:rPr sz="1600" spc="-25" dirty="0">
                <a:latin typeface="Calibri"/>
                <a:cs typeface="Calibri"/>
              </a:rPr>
              <a:t> </a:t>
            </a:r>
            <a:r>
              <a:rPr sz="1600" spc="-15" dirty="0">
                <a:latin typeface="Calibri"/>
                <a:cs typeface="Calibri"/>
              </a:rPr>
              <a:t>makes</a:t>
            </a:r>
            <a:r>
              <a:rPr sz="1600" spc="-20" dirty="0">
                <a:latin typeface="Calibri"/>
                <a:cs typeface="Calibri"/>
              </a:rPr>
              <a:t> </a:t>
            </a:r>
            <a:r>
              <a:rPr sz="1600" spc="-5" dirty="0">
                <a:latin typeface="Calibri"/>
                <a:cs typeface="Calibri"/>
              </a:rPr>
              <a:t>planning</a:t>
            </a:r>
            <a:r>
              <a:rPr sz="1600" spc="-25" dirty="0">
                <a:latin typeface="Calibri"/>
                <a:cs typeface="Calibri"/>
              </a:rPr>
              <a:t> </a:t>
            </a:r>
            <a:r>
              <a:rPr sz="1600" spc="-10" dirty="0">
                <a:latin typeface="Calibri"/>
                <a:cs typeface="Calibri"/>
              </a:rPr>
              <a:t>hard?</a:t>
            </a:r>
            <a:endParaRPr sz="1600">
              <a:latin typeface="Calibri"/>
              <a:cs typeface="Calibri"/>
            </a:endParaRPr>
          </a:p>
          <a:p>
            <a:pPr marL="724535" lvl="1" indent="-295910">
              <a:lnSpc>
                <a:spcPct val="100000"/>
              </a:lnSpc>
              <a:spcBef>
                <a:spcPts val="360"/>
              </a:spcBef>
              <a:buFont typeface="Arial MT"/>
              <a:buChar char="–"/>
              <a:tabLst>
                <a:tab pos="724535" algn="l"/>
                <a:tab pos="725170" algn="l"/>
              </a:tabLst>
            </a:pPr>
            <a:r>
              <a:rPr sz="1400" spc="-5" dirty="0">
                <a:latin typeface="Calibri"/>
                <a:cs typeface="Calibri"/>
              </a:rPr>
              <a:t>the</a:t>
            </a:r>
            <a:r>
              <a:rPr sz="1400" spc="-10" dirty="0">
                <a:latin typeface="Calibri"/>
                <a:cs typeface="Calibri"/>
              </a:rPr>
              <a:t> world</a:t>
            </a:r>
            <a:r>
              <a:rPr sz="1400" spc="-5" dirty="0">
                <a:latin typeface="Calibri"/>
                <a:cs typeface="Calibri"/>
              </a:rPr>
              <a:t> is</a:t>
            </a:r>
            <a:r>
              <a:rPr sz="1400" spc="-10" dirty="0">
                <a:latin typeface="Calibri"/>
                <a:cs typeface="Calibri"/>
              </a:rPr>
              <a:t> </a:t>
            </a:r>
            <a:r>
              <a:rPr sz="1400" spc="-5" dirty="0">
                <a:latin typeface="Calibri"/>
                <a:cs typeface="Calibri"/>
              </a:rPr>
              <a:t>not </a:t>
            </a:r>
            <a:r>
              <a:rPr sz="1400" spc="-10" dirty="0">
                <a:latin typeface="Calibri"/>
                <a:cs typeface="Calibri"/>
              </a:rPr>
              <a:t>predictable:</a:t>
            </a:r>
            <a:endParaRPr sz="1400">
              <a:latin typeface="Calibri"/>
              <a:cs typeface="Calibri"/>
            </a:endParaRPr>
          </a:p>
          <a:p>
            <a:pPr marL="1125220" lvl="2" indent="-201930">
              <a:lnSpc>
                <a:spcPct val="100000"/>
              </a:lnSpc>
              <a:spcBef>
                <a:spcPts val="350"/>
              </a:spcBef>
              <a:buFont typeface="Arial MT"/>
              <a:buChar char="•"/>
              <a:tabLst>
                <a:tab pos="1124585" algn="l"/>
                <a:tab pos="1125220" algn="l"/>
              </a:tabLst>
            </a:pPr>
            <a:r>
              <a:rPr sz="1400" spc="-10" dirty="0">
                <a:latin typeface="Calibri"/>
                <a:cs typeface="Calibri"/>
              </a:rPr>
              <a:t>your</a:t>
            </a:r>
            <a:r>
              <a:rPr sz="1400" spc="-5" dirty="0">
                <a:latin typeface="Calibri"/>
                <a:cs typeface="Calibri"/>
              </a:rPr>
              <a:t> </a:t>
            </a:r>
            <a:r>
              <a:rPr sz="1400" spc="-10" dirty="0">
                <a:latin typeface="Calibri"/>
                <a:cs typeface="Calibri"/>
              </a:rPr>
              <a:t>flight</a:t>
            </a:r>
            <a:r>
              <a:rPr sz="1400" spc="-5" dirty="0">
                <a:latin typeface="Calibri"/>
                <a:cs typeface="Calibri"/>
              </a:rPr>
              <a:t> is canceled or </a:t>
            </a:r>
            <a:r>
              <a:rPr sz="1400" spc="-20" dirty="0">
                <a:latin typeface="Calibri"/>
                <a:cs typeface="Calibri"/>
              </a:rPr>
              <a:t>there’s</a:t>
            </a:r>
            <a:r>
              <a:rPr sz="1400" dirty="0">
                <a:latin typeface="Calibri"/>
                <a:cs typeface="Calibri"/>
              </a:rPr>
              <a:t> a</a:t>
            </a:r>
            <a:r>
              <a:rPr sz="1400" spc="-5" dirty="0">
                <a:latin typeface="Calibri"/>
                <a:cs typeface="Calibri"/>
              </a:rPr>
              <a:t> </a:t>
            </a:r>
            <a:r>
              <a:rPr sz="1400" spc="-10" dirty="0">
                <a:latin typeface="Calibri"/>
                <a:cs typeface="Calibri"/>
              </a:rPr>
              <a:t>backup</a:t>
            </a:r>
            <a:r>
              <a:rPr sz="1400" spc="-5" dirty="0">
                <a:latin typeface="Calibri"/>
                <a:cs typeface="Calibri"/>
              </a:rPr>
              <a:t> on the 405</a:t>
            </a:r>
            <a:endParaRPr sz="1400">
              <a:latin typeface="Calibri"/>
              <a:cs typeface="Calibri"/>
            </a:endParaRPr>
          </a:p>
          <a:p>
            <a:pPr marL="724535" lvl="1" indent="-295910">
              <a:lnSpc>
                <a:spcPct val="100000"/>
              </a:lnSpc>
              <a:spcBef>
                <a:spcPts val="345"/>
              </a:spcBef>
              <a:buFont typeface="Arial MT"/>
              <a:buChar char="–"/>
              <a:tabLst>
                <a:tab pos="724535" algn="l"/>
                <a:tab pos="725170" algn="l"/>
              </a:tabLst>
            </a:pPr>
            <a:r>
              <a:rPr sz="1400" spc="-10" dirty="0">
                <a:latin typeface="Calibri"/>
                <a:cs typeface="Calibri"/>
              </a:rPr>
              <a:t>there are</a:t>
            </a:r>
            <a:r>
              <a:rPr sz="1400" spc="-5" dirty="0">
                <a:latin typeface="Calibri"/>
                <a:cs typeface="Calibri"/>
              </a:rPr>
              <a:t> </a:t>
            </a:r>
            <a:r>
              <a:rPr sz="1400" dirty="0">
                <a:latin typeface="Calibri"/>
                <a:cs typeface="Calibri"/>
              </a:rPr>
              <a:t>a</a:t>
            </a:r>
            <a:r>
              <a:rPr sz="1400" spc="-5" dirty="0">
                <a:latin typeface="Calibri"/>
                <a:cs typeface="Calibri"/>
              </a:rPr>
              <a:t> </a:t>
            </a:r>
            <a:r>
              <a:rPr sz="1400" spc="-10" dirty="0">
                <a:latin typeface="Calibri"/>
                <a:cs typeface="Calibri"/>
              </a:rPr>
              <a:t>potentially</a:t>
            </a:r>
            <a:r>
              <a:rPr sz="1400" spc="-5" dirty="0">
                <a:latin typeface="Calibri"/>
                <a:cs typeface="Calibri"/>
              </a:rPr>
              <a:t> </a:t>
            </a:r>
            <a:r>
              <a:rPr sz="1400" spc="-10" dirty="0">
                <a:latin typeface="Calibri"/>
                <a:cs typeface="Calibri"/>
              </a:rPr>
              <a:t>huge </a:t>
            </a:r>
            <a:r>
              <a:rPr sz="1400" spc="-5" dirty="0">
                <a:latin typeface="Calibri"/>
                <a:cs typeface="Calibri"/>
              </a:rPr>
              <a:t>number of details</a:t>
            </a:r>
            <a:endParaRPr sz="1400">
              <a:latin typeface="Calibri"/>
              <a:cs typeface="Calibri"/>
            </a:endParaRPr>
          </a:p>
          <a:p>
            <a:pPr marL="1125220" lvl="2" indent="-201930">
              <a:lnSpc>
                <a:spcPct val="100000"/>
              </a:lnSpc>
              <a:spcBef>
                <a:spcPts val="350"/>
              </a:spcBef>
              <a:buFont typeface="Arial MT"/>
              <a:buChar char="•"/>
              <a:tabLst>
                <a:tab pos="1124585" algn="l"/>
                <a:tab pos="1125220" algn="l"/>
              </a:tabLst>
            </a:pPr>
            <a:r>
              <a:rPr sz="1400" spc="-5" dirty="0">
                <a:latin typeface="Calibri"/>
                <a:cs typeface="Calibri"/>
              </a:rPr>
              <a:t>do</a:t>
            </a:r>
            <a:r>
              <a:rPr sz="1400" spc="-10" dirty="0">
                <a:latin typeface="Calibri"/>
                <a:cs typeface="Calibri"/>
              </a:rPr>
              <a:t> you</a:t>
            </a:r>
            <a:r>
              <a:rPr sz="1400" spc="-5" dirty="0">
                <a:latin typeface="Calibri"/>
                <a:cs typeface="Calibri"/>
              </a:rPr>
              <a:t> </a:t>
            </a:r>
            <a:r>
              <a:rPr sz="1400" spc="-10" dirty="0">
                <a:latin typeface="Calibri"/>
                <a:cs typeface="Calibri"/>
              </a:rPr>
              <a:t>consider </a:t>
            </a:r>
            <a:r>
              <a:rPr sz="1400" dirty="0">
                <a:latin typeface="Calibri"/>
                <a:cs typeface="Calibri"/>
              </a:rPr>
              <a:t>all</a:t>
            </a:r>
            <a:r>
              <a:rPr sz="1400" spc="-5" dirty="0">
                <a:latin typeface="Calibri"/>
                <a:cs typeface="Calibri"/>
              </a:rPr>
              <a:t> </a:t>
            </a:r>
            <a:r>
              <a:rPr sz="1400" spc="-10" dirty="0">
                <a:latin typeface="Calibri"/>
                <a:cs typeface="Calibri"/>
              </a:rPr>
              <a:t>flights?</a:t>
            </a:r>
            <a:r>
              <a:rPr sz="1400" spc="-5" dirty="0">
                <a:latin typeface="Calibri"/>
                <a:cs typeface="Calibri"/>
              </a:rPr>
              <a:t> </a:t>
            </a:r>
            <a:r>
              <a:rPr sz="1400" dirty="0">
                <a:latin typeface="Calibri"/>
                <a:cs typeface="Calibri"/>
              </a:rPr>
              <a:t>all</a:t>
            </a:r>
            <a:r>
              <a:rPr sz="1400" spc="-10" dirty="0">
                <a:latin typeface="Calibri"/>
                <a:cs typeface="Calibri"/>
              </a:rPr>
              <a:t> dates?</a:t>
            </a:r>
            <a:endParaRPr sz="1400">
              <a:latin typeface="Calibri"/>
              <a:cs typeface="Calibri"/>
            </a:endParaRPr>
          </a:p>
          <a:p>
            <a:pPr marL="1343660">
              <a:lnSpc>
                <a:spcPct val="100000"/>
              </a:lnSpc>
              <a:spcBef>
                <a:spcPts val="350"/>
              </a:spcBef>
              <a:tabLst>
                <a:tab pos="1581785" algn="l"/>
              </a:tabLst>
            </a:pPr>
            <a:r>
              <a:rPr sz="1400" dirty="0">
                <a:latin typeface="Arial MT"/>
                <a:cs typeface="Arial MT"/>
              </a:rPr>
              <a:t>–	</a:t>
            </a:r>
            <a:r>
              <a:rPr sz="1400" spc="-5" dirty="0">
                <a:latin typeface="Calibri"/>
                <a:cs typeface="Calibri"/>
              </a:rPr>
              <a:t>no:</a:t>
            </a:r>
            <a:r>
              <a:rPr sz="1400" spc="-10" dirty="0">
                <a:latin typeface="Calibri"/>
                <a:cs typeface="Calibri"/>
              </a:rPr>
              <a:t> commonsense constrains</a:t>
            </a:r>
            <a:r>
              <a:rPr sz="1400" spc="-5" dirty="0">
                <a:latin typeface="Calibri"/>
                <a:cs typeface="Calibri"/>
              </a:rPr>
              <a:t> </a:t>
            </a:r>
            <a:r>
              <a:rPr sz="1400" spc="-10" dirty="0">
                <a:latin typeface="Calibri"/>
                <a:cs typeface="Calibri"/>
              </a:rPr>
              <a:t>your </a:t>
            </a:r>
            <a:r>
              <a:rPr sz="1400" spc="-5" dirty="0">
                <a:latin typeface="Calibri"/>
                <a:cs typeface="Calibri"/>
              </a:rPr>
              <a:t>solutions</a:t>
            </a:r>
            <a:endParaRPr sz="1400">
              <a:latin typeface="Calibri"/>
              <a:cs typeface="Calibri"/>
            </a:endParaRPr>
          </a:p>
          <a:p>
            <a:pPr marL="764540" lvl="1" indent="-335915">
              <a:lnSpc>
                <a:spcPct val="100000"/>
              </a:lnSpc>
              <a:spcBef>
                <a:spcPts val="350"/>
              </a:spcBef>
              <a:buFont typeface="Arial MT"/>
              <a:buChar char="–"/>
              <a:tabLst>
                <a:tab pos="764540" algn="l"/>
                <a:tab pos="765175" algn="l"/>
              </a:tabLst>
            </a:pPr>
            <a:r>
              <a:rPr sz="1400" spc="-5" dirty="0">
                <a:latin typeface="Calibri"/>
                <a:cs typeface="Calibri"/>
              </a:rPr>
              <a:t>AI </a:t>
            </a:r>
            <a:r>
              <a:rPr sz="1400" spc="-15" dirty="0">
                <a:latin typeface="Calibri"/>
                <a:cs typeface="Calibri"/>
              </a:rPr>
              <a:t>systems</a:t>
            </a:r>
            <a:r>
              <a:rPr sz="1400" dirty="0">
                <a:latin typeface="Calibri"/>
                <a:cs typeface="Calibri"/>
              </a:rPr>
              <a:t> </a:t>
            </a:r>
            <a:r>
              <a:rPr sz="1400" spc="-10" dirty="0">
                <a:latin typeface="Calibri"/>
                <a:cs typeface="Calibri"/>
              </a:rPr>
              <a:t>are</a:t>
            </a:r>
            <a:r>
              <a:rPr sz="1400" dirty="0">
                <a:latin typeface="Calibri"/>
                <a:cs typeface="Calibri"/>
              </a:rPr>
              <a:t> </a:t>
            </a:r>
            <a:r>
              <a:rPr sz="1400" spc="-5" dirty="0">
                <a:latin typeface="Calibri"/>
                <a:cs typeface="Calibri"/>
              </a:rPr>
              <a:t>only </a:t>
            </a:r>
            <a:r>
              <a:rPr sz="1400" spc="-10" dirty="0">
                <a:latin typeface="Calibri"/>
                <a:cs typeface="Calibri"/>
              </a:rPr>
              <a:t>successful</a:t>
            </a:r>
            <a:r>
              <a:rPr sz="1400" dirty="0">
                <a:latin typeface="Calibri"/>
                <a:cs typeface="Calibri"/>
              </a:rPr>
              <a:t> </a:t>
            </a:r>
            <a:r>
              <a:rPr sz="1400" spc="-5" dirty="0">
                <a:latin typeface="Calibri"/>
                <a:cs typeface="Calibri"/>
              </a:rPr>
              <a:t>in</a:t>
            </a:r>
            <a:r>
              <a:rPr sz="1400" dirty="0">
                <a:latin typeface="Calibri"/>
                <a:cs typeface="Calibri"/>
              </a:rPr>
              <a:t> </a:t>
            </a:r>
            <a:r>
              <a:rPr sz="1400" spc="-10" dirty="0">
                <a:latin typeface="Calibri"/>
                <a:cs typeface="Calibri"/>
              </a:rPr>
              <a:t>constrained</a:t>
            </a:r>
            <a:r>
              <a:rPr sz="1400" dirty="0">
                <a:latin typeface="Calibri"/>
                <a:cs typeface="Calibri"/>
              </a:rPr>
              <a:t> </a:t>
            </a:r>
            <a:r>
              <a:rPr sz="1400" spc="-5" dirty="0">
                <a:latin typeface="Calibri"/>
                <a:cs typeface="Calibri"/>
              </a:rPr>
              <a:t>planning </a:t>
            </a:r>
            <a:r>
              <a:rPr sz="1400" spc="-10" dirty="0">
                <a:latin typeface="Calibri"/>
                <a:cs typeface="Calibri"/>
              </a:rPr>
              <a:t>problems</a:t>
            </a:r>
            <a:endParaRPr sz="1400">
              <a:latin typeface="Calibri"/>
              <a:cs typeface="Calibri"/>
            </a:endParaRPr>
          </a:p>
          <a:p>
            <a:pPr lvl="1">
              <a:lnSpc>
                <a:spcPct val="100000"/>
              </a:lnSpc>
              <a:spcBef>
                <a:spcPts val="55"/>
              </a:spcBef>
              <a:buFont typeface="Arial MT"/>
              <a:buChar char="–"/>
            </a:pPr>
            <a:endParaRPr sz="1650">
              <a:latin typeface="Calibri"/>
              <a:cs typeface="Calibri"/>
            </a:endParaRPr>
          </a:p>
          <a:p>
            <a:pPr marL="324485" marR="5080" indent="-312420">
              <a:lnSpc>
                <a:spcPct val="100000"/>
              </a:lnSpc>
              <a:buFont typeface="Arial MT"/>
              <a:buChar char="•"/>
              <a:tabLst>
                <a:tab pos="324485" algn="l"/>
                <a:tab pos="325120" algn="l"/>
              </a:tabLst>
            </a:pPr>
            <a:r>
              <a:rPr sz="1600" spc="-5" dirty="0">
                <a:latin typeface="Calibri"/>
                <a:cs typeface="Calibri"/>
              </a:rPr>
              <a:t>Conclusion</a:t>
            </a:r>
            <a:r>
              <a:rPr sz="1600" b="1" spc="-5" dirty="0">
                <a:latin typeface="Calibri"/>
                <a:cs typeface="Calibri"/>
              </a:rPr>
              <a:t>: NO</a:t>
            </a:r>
            <a:r>
              <a:rPr sz="1600" spc="-5" dirty="0">
                <a:latin typeface="Calibri"/>
                <a:cs typeface="Calibri"/>
              </a:rPr>
              <a:t>,</a:t>
            </a:r>
            <a:r>
              <a:rPr sz="1600" dirty="0">
                <a:latin typeface="Calibri"/>
                <a:cs typeface="Calibri"/>
              </a:rPr>
              <a:t> </a:t>
            </a:r>
            <a:r>
              <a:rPr sz="1600" spc="-10" dirty="0">
                <a:latin typeface="Calibri"/>
                <a:cs typeface="Calibri"/>
              </a:rPr>
              <a:t>real-world</a:t>
            </a:r>
            <a:r>
              <a:rPr sz="1600" spc="-5" dirty="0">
                <a:latin typeface="Calibri"/>
                <a:cs typeface="Calibri"/>
              </a:rPr>
              <a:t> planning</a:t>
            </a:r>
            <a:r>
              <a:rPr sz="1600" dirty="0">
                <a:latin typeface="Calibri"/>
                <a:cs typeface="Calibri"/>
              </a:rPr>
              <a:t> and</a:t>
            </a:r>
            <a:r>
              <a:rPr sz="1600" spc="-5" dirty="0">
                <a:latin typeface="Calibri"/>
                <a:cs typeface="Calibri"/>
              </a:rPr>
              <a:t> decision-making</a:t>
            </a:r>
            <a:r>
              <a:rPr sz="1600" dirty="0">
                <a:latin typeface="Calibri"/>
                <a:cs typeface="Calibri"/>
              </a:rPr>
              <a:t> </a:t>
            </a:r>
            <a:r>
              <a:rPr sz="1600" spc="-5" dirty="0">
                <a:latin typeface="Calibri"/>
                <a:cs typeface="Calibri"/>
              </a:rPr>
              <a:t>is </a:t>
            </a:r>
            <a:r>
              <a:rPr sz="1600" spc="-10" dirty="0">
                <a:latin typeface="Calibri"/>
                <a:cs typeface="Calibri"/>
              </a:rPr>
              <a:t>still</a:t>
            </a:r>
            <a:r>
              <a:rPr sz="1600" dirty="0">
                <a:latin typeface="Calibri"/>
                <a:cs typeface="Calibri"/>
              </a:rPr>
              <a:t> </a:t>
            </a:r>
            <a:r>
              <a:rPr sz="1600" spc="-10" dirty="0">
                <a:latin typeface="Calibri"/>
                <a:cs typeface="Calibri"/>
              </a:rPr>
              <a:t>beyond</a:t>
            </a:r>
            <a:r>
              <a:rPr sz="1600" dirty="0">
                <a:latin typeface="Calibri"/>
                <a:cs typeface="Calibri"/>
              </a:rPr>
              <a:t> </a:t>
            </a:r>
            <a:r>
              <a:rPr sz="1600" spc="-5" dirty="0">
                <a:latin typeface="Calibri"/>
                <a:cs typeface="Calibri"/>
              </a:rPr>
              <a:t>the capabilities </a:t>
            </a:r>
            <a:r>
              <a:rPr sz="1600" spc="-345" dirty="0">
                <a:latin typeface="Calibri"/>
                <a:cs typeface="Calibri"/>
              </a:rPr>
              <a:t> </a:t>
            </a:r>
            <a:r>
              <a:rPr sz="1600" spc="-5" dirty="0">
                <a:latin typeface="Calibri"/>
                <a:cs typeface="Calibri"/>
              </a:rPr>
              <a:t>of</a:t>
            </a:r>
            <a:r>
              <a:rPr sz="1600" spc="-10" dirty="0">
                <a:latin typeface="Calibri"/>
                <a:cs typeface="Calibri"/>
              </a:rPr>
              <a:t> </a:t>
            </a:r>
            <a:r>
              <a:rPr sz="1600" spc="-5" dirty="0">
                <a:latin typeface="Calibri"/>
                <a:cs typeface="Calibri"/>
              </a:rPr>
              <a:t>modern </a:t>
            </a:r>
            <a:r>
              <a:rPr sz="1600" spc="-10" dirty="0">
                <a:latin typeface="Calibri"/>
                <a:cs typeface="Calibri"/>
              </a:rPr>
              <a:t>computers</a:t>
            </a:r>
            <a:endParaRPr sz="1600">
              <a:latin typeface="Calibri"/>
              <a:cs typeface="Calibri"/>
            </a:endParaRPr>
          </a:p>
          <a:p>
            <a:pPr marL="724535" lvl="1" indent="-295910">
              <a:lnSpc>
                <a:spcPct val="100000"/>
              </a:lnSpc>
              <a:spcBef>
                <a:spcPts val="360"/>
              </a:spcBef>
              <a:buFont typeface="Arial MT"/>
              <a:buChar char="–"/>
              <a:tabLst>
                <a:tab pos="724535" algn="l"/>
                <a:tab pos="725170" algn="l"/>
              </a:tabLst>
            </a:pPr>
            <a:r>
              <a:rPr sz="1400" spc="-10" dirty="0">
                <a:latin typeface="Calibri"/>
                <a:cs typeface="Calibri"/>
              </a:rPr>
              <a:t>exception:</a:t>
            </a:r>
            <a:r>
              <a:rPr sz="1400" spc="-5" dirty="0">
                <a:latin typeface="Calibri"/>
                <a:cs typeface="Calibri"/>
              </a:rPr>
              <a:t> very </a:t>
            </a:r>
            <a:r>
              <a:rPr sz="1400" spc="-10" dirty="0">
                <a:latin typeface="Calibri"/>
                <a:cs typeface="Calibri"/>
              </a:rPr>
              <a:t>well-defined,</a:t>
            </a:r>
            <a:r>
              <a:rPr sz="1400" spc="-5" dirty="0">
                <a:latin typeface="Calibri"/>
                <a:cs typeface="Calibri"/>
              </a:rPr>
              <a:t> </a:t>
            </a:r>
            <a:r>
              <a:rPr sz="1400" spc="-10" dirty="0">
                <a:latin typeface="Calibri"/>
                <a:cs typeface="Calibri"/>
              </a:rPr>
              <a:t>constrained</a:t>
            </a:r>
            <a:r>
              <a:rPr sz="1400" spc="-5" dirty="0">
                <a:latin typeface="Calibri"/>
                <a:cs typeface="Calibri"/>
              </a:rPr>
              <a:t> </a:t>
            </a:r>
            <a:r>
              <a:rPr sz="1400" spc="-10" dirty="0">
                <a:latin typeface="Calibri"/>
                <a:cs typeface="Calibri"/>
              </a:rPr>
              <a:t>problems</a:t>
            </a:r>
            <a:endParaRPr sz="1400">
              <a:latin typeface="Calibri"/>
              <a:cs typeface="Calibri"/>
            </a:endParaRPr>
          </a:p>
        </p:txBody>
      </p:sp>
    </p:spTree>
    <p:extLst>
      <p:ext uri="{BB962C8B-B14F-4D97-AF65-F5344CB8AC3E}">
        <p14:creationId xmlns:p14="http://schemas.microsoft.com/office/powerpoint/2010/main" val="11686158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410575" y="6445398"/>
            <a:ext cx="228600" cy="194309"/>
          </a:xfrm>
          <a:prstGeom prst="rect">
            <a:avLst/>
          </a:prstGeom>
        </p:spPr>
        <p:txBody>
          <a:bodyPr vert="horz" wrap="square" lIns="0" tIns="0" rIns="0" bIns="0" rtlCol="0">
            <a:spAutoFit/>
          </a:bodyPr>
          <a:lstStyle/>
          <a:p>
            <a:pPr marL="38100">
              <a:lnSpc>
                <a:spcPts val="1410"/>
              </a:lnSpc>
            </a:pPr>
            <a:fld id="{81D60167-4931-47E6-BA6A-407CBD079E47}" type="slidenum">
              <a:rPr dirty="0"/>
              <a:t>99</a:t>
            </a:fld>
            <a:endParaRPr dirty="0"/>
          </a:p>
        </p:txBody>
      </p:sp>
      <p:sp>
        <p:nvSpPr>
          <p:cNvPr id="2" name="object 2"/>
          <p:cNvSpPr txBox="1">
            <a:spLocks noGrp="1"/>
          </p:cNvSpPr>
          <p:nvPr>
            <p:ph type="title"/>
          </p:nvPr>
        </p:nvSpPr>
        <p:spPr>
          <a:xfrm>
            <a:off x="3347456" y="475487"/>
            <a:ext cx="2929890" cy="6959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739BDC"/>
                </a:solidFill>
              </a:rPr>
              <a:t>AI</a:t>
            </a:r>
            <a:r>
              <a:rPr spc="-85" dirty="0">
                <a:solidFill>
                  <a:srgbClr val="739BDC"/>
                </a:solidFill>
              </a:rPr>
              <a:t> </a:t>
            </a:r>
            <a:r>
              <a:rPr spc="-50" dirty="0">
                <a:solidFill>
                  <a:srgbClr val="739BDC"/>
                </a:solidFill>
              </a:rPr>
              <a:t>Technique</a:t>
            </a:r>
          </a:p>
        </p:txBody>
      </p:sp>
      <p:sp>
        <p:nvSpPr>
          <p:cNvPr id="3" name="object 3"/>
          <p:cNvSpPr txBox="1"/>
          <p:nvPr/>
        </p:nvSpPr>
        <p:spPr>
          <a:xfrm>
            <a:off x="568334" y="1552067"/>
            <a:ext cx="6956425" cy="4085590"/>
          </a:xfrm>
          <a:prstGeom prst="rect">
            <a:avLst/>
          </a:prstGeom>
        </p:spPr>
        <p:txBody>
          <a:bodyPr vert="horz" wrap="square" lIns="0" tIns="75565" rIns="0" bIns="0" rtlCol="0">
            <a:spAutoFit/>
          </a:bodyPr>
          <a:lstStyle/>
          <a:p>
            <a:pPr marL="316865" indent="-304800">
              <a:lnSpc>
                <a:spcPct val="100000"/>
              </a:lnSpc>
              <a:spcBef>
                <a:spcPts val="595"/>
              </a:spcBef>
              <a:buFont typeface="Arial MT"/>
              <a:buChar char="•"/>
              <a:tabLst>
                <a:tab pos="316865" algn="l"/>
                <a:tab pos="317500" algn="l"/>
              </a:tabLst>
            </a:pPr>
            <a:r>
              <a:rPr sz="2000" spc="-10" dirty="0">
                <a:latin typeface="Calibri"/>
                <a:cs typeface="Calibri"/>
              </a:rPr>
              <a:t>Intelligence</a:t>
            </a:r>
            <a:r>
              <a:rPr sz="2000" spc="-20" dirty="0">
                <a:latin typeface="Calibri"/>
                <a:cs typeface="Calibri"/>
              </a:rPr>
              <a:t> </a:t>
            </a:r>
            <a:r>
              <a:rPr sz="2000" spc="-15" dirty="0">
                <a:latin typeface="Calibri"/>
                <a:cs typeface="Calibri"/>
              </a:rPr>
              <a:t>requires</a:t>
            </a:r>
            <a:r>
              <a:rPr sz="2000" spc="-20" dirty="0">
                <a:latin typeface="Calibri"/>
                <a:cs typeface="Calibri"/>
              </a:rPr>
              <a:t> </a:t>
            </a:r>
            <a:r>
              <a:rPr sz="2000" spc="-10" dirty="0">
                <a:latin typeface="Calibri"/>
                <a:cs typeface="Calibri"/>
              </a:rPr>
              <a:t>Knowledge</a:t>
            </a:r>
            <a:endParaRPr sz="2000">
              <a:latin typeface="Calibri"/>
              <a:cs typeface="Calibri"/>
            </a:endParaRPr>
          </a:p>
          <a:p>
            <a:pPr marL="316865" indent="-304800">
              <a:lnSpc>
                <a:spcPct val="100000"/>
              </a:lnSpc>
              <a:spcBef>
                <a:spcPts val="500"/>
              </a:spcBef>
              <a:buFont typeface="Arial MT"/>
              <a:buChar char="•"/>
              <a:tabLst>
                <a:tab pos="316865" algn="l"/>
                <a:tab pos="317500" algn="l"/>
              </a:tabLst>
            </a:pPr>
            <a:r>
              <a:rPr sz="2000" spc="-10" dirty="0">
                <a:latin typeface="Calibri"/>
                <a:cs typeface="Calibri"/>
              </a:rPr>
              <a:t>Knowledge </a:t>
            </a:r>
            <a:r>
              <a:rPr sz="2000" spc="-5" dirty="0">
                <a:latin typeface="Calibri"/>
                <a:cs typeface="Calibri"/>
              </a:rPr>
              <a:t>posesses</a:t>
            </a:r>
            <a:r>
              <a:rPr sz="2000" spc="-10" dirty="0">
                <a:latin typeface="Calibri"/>
                <a:cs typeface="Calibri"/>
              </a:rPr>
              <a:t> </a:t>
            </a:r>
            <a:r>
              <a:rPr sz="2000" spc="-5" dirty="0">
                <a:latin typeface="Calibri"/>
                <a:cs typeface="Calibri"/>
              </a:rPr>
              <a:t>less</a:t>
            </a:r>
            <a:r>
              <a:rPr sz="2000" spc="-10" dirty="0">
                <a:latin typeface="Calibri"/>
                <a:cs typeface="Calibri"/>
              </a:rPr>
              <a:t> desirable properties </a:t>
            </a:r>
            <a:r>
              <a:rPr sz="2000" spc="-5" dirty="0">
                <a:latin typeface="Calibri"/>
                <a:cs typeface="Calibri"/>
              </a:rPr>
              <a:t>such</a:t>
            </a:r>
            <a:r>
              <a:rPr sz="2000" spc="-10" dirty="0">
                <a:latin typeface="Calibri"/>
                <a:cs typeface="Calibri"/>
              </a:rPr>
              <a:t> </a:t>
            </a:r>
            <a:r>
              <a:rPr sz="2000" dirty="0">
                <a:latin typeface="Calibri"/>
                <a:cs typeface="Calibri"/>
              </a:rPr>
              <a:t>as:</a:t>
            </a:r>
            <a:endParaRPr sz="2000">
              <a:latin typeface="Calibri"/>
              <a:cs typeface="Calibri"/>
            </a:endParaRPr>
          </a:p>
          <a:p>
            <a:pPr marL="716915" lvl="1" indent="-299085">
              <a:lnSpc>
                <a:spcPct val="100000"/>
              </a:lnSpc>
              <a:spcBef>
                <a:spcPts val="455"/>
              </a:spcBef>
              <a:buFont typeface="Arial MT"/>
              <a:buChar char="–"/>
              <a:tabLst>
                <a:tab pos="716915" algn="l"/>
                <a:tab pos="717550" algn="l"/>
              </a:tabLst>
            </a:pPr>
            <a:r>
              <a:rPr sz="1800" spc="-15" dirty="0">
                <a:latin typeface="Calibri"/>
                <a:cs typeface="Calibri"/>
              </a:rPr>
              <a:t>Voluminous</a:t>
            </a:r>
            <a:endParaRPr sz="1800">
              <a:latin typeface="Calibri"/>
              <a:cs typeface="Calibri"/>
            </a:endParaRPr>
          </a:p>
          <a:p>
            <a:pPr marL="716915" lvl="1" indent="-299085">
              <a:lnSpc>
                <a:spcPct val="100000"/>
              </a:lnSpc>
              <a:spcBef>
                <a:spcPts val="450"/>
              </a:spcBef>
              <a:buFont typeface="Arial MT"/>
              <a:buChar char="–"/>
              <a:tabLst>
                <a:tab pos="716915" algn="l"/>
                <a:tab pos="717550" algn="l"/>
              </a:tabLst>
            </a:pPr>
            <a:r>
              <a:rPr sz="1800" spc="-10" dirty="0">
                <a:latin typeface="Calibri"/>
                <a:cs typeface="Calibri"/>
              </a:rPr>
              <a:t>Hard</a:t>
            </a:r>
            <a:r>
              <a:rPr sz="1800" spc="-15" dirty="0">
                <a:latin typeface="Calibri"/>
                <a:cs typeface="Calibri"/>
              </a:rPr>
              <a:t> </a:t>
            </a:r>
            <a:r>
              <a:rPr sz="1800" spc="-10" dirty="0">
                <a:latin typeface="Calibri"/>
                <a:cs typeface="Calibri"/>
              </a:rPr>
              <a:t>to</a:t>
            </a:r>
            <a:r>
              <a:rPr sz="1800" spc="-15" dirty="0">
                <a:latin typeface="Calibri"/>
                <a:cs typeface="Calibri"/>
              </a:rPr>
              <a:t> characterize </a:t>
            </a:r>
            <a:r>
              <a:rPr sz="1800" spc="-10" dirty="0">
                <a:latin typeface="Calibri"/>
                <a:cs typeface="Calibri"/>
              </a:rPr>
              <a:t>accurately</a:t>
            </a:r>
            <a:endParaRPr sz="1800">
              <a:latin typeface="Calibri"/>
              <a:cs typeface="Calibri"/>
            </a:endParaRPr>
          </a:p>
          <a:p>
            <a:pPr marL="716915" lvl="1" indent="-299085">
              <a:lnSpc>
                <a:spcPct val="100000"/>
              </a:lnSpc>
              <a:spcBef>
                <a:spcPts val="450"/>
              </a:spcBef>
              <a:buFont typeface="Arial MT"/>
              <a:buChar char="–"/>
              <a:tabLst>
                <a:tab pos="716915" algn="l"/>
                <a:tab pos="717550" algn="l"/>
              </a:tabLst>
            </a:pPr>
            <a:r>
              <a:rPr sz="1800" spc="-10" dirty="0">
                <a:latin typeface="Calibri"/>
                <a:cs typeface="Calibri"/>
              </a:rPr>
              <a:t>Constantly</a:t>
            </a:r>
            <a:r>
              <a:rPr sz="1800" spc="-45" dirty="0">
                <a:latin typeface="Calibri"/>
                <a:cs typeface="Calibri"/>
              </a:rPr>
              <a:t> </a:t>
            </a:r>
            <a:r>
              <a:rPr sz="1800" spc="-5" dirty="0">
                <a:latin typeface="Calibri"/>
                <a:cs typeface="Calibri"/>
              </a:rPr>
              <a:t>changing</a:t>
            </a:r>
            <a:endParaRPr sz="1800">
              <a:latin typeface="Calibri"/>
              <a:cs typeface="Calibri"/>
            </a:endParaRPr>
          </a:p>
          <a:p>
            <a:pPr marL="716915" lvl="1" indent="-299085">
              <a:lnSpc>
                <a:spcPct val="100000"/>
              </a:lnSpc>
              <a:spcBef>
                <a:spcPts val="445"/>
              </a:spcBef>
              <a:buFont typeface="Arial MT"/>
              <a:buChar char="–"/>
              <a:tabLst>
                <a:tab pos="716915" algn="l"/>
                <a:tab pos="717550" algn="l"/>
              </a:tabLst>
            </a:pPr>
            <a:r>
              <a:rPr sz="1800" spc="-20" dirty="0">
                <a:latin typeface="Calibri"/>
                <a:cs typeface="Calibri"/>
              </a:rPr>
              <a:t>Differs</a:t>
            </a:r>
            <a:r>
              <a:rPr sz="1800" spc="-15" dirty="0">
                <a:latin typeface="Calibri"/>
                <a:cs typeface="Calibri"/>
              </a:rPr>
              <a:t> </a:t>
            </a:r>
            <a:r>
              <a:rPr sz="1800" spc="-10" dirty="0">
                <a:latin typeface="Calibri"/>
                <a:cs typeface="Calibri"/>
              </a:rPr>
              <a:t>from </a:t>
            </a:r>
            <a:r>
              <a:rPr sz="1800" spc="-15" dirty="0">
                <a:latin typeface="Calibri"/>
                <a:cs typeface="Calibri"/>
              </a:rPr>
              <a:t>data</a:t>
            </a:r>
            <a:r>
              <a:rPr sz="1800" spc="-10" dirty="0">
                <a:latin typeface="Calibri"/>
                <a:cs typeface="Calibri"/>
              </a:rPr>
              <a:t> that can </a:t>
            </a:r>
            <a:r>
              <a:rPr sz="1800" spc="-5" dirty="0">
                <a:latin typeface="Calibri"/>
                <a:cs typeface="Calibri"/>
              </a:rPr>
              <a:t>be</a:t>
            </a:r>
            <a:r>
              <a:rPr sz="1800" spc="-10" dirty="0">
                <a:latin typeface="Calibri"/>
                <a:cs typeface="Calibri"/>
              </a:rPr>
              <a:t> </a:t>
            </a:r>
            <a:r>
              <a:rPr sz="1800" spc="-5" dirty="0">
                <a:latin typeface="Calibri"/>
                <a:cs typeface="Calibri"/>
              </a:rPr>
              <a:t>used</a:t>
            </a:r>
            <a:endParaRPr sz="1800">
              <a:latin typeface="Calibri"/>
              <a:cs typeface="Calibri"/>
            </a:endParaRPr>
          </a:p>
          <a:p>
            <a:pPr marL="316865" marR="5080" indent="-304800">
              <a:lnSpc>
                <a:spcPct val="100000"/>
              </a:lnSpc>
              <a:spcBef>
                <a:spcPts val="490"/>
              </a:spcBef>
              <a:buFont typeface="Arial MT"/>
              <a:buChar char="•"/>
              <a:tabLst>
                <a:tab pos="316865" algn="l"/>
                <a:tab pos="317500" algn="l"/>
              </a:tabLst>
            </a:pPr>
            <a:r>
              <a:rPr sz="2000" spc="-5" dirty="0">
                <a:latin typeface="Calibri"/>
                <a:cs typeface="Calibri"/>
              </a:rPr>
              <a:t>AI </a:t>
            </a:r>
            <a:r>
              <a:rPr sz="2000" spc="-10" dirty="0">
                <a:latin typeface="Calibri"/>
                <a:cs typeface="Calibri"/>
              </a:rPr>
              <a:t>technique</a:t>
            </a:r>
            <a:r>
              <a:rPr sz="2000" dirty="0">
                <a:latin typeface="Calibri"/>
                <a:cs typeface="Calibri"/>
              </a:rPr>
              <a:t> </a:t>
            </a:r>
            <a:r>
              <a:rPr sz="2000" spc="-5" dirty="0">
                <a:latin typeface="Calibri"/>
                <a:cs typeface="Calibri"/>
              </a:rPr>
              <a:t>is</a:t>
            </a:r>
            <a:r>
              <a:rPr sz="2000" dirty="0">
                <a:latin typeface="Calibri"/>
                <a:cs typeface="Calibri"/>
              </a:rPr>
              <a:t> a</a:t>
            </a:r>
            <a:r>
              <a:rPr sz="2000" spc="-5" dirty="0">
                <a:latin typeface="Calibri"/>
                <a:cs typeface="Calibri"/>
              </a:rPr>
              <a:t> </a:t>
            </a:r>
            <a:r>
              <a:rPr sz="2000" spc="-10" dirty="0">
                <a:latin typeface="Calibri"/>
                <a:cs typeface="Calibri"/>
              </a:rPr>
              <a:t>method</a:t>
            </a:r>
            <a:r>
              <a:rPr sz="2000" dirty="0">
                <a:latin typeface="Calibri"/>
                <a:cs typeface="Calibri"/>
              </a:rPr>
              <a:t> </a:t>
            </a:r>
            <a:r>
              <a:rPr sz="2000" spc="-10" dirty="0">
                <a:latin typeface="Calibri"/>
                <a:cs typeface="Calibri"/>
              </a:rPr>
              <a:t>that</a:t>
            </a:r>
            <a:r>
              <a:rPr sz="2000" dirty="0">
                <a:latin typeface="Calibri"/>
                <a:cs typeface="Calibri"/>
              </a:rPr>
              <a:t> </a:t>
            </a:r>
            <a:r>
              <a:rPr sz="2000" spc="-10" dirty="0">
                <a:latin typeface="Calibri"/>
                <a:cs typeface="Calibri"/>
              </a:rPr>
              <a:t>exploits</a:t>
            </a:r>
            <a:r>
              <a:rPr sz="2000" spc="-5" dirty="0">
                <a:latin typeface="Calibri"/>
                <a:cs typeface="Calibri"/>
              </a:rPr>
              <a:t> </a:t>
            </a:r>
            <a:r>
              <a:rPr sz="2000" spc="-10" dirty="0">
                <a:latin typeface="Calibri"/>
                <a:cs typeface="Calibri"/>
              </a:rPr>
              <a:t>knowledge</a:t>
            </a:r>
            <a:r>
              <a:rPr sz="2000" dirty="0">
                <a:latin typeface="Calibri"/>
                <a:cs typeface="Calibri"/>
              </a:rPr>
              <a:t> </a:t>
            </a:r>
            <a:r>
              <a:rPr sz="2000" spc="-10" dirty="0">
                <a:latin typeface="Calibri"/>
                <a:cs typeface="Calibri"/>
              </a:rPr>
              <a:t>that</a:t>
            </a:r>
            <a:r>
              <a:rPr sz="2000" dirty="0">
                <a:latin typeface="Calibri"/>
                <a:cs typeface="Calibri"/>
              </a:rPr>
              <a:t> </a:t>
            </a:r>
            <a:r>
              <a:rPr sz="2000" spc="-5" dirty="0">
                <a:latin typeface="Calibri"/>
                <a:cs typeface="Calibri"/>
              </a:rPr>
              <a:t>should be </a:t>
            </a:r>
            <a:r>
              <a:rPr sz="2000" spc="-434" dirty="0">
                <a:latin typeface="Calibri"/>
                <a:cs typeface="Calibri"/>
              </a:rPr>
              <a:t> </a:t>
            </a:r>
            <a:r>
              <a:rPr sz="2000" spc="-15" dirty="0">
                <a:latin typeface="Calibri"/>
                <a:cs typeface="Calibri"/>
              </a:rPr>
              <a:t>represented</a:t>
            </a:r>
            <a:r>
              <a:rPr sz="2000" spc="-10" dirty="0">
                <a:latin typeface="Calibri"/>
                <a:cs typeface="Calibri"/>
              </a:rPr>
              <a:t> </a:t>
            </a:r>
            <a:r>
              <a:rPr sz="2000" spc="-5" dirty="0">
                <a:latin typeface="Calibri"/>
                <a:cs typeface="Calibri"/>
              </a:rPr>
              <a:t>in such </a:t>
            </a:r>
            <a:r>
              <a:rPr sz="2000" dirty="0">
                <a:latin typeface="Calibri"/>
                <a:cs typeface="Calibri"/>
              </a:rPr>
              <a:t>a</a:t>
            </a:r>
            <a:r>
              <a:rPr sz="2000" spc="-5" dirty="0">
                <a:latin typeface="Calibri"/>
                <a:cs typeface="Calibri"/>
              </a:rPr>
              <a:t> </a:t>
            </a:r>
            <a:r>
              <a:rPr sz="2000" spc="-25" dirty="0">
                <a:latin typeface="Calibri"/>
                <a:cs typeface="Calibri"/>
              </a:rPr>
              <a:t>way</a:t>
            </a:r>
            <a:r>
              <a:rPr sz="2000" spc="-5" dirty="0">
                <a:latin typeface="Calibri"/>
                <a:cs typeface="Calibri"/>
              </a:rPr>
              <a:t> </a:t>
            </a:r>
            <a:r>
              <a:rPr sz="2000" spc="-10" dirty="0">
                <a:latin typeface="Calibri"/>
                <a:cs typeface="Calibri"/>
              </a:rPr>
              <a:t>that:</a:t>
            </a:r>
            <a:endParaRPr sz="2000">
              <a:latin typeface="Calibri"/>
              <a:cs typeface="Calibri"/>
            </a:endParaRPr>
          </a:p>
          <a:p>
            <a:pPr marL="716915" lvl="1" indent="-299085">
              <a:lnSpc>
                <a:spcPct val="100000"/>
              </a:lnSpc>
              <a:spcBef>
                <a:spcPts val="459"/>
              </a:spcBef>
              <a:buFont typeface="Arial MT"/>
              <a:buChar char="–"/>
              <a:tabLst>
                <a:tab pos="716915" algn="l"/>
                <a:tab pos="717550" algn="l"/>
              </a:tabLst>
            </a:pPr>
            <a:r>
              <a:rPr sz="1800" spc="-10" dirty="0">
                <a:latin typeface="Calibri"/>
                <a:cs typeface="Calibri"/>
              </a:rPr>
              <a:t>Knowledge</a:t>
            </a:r>
            <a:r>
              <a:rPr sz="1800" spc="-15" dirty="0">
                <a:latin typeface="Calibri"/>
                <a:cs typeface="Calibri"/>
              </a:rPr>
              <a:t> </a:t>
            </a:r>
            <a:r>
              <a:rPr sz="1800" spc="-10" dirty="0">
                <a:latin typeface="Calibri"/>
                <a:cs typeface="Calibri"/>
              </a:rPr>
              <a:t>captures </a:t>
            </a:r>
            <a:r>
              <a:rPr sz="1800" spc="-15" dirty="0">
                <a:latin typeface="Calibri"/>
                <a:cs typeface="Calibri"/>
              </a:rPr>
              <a:t>generalization</a:t>
            </a:r>
            <a:endParaRPr sz="1800">
              <a:latin typeface="Calibri"/>
              <a:cs typeface="Calibri"/>
            </a:endParaRPr>
          </a:p>
          <a:p>
            <a:pPr marL="716915" lvl="1" indent="-299085">
              <a:lnSpc>
                <a:spcPct val="100000"/>
              </a:lnSpc>
              <a:spcBef>
                <a:spcPts val="445"/>
              </a:spcBef>
              <a:buFont typeface="Arial MT"/>
              <a:buChar char="–"/>
              <a:tabLst>
                <a:tab pos="716915" algn="l"/>
                <a:tab pos="717550" algn="l"/>
              </a:tabLst>
            </a:pPr>
            <a:r>
              <a:rPr sz="1800" spc="-5" dirty="0">
                <a:latin typeface="Calibri"/>
                <a:cs typeface="Calibri"/>
              </a:rPr>
              <a:t>It</a:t>
            </a:r>
            <a:r>
              <a:rPr sz="1800" spc="-10" dirty="0">
                <a:latin typeface="Calibri"/>
                <a:cs typeface="Calibri"/>
              </a:rPr>
              <a:t> can</a:t>
            </a:r>
            <a:r>
              <a:rPr sz="1800" spc="-5" dirty="0">
                <a:latin typeface="Calibri"/>
                <a:cs typeface="Calibri"/>
              </a:rPr>
              <a:t> be </a:t>
            </a:r>
            <a:r>
              <a:rPr sz="1800" spc="-15" dirty="0">
                <a:latin typeface="Calibri"/>
                <a:cs typeface="Calibri"/>
              </a:rPr>
              <a:t>understood</a:t>
            </a:r>
            <a:r>
              <a:rPr sz="1800" spc="-5" dirty="0">
                <a:latin typeface="Calibri"/>
                <a:cs typeface="Calibri"/>
              </a:rPr>
              <a:t> by people</a:t>
            </a:r>
            <a:r>
              <a:rPr sz="1800" spc="-10" dirty="0">
                <a:latin typeface="Calibri"/>
                <a:cs typeface="Calibri"/>
              </a:rPr>
              <a:t> </a:t>
            </a:r>
            <a:r>
              <a:rPr sz="1800" spc="-5" dirty="0">
                <a:latin typeface="Calibri"/>
                <a:cs typeface="Calibri"/>
              </a:rPr>
              <a:t>who </a:t>
            </a:r>
            <a:r>
              <a:rPr sz="1800" spc="-10" dirty="0">
                <a:latin typeface="Calibri"/>
                <a:cs typeface="Calibri"/>
              </a:rPr>
              <a:t>must</a:t>
            </a:r>
            <a:r>
              <a:rPr sz="1800" spc="-5" dirty="0">
                <a:latin typeface="Calibri"/>
                <a:cs typeface="Calibri"/>
              </a:rPr>
              <a:t> </a:t>
            </a:r>
            <a:r>
              <a:rPr sz="1800" spc="-10" dirty="0">
                <a:latin typeface="Calibri"/>
                <a:cs typeface="Calibri"/>
              </a:rPr>
              <a:t>provide</a:t>
            </a:r>
            <a:r>
              <a:rPr sz="1800" spc="-5" dirty="0">
                <a:latin typeface="Calibri"/>
                <a:cs typeface="Calibri"/>
              </a:rPr>
              <a:t> it</a:t>
            </a:r>
            <a:endParaRPr sz="1800">
              <a:latin typeface="Calibri"/>
              <a:cs typeface="Calibri"/>
            </a:endParaRPr>
          </a:p>
          <a:p>
            <a:pPr marL="716915" lvl="1" indent="-299085">
              <a:lnSpc>
                <a:spcPct val="100000"/>
              </a:lnSpc>
              <a:spcBef>
                <a:spcPts val="450"/>
              </a:spcBef>
              <a:buFont typeface="Arial MT"/>
              <a:buChar char="–"/>
              <a:tabLst>
                <a:tab pos="716915" algn="l"/>
                <a:tab pos="717550" algn="l"/>
              </a:tabLst>
            </a:pPr>
            <a:r>
              <a:rPr sz="1800" spc="-5" dirty="0">
                <a:latin typeface="Calibri"/>
                <a:cs typeface="Calibri"/>
              </a:rPr>
              <a:t>It</a:t>
            </a:r>
            <a:r>
              <a:rPr sz="1800" spc="-15" dirty="0">
                <a:latin typeface="Calibri"/>
                <a:cs typeface="Calibri"/>
              </a:rPr>
              <a:t> </a:t>
            </a:r>
            <a:r>
              <a:rPr sz="1800" spc="-10" dirty="0">
                <a:latin typeface="Calibri"/>
                <a:cs typeface="Calibri"/>
              </a:rPr>
              <a:t>can </a:t>
            </a:r>
            <a:r>
              <a:rPr sz="1800" spc="-5" dirty="0">
                <a:latin typeface="Calibri"/>
                <a:cs typeface="Calibri"/>
              </a:rPr>
              <a:t>be</a:t>
            </a:r>
            <a:r>
              <a:rPr sz="1800" spc="-10" dirty="0">
                <a:latin typeface="Calibri"/>
                <a:cs typeface="Calibri"/>
              </a:rPr>
              <a:t> </a:t>
            </a:r>
            <a:r>
              <a:rPr sz="1800" spc="-5" dirty="0">
                <a:latin typeface="Calibri"/>
                <a:cs typeface="Calibri"/>
              </a:rPr>
              <a:t>easily</a:t>
            </a:r>
            <a:r>
              <a:rPr sz="1800" spc="-10" dirty="0">
                <a:latin typeface="Calibri"/>
                <a:cs typeface="Calibri"/>
              </a:rPr>
              <a:t> </a:t>
            </a:r>
            <a:r>
              <a:rPr sz="1800" spc="-5" dirty="0">
                <a:latin typeface="Calibri"/>
                <a:cs typeface="Calibri"/>
              </a:rPr>
              <a:t>modified</a:t>
            </a:r>
            <a:r>
              <a:rPr sz="1800" spc="-10" dirty="0">
                <a:latin typeface="Calibri"/>
                <a:cs typeface="Calibri"/>
              </a:rPr>
              <a:t> to</a:t>
            </a:r>
            <a:r>
              <a:rPr sz="1800" spc="-15" dirty="0">
                <a:latin typeface="Calibri"/>
                <a:cs typeface="Calibri"/>
              </a:rPr>
              <a:t> </a:t>
            </a:r>
            <a:r>
              <a:rPr sz="1800" spc="-10" dirty="0">
                <a:latin typeface="Calibri"/>
                <a:cs typeface="Calibri"/>
              </a:rPr>
              <a:t>correct </a:t>
            </a:r>
            <a:r>
              <a:rPr sz="1800" spc="-15" dirty="0">
                <a:latin typeface="Calibri"/>
                <a:cs typeface="Calibri"/>
              </a:rPr>
              <a:t>errors.</a:t>
            </a:r>
            <a:endParaRPr sz="1800">
              <a:latin typeface="Calibri"/>
              <a:cs typeface="Calibri"/>
            </a:endParaRPr>
          </a:p>
          <a:p>
            <a:pPr marL="716915" lvl="1" indent="-299085">
              <a:lnSpc>
                <a:spcPct val="100000"/>
              </a:lnSpc>
              <a:spcBef>
                <a:spcPts val="445"/>
              </a:spcBef>
              <a:buFont typeface="Arial MT"/>
              <a:buChar char="–"/>
              <a:tabLst>
                <a:tab pos="716915" algn="l"/>
                <a:tab pos="717550" algn="l"/>
              </a:tabLst>
            </a:pPr>
            <a:r>
              <a:rPr sz="1800" spc="-5" dirty="0">
                <a:latin typeface="Calibri"/>
                <a:cs typeface="Calibri"/>
              </a:rPr>
              <a:t>It</a:t>
            </a:r>
            <a:r>
              <a:rPr sz="1800" spc="-10" dirty="0">
                <a:latin typeface="Calibri"/>
                <a:cs typeface="Calibri"/>
              </a:rPr>
              <a:t> can</a:t>
            </a:r>
            <a:r>
              <a:rPr sz="1800" spc="-5" dirty="0">
                <a:latin typeface="Calibri"/>
                <a:cs typeface="Calibri"/>
              </a:rPr>
              <a:t> be used in </a:t>
            </a:r>
            <a:r>
              <a:rPr sz="1800" spc="-10" dirty="0">
                <a:latin typeface="Calibri"/>
                <a:cs typeface="Calibri"/>
              </a:rPr>
              <a:t>variety</a:t>
            </a:r>
            <a:r>
              <a:rPr sz="1800" spc="-5" dirty="0">
                <a:latin typeface="Calibri"/>
                <a:cs typeface="Calibri"/>
              </a:rPr>
              <a:t> of </a:t>
            </a:r>
            <a:r>
              <a:rPr sz="1800" spc="-10" dirty="0">
                <a:latin typeface="Calibri"/>
                <a:cs typeface="Calibri"/>
              </a:rPr>
              <a:t>situations</a:t>
            </a:r>
            <a:endParaRPr sz="1800">
              <a:latin typeface="Calibri"/>
              <a:cs typeface="Calibri"/>
            </a:endParaRPr>
          </a:p>
        </p:txBody>
      </p:sp>
    </p:spTree>
    <p:extLst>
      <p:ext uri="{BB962C8B-B14F-4D97-AF65-F5344CB8AC3E}">
        <p14:creationId xmlns:p14="http://schemas.microsoft.com/office/powerpoint/2010/main" val="15654891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Next</a:t>
            </a:r>
            <a:r>
              <a:rPr spc="-90" dirty="0"/>
              <a:t> </a:t>
            </a:r>
            <a:r>
              <a:rPr spc="-70" dirty="0"/>
              <a:t>Topics</a:t>
            </a:r>
          </a:p>
        </p:txBody>
      </p:sp>
      <p:sp>
        <p:nvSpPr>
          <p:cNvPr id="3" name="object 3"/>
          <p:cNvSpPr txBox="1"/>
          <p:nvPr/>
        </p:nvSpPr>
        <p:spPr>
          <a:xfrm>
            <a:off x="575915" y="775341"/>
            <a:ext cx="4989830" cy="5767705"/>
          </a:xfrm>
          <a:prstGeom prst="rect">
            <a:avLst/>
          </a:prstGeom>
        </p:spPr>
        <p:txBody>
          <a:bodyPr vert="horz" wrap="square" lIns="0" tIns="88265" rIns="0" bIns="0" rtlCol="0">
            <a:spAutoFit/>
          </a:bodyPr>
          <a:lstStyle/>
          <a:p>
            <a:pPr marL="309245" indent="-297180">
              <a:lnSpc>
                <a:spcPct val="100000"/>
              </a:lnSpc>
              <a:spcBef>
                <a:spcPts val="695"/>
              </a:spcBef>
              <a:buFont typeface="Arial MT"/>
              <a:buChar char="•"/>
              <a:tabLst>
                <a:tab pos="309245" algn="l"/>
                <a:tab pos="309880" algn="l"/>
              </a:tabLst>
            </a:pPr>
            <a:r>
              <a:rPr sz="2400" spc="-10" dirty="0">
                <a:latin typeface="Calibri"/>
                <a:cs typeface="Calibri"/>
              </a:rPr>
              <a:t>Uninformed</a:t>
            </a:r>
            <a:r>
              <a:rPr sz="2400" spc="-50" dirty="0">
                <a:latin typeface="Calibri"/>
                <a:cs typeface="Calibri"/>
              </a:rPr>
              <a:t> </a:t>
            </a:r>
            <a:r>
              <a:rPr sz="2400" spc="-10" dirty="0">
                <a:latin typeface="Calibri"/>
                <a:cs typeface="Calibri"/>
              </a:rPr>
              <a:t>search</a:t>
            </a:r>
            <a:endParaRPr sz="2400">
              <a:latin typeface="Calibri"/>
              <a:cs typeface="Calibri"/>
            </a:endParaRPr>
          </a:p>
          <a:p>
            <a:pPr marL="709295" lvl="1" indent="-302895">
              <a:lnSpc>
                <a:spcPct val="100000"/>
              </a:lnSpc>
              <a:spcBef>
                <a:spcPts val="600"/>
              </a:spcBef>
              <a:buFont typeface="Arial MT"/>
              <a:buChar char="–"/>
              <a:tabLst>
                <a:tab pos="709295" algn="l"/>
                <a:tab pos="709930" algn="l"/>
              </a:tabLst>
            </a:pPr>
            <a:r>
              <a:rPr sz="2400" spc="-15" dirty="0">
                <a:latin typeface="Calibri"/>
                <a:cs typeface="Calibri"/>
              </a:rPr>
              <a:t>Breadth-first,</a:t>
            </a:r>
            <a:r>
              <a:rPr sz="2400" spc="-30" dirty="0">
                <a:latin typeface="Calibri"/>
                <a:cs typeface="Calibri"/>
              </a:rPr>
              <a:t> </a:t>
            </a:r>
            <a:r>
              <a:rPr sz="2400" spc="-15" dirty="0">
                <a:latin typeface="Calibri"/>
                <a:cs typeface="Calibri"/>
              </a:rPr>
              <a:t>depth-first</a:t>
            </a:r>
            <a:endParaRPr sz="2400">
              <a:latin typeface="Calibri"/>
              <a:cs typeface="Calibri"/>
            </a:endParaRPr>
          </a:p>
          <a:p>
            <a:pPr marL="709295" lvl="1" indent="-302895">
              <a:lnSpc>
                <a:spcPct val="100000"/>
              </a:lnSpc>
              <a:spcBef>
                <a:spcPts val="600"/>
              </a:spcBef>
              <a:buFont typeface="Arial MT"/>
              <a:buChar char="–"/>
              <a:tabLst>
                <a:tab pos="709295" algn="l"/>
                <a:tab pos="709930" algn="l"/>
              </a:tabLst>
            </a:pPr>
            <a:r>
              <a:rPr sz="2400" spc="-15" dirty="0">
                <a:latin typeface="Calibri"/>
                <a:cs typeface="Calibri"/>
              </a:rPr>
              <a:t>Uniform</a:t>
            </a:r>
            <a:r>
              <a:rPr sz="2400" spc="-35" dirty="0">
                <a:latin typeface="Calibri"/>
                <a:cs typeface="Calibri"/>
              </a:rPr>
              <a:t> </a:t>
            </a:r>
            <a:r>
              <a:rPr sz="2400" spc="-15" dirty="0">
                <a:latin typeface="Calibri"/>
                <a:cs typeface="Calibri"/>
              </a:rPr>
              <a:t>cost</a:t>
            </a:r>
            <a:endParaRPr sz="2400">
              <a:latin typeface="Calibri"/>
              <a:cs typeface="Calibri"/>
            </a:endParaRPr>
          </a:p>
          <a:p>
            <a:pPr marL="709295" lvl="1" indent="-302895">
              <a:lnSpc>
                <a:spcPct val="100000"/>
              </a:lnSpc>
              <a:spcBef>
                <a:spcPts val="595"/>
              </a:spcBef>
              <a:buFont typeface="Arial MT"/>
              <a:buChar char="–"/>
              <a:tabLst>
                <a:tab pos="709295" algn="l"/>
                <a:tab pos="709930" algn="l"/>
              </a:tabLst>
            </a:pPr>
            <a:r>
              <a:rPr sz="2400" spc="-20" dirty="0">
                <a:latin typeface="Calibri"/>
                <a:cs typeface="Calibri"/>
              </a:rPr>
              <a:t>Iterative</a:t>
            </a:r>
            <a:r>
              <a:rPr sz="2400" spc="-35" dirty="0">
                <a:latin typeface="Calibri"/>
                <a:cs typeface="Calibri"/>
              </a:rPr>
              <a:t> </a:t>
            </a:r>
            <a:r>
              <a:rPr sz="2400" spc="-5" dirty="0">
                <a:latin typeface="Calibri"/>
                <a:cs typeface="Calibri"/>
              </a:rPr>
              <a:t>deepening</a:t>
            </a:r>
            <a:endParaRPr sz="2400">
              <a:latin typeface="Calibri"/>
              <a:cs typeface="Calibri"/>
            </a:endParaRPr>
          </a:p>
          <a:p>
            <a:pPr marL="309245" indent="-297180">
              <a:lnSpc>
                <a:spcPct val="100000"/>
              </a:lnSpc>
              <a:spcBef>
                <a:spcPts val="600"/>
              </a:spcBef>
              <a:buFont typeface="Arial MT"/>
              <a:buChar char="•"/>
              <a:tabLst>
                <a:tab pos="309245" algn="l"/>
                <a:tab pos="309880" algn="l"/>
              </a:tabLst>
            </a:pPr>
            <a:r>
              <a:rPr sz="2400" spc="-15" dirty="0">
                <a:latin typeface="Calibri"/>
                <a:cs typeface="Calibri"/>
              </a:rPr>
              <a:t>Informed </a:t>
            </a:r>
            <a:r>
              <a:rPr sz="2400" spc="-10" dirty="0">
                <a:latin typeface="Calibri"/>
                <a:cs typeface="Calibri"/>
              </a:rPr>
              <a:t>(heuristic)</a:t>
            </a:r>
            <a:r>
              <a:rPr sz="2400" spc="-20" dirty="0">
                <a:latin typeface="Calibri"/>
                <a:cs typeface="Calibri"/>
              </a:rPr>
              <a:t> </a:t>
            </a:r>
            <a:r>
              <a:rPr sz="2400" spc="-10" dirty="0">
                <a:latin typeface="Calibri"/>
                <a:cs typeface="Calibri"/>
              </a:rPr>
              <a:t>search</a:t>
            </a:r>
            <a:endParaRPr sz="2400">
              <a:latin typeface="Calibri"/>
              <a:cs typeface="Calibri"/>
            </a:endParaRPr>
          </a:p>
          <a:p>
            <a:pPr marL="709295" lvl="1" indent="-302895">
              <a:lnSpc>
                <a:spcPct val="100000"/>
              </a:lnSpc>
              <a:spcBef>
                <a:spcPts val="595"/>
              </a:spcBef>
              <a:buFont typeface="Arial MT"/>
              <a:buChar char="–"/>
              <a:tabLst>
                <a:tab pos="709295" algn="l"/>
                <a:tab pos="709930" algn="l"/>
              </a:tabLst>
            </a:pPr>
            <a:r>
              <a:rPr sz="2400" spc="-10" dirty="0">
                <a:latin typeface="Calibri"/>
                <a:cs typeface="Calibri"/>
              </a:rPr>
              <a:t>Greedy</a:t>
            </a:r>
            <a:r>
              <a:rPr sz="2400" spc="-35" dirty="0">
                <a:latin typeface="Calibri"/>
                <a:cs typeface="Calibri"/>
              </a:rPr>
              <a:t> </a:t>
            </a:r>
            <a:r>
              <a:rPr sz="2400" spc="-25" dirty="0">
                <a:latin typeface="Calibri"/>
                <a:cs typeface="Calibri"/>
              </a:rPr>
              <a:t>best-first</a:t>
            </a:r>
            <a:endParaRPr sz="2400">
              <a:latin typeface="Calibri"/>
              <a:cs typeface="Calibri"/>
            </a:endParaRPr>
          </a:p>
          <a:p>
            <a:pPr marL="709295" lvl="1" indent="-302895">
              <a:lnSpc>
                <a:spcPct val="100000"/>
              </a:lnSpc>
              <a:spcBef>
                <a:spcPts val="600"/>
              </a:spcBef>
              <a:buFont typeface="Arial MT"/>
              <a:buChar char="–"/>
              <a:tabLst>
                <a:tab pos="709295" algn="l"/>
                <a:tab pos="709930" algn="l"/>
              </a:tabLst>
            </a:pPr>
            <a:r>
              <a:rPr sz="2400" spc="-5" dirty="0">
                <a:latin typeface="Calibri"/>
                <a:cs typeface="Calibri"/>
              </a:rPr>
              <a:t>A*</a:t>
            </a:r>
            <a:endParaRPr sz="2400">
              <a:latin typeface="Calibri"/>
              <a:cs typeface="Calibri"/>
            </a:endParaRPr>
          </a:p>
          <a:p>
            <a:pPr marL="709295" lvl="1" indent="-302895">
              <a:lnSpc>
                <a:spcPct val="100000"/>
              </a:lnSpc>
              <a:spcBef>
                <a:spcPts val="595"/>
              </a:spcBef>
              <a:buFont typeface="Arial MT"/>
              <a:buChar char="–"/>
              <a:tabLst>
                <a:tab pos="709295" algn="l"/>
                <a:tab pos="709930" algn="l"/>
              </a:tabLst>
            </a:pPr>
            <a:r>
              <a:rPr sz="2400" spc="-10" dirty="0">
                <a:latin typeface="Calibri"/>
                <a:cs typeface="Calibri"/>
              </a:rPr>
              <a:t>Memory-bounded</a:t>
            </a:r>
            <a:r>
              <a:rPr sz="2400" spc="-25" dirty="0">
                <a:latin typeface="Calibri"/>
                <a:cs typeface="Calibri"/>
              </a:rPr>
              <a:t> </a:t>
            </a:r>
            <a:r>
              <a:rPr sz="2400" spc="-10" dirty="0">
                <a:latin typeface="Calibri"/>
                <a:cs typeface="Calibri"/>
              </a:rPr>
              <a:t>heuristic</a:t>
            </a:r>
            <a:r>
              <a:rPr sz="2400" spc="-20" dirty="0">
                <a:latin typeface="Calibri"/>
                <a:cs typeface="Calibri"/>
              </a:rPr>
              <a:t> </a:t>
            </a:r>
            <a:r>
              <a:rPr sz="2400" spc="-10" dirty="0">
                <a:latin typeface="Calibri"/>
                <a:cs typeface="Calibri"/>
              </a:rPr>
              <a:t>search</a:t>
            </a:r>
            <a:endParaRPr sz="2400">
              <a:latin typeface="Calibri"/>
              <a:cs typeface="Calibri"/>
            </a:endParaRPr>
          </a:p>
          <a:p>
            <a:pPr marL="709295" lvl="1" indent="-302895">
              <a:lnSpc>
                <a:spcPct val="100000"/>
              </a:lnSpc>
              <a:spcBef>
                <a:spcPts val="600"/>
              </a:spcBef>
              <a:buFont typeface="Arial MT"/>
              <a:buChar char="–"/>
              <a:tabLst>
                <a:tab pos="709295" algn="l"/>
                <a:tab pos="709930" algn="l"/>
              </a:tabLst>
            </a:pPr>
            <a:r>
              <a:rPr sz="2400" spc="-5" dirty="0">
                <a:latin typeface="Calibri"/>
                <a:cs typeface="Calibri"/>
              </a:rPr>
              <a:t>And</a:t>
            </a:r>
            <a:r>
              <a:rPr sz="2400" spc="-35" dirty="0">
                <a:latin typeface="Calibri"/>
                <a:cs typeface="Calibri"/>
              </a:rPr>
              <a:t> </a:t>
            </a:r>
            <a:r>
              <a:rPr sz="2400" spc="-10" dirty="0">
                <a:latin typeface="Calibri"/>
                <a:cs typeface="Calibri"/>
              </a:rPr>
              <a:t>more</a:t>
            </a:r>
            <a:r>
              <a:rPr sz="2400" spc="-10" dirty="0">
                <a:latin typeface="Arial MT"/>
                <a:cs typeface="Arial MT"/>
              </a:rPr>
              <a:t>…</a:t>
            </a:r>
            <a:r>
              <a:rPr sz="2400" spc="-10" dirty="0">
                <a:latin typeface="Calibri"/>
                <a:cs typeface="Calibri"/>
              </a:rPr>
              <a:t>.</a:t>
            </a:r>
            <a:endParaRPr sz="2400">
              <a:latin typeface="Calibri"/>
              <a:cs typeface="Calibri"/>
            </a:endParaRPr>
          </a:p>
          <a:p>
            <a:pPr marL="309245" indent="-297180">
              <a:lnSpc>
                <a:spcPct val="100000"/>
              </a:lnSpc>
              <a:spcBef>
                <a:spcPts val="600"/>
              </a:spcBef>
              <a:buFont typeface="Arial MT"/>
              <a:buChar char="•"/>
              <a:tabLst>
                <a:tab pos="309245" algn="l"/>
                <a:tab pos="309880" algn="l"/>
              </a:tabLst>
            </a:pPr>
            <a:r>
              <a:rPr sz="2400" spc="-10" dirty="0">
                <a:latin typeface="Calibri"/>
                <a:cs typeface="Calibri"/>
              </a:rPr>
              <a:t>Local</a:t>
            </a:r>
            <a:r>
              <a:rPr sz="2400" spc="-15" dirty="0">
                <a:latin typeface="Calibri"/>
                <a:cs typeface="Calibri"/>
              </a:rPr>
              <a:t> </a:t>
            </a:r>
            <a:r>
              <a:rPr sz="2400" spc="-10" dirty="0">
                <a:latin typeface="Calibri"/>
                <a:cs typeface="Calibri"/>
              </a:rPr>
              <a:t>search </a:t>
            </a:r>
            <a:r>
              <a:rPr sz="2400" dirty="0">
                <a:latin typeface="Calibri"/>
                <a:cs typeface="Calibri"/>
              </a:rPr>
              <a:t>and</a:t>
            </a:r>
            <a:r>
              <a:rPr sz="2400" spc="-15" dirty="0">
                <a:latin typeface="Calibri"/>
                <a:cs typeface="Calibri"/>
              </a:rPr>
              <a:t> optimization</a:t>
            </a:r>
            <a:endParaRPr sz="2400">
              <a:latin typeface="Calibri"/>
              <a:cs typeface="Calibri"/>
            </a:endParaRPr>
          </a:p>
          <a:p>
            <a:pPr marL="709295" lvl="1" indent="-302895">
              <a:lnSpc>
                <a:spcPct val="100000"/>
              </a:lnSpc>
              <a:spcBef>
                <a:spcPts val="595"/>
              </a:spcBef>
              <a:buFont typeface="Arial MT"/>
              <a:buChar char="–"/>
              <a:tabLst>
                <a:tab pos="709295" algn="l"/>
                <a:tab pos="709930" algn="l"/>
              </a:tabLst>
            </a:pPr>
            <a:r>
              <a:rPr sz="2400" spc="-5" dirty="0">
                <a:latin typeface="Calibri"/>
                <a:cs typeface="Calibri"/>
              </a:rPr>
              <a:t>Hill-climbing</a:t>
            </a:r>
            <a:endParaRPr sz="2400">
              <a:latin typeface="Calibri"/>
              <a:cs typeface="Calibri"/>
            </a:endParaRPr>
          </a:p>
          <a:p>
            <a:pPr marL="709295" lvl="1" indent="-302895">
              <a:lnSpc>
                <a:spcPct val="100000"/>
              </a:lnSpc>
              <a:spcBef>
                <a:spcPts val="600"/>
              </a:spcBef>
              <a:buFont typeface="Arial MT"/>
              <a:buChar char="–"/>
              <a:tabLst>
                <a:tab pos="709295" algn="l"/>
                <a:tab pos="709930" algn="l"/>
              </a:tabLst>
            </a:pPr>
            <a:r>
              <a:rPr sz="2400" spc="-10" dirty="0">
                <a:latin typeface="Calibri"/>
                <a:cs typeface="Calibri"/>
              </a:rPr>
              <a:t>Simulated</a:t>
            </a:r>
            <a:r>
              <a:rPr sz="2400" spc="-45" dirty="0">
                <a:latin typeface="Calibri"/>
                <a:cs typeface="Calibri"/>
              </a:rPr>
              <a:t> </a:t>
            </a:r>
            <a:r>
              <a:rPr sz="2400" dirty="0">
                <a:latin typeface="Calibri"/>
                <a:cs typeface="Calibri"/>
              </a:rPr>
              <a:t>annealing</a:t>
            </a:r>
            <a:endParaRPr sz="2400">
              <a:latin typeface="Calibri"/>
              <a:cs typeface="Calibri"/>
            </a:endParaRPr>
          </a:p>
          <a:p>
            <a:pPr marL="709295" lvl="1" indent="-302895">
              <a:lnSpc>
                <a:spcPct val="100000"/>
              </a:lnSpc>
              <a:spcBef>
                <a:spcPts val="595"/>
              </a:spcBef>
              <a:buFont typeface="Arial MT"/>
              <a:buChar char="–"/>
              <a:tabLst>
                <a:tab pos="709295" algn="l"/>
                <a:tab pos="709930" algn="l"/>
              </a:tabLst>
            </a:pPr>
            <a:r>
              <a:rPr sz="2400" spc="-10" dirty="0">
                <a:latin typeface="Calibri"/>
                <a:cs typeface="Calibri"/>
              </a:rPr>
              <a:t>Genetic</a:t>
            </a:r>
            <a:r>
              <a:rPr sz="2400" spc="-35" dirty="0">
                <a:latin typeface="Calibri"/>
                <a:cs typeface="Calibri"/>
              </a:rPr>
              <a:t> </a:t>
            </a:r>
            <a:r>
              <a:rPr sz="2400" spc="-5" dirty="0">
                <a:latin typeface="Calibri"/>
                <a:cs typeface="Calibri"/>
              </a:rPr>
              <a:t>algorithms</a:t>
            </a:r>
            <a:endParaRPr sz="2400">
              <a:latin typeface="Calibri"/>
              <a:cs typeface="Calibri"/>
            </a:endParaRPr>
          </a:p>
        </p:txBody>
      </p:sp>
    </p:spTree>
    <p:extLst>
      <p:ext uri="{BB962C8B-B14F-4D97-AF65-F5344CB8AC3E}">
        <p14:creationId xmlns:p14="http://schemas.microsoft.com/office/powerpoint/2010/main" val="16713027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11799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13255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22433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3283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78853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60744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317439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0537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TotalTime>
  <Words>4640</Words>
  <Application>Microsoft Office PowerPoint</Application>
  <PresentationFormat>On-screen Show (4:3)</PresentationFormat>
  <Paragraphs>803</Paragraphs>
  <Slides>108</Slides>
  <Notes>6</Notes>
  <HiddenSlides>0</HiddenSlides>
  <MMClips>0</MMClips>
  <ScaleCrop>false</ScaleCrop>
  <HeadingPairs>
    <vt:vector size="4" baseType="variant">
      <vt:variant>
        <vt:lpstr>Theme</vt:lpstr>
      </vt:variant>
      <vt:variant>
        <vt:i4>1</vt:i4>
      </vt:variant>
      <vt:variant>
        <vt:lpstr>Slide Titles</vt:lpstr>
      </vt:variant>
      <vt:variant>
        <vt:i4>108</vt:i4>
      </vt:variant>
    </vt:vector>
  </HeadingPairs>
  <TitlesOfParts>
    <vt:vector size="109" baseType="lpstr">
      <vt:lpstr>Office Theme</vt:lpstr>
      <vt:lpstr>Unit - 1</vt:lpstr>
      <vt:lpstr>What is Artificial Intelligence</vt:lpstr>
      <vt:lpstr>More Formal Definition of AI</vt:lpstr>
      <vt:lpstr>What is Intelligence?</vt:lpstr>
      <vt:lpstr>PowerPoint Presentation</vt:lpstr>
      <vt:lpstr>Characteristics of AI systems</vt:lpstr>
      <vt:lpstr>Contd..</vt:lpstr>
      <vt:lpstr>Understanding of AI </vt:lpstr>
      <vt:lpstr>PowerPoint Presentation</vt:lpstr>
      <vt:lpstr>PowerPoint Presentation</vt:lpstr>
      <vt:lpstr>Categories of AI System</vt:lpstr>
      <vt:lpstr>PowerPoint Presentation</vt:lpstr>
      <vt:lpstr>The Turing Test  </vt:lpstr>
      <vt:lpstr>ELIZA</vt:lpstr>
      <vt:lpstr>PowerPoint Presentation</vt:lpstr>
      <vt:lpstr>PowerPoint Presentation</vt:lpstr>
      <vt:lpstr>PowerPoint Presentation</vt:lpstr>
      <vt:lpstr>PowerPoint Presentation</vt:lpstr>
      <vt:lpstr>Foundations of AI</vt:lpstr>
      <vt:lpstr>Two Views of AI Goals</vt:lpstr>
      <vt:lpstr>AI problems</vt:lpstr>
      <vt:lpstr>AI Technique</vt:lpstr>
      <vt:lpstr>Applications </vt:lpstr>
      <vt:lpstr>History of AI</vt:lpstr>
      <vt:lpstr>History of AI</vt:lpstr>
      <vt:lpstr>History of AI</vt:lpstr>
      <vt:lpstr>PowerPoint Presentation</vt:lpstr>
      <vt:lpstr>Intelligent Agents</vt:lpstr>
      <vt:lpstr>Agents</vt:lpstr>
      <vt:lpstr>Agents contd..</vt:lpstr>
      <vt:lpstr>Agents and environments</vt:lpstr>
      <vt:lpstr>Vacuum-cleaner world</vt:lpstr>
      <vt:lpstr>Rational agents</vt:lpstr>
      <vt:lpstr>Rational agents</vt:lpstr>
      <vt:lpstr>Rational agents</vt:lpstr>
      <vt:lpstr>PEAS</vt:lpstr>
      <vt:lpstr>the task of designing an  automated taxi driver</vt:lpstr>
      <vt:lpstr>PowerPoint Presentation</vt:lpstr>
      <vt:lpstr>Agent: Medical diagnosis system</vt:lpstr>
      <vt:lpstr>PowerPoint Presentation</vt:lpstr>
      <vt:lpstr>Agent: Interactive English tutor</vt:lpstr>
      <vt:lpstr>Agent</vt:lpstr>
      <vt:lpstr>PowerPoint Presentation</vt:lpstr>
      <vt:lpstr>PROPERTIES OF ENVIRONMENT  </vt:lpstr>
      <vt:lpstr>1. Fully observable vs Partially Observable: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Agents</vt:lpstr>
      <vt:lpstr>Table Driven Agents:</vt:lpstr>
      <vt:lpstr>Simple Reflex Agents or Percept  based</vt:lpstr>
      <vt:lpstr>Model based reflex Agents</vt:lpstr>
      <vt:lpstr>Goal based Agents</vt:lpstr>
      <vt:lpstr>Utility based Agents</vt:lpstr>
      <vt:lpstr>Environment types</vt:lpstr>
      <vt:lpstr>Environment types</vt:lpstr>
      <vt:lpstr>Problem Solving Agent</vt:lpstr>
      <vt:lpstr>Types Of Problems</vt:lpstr>
      <vt:lpstr>Contd..</vt:lpstr>
      <vt:lpstr>Contd..</vt:lpstr>
      <vt:lpstr>PowerPoint Presentation</vt:lpstr>
      <vt:lpstr>PowerPoint Presentation</vt:lpstr>
      <vt:lpstr>PowerPoint Presentation</vt:lpstr>
      <vt:lpstr>Problem-Solving Agents</vt:lpstr>
      <vt:lpstr>PowerPoint Presentation</vt:lpstr>
      <vt:lpstr>PowerPoint Presentation</vt:lpstr>
      <vt:lpstr>PowerPoint Presentation</vt:lpstr>
      <vt:lpstr>PowerPoint Presentation</vt:lpstr>
      <vt:lpstr>The State-Space Graph</vt:lpstr>
      <vt:lpstr>Some example problems</vt:lpstr>
      <vt:lpstr>PowerPoint Presentation</vt:lpstr>
      <vt:lpstr>The 8-Queens Problem</vt:lpstr>
      <vt:lpstr>Missionaries and Cannibals</vt:lpstr>
      <vt:lpstr>Missionaries and Cannibals Solution</vt:lpstr>
      <vt:lpstr>Cryptarithmetic</vt:lpstr>
      <vt:lpstr>Remove 5 Sticks</vt:lpstr>
      <vt:lpstr>A Water Jug Problem</vt:lpstr>
      <vt:lpstr>Puzzle-solving as Search</vt:lpstr>
      <vt:lpstr>Production Rules for the Water Jug Problem</vt:lpstr>
      <vt:lpstr>The Water Jug Problem (cont’d)</vt:lpstr>
      <vt:lpstr>Can Computers beat Humans at</vt:lpstr>
      <vt:lpstr>Can we build hardware as complex as the brain?</vt:lpstr>
      <vt:lpstr>Can Computers Talk?</vt:lpstr>
      <vt:lpstr>Can Computers Recognize Speech?</vt:lpstr>
      <vt:lpstr>Recognizing human speech (ctd.)</vt:lpstr>
      <vt:lpstr>Can Computers Understand speech?</vt:lpstr>
      <vt:lpstr>Can Computers Learn and Adapt ?</vt:lpstr>
      <vt:lpstr>Can Computers “see”?</vt:lpstr>
      <vt:lpstr>Can computers plan and make optimal decisions?</vt:lpstr>
      <vt:lpstr>AI Technique</vt:lpstr>
      <vt:lpstr>Next Topics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- 1</dc:title>
  <dc:creator>CC4</dc:creator>
  <cp:lastModifiedBy>CC4</cp:lastModifiedBy>
  <cp:revision>8</cp:revision>
  <dcterms:created xsi:type="dcterms:W3CDTF">2025-01-20T07:55:38Z</dcterms:created>
  <dcterms:modified xsi:type="dcterms:W3CDTF">2025-01-30T10:23:15Z</dcterms:modified>
</cp:coreProperties>
</file>