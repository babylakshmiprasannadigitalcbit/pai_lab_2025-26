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0"/>
  </p:notesMasterIdLst>
  <p:sldIdLst>
    <p:sldId id="256" r:id="rId2"/>
    <p:sldId id="258" r:id="rId3"/>
    <p:sldId id="257" r:id="rId4"/>
    <p:sldId id="259" r:id="rId5"/>
    <p:sldId id="263" r:id="rId6"/>
    <p:sldId id="260" r:id="rId7"/>
    <p:sldId id="261" r:id="rId8"/>
    <p:sldId id="262" r:id="rId9"/>
    <p:sldId id="264" r:id="rId10"/>
    <p:sldId id="267" r:id="rId11"/>
    <p:sldId id="265" r:id="rId12"/>
    <p:sldId id="268" r:id="rId13"/>
    <p:sldId id="272" r:id="rId14"/>
    <p:sldId id="269" r:id="rId15"/>
    <p:sldId id="271" r:id="rId16"/>
    <p:sldId id="273" r:id="rId17"/>
    <p:sldId id="274" r:id="rId18"/>
    <p:sldId id="276" r:id="rId19"/>
    <p:sldId id="277" r:id="rId20"/>
    <p:sldId id="278" r:id="rId21"/>
    <p:sldId id="305" r:id="rId22"/>
    <p:sldId id="306" r:id="rId23"/>
    <p:sldId id="309" r:id="rId24"/>
    <p:sldId id="311" r:id="rId25"/>
    <p:sldId id="313" r:id="rId26"/>
    <p:sldId id="314" r:id="rId27"/>
    <p:sldId id="315" r:id="rId28"/>
    <p:sldId id="316" r:id="rId29"/>
    <p:sldId id="317" r:id="rId30"/>
    <p:sldId id="318" r:id="rId31"/>
    <p:sldId id="323" r:id="rId32"/>
    <p:sldId id="324" r:id="rId33"/>
    <p:sldId id="321" r:id="rId34"/>
    <p:sldId id="322" r:id="rId35"/>
    <p:sldId id="279" r:id="rId36"/>
    <p:sldId id="280" r:id="rId37"/>
    <p:sldId id="281" r:id="rId38"/>
    <p:sldId id="282" r:id="rId39"/>
    <p:sldId id="283" r:id="rId40"/>
    <p:sldId id="284" r:id="rId41"/>
    <p:sldId id="285" r:id="rId42"/>
    <p:sldId id="286" r:id="rId43"/>
    <p:sldId id="287" r:id="rId44"/>
    <p:sldId id="288" r:id="rId45"/>
    <p:sldId id="266" r:id="rId46"/>
    <p:sldId id="290" r:id="rId47"/>
    <p:sldId id="291" r:id="rId48"/>
    <p:sldId id="292" r:id="rId49"/>
    <p:sldId id="295" r:id="rId50"/>
    <p:sldId id="300" r:id="rId51"/>
    <p:sldId id="301" r:id="rId52"/>
    <p:sldId id="302" r:id="rId53"/>
    <p:sldId id="296" r:id="rId54"/>
    <p:sldId id="297" r:id="rId55"/>
    <p:sldId id="298" r:id="rId56"/>
    <p:sldId id="303" r:id="rId57"/>
    <p:sldId id="325" r:id="rId58"/>
    <p:sldId id="326"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64" d="100"/>
          <a:sy n="64" d="100"/>
        </p:scale>
        <p:origin x="-712" y="-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15AD64-9506-444B-B557-E6A7E0C91853}" type="datetimeFigureOut">
              <a:rPr lang="en-IN" smtClean="0"/>
              <a:t>03-03-2025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CED3AC-B644-4A9D-8AB7-E82E8B5EB61C}" type="slidenum">
              <a:rPr lang="en-IN" smtClean="0"/>
              <a:t>‹#›</a:t>
            </a:fld>
            <a:endParaRPr lang="en-IN"/>
          </a:p>
        </p:txBody>
      </p:sp>
    </p:spTree>
    <p:extLst>
      <p:ext uri="{BB962C8B-B14F-4D97-AF65-F5344CB8AC3E}">
        <p14:creationId xmlns:p14="http://schemas.microsoft.com/office/powerpoint/2010/main" val="2960093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25935E-1533-605E-45D6-700B63042A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575B969C-1207-C910-BB64-35E2FFD353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8A371EEA-7317-53BF-36E4-D1B0C621ADC5}"/>
              </a:ext>
            </a:extLst>
          </p:cNvPr>
          <p:cNvSpPr>
            <a:spLocks noGrp="1"/>
          </p:cNvSpPr>
          <p:nvPr>
            <p:ph type="dt" sz="half" idx="10"/>
          </p:nvPr>
        </p:nvSpPr>
        <p:spPr/>
        <p:txBody>
          <a:bodyPr/>
          <a:lstStyle/>
          <a:p>
            <a:fld id="{36BB185E-166F-4762-B42B-B51874ECD2CA}" type="datetime1">
              <a:rPr lang="en-IN" smtClean="0"/>
              <a:t>03-03-2025</a:t>
            </a:fld>
            <a:endParaRPr lang="en-IN"/>
          </a:p>
        </p:txBody>
      </p:sp>
      <p:sp>
        <p:nvSpPr>
          <p:cNvPr id="5" name="Footer Placeholder 4">
            <a:extLst>
              <a:ext uri="{FF2B5EF4-FFF2-40B4-BE49-F238E27FC236}">
                <a16:creationId xmlns:a16="http://schemas.microsoft.com/office/drawing/2014/main" xmlns="" id="{0E979E85-157C-CD5C-2F70-1D5BA5FBAEE3}"/>
              </a:ext>
            </a:extLst>
          </p:cNvPr>
          <p:cNvSpPr>
            <a:spLocks noGrp="1"/>
          </p:cNvSpPr>
          <p:nvPr>
            <p:ph type="ftr" sz="quarter" idx="11"/>
          </p:nvPr>
        </p:nvSpPr>
        <p:spPr/>
        <p:txBody>
          <a:bodyPr/>
          <a:lstStyle/>
          <a:p>
            <a:r>
              <a:rPr lang="en-IN"/>
              <a:t>G.MAMATHA, CET, CBIT</a:t>
            </a:r>
          </a:p>
        </p:txBody>
      </p:sp>
      <p:sp>
        <p:nvSpPr>
          <p:cNvPr id="6" name="Slide Number Placeholder 5">
            <a:extLst>
              <a:ext uri="{FF2B5EF4-FFF2-40B4-BE49-F238E27FC236}">
                <a16:creationId xmlns:a16="http://schemas.microsoft.com/office/drawing/2014/main" xmlns="" id="{8F8BDBF8-096B-2346-C76B-B46985D52430}"/>
              </a:ext>
            </a:extLst>
          </p:cNvPr>
          <p:cNvSpPr>
            <a:spLocks noGrp="1"/>
          </p:cNvSpPr>
          <p:nvPr>
            <p:ph type="sldNum" sz="quarter" idx="12"/>
          </p:nvPr>
        </p:nvSpPr>
        <p:spPr/>
        <p:txBody>
          <a:bodyPr/>
          <a:lstStyle/>
          <a:p>
            <a:fld id="{3CAAA93B-7ACF-4A17-9EB8-00567695852F}" type="slidenum">
              <a:rPr lang="en-IN" smtClean="0"/>
              <a:t>‹#›</a:t>
            </a:fld>
            <a:endParaRPr lang="en-IN"/>
          </a:p>
        </p:txBody>
      </p:sp>
    </p:spTree>
    <p:extLst>
      <p:ext uri="{BB962C8B-B14F-4D97-AF65-F5344CB8AC3E}">
        <p14:creationId xmlns:p14="http://schemas.microsoft.com/office/powerpoint/2010/main" val="2150288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CFC999-473F-5277-0363-291129B261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2074B4C5-2CE1-23D5-386F-7345470856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C6133A7-841E-9902-5F0E-60AC3A83DD9A}"/>
              </a:ext>
            </a:extLst>
          </p:cNvPr>
          <p:cNvSpPr>
            <a:spLocks noGrp="1"/>
          </p:cNvSpPr>
          <p:nvPr>
            <p:ph type="dt" sz="half" idx="10"/>
          </p:nvPr>
        </p:nvSpPr>
        <p:spPr/>
        <p:txBody>
          <a:bodyPr/>
          <a:lstStyle/>
          <a:p>
            <a:fld id="{31B94D94-1D91-4BAE-B014-E35C5F9BA368}" type="datetime1">
              <a:rPr lang="en-IN" smtClean="0"/>
              <a:t>03-03-2025</a:t>
            </a:fld>
            <a:endParaRPr lang="en-IN"/>
          </a:p>
        </p:txBody>
      </p:sp>
      <p:sp>
        <p:nvSpPr>
          <p:cNvPr id="5" name="Footer Placeholder 4">
            <a:extLst>
              <a:ext uri="{FF2B5EF4-FFF2-40B4-BE49-F238E27FC236}">
                <a16:creationId xmlns:a16="http://schemas.microsoft.com/office/drawing/2014/main" xmlns="" id="{AD00800B-4C21-F65D-62B5-0AA7D087977E}"/>
              </a:ext>
            </a:extLst>
          </p:cNvPr>
          <p:cNvSpPr>
            <a:spLocks noGrp="1"/>
          </p:cNvSpPr>
          <p:nvPr>
            <p:ph type="ftr" sz="quarter" idx="11"/>
          </p:nvPr>
        </p:nvSpPr>
        <p:spPr/>
        <p:txBody>
          <a:bodyPr/>
          <a:lstStyle/>
          <a:p>
            <a:r>
              <a:rPr lang="en-IN"/>
              <a:t>G.MAMATHA, CET, CBIT</a:t>
            </a:r>
          </a:p>
        </p:txBody>
      </p:sp>
      <p:sp>
        <p:nvSpPr>
          <p:cNvPr id="6" name="Slide Number Placeholder 5">
            <a:extLst>
              <a:ext uri="{FF2B5EF4-FFF2-40B4-BE49-F238E27FC236}">
                <a16:creationId xmlns:a16="http://schemas.microsoft.com/office/drawing/2014/main" xmlns="" id="{899FA91A-3408-61B7-8CDB-6DE753BD9271}"/>
              </a:ext>
            </a:extLst>
          </p:cNvPr>
          <p:cNvSpPr>
            <a:spLocks noGrp="1"/>
          </p:cNvSpPr>
          <p:nvPr>
            <p:ph type="sldNum" sz="quarter" idx="12"/>
          </p:nvPr>
        </p:nvSpPr>
        <p:spPr/>
        <p:txBody>
          <a:bodyPr/>
          <a:lstStyle/>
          <a:p>
            <a:fld id="{3CAAA93B-7ACF-4A17-9EB8-00567695852F}" type="slidenum">
              <a:rPr lang="en-IN" smtClean="0"/>
              <a:t>‹#›</a:t>
            </a:fld>
            <a:endParaRPr lang="en-IN"/>
          </a:p>
        </p:txBody>
      </p:sp>
    </p:spTree>
    <p:extLst>
      <p:ext uri="{BB962C8B-B14F-4D97-AF65-F5344CB8AC3E}">
        <p14:creationId xmlns:p14="http://schemas.microsoft.com/office/powerpoint/2010/main" val="240774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17E2E2-4627-D7C6-BA17-9576B930B0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0808054-2025-DAF1-70B6-EB0D7392DA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E2FB5AF0-BF77-5D02-129C-4F5DD776F59E}"/>
              </a:ext>
            </a:extLst>
          </p:cNvPr>
          <p:cNvSpPr>
            <a:spLocks noGrp="1"/>
          </p:cNvSpPr>
          <p:nvPr>
            <p:ph type="dt" sz="half" idx="10"/>
          </p:nvPr>
        </p:nvSpPr>
        <p:spPr/>
        <p:txBody>
          <a:bodyPr/>
          <a:lstStyle/>
          <a:p>
            <a:fld id="{AFA10E05-B77A-4A53-87FD-D47084BFD4ED}" type="datetime1">
              <a:rPr lang="en-IN" smtClean="0"/>
              <a:t>03-03-2025</a:t>
            </a:fld>
            <a:endParaRPr lang="en-IN"/>
          </a:p>
        </p:txBody>
      </p:sp>
      <p:sp>
        <p:nvSpPr>
          <p:cNvPr id="5" name="Footer Placeholder 4">
            <a:extLst>
              <a:ext uri="{FF2B5EF4-FFF2-40B4-BE49-F238E27FC236}">
                <a16:creationId xmlns:a16="http://schemas.microsoft.com/office/drawing/2014/main" xmlns="" id="{41500394-0C04-2B3A-C358-6A5CD11374A4}"/>
              </a:ext>
            </a:extLst>
          </p:cNvPr>
          <p:cNvSpPr>
            <a:spLocks noGrp="1"/>
          </p:cNvSpPr>
          <p:nvPr>
            <p:ph type="ftr" sz="quarter" idx="11"/>
          </p:nvPr>
        </p:nvSpPr>
        <p:spPr/>
        <p:txBody>
          <a:bodyPr/>
          <a:lstStyle/>
          <a:p>
            <a:r>
              <a:rPr lang="en-IN"/>
              <a:t>G.MAMATHA, CET, CBIT</a:t>
            </a:r>
          </a:p>
        </p:txBody>
      </p:sp>
      <p:sp>
        <p:nvSpPr>
          <p:cNvPr id="6" name="Slide Number Placeholder 5">
            <a:extLst>
              <a:ext uri="{FF2B5EF4-FFF2-40B4-BE49-F238E27FC236}">
                <a16:creationId xmlns:a16="http://schemas.microsoft.com/office/drawing/2014/main" xmlns="" id="{6A6FE42A-097C-12FD-D0B5-C12101600BA4}"/>
              </a:ext>
            </a:extLst>
          </p:cNvPr>
          <p:cNvSpPr>
            <a:spLocks noGrp="1"/>
          </p:cNvSpPr>
          <p:nvPr>
            <p:ph type="sldNum" sz="quarter" idx="12"/>
          </p:nvPr>
        </p:nvSpPr>
        <p:spPr/>
        <p:txBody>
          <a:bodyPr/>
          <a:lstStyle/>
          <a:p>
            <a:fld id="{3CAAA93B-7ACF-4A17-9EB8-00567695852F}" type="slidenum">
              <a:rPr lang="en-IN" smtClean="0"/>
              <a:t>‹#›</a:t>
            </a:fld>
            <a:endParaRPr lang="en-IN"/>
          </a:p>
        </p:txBody>
      </p:sp>
    </p:spTree>
    <p:extLst>
      <p:ext uri="{BB962C8B-B14F-4D97-AF65-F5344CB8AC3E}">
        <p14:creationId xmlns:p14="http://schemas.microsoft.com/office/powerpoint/2010/main" val="674891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D45808-9B9D-BFCF-F4DB-EACBE9545A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4B6BE4B-8EB1-C4C1-BE92-EBBF092789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CFBC8A79-E661-C11D-B436-8CD2406124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CEC541B6-8865-14AA-1789-F58879A2A2EF}"/>
              </a:ext>
            </a:extLst>
          </p:cNvPr>
          <p:cNvSpPr>
            <a:spLocks noGrp="1"/>
          </p:cNvSpPr>
          <p:nvPr>
            <p:ph type="dt" sz="half" idx="10"/>
          </p:nvPr>
        </p:nvSpPr>
        <p:spPr/>
        <p:txBody>
          <a:bodyPr/>
          <a:lstStyle/>
          <a:p>
            <a:fld id="{33760D62-EFDD-48B8-891E-A1B93DF58D4F}" type="datetime1">
              <a:rPr lang="en-IN" smtClean="0"/>
              <a:t>03-03-2025</a:t>
            </a:fld>
            <a:endParaRPr lang="en-IN"/>
          </a:p>
        </p:txBody>
      </p:sp>
      <p:sp>
        <p:nvSpPr>
          <p:cNvPr id="6" name="Footer Placeholder 5">
            <a:extLst>
              <a:ext uri="{FF2B5EF4-FFF2-40B4-BE49-F238E27FC236}">
                <a16:creationId xmlns:a16="http://schemas.microsoft.com/office/drawing/2014/main" xmlns="" id="{A74663A8-33D1-8093-3472-AB2665D47E8F}"/>
              </a:ext>
            </a:extLst>
          </p:cNvPr>
          <p:cNvSpPr>
            <a:spLocks noGrp="1"/>
          </p:cNvSpPr>
          <p:nvPr>
            <p:ph type="ftr" sz="quarter" idx="11"/>
          </p:nvPr>
        </p:nvSpPr>
        <p:spPr/>
        <p:txBody>
          <a:bodyPr/>
          <a:lstStyle/>
          <a:p>
            <a:r>
              <a:rPr lang="en-IN"/>
              <a:t>G.MAMATHA, CET, CBIT</a:t>
            </a:r>
          </a:p>
        </p:txBody>
      </p:sp>
      <p:sp>
        <p:nvSpPr>
          <p:cNvPr id="7" name="Slide Number Placeholder 6">
            <a:extLst>
              <a:ext uri="{FF2B5EF4-FFF2-40B4-BE49-F238E27FC236}">
                <a16:creationId xmlns:a16="http://schemas.microsoft.com/office/drawing/2014/main" xmlns="" id="{AB3E1CDD-734C-3C0E-9484-71C960D9373F}"/>
              </a:ext>
            </a:extLst>
          </p:cNvPr>
          <p:cNvSpPr>
            <a:spLocks noGrp="1"/>
          </p:cNvSpPr>
          <p:nvPr>
            <p:ph type="sldNum" sz="quarter" idx="12"/>
          </p:nvPr>
        </p:nvSpPr>
        <p:spPr/>
        <p:txBody>
          <a:bodyPr/>
          <a:lstStyle/>
          <a:p>
            <a:fld id="{3CAAA93B-7ACF-4A17-9EB8-00567695852F}" type="slidenum">
              <a:rPr lang="en-IN" smtClean="0"/>
              <a:t>‹#›</a:t>
            </a:fld>
            <a:endParaRPr lang="en-IN"/>
          </a:p>
        </p:txBody>
      </p:sp>
    </p:spTree>
    <p:extLst>
      <p:ext uri="{BB962C8B-B14F-4D97-AF65-F5344CB8AC3E}">
        <p14:creationId xmlns:p14="http://schemas.microsoft.com/office/powerpoint/2010/main" val="130772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78B52B-C6B4-04B1-FD33-F1542B651A6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8B5952D-85D8-C00B-E143-1C0EECA080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E8601EC6-9BE2-6725-EA89-C935C81472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0A2B8BC2-6F87-2867-E110-B251A0F2C7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06475C44-F5D8-AA1B-20FD-4350334E9C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492584A3-F8CB-3DAA-300E-231A6BB54EFD}"/>
              </a:ext>
            </a:extLst>
          </p:cNvPr>
          <p:cNvSpPr>
            <a:spLocks noGrp="1"/>
          </p:cNvSpPr>
          <p:nvPr>
            <p:ph type="dt" sz="half" idx="10"/>
          </p:nvPr>
        </p:nvSpPr>
        <p:spPr/>
        <p:txBody>
          <a:bodyPr/>
          <a:lstStyle/>
          <a:p>
            <a:fld id="{16AC774A-F851-425C-B321-E2884BD38658}" type="datetime1">
              <a:rPr lang="en-IN" smtClean="0"/>
              <a:t>03-03-2025</a:t>
            </a:fld>
            <a:endParaRPr lang="en-IN"/>
          </a:p>
        </p:txBody>
      </p:sp>
      <p:sp>
        <p:nvSpPr>
          <p:cNvPr id="8" name="Footer Placeholder 7">
            <a:extLst>
              <a:ext uri="{FF2B5EF4-FFF2-40B4-BE49-F238E27FC236}">
                <a16:creationId xmlns:a16="http://schemas.microsoft.com/office/drawing/2014/main" xmlns="" id="{794ABD75-1C98-B135-8BBD-155CAABB02CA}"/>
              </a:ext>
            </a:extLst>
          </p:cNvPr>
          <p:cNvSpPr>
            <a:spLocks noGrp="1"/>
          </p:cNvSpPr>
          <p:nvPr>
            <p:ph type="ftr" sz="quarter" idx="11"/>
          </p:nvPr>
        </p:nvSpPr>
        <p:spPr/>
        <p:txBody>
          <a:bodyPr/>
          <a:lstStyle/>
          <a:p>
            <a:r>
              <a:rPr lang="en-IN"/>
              <a:t>G.MAMATHA, CET, CBIT</a:t>
            </a:r>
          </a:p>
        </p:txBody>
      </p:sp>
      <p:sp>
        <p:nvSpPr>
          <p:cNvPr id="9" name="Slide Number Placeholder 8">
            <a:extLst>
              <a:ext uri="{FF2B5EF4-FFF2-40B4-BE49-F238E27FC236}">
                <a16:creationId xmlns:a16="http://schemas.microsoft.com/office/drawing/2014/main" xmlns="" id="{F61AC766-968B-939F-2A05-1125A8520A38}"/>
              </a:ext>
            </a:extLst>
          </p:cNvPr>
          <p:cNvSpPr>
            <a:spLocks noGrp="1"/>
          </p:cNvSpPr>
          <p:nvPr>
            <p:ph type="sldNum" sz="quarter" idx="12"/>
          </p:nvPr>
        </p:nvSpPr>
        <p:spPr/>
        <p:txBody>
          <a:bodyPr/>
          <a:lstStyle/>
          <a:p>
            <a:fld id="{3CAAA93B-7ACF-4A17-9EB8-00567695852F}" type="slidenum">
              <a:rPr lang="en-IN" smtClean="0"/>
              <a:t>‹#›</a:t>
            </a:fld>
            <a:endParaRPr lang="en-IN"/>
          </a:p>
        </p:txBody>
      </p:sp>
    </p:spTree>
    <p:extLst>
      <p:ext uri="{BB962C8B-B14F-4D97-AF65-F5344CB8AC3E}">
        <p14:creationId xmlns:p14="http://schemas.microsoft.com/office/powerpoint/2010/main" val="91102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03D8CB-CF9B-A0F4-23F2-74C232A609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3BCDFE0A-CF8A-C396-B3C5-69FA91DB9FBC}"/>
              </a:ext>
            </a:extLst>
          </p:cNvPr>
          <p:cNvSpPr>
            <a:spLocks noGrp="1"/>
          </p:cNvSpPr>
          <p:nvPr>
            <p:ph type="dt" sz="half" idx="10"/>
          </p:nvPr>
        </p:nvSpPr>
        <p:spPr/>
        <p:txBody>
          <a:bodyPr/>
          <a:lstStyle/>
          <a:p>
            <a:fld id="{97D65EE4-5219-4A3C-9082-A049CF752B5C}" type="datetime1">
              <a:rPr lang="en-IN" smtClean="0"/>
              <a:t>03-03-2025</a:t>
            </a:fld>
            <a:endParaRPr lang="en-IN"/>
          </a:p>
        </p:txBody>
      </p:sp>
      <p:sp>
        <p:nvSpPr>
          <p:cNvPr id="4" name="Footer Placeholder 3">
            <a:extLst>
              <a:ext uri="{FF2B5EF4-FFF2-40B4-BE49-F238E27FC236}">
                <a16:creationId xmlns:a16="http://schemas.microsoft.com/office/drawing/2014/main" xmlns="" id="{D0E4B60E-E815-7744-CFBA-94C3BF5C8E8B}"/>
              </a:ext>
            </a:extLst>
          </p:cNvPr>
          <p:cNvSpPr>
            <a:spLocks noGrp="1"/>
          </p:cNvSpPr>
          <p:nvPr>
            <p:ph type="ftr" sz="quarter" idx="11"/>
          </p:nvPr>
        </p:nvSpPr>
        <p:spPr/>
        <p:txBody>
          <a:bodyPr/>
          <a:lstStyle/>
          <a:p>
            <a:r>
              <a:rPr lang="en-IN"/>
              <a:t>G.MAMATHA, CET, CBIT</a:t>
            </a:r>
          </a:p>
        </p:txBody>
      </p:sp>
      <p:sp>
        <p:nvSpPr>
          <p:cNvPr id="5" name="Slide Number Placeholder 4">
            <a:extLst>
              <a:ext uri="{FF2B5EF4-FFF2-40B4-BE49-F238E27FC236}">
                <a16:creationId xmlns:a16="http://schemas.microsoft.com/office/drawing/2014/main" xmlns="" id="{65134AC7-EB6F-954A-8EB6-C14A2D3D54D0}"/>
              </a:ext>
            </a:extLst>
          </p:cNvPr>
          <p:cNvSpPr>
            <a:spLocks noGrp="1"/>
          </p:cNvSpPr>
          <p:nvPr>
            <p:ph type="sldNum" sz="quarter" idx="12"/>
          </p:nvPr>
        </p:nvSpPr>
        <p:spPr/>
        <p:txBody>
          <a:bodyPr/>
          <a:lstStyle/>
          <a:p>
            <a:fld id="{3CAAA93B-7ACF-4A17-9EB8-00567695852F}" type="slidenum">
              <a:rPr lang="en-IN" smtClean="0"/>
              <a:t>‹#›</a:t>
            </a:fld>
            <a:endParaRPr lang="en-IN"/>
          </a:p>
        </p:txBody>
      </p:sp>
    </p:spTree>
    <p:extLst>
      <p:ext uri="{BB962C8B-B14F-4D97-AF65-F5344CB8AC3E}">
        <p14:creationId xmlns:p14="http://schemas.microsoft.com/office/powerpoint/2010/main" val="397863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F03961F-711F-3BD1-DD05-287BB5DCE8F2}"/>
              </a:ext>
            </a:extLst>
          </p:cNvPr>
          <p:cNvSpPr>
            <a:spLocks noGrp="1"/>
          </p:cNvSpPr>
          <p:nvPr>
            <p:ph type="dt" sz="half" idx="10"/>
          </p:nvPr>
        </p:nvSpPr>
        <p:spPr/>
        <p:txBody>
          <a:bodyPr/>
          <a:lstStyle/>
          <a:p>
            <a:fld id="{33D21A6A-996D-4D91-A6A4-6923511C7C51}" type="datetime1">
              <a:rPr lang="en-IN" smtClean="0"/>
              <a:t>03-03-2025</a:t>
            </a:fld>
            <a:endParaRPr lang="en-IN"/>
          </a:p>
        </p:txBody>
      </p:sp>
      <p:sp>
        <p:nvSpPr>
          <p:cNvPr id="3" name="Footer Placeholder 2">
            <a:extLst>
              <a:ext uri="{FF2B5EF4-FFF2-40B4-BE49-F238E27FC236}">
                <a16:creationId xmlns:a16="http://schemas.microsoft.com/office/drawing/2014/main" xmlns="" id="{BFC6052E-265F-1EC9-7DC2-0F8751B5F3DA}"/>
              </a:ext>
            </a:extLst>
          </p:cNvPr>
          <p:cNvSpPr>
            <a:spLocks noGrp="1"/>
          </p:cNvSpPr>
          <p:nvPr>
            <p:ph type="ftr" sz="quarter" idx="11"/>
          </p:nvPr>
        </p:nvSpPr>
        <p:spPr/>
        <p:txBody>
          <a:bodyPr/>
          <a:lstStyle/>
          <a:p>
            <a:r>
              <a:rPr lang="en-IN"/>
              <a:t>G.MAMATHA, CET, CBIT</a:t>
            </a:r>
          </a:p>
        </p:txBody>
      </p:sp>
      <p:sp>
        <p:nvSpPr>
          <p:cNvPr id="4" name="Slide Number Placeholder 3">
            <a:extLst>
              <a:ext uri="{FF2B5EF4-FFF2-40B4-BE49-F238E27FC236}">
                <a16:creationId xmlns:a16="http://schemas.microsoft.com/office/drawing/2014/main" xmlns="" id="{4AB84DAC-348D-482A-7EAC-EE9B3D7ED1CB}"/>
              </a:ext>
            </a:extLst>
          </p:cNvPr>
          <p:cNvSpPr>
            <a:spLocks noGrp="1"/>
          </p:cNvSpPr>
          <p:nvPr>
            <p:ph type="sldNum" sz="quarter" idx="12"/>
          </p:nvPr>
        </p:nvSpPr>
        <p:spPr/>
        <p:txBody>
          <a:bodyPr/>
          <a:lstStyle/>
          <a:p>
            <a:fld id="{3CAAA93B-7ACF-4A17-9EB8-00567695852F}" type="slidenum">
              <a:rPr lang="en-IN" smtClean="0"/>
              <a:t>‹#›</a:t>
            </a:fld>
            <a:endParaRPr lang="en-IN"/>
          </a:p>
        </p:txBody>
      </p:sp>
    </p:spTree>
    <p:extLst>
      <p:ext uri="{BB962C8B-B14F-4D97-AF65-F5344CB8AC3E}">
        <p14:creationId xmlns:p14="http://schemas.microsoft.com/office/powerpoint/2010/main" val="870468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197DE6-0059-E593-0D37-F1F64B6A91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22DC9592-EF98-2A78-6FC8-BD45AEF272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31CCCD4D-4169-575C-CA54-14DDE81EB6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8C83DCE-6FFE-2CF4-A0BE-9A360996766C}"/>
              </a:ext>
            </a:extLst>
          </p:cNvPr>
          <p:cNvSpPr>
            <a:spLocks noGrp="1"/>
          </p:cNvSpPr>
          <p:nvPr>
            <p:ph type="dt" sz="half" idx="10"/>
          </p:nvPr>
        </p:nvSpPr>
        <p:spPr/>
        <p:txBody>
          <a:bodyPr/>
          <a:lstStyle/>
          <a:p>
            <a:fld id="{D04CD481-9AAA-41A4-B243-EDAFC2E23D14}" type="datetime1">
              <a:rPr lang="en-IN" smtClean="0"/>
              <a:t>03-03-2025</a:t>
            </a:fld>
            <a:endParaRPr lang="en-IN"/>
          </a:p>
        </p:txBody>
      </p:sp>
      <p:sp>
        <p:nvSpPr>
          <p:cNvPr id="6" name="Footer Placeholder 5">
            <a:extLst>
              <a:ext uri="{FF2B5EF4-FFF2-40B4-BE49-F238E27FC236}">
                <a16:creationId xmlns:a16="http://schemas.microsoft.com/office/drawing/2014/main" xmlns="" id="{440EAFEF-E8F1-0EB2-7E8A-3DA4C53D06DB}"/>
              </a:ext>
            </a:extLst>
          </p:cNvPr>
          <p:cNvSpPr>
            <a:spLocks noGrp="1"/>
          </p:cNvSpPr>
          <p:nvPr>
            <p:ph type="ftr" sz="quarter" idx="11"/>
          </p:nvPr>
        </p:nvSpPr>
        <p:spPr/>
        <p:txBody>
          <a:bodyPr/>
          <a:lstStyle/>
          <a:p>
            <a:r>
              <a:rPr lang="en-IN"/>
              <a:t>G.MAMATHA, CET, CBIT</a:t>
            </a:r>
          </a:p>
        </p:txBody>
      </p:sp>
      <p:sp>
        <p:nvSpPr>
          <p:cNvPr id="7" name="Slide Number Placeholder 6">
            <a:extLst>
              <a:ext uri="{FF2B5EF4-FFF2-40B4-BE49-F238E27FC236}">
                <a16:creationId xmlns:a16="http://schemas.microsoft.com/office/drawing/2014/main" xmlns="" id="{70429728-2231-BDB6-7F03-BDA88FCD5C1D}"/>
              </a:ext>
            </a:extLst>
          </p:cNvPr>
          <p:cNvSpPr>
            <a:spLocks noGrp="1"/>
          </p:cNvSpPr>
          <p:nvPr>
            <p:ph type="sldNum" sz="quarter" idx="12"/>
          </p:nvPr>
        </p:nvSpPr>
        <p:spPr/>
        <p:txBody>
          <a:bodyPr/>
          <a:lstStyle/>
          <a:p>
            <a:fld id="{3CAAA93B-7ACF-4A17-9EB8-00567695852F}" type="slidenum">
              <a:rPr lang="en-IN" smtClean="0"/>
              <a:t>‹#›</a:t>
            </a:fld>
            <a:endParaRPr lang="en-IN"/>
          </a:p>
        </p:txBody>
      </p:sp>
    </p:spTree>
    <p:extLst>
      <p:ext uri="{BB962C8B-B14F-4D97-AF65-F5344CB8AC3E}">
        <p14:creationId xmlns:p14="http://schemas.microsoft.com/office/powerpoint/2010/main" val="1107350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6EB49B-4C18-2AD8-F99D-AD0C0381EC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21F17474-1B89-1FAD-D410-A3E4F2A943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24D65D6F-8E23-1806-5DFC-C12C260F47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EDAD598-EBA0-495D-F9F3-2CE3314F7DD0}"/>
              </a:ext>
            </a:extLst>
          </p:cNvPr>
          <p:cNvSpPr>
            <a:spLocks noGrp="1"/>
          </p:cNvSpPr>
          <p:nvPr>
            <p:ph type="dt" sz="half" idx="10"/>
          </p:nvPr>
        </p:nvSpPr>
        <p:spPr/>
        <p:txBody>
          <a:bodyPr/>
          <a:lstStyle/>
          <a:p>
            <a:fld id="{DDB58F5A-D0D3-4A4B-84D2-D62D1D1F689C}" type="datetime1">
              <a:rPr lang="en-IN" smtClean="0"/>
              <a:t>03-03-2025</a:t>
            </a:fld>
            <a:endParaRPr lang="en-IN"/>
          </a:p>
        </p:txBody>
      </p:sp>
      <p:sp>
        <p:nvSpPr>
          <p:cNvPr id="6" name="Footer Placeholder 5">
            <a:extLst>
              <a:ext uri="{FF2B5EF4-FFF2-40B4-BE49-F238E27FC236}">
                <a16:creationId xmlns:a16="http://schemas.microsoft.com/office/drawing/2014/main" xmlns="" id="{337C8792-3711-67AF-FAB0-86EB913BCC05}"/>
              </a:ext>
            </a:extLst>
          </p:cNvPr>
          <p:cNvSpPr>
            <a:spLocks noGrp="1"/>
          </p:cNvSpPr>
          <p:nvPr>
            <p:ph type="ftr" sz="quarter" idx="11"/>
          </p:nvPr>
        </p:nvSpPr>
        <p:spPr/>
        <p:txBody>
          <a:bodyPr/>
          <a:lstStyle/>
          <a:p>
            <a:r>
              <a:rPr lang="en-IN"/>
              <a:t>G.MAMATHA, CET, CBIT</a:t>
            </a:r>
          </a:p>
        </p:txBody>
      </p:sp>
      <p:sp>
        <p:nvSpPr>
          <p:cNvPr id="7" name="Slide Number Placeholder 6">
            <a:extLst>
              <a:ext uri="{FF2B5EF4-FFF2-40B4-BE49-F238E27FC236}">
                <a16:creationId xmlns:a16="http://schemas.microsoft.com/office/drawing/2014/main" xmlns="" id="{A0C9C917-8E3B-FE09-5D42-EBB677E6B898}"/>
              </a:ext>
            </a:extLst>
          </p:cNvPr>
          <p:cNvSpPr>
            <a:spLocks noGrp="1"/>
          </p:cNvSpPr>
          <p:nvPr>
            <p:ph type="sldNum" sz="quarter" idx="12"/>
          </p:nvPr>
        </p:nvSpPr>
        <p:spPr/>
        <p:txBody>
          <a:bodyPr/>
          <a:lstStyle/>
          <a:p>
            <a:fld id="{3CAAA93B-7ACF-4A17-9EB8-00567695852F}" type="slidenum">
              <a:rPr lang="en-IN" smtClean="0"/>
              <a:t>‹#›</a:t>
            </a:fld>
            <a:endParaRPr lang="en-IN"/>
          </a:p>
        </p:txBody>
      </p:sp>
    </p:spTree>
    <p:extLst>
      <p:ext uri="{BB962C8B-B14F-4D97-AF65-F5344CB8AC3E}">
        <p14:creationId xmlns:p14="http://schemas.microsoft.com/office/powerpoint/2010/main" val="3935196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9E7EAA-FD9D-73BD-0D22-BB0D7E9CB4C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F089897F-4328-CF42-5E4A-7C5EBA13AA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D2C60DA-417C-8E65-ABBF-AAD6B05E158F}"/>
              </a:ext>
            </a:extLst>
          </p:cNvPr>
          <p:cNvSpPr>
            <a:spLocks noGrp="1"/>
          </p:cNvSpPr>
          <p:nvPr>
            <p:ph type="dt" sz="half" idx="10"/>
          </p:nvPr>
        </p:nvSpPr>
        <p:spPr/>
        <p:txBody>
          <a:bodyPr/>
          <a:lstStyle/>
          <a:p>
            <a:fld id="{2CC926CB-425B-4320-AA66-59BFCF398177}" type="datetime1">
              <a:rPr lang="en-IN" smtClean="0"/>
              <a:t>03-03-2025</a:t>
            </a:fld>
            <a:endParaRPr lang="en-IN"/>
          </a:p>
        </p:txBody>
      </p:sp>
      <p:sp>
        <p:nvSpPr>
          <p:cNvPr id="5" name="Footer Placeholder 4">
            <a:extLst>
              <a:ext uri="{FF2B5EF4-FFF2-40B4-BE49-F238E27FC236}">
                <a16:creationId xmlns:a16="http://schemas.microsoft.com/office/drawing/2014/main" xmlns="" id="{AC3412C9-DBB6-7EAF-34F9-C3168E46EF7E}"/>
              </a:ext>
            </a:extLst>
          </p:cNvPr>
          <p:cNvSpPr>
            <a:spLocks noGrp="1"/>
          </p:cNvSpPr>
          <p:nvPr>
            <p:ph type="ftr" sz="quarter" idx="11"/>
          </p:nvPr>
        </p:nvSpPr>
        <p:spPr/>
        <p:txBody>
          <a:bodyPr/>
          <a:lstStyle/>
          <a:p>
            <a:r>
              <a:rPr lang="en-IN"/>
              <a:t>G.MAMATHA, CET, CBIT</a:t>
            </a:r>
          </a:p>
        </p:txBody>
      </p:sp>
      <p:sp>
        <p:nvSpPr>
          <p:cNvPr id="6" name="Slide Number Placeholder 5">
            <a:extLst>
              <a:ext uri="{FF2B5EF4-FFF2-40B4-BE49-F238E27FC236}">
                <a16:creationId xmlns:a16="http://schemas.microsoft.com/office/drawing/2014/main" xmlns="" id="{30B161DE-3613-C192-B9D5-1D627A021FD6}"/>
              </a:ext>
            </a:extLst>
          </p:cNvPr>
          <p:cNvSpPr>
            <a:spLocks noGrp="1"/>
          </p:cNvSpPr>
          <p:nvPr>
            <p:ph type="sldNum" sz="quarter" idx="12"/>
          </p:nvPr>
        </p:nvSpPr>
        <p:spPr/>
        <p:txBody>
          <a:bodyPr/>
          <a:lstStyle/>
          <a:p>
            <a:fld id="{3CAAA93B-7ACF-4A17-9EB8-00567695852F}" type="slidenum">
              <a:rPr lang="en-IN" smtClean="0"/>
              <a:t>‹#›</a:t>
            </a:fld>
            <a:endParaRPr lang="en-IN"/>
          </a:p>
        </p:txBody>
      </p:sp>
    </p:spTree>
    <p:extLst>
      <p:ext uri="{BB962C8B-B14F-4D97-AF65-F5344CB8AC3E}">
        <p14:creationId xmlns:p14="http://schemas.microsoft.com/office/powerpoint/2010/main" val="130893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6D579AE8-79FD-98B9-0A03-A908E5A1BE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5C43B4DE-896A-B9B1-46A9-6E4B8CC73B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4DC0DC3-0399-FEE2-DA06-214F0A84DA20}"/>
              </a:ext>
            </a:extLst>
          </p:cNvPr>
          <p:cNvSpPr>
            <a:spLocks noGrp="1"/>
          </p:cNvSpPr>
          <p:nvPr>
            <p:ph type="dt" sz="half" idx="10"/>
          </p:nvPr>
        </p:nvSpPr>
        <p:spPr/>
        <p:txBody>
          <a:bodyPr/>
          <a:lstStyle/>
          <a:p>
            <a:fld id="{1F0FC007-B404-4515-916E-F8E3E24099BB}" type="datetime1">
              <a:rPr lang="en-IN" smtClean="0"/>
              <a:t>03-03-2025</a:t>
            </a:fld>
            <a:endParaRPr lang="en-IN"/>
          </a:p>
        </p:txBody>
      </p:sp>
      <p:sp>
        <p:nvSpPr>
          <p:cNvPr id="5" name="Footer Placeholder 4">
            <a:extLst>
              <a:ext uri="{FF2B5EF4-FFF2-40B4-BE49-F238E27FC236}">
                <a16:creationId xmlns:a16="http://schemas.microsoft.com/office/drawing/2014/main" xmlns="" id="{2C820B1B-E7C8-68DB-379C-0D4CC505BEAC}"/>
              </a:ext>
            </a:extLst>
          </p:cNvPr>
          <p:cNvSpPr>
            <a:spLocks noGrp="1"/>
          </p:cNvSpPr>
          <p:nvPr>
            <p:ph type="ftr" sz="quarter" idx="11"/>
          </p:nvPr>
        </p:nvSpPr>
        <p:spPr/>
        <p:txBody>
          <a:bodyPr/>
          <a:lstStyle/>
          <a:p>
            <a:r>
              <a:rPr lang="en-IN"/>
              <a:t>G.MAMATHA, CET, CBIT</a:t>
            </a:r>
          </a:p>
        </p:txBody>
      </p:sp>
      <p:sp>
        <p:nvSpPr>
          <p:cNvPr id="6" name="Slide Number Placeholder 5">
            <a:extLst>
              <a:ext uri="{FF2B5EF4-FFF2-40B4-BE49-F238E27FC236}">
                <a16:creationId xmlns:a16="http://schemas.microsoft.com/office/drawing/2014/main" xmlns="" id="{B7AAB4D9-81D1-8D74-48AF-6A7C400F91C5}"/>
              </a:ext>
            </a:extLst>
          </p:cNvPr>
          <p:cNvSpPr>
            <a:spLocks noGrp="1"/>
          </p:cNvSpPr>
          <p:nvPr>
            <p:ph type="sldNum" sz="quarter" idx="12"/>
          </p:nvPr>
        </p:nvSpPr>
        <p:spPr/>
        <p:txBody>
          <a:bodyPr/>
          <a:lstStyle/>
          <a:p>
            <a:fld id="{3CAAA93B-7ACF-4A17-9EB8-00567695852F}" type="slidenum">
              <a:rPr lang="en-IN" smtClean="0"/>
              <a:t>‹#›</a:t>
            </a:fld>
            <a:endParaRPr lang="en-IN"/>
          </a:p>
        </p:txBody>
      </p:sp>
    </p:spTree>
    <p:extLst>
      <p:ext uri="{BB962C8B-B14F-4D97-AF65-F5344CB8AC3E}">
        <p14:creationId xmlns:p14="http://schemas.microsoft.com/office/powerpoint/2010/main" val="3464886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818A74DA-8BF9-48D5-E709-C1177323E2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2285168-78A4-E911-F48E-2EAF2A2392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950B899-E487-EE45-73E7-4E52BA32EE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0868F5-3387-48ED-A322-DC479A5C4554}" type="datetime1">
              <a:rPr lang="en-IN" smtClean="0"/>
              <a:t>03-03-2025</a:t>
            </a:fld>
            <a:endParaRPr lang="en-IN"/>
          </a:p>
        </p:txBody>
      </p:sp>
      <p:sp>
        <p:nvSpPr>
          <p:cNvPr id="5" name="Footer Placeholder 4">
            <a:extLst>
              <a:ext uri="{FF2B5EF4-FFF2-40B4-BE49-F238E27FC236}">
                <a16:creationId xmlns:a16="http://schemas.microsoft.com/office/drawing/2014/main" xmlns="" id="{99052533-9D9F-2BC3-8CD8-F15E01FD3E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G.MAMATHA, CET, CBIT</a:t>
            </a:r>
          </a:p>
        </p:txBody>
      </p:sp>
      <p:sp>
        <p:nvSpPr>
          <p:cNvPr id="6" name="Slide Number Placeholder 5">
            <a:extLst>
              <a:ext uri="{FF2B5EF4-FFF2-40B4-BE49-F238E27FC236}">
                <a16:creationId xmlns:a16="http://schemas.microsoft.com/office/drawing/2014/main" xmlns="" id="{BB72B4A5-788F-785B-64A9-C1B8C28AEF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AAA93B-7ACF-4A17-9EB8-00567695852F}" type="slidenum">
              <a:rPr lang="en-IN" smtClean="0"/>
              <a:t>‹#›</a:t>
            </a:fld>
            <a:endParaRPr lang="en-IN"/>
          </a:p>
        </p:txBody>
      </p:sp>
    </p:spTree>
    <p:extLst>
      <p:ext uri="{BB962C8B-B14F-4D97-AF65-F5344CB8AC3E}">
        <p14:creationId xmlns:p14="http://schemas.microsoft.com/office/powerpoint/2010/main" val="3092100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8E1BE06A-7E16-9D27-8720-B3AE6FEE3C1B}"/>
              </a:ext>
            </a:extLst>
          </p:cNvPr>
          <p:cNvSpPr>
            <a:spLocks noGrp="1"/>
          </p:cNvSpPr>
          <p:nvPr>
            <p:ph type="subTitle" idx="1"/>
          </p:nvPr>
        </p:nvSpPr>
        <p:spPr>
          <a:xfrm>
            <a:off x="100668" y="1174459"/>
            <a:ext cx="10567332" cy="4083341"/>
          </a:xfrm>
        </p:spPr>
        <p:txBody>
          <a:bodyPr>
            <a:normAutofit fontScale="92500" lnSpcReduction="10000"/>
          </a:bodyPr>
          <a:lstStyle/>
          <a:p>
            <a:pPr algn="l"/>
            <a:r>
              <a:rPr lang="en-IN" sz="1800" b="1" dirty="0">
                <a:solidFill>
                  <a:srgbClr val="221F1F"/>
                </a:solidFill>
                <a:effectLst/>
                <a:latin typeface="Times New Roman" panose="02020603050405020304" pitchFamily="18" charset="0"/>
                <a:ea typeface="Aptos" panose="020B0004020202020204" pitchFamily="34" charset="0"/>
              </a:rPr>
              <a:t>Uninformed Search Strategies:</a:t>
            </a:r>
            <a:r>
              <a:rPr lang="en-IN" sz="1800" dirty="0">
                <a:solidFill>
                  <a:srgbClr val="221F1F"/>
                </a:solidFill>
                <a:effectLst/>
                <a:latin typeface="Times New Roman" panose="02020603050405020304" pitchFamily="18" charset="0"/>
                <a:ea typeface="Aptos" panose="020B0004020202020204" pitchFamily="34" charset="0"/>
              </a:rPr>
              <a:t> Breadth-first search</a:t>
            </a:r>
          </a:p>
          <a:p>
            <a:pPr algn="l"/>
            <a:r>
              <a:rPr lang="en-IN" sz="1800" dirty="0">
                <a:solidFill>
                  <a:srgbClr val="221F1F"/>
                </a:solidFill>
                <a:effectLst/>
                <a:latin typeface="Times New Roman" panose="02020603050405020304" pitchFamily="18" charset="0"/>
                <a:ea typeface="Aptos" panose="020B0004020202020204" pitchFamily="34" charset="0"/>
              </a:rPr>
              <a:t> Uniform cost search</a:t>
            </a:r>
          </a:p>
          <a:p>
            <a:pPr algn="l"/>
            <a:r>
              <a:rPr lang="en-IN" sz="1800" dirty="0">
                <a:solidFill>
                  <a:srgbClr val="221F1F"/>
                </a:solidFill>
                <a:effectLst/>
                <a:latin typeface="Times New Roman" panose="02020603050405020304" pitchFamily="18" charset="0"/>
                <a:ea typeface="Aptos" panose="020B0004020202020204" pitchFamily="34" charset="0"/>
              </a:rPr>
              <a:t> Depth- first search</a:t>
            </a:r>
          </a:p>
          <a:p>
            <a:pPr algn="l"/>
            <a:r>
              <a:rPr lang="en-IN" sz="1800" dirty="0">
                <a:solidFill>
                  <a:srgbClr val="221F1F"/>
                </a:solidFill>
                <a:effectLst/>
                <a:latin typeface="Times New Roman" panose="02020603050405020304" pitchFamily="18" charset="0"/>
                <a:ea typeface="Aptos" panose="020B0004020202020204" pitchFamily="34" charset="0"/>
              </a:rPr>
              <a:t> Iterative deepening Depth-first search</a:t>
            </a:r>
          </a:p>
          <a:p>
            <a:pPr algn="l"/>
            <a:r>
              <a:rPr lang="en-IN" sz="1800" dirty="0">
                <a:solidFill>
                  <a:srgbClr val="221F1F"/>
                </a:solidFill>
                <a:effectLst/>
                <a:latin typeface="Times New Roman" panose="02020603050405020304" pitchFamily="18" charset="0"/>
                <a:ea typeface="Aptos" panose="020B0004020202020204" pitchFamily="34" charset="0"/>
              </a:rPr>
              <a:t> Bidirectional search.</a:t>
            </a:r>
          </a:p>
          <a:p>
            <a:pPr algn="l"/>
            <a:r>
              <a:rPr lang="en-IN" sz="1800" b="1" dirty="0">
                <a:solidFill>
                  <a:srgbClr val="221F1F"/>
                </a:solidFill>
                <a:effectLst/>
                <a:latin typeface="Times New Roman" panose="02020603050405020304" pitchFamily="18" charset="0"/>
                <a:ea typeface="Aptos" panose="020B0004020202020204" pitchFamily="34" charset="0"/>
              </a:rPr>
              <a:t>Informed (Heuristic) Search Strategies</a:t>
            </a:r>
            <a:r>
              <a:rPr lang="en-IN" sz="1800" dirty="0">
                <a:solidFill>
                  <a:srgbClr val="221F1F"/>
                </a:solidFill>
                <a:effectLst/>
                <a:latin typeface="Times New Roman" panose="02020603050405020304" pitchFamily="18" charset="0"/>
                <a:ea typeface="Aptos" panose="020B0004020202020204" pitchFamily="34" charset="0"/>
              </a:rPr>
              <a:t>: Heuristic Functions</a:t>
            </a:r>
          </a:p>
          <a:p>
            <a:pPr algn="l"/>
            <a:r>
              <a:rPr lang="en-IN" sz="1800" dirty="0">
                <a:solidFill>
                  <a:srgbClr val="221F1F"/>
                </a:solidFill>
                <a:effectLst/>
                <a:latin typeface="Times New Roman" panose="02020603050405020304" pitchFamily="18" charset="0"/>
                <a:ea typeface="Aptos" panose="020B0004020202020204" pitchFamily="34" charset="0"/>
              </a:rPr>
              <a:t>Hill- climbing</a:t>
            </a:r>
          </a:p>
          <a:p>
            <a:pPr algn="l"/>
            <a:r>
              <a:rPr lang="en-IN" sz="1800" dirty="0">
                <a:solidFill>
                  <a:srgbClr val="221F1F"/>
                </a:solidFill>
                <a:effectLst/>
                <a:latin typeface="Times New Roman" panose="02020603050405020304" pitchFamily="18" charset="0"/>
                <a:ea typeface="Aptos" panose="020B0004020202020204" pitchFamily="34" charset="0"/>
              </a:rPr>
              <a:t>Greedy best-first search</a:t>
            </a:r>
          </a:p>
          <a:p>
            <a:pPr algn="l"/>
            <a:r>
              <a:rPr lang="en-IN" sz="1800" dirty="0">
                <a:solidFill>
                  <a:srgbClr val="221F1F"/>
                </a:solidFill>
                <a:effectLst/>
                <a:latin typeface="Times New Roman" panose="02020603050405020304" pitchFamily="18" charset="0"/>
                <a:ea typeface="Aptos" panose="020B0004020202020204" pitchFamily="34" charset="0"/>
              </a:rPr>
              <a:t>A* search</a:t>
            </a:r>
          </a:p>
          <a:p>
            <a:pPr algn="l"/>
            <a:r>
              <a:rPr lang="en-IN" sz="1800" dirty="0">
                <a:solidFill>
                  <a:srgbClr val="221F1F"/>
                </a:solidFill>
                <a:effectLst/>
                <a:latin typeface="Times New Roman" panose="02020603050405020304" pitchFamily="18" charset="0"/>
                <a:ea typeface="Aptos" panose="020B0004020202020204" pitchFamily="34" charset="0"/>
              </a:rPr>
              <a:t> </a:t>
            </a:r>
            <a:r>
              <a:rPr lang="en-IN" sz="1800" b="1" dirty="0">
                <a:solidFill>
                  <a:srgbClr val="000000"/>
                </a:solidFill>
                <a:effectLst/>
                <a:latin typeface="Times New Roman" panose="02020603050405020304" pitchFamily="18" charset="0"/>
                <a:ea typeface="Times New Roman" panose="02020603050405020304" pitchFamily="18" charset="0"/>
              </a:rPr>
              <a:t>Adversarial Search: </a:t>
            </a:r>
            <a:r>
              <a:rPr lang="en-IN" sz="1800" dirty="0">
                <a:solidFill>
                  <a:srgbClr val="000000"/>
                </a:solidFill>
                <a:effectLst/>
                <a:latin typeface="Times New Roman" panose="02020603050405020304" pitchFamily="18" charset="0"/>
                <a:ea typeface="Times New Roman" panose="02020603050405020304" pitchFamily="18" charset="0"/>
              </a:rPr>
              <a:t>Game Theory</a:t>
            </a:r>
          </a:p>
          <a:p>
            <a:pPr algn="l"/>
            <a:r>
              <a:rPr lang="en-IN" sz="1800" dirty="0">
                <a:solidFill>
                  <a:srgbClr val="000000"/>
                </a:solidFill>
                <a:effectLst/>
                <a:latin typeface="Times New Roman" panose="02020603050405020304" pitchFamily="18" charset="0"/>
                <a:ea typeface="Times New Roman" panose="02020603050405020304" pitchFamily="18" charset="0"/>
              </a:rPr>
              <a:t> Alpha–Beta Pruning</a:t>
            </a:r>
          </a:p>
          <a:p>
            <a:pPr algn="l"/>
            <a:r>
              <a:rPr lang="en-IN" sz="1800" dirty="0">
                <a:solidFill>
                  <a:srgbClr val="000000"/>
                </a:solidFill>
                <a:effectLst/>
                <a:latin typeface="Times New Roman" panose="02020603050405020304" pitchFamily="18" charset="0"/>
                <a:ea typeface="Times New Roman" panose="02020603050405020304" pitchFamily="18" charset="0"/>
              </a:rPr>
              <a:t> Constraint Satisfaction Problems.</a:t>
            </a:r>
            <a:r>
              <a:rPr lang="en-IN" sz="1800" dirty="0">
                <a:effectLst/>
                <a:latin typeface="Times New Roman" panose="02020603050405020304" pitchFamily="18" charset="0"/>
                <a:ea typeface="Aptos" panose="020B0004020202020204" pitchFamily="34" charset="0"/>
              </a:rPr>
              <a:t> </a:t>
            </a:r>
            <a:endParaRPr lang="en-IN" dirty="0"/>
          </a:p>
        </p:txBody>
      </p:sp>
      <p:sp>
        <p:nvSpPr>
          <p:cNvPr id="8" name="Title 7">
            <a:extLst>
              <a:ext uri="{FF2B5EF4-FFF2-40B4-BE49-F238E27FC236}">
                <a16:creationId xmlns:a16="http://schemas.microsoft.com/office/drawing/2014/main" xmlns="" id="{A49CF95F-F0AC-5E57-5716-E8C863911AB5}"/>
              </a:ext>
            </a:extLst>
          </p:cNvPr>
          <p:cNvSpPr>
            <a:spLocks noGrp="1"/>
          </p:cNvSpPr>
          <p:nvPr>
            <p:ph type="ctrTitle"/>
          </p:nvPr>
        </p:nvSpPr>
        <p:spPr>
          <a:xfrm>
            <a:off x="1524000" y="125836"/>
            <a:ext cx="9144000" cy="1543574"/>
          </a:xfrm>
        </p:spPr>
        <p:txBody>
          <a:bodyPr>
            <a:normAutofit fontScale="90000"/>
          </a:bodyPr>
          <a:lstStyle/>
          <a:p>
            <a:r>
              <a:rPr lang="en-IN" sz="6000" b="1" dirty="0">
                <a:effectLst/>
                <a:latin typeface="Times New Roman" panose="02020603050405020304" pitchFamily="18" charset="0"/>
                <a:ea typeface="Times New Roman" panose="02020603050405020304" pitchFamily="18" charset="0"/>
              </a:rPr>
              <a:t>Unit – II</a:t>
            </a:r>
            <a:r>
              <a:rPr lang="en-IN" dirty="0"/>
              <a:t/>
            </a:r>
            <a:br>
              <a:rPr lang="en-IN" dirty="0"/>
            </a:br>
            <a:endParaRPr lang="en-IN" dirty="0"/>
          </a:p>
        </p:txBody>
      </p:sp>
    </p:spTree>
    <p:extLst>
      <p:ext uri="{BB962C8B-B14F-4D97-AF65-F5344CB8AC3E}">
        <p14:creationId xmlns:p14="http://schemas.microsoft.com/office/powerpoint/2010/main" val="1106913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C09B331-5DBC-4A74-EC55-4F1C55D99CCD}"/>
              </a:ext>
            </a:extLst>
          </p:cNvPr>
          <p:cNvSpPr>
            <a:spLocks noGrp="1"/>
          </p:cNvSpPr>
          <p:nvPr>
            <p:ph idx="1"/>
          </p:nvPr>
        </p:nvSpPr>
        <p:spPr>
          <a:xfrm>
            <a:off x="100667" y="0"/>
            <a:ext cx="11996257" cy="6176963"/>
          </a:xfrm>
        </p:spPr>
        <p:txBody>
          <a:bodyPr>
            <a:normAutofit/>
          </a:bodyPr>
          <a:lstStyle/>
          <a:p>
            <a:pPr marL="0" indent="0">
              <a:buNone/>
            </a:pPr>
            <a:r>
              <a:rPr lang="en-US" sz="1800" b="1" dirty="0"/>
              <a:t>Uninformed Search Strategies</a:t>
            </a:r>
          </a:p>
          <a:p>
            <a:r>
              <a:rPr lang="en-US" sz="1800" b="1" dirty="0"/>
              <a:t>Definition:</a:t>
            </a:r>
            <a:r>
              <a:rPr lang="en-US" sz="1800" dirty="0"/>
              <a:t> Uninformed search strategies, also known as blind search strategies, operate without any domain-specific knowledge beyond the problem definition. They explore the search space uniformly and use only the information available in the problem's structure.</a:t>
            </a:r>
          </a:p>
          <a:p>
            <a:r>
              <a:rPr lang="en-US" sz="1800" b="1" dirty="0"/>
              <a:t>Examples:</a:t>
            </a:r>
            <a:endParaRPr lang="en-US" sz="1800" dirty="0"/>
          </a:p>
          <a:p>
            <a:pPr>
              <a:buFont typeface="Arial" panose="020B0604020202020204" pitchFamily="34" charset="0"/>
              <a:buChar char="•"/>
            </a:pPr>
            <a:r>
              <a:rPr lang="en-US" sz="1800" b="1" dirty="0"/>
              <a:t>Breadth-First Search (BFS):</a:t>
            </a:r>
            <a:r>
              <a:rPr lang="en-US" sz="1800" dirty="0"/>
              <a:t> Explores all nodes at the present depth level before moving on to nodes at the next depth level.</a:t>
            </a:r>
          </a:p>
          <a:p>
            <a:pPr>
              <a:buFont typeface="Arial" panose="020B0604020202020204" pitchFamily="34" charset="0"/>
              <a:buChar char="•"/>
            </a:pPr>
            <a:r>
              <a:rPr lang="en-US" sz="1800" b="1" dirty="0"/>
              <a:t>Depth-First Search (DFS):</a:t>
            </a:r>
            <a:r>
              <a:rPr lang="en-US" sz="1800" dirty="0"/>
              <a:t> Explores as far down a branch as possible before backtracking.</a:t>
            </a:r>
          </a:p>
          <a:p>
            <a:pPr>
              <a:buFont typeface="Arial" panose="020B0604020202020204" pitchFamily="34" charset="0"/>
              <a:buChar char="•"/>
            </a:pPr>
            <a:r>
              <a:rPr lang="en-US" sz="1800" b="1" dirty="0"/>
              <a:t>Uniform Cost Search (UCS):</a:t>
            </a:r>
            <a:r>
              <a:rPr lang="en-US" sz="1800" dirty="0"/>
              <a:t> Expands the least-cost node first</a:t>
            </a:r>
            <a:r>
              <a:rPr lang="en-US" sz="1800" dirty="0" smtClean="0"/>
              <a:t>.</a:t>
            </a:r>
          </a:p>
          <a:p>
            <a:pPr marL="0" indent="0">
              <a:buNone/>
            </a:pPr>
            <a:endParaRPr lang="en-US" sz="1800" dirty="0"/>
          </a:p>
          <a:p>
            <a:pPr marL="0" indent="0">
              <a:buNone/>
            </a:pPr>
            <a:r>
              <a:rPr lang="en-US" sz="1800" b="1" dirty="0"/>
              <a:t>Informed (Heuristic) Search Strategies</a:t>
            </a:r>
          </a:p>
          <a:p>
            <a:r>
              <a:rPr lang="en-US" sz="1800" b="1" dirty="0"/>
              <a:t>Definition:</a:t>
            </a:r>
            <a:r>
              <a:rPr lang="en-US" sz="1800" dirty="0"/>
              <a:t> Informed search strategies, also known as heuristic search strategies, utilize additional domain-specific information to make more informed decisions about which nodes to expand. They use heuristics to estimate the cost to reach the goal, aiming to improve search efficiency.</a:t>
            </a:r>
          </a:p>
          <a:p>
            <a:r>
              <a:rPr lang="en-US" sz="1800" b="1" dirty="0"/>
              <a:t>Examples:</a:t>
            </a:r>
            <a:endParaRPr lang="en-US" sz="1800" dirty="0"/>
          </a:p>
          <a:p>
            <a:pPr>
              <a:buFont typeface="Arial" panose="020B0604020202020204" pitchFamily="34" charset="0"/>
              <a:buChar char="•"/>
            </a:pPr>
            <a:r>
              <a:rPr lang="en-US" sz="1800" b="1" dirty="0"/>
              <a:t>Greedy Best-First Search:</a:t>
            </a:r>
            <a:r>
              <a:rPr lang="en-US" sz="1800" dirty="0"/>
              <a:t> Expands the node with the lowest heuristic cost.</a:t>
            </a:r>
          </a:p>
          <a:p>
            <a:pPr>
              <a:buFont typeface="Arial" panose="020B0604020202020204" pitchFamily="34" charset="0"/>
              <a:buChar char="•"/>
            </a:pPr>
            <a:r>
              <a:rPr lang="en-US" sz="1800" i="1" dirty="0"/>
              <a:t>A Search:</a:t>
            </a:r>
            <a:r>
              <a:rPr lang="en-US" sz="1800" dirty="0"/>
              <a:t>* Expands the node with the lowest combined cost of the path so far and the estimated cost to the goal.</a:t>
            </a:r>
          </a:p>
          <a:p>
            <a:endParaRPr lang="en-IN" sz="1800" dirty="0"/>
          </a:p>
        </p:txBody>
      </p:sp>
    </p:spTree>
    <p:extLst>
      <p:ext uri="{BB962C8B-B14F-4D97-AF65-F5344CB8AC3E}">
        <p14:creationId xmlns:p14="http://schemas.microsoft.com/office/powerpoint/2010/main" val="305304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10D59E-FD99-5AB6-DDCC-76A6C6FE15CB}"/>
              </a:ext>
            </a:extLst>
          </p:cNvPr>
          <p:cNvSpPr>
            <a:spLocks noGrp="1"/>
          </p:cNvSpPr>
          <p:nvPr>
            <p:ph type="title"/>
          </p:nvPr>
        </p:nvSpPr>
        <p:spPr>
          <a:xfrm>
            <a:off x="0" y="100669"/>
            <a:ext cx="11353800" cy="520116"/>
          </a:xfrm>
        </p:spPr>
        <p:txBody>
          <a:bodyPr>
            <a:normAutofit/>
          </a:bodyPr>
          <a:lstStyle/>
          <a:p>
            <a:r>
              <a:rPr lang="en-US" sz="2800" dirty="0"/>
              <a:t>Differences between Uninformed and Informed Search Strategies</a:t>
            </a:r>
            <a:endParaRPr lang="en-IN" sz="2800" dirty="0"/>
          </a:p>
        </p:txBody>
      </p:sp>
      <p:pic>
        <p:nvPicPr>
          <p:cNvPr id="5" name="Content Placeholder 4">
            <a:extLst>
              <a:ext uri="{FF2B5EF4-FFF2-40B4-BE49-F238E27FC236}">
                <a16:creationId xmlns:a16="http://schemas.microsoft.com/office/drawing/2014/main" xmlns="" id="{4C77DAFE-D085-564A-A43D-1C4AC88F0029}"/>
              </a:ext>
            </a:extLst>
          </p:cNvPr>
          <p:cNvPicPr>
            <a:picLocks noGrp="1" noChangeAspect="1"/>
          </p:cNvPicPr>
          <p:nvPr>
            <p:ph idx="1"/>
          </p:nvPr>
        </p:nvPicPr>
        <p:blipFill>
          <a:blip r:embed="rId2"/>
          <a:stretch>
            <a:fillRect/>
          </a:stretch>
        </p:blipFill>
        <p:spPr>
          <a:xfrm>
            <a:off x="766135" y="1065752"/>
            <a:ext cx="8983329" cy="3639058"/>
          </a:xfrm>
        </p:spPr>
      </p:pic>
    </p:spTree>
    <p:extLst>
      <p:ext uri="{BB962C8B-B14F-4D97-AF65-F5344CB8AC3E}">
        <p14:creationId xmlns:p14="http://schemas.microsoft.com/office/powerpoint/2010/main" val="749059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F8A80C-7783-6AEB-17DF-0EB116AB7B2B}"/>
              </a:ext>
            </a:extLst>
          </p:cNvPr>
          <p:cNvSpPr>
            <a:spLocks noGrp="1"/>
          </p:cNvSpPr>
          <p:nvPr>
            <p:ph type="title"/>
          </p:nvPr>
        </p:nvSpPr>
        <p:spPr>
          <a:xfrm>
            <a:off x="0" y="-157861"/>
            <a:ext cx="11420912" cy="838898"/>
          </a:xfrm>
        </p:spPr>
        <p:txBody>
          <a:bodyPr>
            <a:normAutofit/>
          </a:bodyPr>
          <a:lstStyle/>
          <a:p>
            <a:r>
              <a:rPr lang="en-IN" sz="2800" dirty="0">
                <a:solidFill>
                  <a:srgbClr val="221F1F"/>
                </a:solidFill>
                <a:effectLst/>
                <a:latin typeface="Times New Roman" panose="02020603050405020304" pitchFamily="18" charset="0"/>
                <a:ea typeface="Aptos" panose="020B0004020202020204" pitchFamily="34" charset="0"/>
              </a:rPr>
              <a:t>Breadth-first search</a:t>
            </a:r>
            <a:endParaRPr lang="en-IN" sz="2800" dirty="0"/>
          </a:p>
        </p:txBody>
      </p:sp>
      <p:sp>
        <p:nvSpPr>
          <p:cNvPr id="3" name="Content Placeholder 2">
            <a:extLst>
              <a:ext uri="{FF2B5EF4-FFF2-40B4-BE49-F238E27FC236}">
                <a16:creationId xmlns:a16="http://schemas.microsoft.com/office/drawing/2014/main" xmlns="" id="{87AE43E7-4B58-B28A-1C1B-FBA765F275CF}"/>
              </a:ext>
            </a:extLst>
          </p:cNvPr>
          <p:cNvSpPr>
            <a:spLocks noGrp="1"/>
          </p:cNvSpPr>
          <p:nvPr>
            <p:ph idx="1"/>
          </p:nvPr>
        </p:nvSpPr>
        <p:spPr>
          <a:xfrm>
            <a:off x="-1" y="595618"/>
            <a:ext cx="12096925" cy="5581345"/>
          </a:xfrm>
        </p:spPr>
        <p:txBody>
          <a:bodyPr>
            <a:normAutofit lnSpcReduction="10000"/>
          </a:bodyPr>
          <a:lstStyle/>
          <a:p>
            <a:pPr>
              <a:buFont typeface="Arial" panose="020B0604020202020204" pitchFamily="34" charset="0"/>
              <a:buChar char="•"/>
            </a:pPr>
            <a:r>
              <a:rPr lang="en-US" sz="1800" b="1" dirty="0"/>
              <a:t>Definition: </a:t>
            </a:r>
            <a:r>
              <a:rPr lang="en-US" sz="1800" dirty="0"/>
              <a:t>Breadth-First Search (BFS) expands the root node first.</a:t>
            </a:r>
          </a:p>
          <a:p>
            <a:pPr>
              <a:buFont typeface="Arial" panose="020B0604020202020204" pitchFamily="34" charset="0"/>
              <a:buChar char="•"/>
            </a:pPr>
            <a:r>
              <a:rPr lang="en-US" sz="1800" dirty="0"/>
              <a:t>Then, it expands all the successors of the root node. Continues expanding successors level by level.</a:t>
            </a:r>
          </a:p>
          <a:p>
            <a:pPr marL="0" indent="0">
              <a:buNone/>
            </a:pPr>
            <a:r>
              <a:rPr lang="en-IN" sz="1800" dirty="0">
                <a:solidFill>
                  <a:srgbClr val="FF0000"/>
                </a:solidFill>
              </a:rPr>
              <a:t>Mechanism:</a:t>
            </a:r>
          </a:p>
          <a:p>
            <a:pPr marR="0" lvl="0" algn="l" defTabSz="914400" rtl="0" eaLnBrk="0" fontAlgn="base" latinLnBrk="0" hangingPunct="0">
              <a:lnSpc>
                <a:spcPct val="100000"/>
              </a:lnSpc>
              <a:spcBef>
                <a:spcPct val="0"/>
              </a:spcBef>
              <a:spcAft>
                <a:spcPct val="0"/>
              </a:spcAft>
              <a:buClrTx/>
              <a:buSzTx/>
              <a:tabLst/>
            </a:pPr>
            <a:r>
              <a:rPr lang="en-US" altLang="en-US" sz="1800" dirty="0"/>
              <a:t>BFS uses a FIFO (First In, First Out) queue to manage the frontier.</a:t>
            </a:r>
          </a:p>
          <a:p>
            <a:pPr marR="0" lvl="0" algn="l" defTabSz="914400" rtl="0" eaLnBrk="0" fontAlgn="base" latinLnBrk="0" hangingPunct="0">
              <a:lnSpc>
                <a:spcPct val="100000"/>
              </a:lnSpc>
              <a:spcBef>
                <a:spcPct val="0"/>
              </a:spcBef>
              <a:spcAft>
                <a:spcPct val="0"/>
              </a:spcAft>
              <a:buClrTx/>
              <a:buSzTx/>
              <a:tabLst/>
            </a:pPr>
            <a:r>
              <a:rPr lang="en-US" altLang="en-US" sz="1800" dirty="0"/>
              <a:t>The shallowest unexpanded node is chosen for expansion.</a:t>
            </a:r>
          </a:p>
          <a:p>
            <a:pPr marR="0" lvl="0" algn="l" defTabSz="914400" rtl="0" eaLnBrk="0" fontAlgn="base" latinLnBrk="0" hangingPunct="0">
              <a:lnSpc>
                <a:spcPct val="100000"/>
              </a:lnSpc>
              <a:spcBef>
                <a:spcPct val="0"/>
              </a:spcBef>
              <a:spcAft>
                <a:spcPct val="0"/>
              </a:spcAft>
              <a:buClrTx/>
              <a:buSzTx/>
              <a:tabLst/>
            </a:pPr>
            <a:r>
              <a:rPr lang="en-US" altLang="en-US" sz="1800" dirty="0"/>
              <a:t>The goal test is applied when a node is generated, not when selected for expansion. </a:t>
            </a:r>
            <a:endParaRPr lang="en-IN" sz="1800" dirty="0"/>
          </a:p>
          <a:p>
            <a:pPr marL="0" indent="0" eaLnBrk="0" fontAlgn="base" hangingPunct="0">
              <a:lnSpc>
                <a:spcPct val="100000"/>
              </a:lnSpc>
              <a:spcBef>
                <a:spcPct val="0"/>
              </a:spcBef>
              <a:spcAft>
                <a:spcPct val="0"/>
              </a:spcAft>
              <a:buNone/>
            </a:pPr>
            <a:r>
              <a:rPr lang="en-IN" sz="1800" dirty="0">
                <a:solidFill>
                  <a:srgbClr val="FF0000"/>
                </a:solidFill>
              </a:rPr>
              <a:t>Optimality and Completeness:</a:t>
            </a:r>
          </a:p>
          <a:p>
            <a:pPr eaLnBrk="0" fontAlgn="base" hangingPunct="0">
              <a:lnSpc>
                <a:spcPct val="100000"/>
              </a:lnSpc>
              <a:spcBef>
                <a:spcPct val="0"/>
              </a:spcBef>
              <a:spcAft>
                <a:spcPct val="0"/>
              </a:spcAft>
            </a:pPr>
            <a:r>
              <a:rPr lang="en-US" altLang="en-US" sz="1800" dirty="0">
                <a:solidFill>
                  <a:srgbClr val="FF0000"/>
                </a:solidFill>
              </a:rPr>
              <a:t>Complete</a:t>
            </a:r>
            <a:r>
              <a:rPr lang="en-US" altLang="en-US" sz="1800" dirty="0"/>
              <a:t>: BFS will find the goal if it exists at some finite depth </a:t>
            </a:r>
            <a:r>
              <a:rPr lang="en-US" altLang="en-US" sz="1800" dirty="0" err="1"/>
              <a:t>ddd</a:t>
            </a:r>
            <a:r>
              <a:rPr lang="en-US" altLang="en-US" sz="1800" dirty="0"/>
              <a:t>.</a:t>
            </a:r>
          </a:p>
          <a:p>
            <a:pPr eaLnBrk="0" fontAlgn="base" hangingPunct="0">
              <a:lnSpc>
                <a:spcPct val="100000"/>
              </a:lnSpc>
              <a:spcBef>
                <a:spcPct val="0"/>
              </a:spcBef>
              <a:spcAft>
                <a:spcPct val="0"/>
              </a:spcAft>
            </a:pPr>
            <a:r>
              <a:rPr lang="en-US" altLang="en-US" sz="1800" dirty="0">
                <a:solidFill>
                  <a:srgbClr val="FF0000"/>
                </a:solidFill>
              </a:rPr>
              <a:t>Optimal:</a:t>
            </a:r>
            <a:r>
              <a:rPr lang="en-US" altLang="en-US" sz="1800" dirty="0"/>
              <a:t> BFS is optimal if path cost is a non-decreasing function of node depth. Typically, it is optimal if all actions have the same cost. </a:t>
            </a:r>
          </a:p>
          <a:p>
            <a:pPr marL="0" indent="0" eaLnBrk="0" fontAlgn="base" hangingPunct="0">
              <a:lnSpc>
                <a:spcPct val="100000"/>
              </a:lnSpc>
              <a:spcBef>
                <a:spcPct val="0"/>
              </a:spcBef>
              <a:spcAft>
                <a:spcPct val="0"/>
              </a:spcAft>
              <a:buNone/>
            </a:pPr>
            <a:r>
              <a:rPr lang="en-US" sz="1800" dirty="0">
                <a:solidFill>
                  <a:srgbClr val="FF0000"/>
                </a:solidFill>
              </a:rPr>
              <a:t>Time and Space Complexity:</a:t>
            </a:r>
          </a:p>
          <a:p>
            <a:pPr eaLnBrk="0" fontAlgn="base" hangingPunct="0">
              <a:lnSpc>
                <a:spcPct val="100000"/>
              </a:lnSpc>
              <a:spcBef>
                <a:spcPct val="0"/>
              </a:spcBef>
              <a:spcAft>
                <a:spcPct val="0"/>
              </a:spcAft>
            </a:pPr>
            <a:r>
              <a:rPr lang="en-US" sz="1800" dirty="0">
                <a:solidFill>
                  <a:srgbClr val="FF0000"/>
                </a:solidFill>
              </a:rPr>
              <a:t>Time </a:t>
            </a:r>
            <a:r>
              <a:rPr lang="en-US" sz="1800" dirty="0" err="1">
                <a:solidFill>
                  <a:srgbClr val="FF0000"/>
                </a:solidFill>
              </a:rPr>
              <a:t>Complexity</a:t>
            </a:r>
            <a:r>
              <a:rPr lang="en-US" sz="1800" dirty="0" err="1"/>
              <a:t>:O</a:t>
            </a:r>
            <a:r>
              <a:rPr lang="en-US" sz="1800" dirty="0"/>
              <a:t>(</a:t>
            </a:r>
            <a:r>
              <a:rPr lang="en-US" sz="1800" dirty="0" err="1"/>
              <a:t>b^d</a:t>
            </a:r>
            <a:r>
              <a:rPr lang="en-US" sz="1800" dirty="0"/>
              <a:t>) ,where b is the branching factor and d is the depth of the solution.</a:t>
            </a:r>
          </a:p>
          <a:p>
            <a:pPr eaLnBrk="0" fontAlgn="base" hangingPunct="0">
              <a:lnSpc>
                <a:spcPct val="100000"/>
              </a:lnSpc>
              <a:spcBef>
                <a:spcPct val="0"/>
              </a:spcBef>
              <a:spcAft>
                <a:spcPct val="0"/>
              </a:spcAft>
            </a:pPr>
            <a:r>
              <a:rPr lang="en-US" sz="1800" dirty="0">
                <a:solidFill>
                  <a:srgbClr val="FF0000"/>
                </a:solidFill>
              </a:rPr>
              <a:t>Space </a:t>
            </a:r>
            <a:r>
              <a:rPr lang="en-US" sz="1800" dirty="0" err="1">
                <a:solidFill>
                  <a:srgbClr val="FF0000"/>
                </a:solidFill>
              </a:rPr>
              <a:t>Complexity:</a:t>
            </a:r>
            <a:r>
              <a:rPr lang="en-US" sz="1800" dirty="0" err="1"/>
              <a:t>O</a:t>
            </a:r>
            <a:r>
              <a:rPr lang="en-US" sz="1800" dirty="0"/>
              <a:t>(</a:t>
            </a:r>
            <a:r>
              <a:rPr lang="en-US" sz="1800" dirty="0" err="1"/>
              <a:t>b^d</a:t>
            </a:r>
            <a:r>
              <a:rPr lang="en-US" sz="1800" dirty="0"/>
              <a:t>) dominated by the size of the frontier.</a:t>
            </a:r>
          </a:p>
          <a:p>
            <a:pPr eaLnBrk="0" fontAlgn="base" hangingPunct="0">
              <a:lnSpc>
                <a:spcPct val="100000"/>
              </a:lnSpc>
              <a:spcBef>
                <a:spcPct val="0"/>
              </a:spcBef>
              <a:spcAft>
                <a:spcPct val="0"/>
              </a:spcAft>
            </a:pPr>
            <a:r>
              <a:rPr lang="en-US" sz="1800" dirty="0"/>
              <a:t>Both time and space complexities are exponential in the depth of the solution, making BFS impractical for large depths.</a:t>
            </a:r>
          </a:p>
          <a:p>
            <a:pPr marL="0" indent="0">
              <a:buNone/>
            </a:pPr>
            <a:r>
              <a:rPr lang="en-US" sz="1800" dirty="0">
                <a:solidFill>
                  <a:srgbClr val="FF0000"/>
                </a:solidFill>
              </a:rPr>
              <a:t>Performance Analysis:</a:t>
            </a:r>
          </a:p>
          <a:p>
            <a:pPr>
              <a:buFont typeface="Arial" panose="020B0604020202020204" pitchFamily="34" charset="0"/>
              <a:buChar char="•"/>
            </a:pPr>
            <a:r>
              <a:rPr lang="en-US" sz="1800" dirty="0"/>
              <a:t>In a uniform tree with branching factor b, the number of nodes at depth d is </a:t>
            </a:r>
            <a:r>
              <a:rPr lang="en-US" sz="1800" dirty="0" err="1"/>
              <a:t>b^d</a:t>
            </a:r>
            <a:r>
              <a:rPr lang="en-US" sz="1800" dirty="0"/>
              <a:t>.</a:t>
            </a:r>
          </a:p>
          <a:p>
            <a:pPr>
              <a:buFont typeface="Arial" panose="020B0604020202020204" pitchFamily="34" charset="0"/>
              <a:buChar char="•"/>
            </a:pPr>
            <a:r>
              <a:rPr lang="en-US" sz="1800" dirty="0"/>
              <a:t>The total number of nodes generated up to depth d is b + b^2 + ....... + </a:t>
            </a:r>
            <a:r>
              <a:rPr lang="en-US" sz="1800" dirty="0" err="1"/>
              <a:t>b^d</a:t>
            </a:r>
            <a:r>
              <a:rPr lang="en-US" sz="1800" dirty="0"/>
              <a:t> = O(</a:t>
            </a:r>
            <a:r>
              <a:rPr lang="en-US" sz="1800" dirty="0" err="1"/>
              <a:t>b^d</a:t>
            </a:r>
            <a:r>
              <a:rPr lang="en-US" sz="1800" dirty="0"/>
              <a:t>) </a:t>
            </a:r>
          </a:p>
          <a:p>
            <a:pPr>
              <a:buFont typeface="Arial" panose="020B0604020202020204" pitchFamily="34" charset="0"/>
              <a:buChar char="•"/>
            </a:pPr>
            <a:r>
              <a:rPr lang="en-US" sz="1800" dirty="0"/>
              <a:t>If goal test is applied upon node expansion, time complexity would be O(b^{d+1})</a:t>
            </a:r>
          </a:p>
          <a:p>
            <a:pPr eaLnBrk="0" fontAlgn="base" hangingPunct="0">
              <a:lnSpc>
                <a:spcPct val="100000"/>
              </a:lnSpc>
              <a:spcBef>
                <a:spcPct val="0"/>
              </a:spcBef>
              <a:spcAft>
                <a:spcPct val="0"/>
              </a:spcAft>
            </a:pPr>
            <a:endParaRPr lang="en-US" sz="1800" dirty="0"/>
          </a:p>
          <a:p>
            <a:pPr eaLnBrk="0" fontAlgn="base" hangingPunct="0">
              <a:lnSpc>
                <a:spcPct val="100000"/>
              </a:lnSpc>
              <a:spcBef>
                <a:spcPct val="0"/>
              </a:spcBef>
              <a:spcAft>
                <a:spcPct val="0"/>
              </a:spcAft>
            </a:pPr>
            <a:endParaRPr lang="en-IN" sz="1800" dirty="0"/>
          </a:p>
          <a:p>
            <a:pPr>
              <a:buFont typeface="Arial" panose="020B0604020202020204" pitchFamily="34" charset="0"/>
              <a:buChar char="•"/>
            </a:pPr>
            <a:endParaRPr lang="en-US" sz="1800" dirty="0"/>
          </a:p>
          <a:p>
            <a:endParaRPr lang="en-IN" sz="1800" dirty="0"/>
          </a:p>
        </p:txBody>
      </p:sp>
    </p:spTree>
    <p:extLst>
      <p:ext uri="{BB962C8B-B14F-4D97-AF65-F5344CB8AC3E}">
        <p14:creationId xmlns:p14="http://schemas.microsoft.com/office/powerpoint/2010/main" val="3907773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37DBE48B-B021-E0A5-57C1-E2672D5B5AA8}"/>
              </a:ext>
            </a:extLst>
          </p:cNvPr>
          <p:cNvPicPr>
            <a:picLocks noGrp="1" noChangeAspect="1"/>
          </p:cNvPicPr>
          <p:nvPr>
            <p:ph idx="1"/>
          </p:nvPr>
        </p:nvPicPr>
        <p:blipFill>
          <a:blip r:embed="rId2"/>
          <a:stretch>
            <a:fillRect/>
          </a:stretch>
        </p:blipFill>
        <p:spPr>
          <a:xfrm>
            <a:off x="909674" y="700472"/>
            <a:ext cx="7621064" cy="4001058"/>
          </a:xfrm>
        </p:spPr>
      </p:pic>
      <p:sp>
        <p:nvSpPr>
          <p:cNvPr id="3" name="TextBox 2">
            <a:extLst>
              <a:ext uri="{FF2B5EF4-FFF2-40B4-BE49-F238E27FC236}">
                <a16:creationId xmlns:a16="http://schemas.microsoft.com/office/drawing/2014/main" xmlns="" id="{70D79645-9E4D-8A49-8EFC-5ECEBEC61618}"/>
              </a:ext>
            </a:extLst>
          </p:cNvPr>
          <p:cNvSpPr txBox="1"/>
          <p:nvPr/>
        </p:nvSpPr>
        <p:spPr>
          <a:xfrm>
            <a:off x="723550" y="5511197"/>
            <a:ext cx="9099958"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sz="1800" dirty="0">
                <a:solidFill>
                  <a:srgbClr val="FF0000"/>
                </a:solidFill>
              </a:rPr>
              <a:t>Example problem discussed in class—please refer to the class notes for details.</a:t>
            </a:r>
            <a:endParaRPr kumimoji="0" lang="en-US" altLang="en-US" sz="1800" b="0" i="0" u="none" strike="noStrike" cap="none" normalizeH="0" baseline="0" dirty="0">
              <a:ln>
                <a:noFill/>
              </a:ln>
              <a:solidFill>
                <a:srgbClr val="FF0000"/>
              </a:solidFill>
              <a:effectLst/>
              <a:latin typeface="Arial" panose="020B0604020202020204" pitchFamily="34" charset="0"/>
            </a:endParaRPr>
          </a:p>
        </p:txBody>
      </p:sp>
    </p:spTree>
    <p:extLst>
      <p:ext uri="{BB962C8B-B14F-4D97-AF65-F5344CB8AC3E}">
        <p14:creationId xmlns:p14="http://schemas.microsoft.com/office/powerpoint/2010/main" val="3816821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73683BCE-38F5-6F3B-441B-DC837E9320DE}"/>
              </a:ext>
            </a:extLst>
          </p:cNvPr>
          <p:cNvPicPr>
            <a:picLocks noGrp="1" noChangeAspect="1"/>
          </p:cNvPicPr>
          <p:nvPr>
            <p:ph idx="1"/>
          </p:nvPr>
        </p:nvPicPr>
        <p:blipFill>
          <a:blip r:embed="rId2"/>
          <a:stretch>
            <a:fillRect/>
          </a:stretch>
        </p:blipFill>
        <p:spPr>
          <a:xfrm>
            <a:off x="595618" y="365125"/>
            <a:ext cx="7278116" cy="2000529"/>
          </a:xfrm>
        </p:spPr>
      </p:pic>
      <p:pic>
        <p:nvPicPr>
          <p:cNvPr id="7" name="Picture 6">
            <a:extLst>
              <a:ext uri="{FF2B5EF4-FFF2-40B4-BE49-F238E27FC236}">
                <a16:creationId xmlns:a16="http://schemas.microsoft.com/office/drawing/2014/main" xmlns="" id="{813651C2-257B-F871-F084-652FF71F5969}"/>
              </a:ext>
            </a:extLst>
          </p:cNvPr>
          <p:cNvPicPr>
            <a:picLocks noChangeAspect="1"/>
          </p:cNvPicPr>
          <p:nvPr/>
        </p:nvPicPr>
        <p:blipFill>
          <a:blip r:embed="rId3"/>
          <a:stretch>
            <a:fillRect/>
          </a:stretch>
        </p:blipFill>
        <p:spPr>
          <a:xfrm>
            <a:off x="838200" y="2601467"/>
            <a:ext cx="7392432" cy="3124636"/>
          </a:xfrm>
          <a:prstGeom prst="rect">
            <a:avLst/>
          </a:prstGeom>
        </p:spPr>
      </p:pic>
    </p:spTree>
    <p:extLst>
      <p:ext uri="{BB962C8B-B14F-4D97-AF65-F5344CB8AC3E}">
        <p14:creationId xmlns:p14="http://schemas.microsoft.com/office/powerpoint/2010/main" val="869173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8D57469-0EBF-EEC3-AF9E-5639CF9DDC06}"/>
              </a:ext>
            </a:extLst>
          </p:cNvPr>
          <p:cNvSpPr>
            <a:spLocks noGrp="1"/>
          </p:cNvSpPr>
          <p:nvPr>
            <p:ph idx="1"/>
          </p:nvPr>
        </p:nvSpPr>
        <p:spPr>
          <a:xfrm>
            <a:off x="0" y="261257"/>
            <a:ext cx="12192000" cy="5915706"/>
          </a:xfrm>
        </p:spPr>
        <p:txBody>
          <a:bodyPr>
            <a:normAutofit/>
          </a:bodyPr>
          <a:lstStyle/>
          <a:p>
            <a:r>
              <a:rPr lang="en-US" sz="1800" b="1" dirty="0"/>
              <a:t>Practical Considerations:</a:t>
            </a:r>
            <a:endParaRPr lang="en-US" sz="1800" dirty="0"/>
          </a:p>
          <a:p>
            <a:pPr>
              <a:buFont typeface="Arial" panose="020B0604020202020204" pitchFamily="34" charset="0"/>
              <a:buChar char="•"/>
            </a:pPr>
            <a:r>
              <a:rPr lang="en-US" sz="1800" b="1" dirty="0"/>
              <a:t>Memory Requirements:</a:t>
            </a:r>
            <a:r>
              <a:rPr lang="en-US" sz="1800" dirty="0"/>
              <a:t> Memory usage grows exponentially with depth. For a branching factor of 10, memory requirements can become prohibitive (e.g., 10^8 nodes need 103 GB at depth 8).</a:t>
            </a:r>
          </a:p>
          <a:p>
            <a:pPr>
              <a:buFont typeface="Arial" panose="020B0604020202020204" pitchFamily="34" charset="0"/>
              <a:buChar char="•"/>
            </a:pPr>
            <a:r>
              <a:rPr lang="en-US" sz="1800" b="1" dirty="0"/>
              <a:t>Execution Time:</a:t>
            </a:r>
            <a:r>
              <a:rPr lang="en-US" sz="1800" dirty="0"/>
              <a:t> Time also grows exponentially. Finding a solution at depth 16 can take centuries with current hardware capabilities.</a:t>
            </a:r>
          </a:p>
          <a:p>
            <a:pPr>
              <a:buFont typeface="Arial" panose="020B0604020202020204" pitchFamily="34" charset="0"/>
              <a:buChar char="•"/>
            </a:pPr>
            <a:endParaRPr lang="en-US" sz="1800" dirty="0"/>
          </a:p>
          <a:p>
            <a:endParaRPr lang="en-IN" sz="1800" dirty="0"/>
          </a:p>
        </p:txBody>
      </p:sp>
      <p:sp>
        <p:nvSpPr>
          <p:cNvPr id="7" name="Rectangle 4">
            <a:extLst>
              <a:ext uri="{FF2B5EF4-FFF2-40B4-BE49-F238E27FC236}">
                <a16:creationId xmlns:a16="http://schemas.microsoft.com/office/drawing/2014/main" xmlns="" id="{509BE088-C56F-0356-3575-5BFF406F19DC}"/>
              </a:ext>
            </a:extLst>
          </p:cNvPr>
          <p:cNvSpPr>
            <a:spLocks noChangeArrowheads="1"/>
          </p:cNvSpPr>
          <p:nvPr/>
        </p:nvSpPr>
        <p:spPr bwMode="auto">
          <a:xfrm>
            <a:off x="0" y="-5770793"/>
            <a:ext cx="11682109" cy="11541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Memory is a Major Limitation: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More so than execution time, memory constraints often render BFS impractical for deep search problems.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Exponential Growth:</a:t>
            </a: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Both time and space complexities demonstrate that exponential search problems are infeasible for  uninformed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methods beyond small instances. </a:t>
            </a:r>
          </a:p>
          <a:p>
            <a:pPr marL="0" marR="0" lvl="0" indent="0" algn="l" defTabSz="914400" rtl="0" eaLnBrk="0" fontAlgn="base" latinLnBrk="0" hangingPunct="0">
              <a:lnSpc>
                <a:spcPct val="100000"/>
              </a:lnSpc>
              <a:spcBef>
                <a:spcPct val="0"/>
              </a:spcBef>
              <a:spcAft>
                <a:spcPct val="0"/>
              </a:spcAft>
              <a:buClrTx/>
              <a:buSzTx/>
              <a:tabLst/>
            </a:pPr>
            <a:endParaRPr lang="en-US" altLang="en-US" dirty="0"/>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lang="en-US" b="1" dirty="0"/>
              <a:t>Breadth-First Search</a:t>
            </a:r>
            <a:r>
              <a:rPr lang="en-US" dirty="0"/>
              <a:t> is effective for finding the shortest path in terms of the number of edges but is severely limited by its </a:t>
            </a:r>
          </a:p>
          <a:p>
            <a:pPr marL="0" marR="0" lvl="0" indent="0" algn="l" defTabSz="914400" rtl="0" eaLnBrk="0" fontAlgn="base" latinLnBrk="0" hangingPunct="0">
              <a:lnSpc>
                <a:spcPct val="100000"/>
              </a:lnSpc>
              <a:spcBef>
                <a:spcPct val="0"/>
              </a:spcBef>
              <a:spcAft>
                <a:spcPct val="0"/>
              </a:spcAft>
              <a:buClrTx/>
              <a:buSzTx/>
              <a:tabLst/>
            </a:pPr>
            <a:r>
              <a:rPr lang="en-US" dirty="0"/>
              <a:t>high time and space complexities for large search depths. Alternative search strategies that require less memory are often </a:t>
            </a:r>
          </a:p>
          <a:p>
            <a:pPr marL="0" marR="0" lvl="0" indent="0" algn="l" defTabSz="914400" rtl="0" eaLnBrk="0" fontAlgn="base" latinLnBrk="0" hangingPunct="0">
              <a:lnSpc>
                <a:spcPct val="100000"/>
              </a:lnSpc>
              <a:spcBef>
                <a:spcPct val="0"/>
              </a:spcBef>
              <a:spcAft>
                <a:spcPct val="0"/>
              </a:spcAft>
              <a:buClrTx/>
              <a:buSzTx/>
              <a:tabLst/>
            </a:pPr>
            <a:r>
              <a:rPr lang="en-US" dirty="0"/>
              <a:t>preferred for practical applications.</a:t>
            </a:r>
            <a:endParaRPr lang="en-US" altLang="en-US" dirty="0"/>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a:p>
        </p:txBody>
      </p:sp>
    </p:spTree>
    <p:extLst>
      <p:ext uri="{BB962C8B-B14F-4D97-AF65-F5344CB8AC3E}">
        <p14:creationId xmlns:p14="http://schemas.microsoft.com/office/powerpoint/2010/main" val="77619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4673E8-C243-4224-08EB-88116F81C7E3}"/>
              </a:ext>
            </a:extLst>
          </p:cNvPr>
          <p:cNvSpPr>
            <a:spLocks noGrp="1"/>
          </p:cNvSpPr>
          <p:nvPr>
            <p:ph type="title"/>
          </p:nvPr>
        </p:nvSpPr>
        <p:spPr>
          <a:xfrm>
            <a:off x="75501" y="67112"/>
            <a:ext cx="11278300" cy="613925"/>
          </a:xfrm>
        </p:spPr>
        <p:txBody>
          <a:bodyPr>
            <a:normAutofit/>
          </a:bodyPr>
          <a:lstStyle/>
          <a:p>
            <a:r>
              <a:rPr lang="en-IN" sz="2800" dirty="0"/>
              <a:t>Uniform-cost search</a:t>
            </a:r>
          </a:p>
        </p:txBody>
      </p:sp>
      <p:sp>
        <p:nvSpPr>
          <p:cNvPr id="3" name="Content Placeholder 2">
            <a:extLst>
              <a:ext uri="{FF2B5EF4-FFF2-40B4-BE49-F238E27FC236}">
                <a16:creationId xmlns:a16="http://schemas.microsoft.com/office/drawing/2014/main" xmlns="" id="{1929179F-435D-4CFA-9DCE-3B881FB07D36}"/>
              </a:ext>
            </a:extLst>
          </p:cNvPr>
          <p:cNvSpPr>
            <a:spLocks noGrp="1"/>
          </p:cNvSpPr>
          <p:nvPr>
            <p:ph idx="1"/>
          </p:nvPr>
        </p:nvSpPr>
        <p:spPr>
          <a:xfrm>
            <a:off x="75500" y="681037"/>
            <a:ext cx="11979480" cy="5495926"/>
          </a:xfrm>
        </p:spPr>
        <p:txBody>
          <a:bodyPr>
            <a:normAutofit/>
          </a:bodyPr>
          <a:lstStyle/>
          <a:p>
            <a:pPr>
              <a:buFont typeface="Arial" panose="020B0604020202020204" pitchFamily="34" charset="0"/>
              <a:buChar char="•"/>
            </a:pPr>
            <a:r>
              <a:rPr lang="en-US" sz="1800" b="1" dirty="0"/>
              <a:t>Definition:</a:t>
            </a:r>
            <a:r>
              <a:rPr lang="en-US" sz="1800" dirty="0"/>
              <a:t> Uniform-Cost Search (UCS) is an algorithm that expands the node with the lowest path cost.</a:t>
            </a:r>
          </a:p>
          <a:p>
            <a:pPr>
              <a:buFont typeface="Arial" panose="020B0604020202020204" pitchFamily="34" charset="0"/>
              <a:buChar char="•"/>
            </a:pPr>
            <a:r>
              <a:rPr lang="en-US" sz="1800" b="1" dirty="0"/>
              <a:t>Priority Queue:</a:t>
            </a:r>
            <a:r>
              <a:rPr lang="en-US" sz="1800" dirty="0"/>
              <a:t> UCS uses a priority queue ordered by path cost g(n)g(n)g(n) to manage the frontier.</a:t>
            </a:r>
          </a:p>
          <a:p>
            <a:pPr marL="0" indent="0">
              <a:buNone/>
            </a:pPr>
            <a:r>
              <a:rPr lang="en-US" sz="1800" b="1" dirty="0"/>
              <a:t>Differences from Breadth-First Search</a:t>
            </a:r>
          </a:p>
          <a:p>
            <a:pPr>
              <a:buFont typeface="Arial" panose="020B0604020202020204" pitchFamily="34" charset="0"/>
              <a:buChar char="•"/>
            </a:pPr>
            <a:r>
              <a:rPr lang="en-US" sz="1800" b="1" dirty="0"/>
              <a:t>Goal Test Application:</a:t>
            </a:r>
            <a:r>
              <a:rPr lang="en-US" sz="1800" dirty="0"/>
              <a:t> UCS applies the goal test when a node is selected for expansion.</a:t>
            </a:r>
          </a:p>
          <a:p>
            <a:pPr>
              <a:buFont typeface="Arial" panose="020B0604020202020204" pitchFamily="34" charset="0"/>
              <a:buChar char="•"/>
            </a:pPr>
            <a:r>
              <a:rPr lang="en-US" sz="1800" b="1" dirty="0"/>
              <a:t>Path Cost Consideration:</a:t>
            </a:r>
            <a:r>
              <a:rPr lang="en-US" sz="1800" dirty="0"/>
              <a:t> UCS expands nodes based on path cost rather than depth.</a:t>
            </a:r>
          </a:p>
          <a:p>
            <a:pPr>
              <a:buFont typeface="Arial" panose="020B0604020202020204" pitchFamily="34" charset="0"/>
              <a:buChar char="•"/>
            </a:pPr>
            <a:r>
              <a:rPr lang="en-US" sz="1800" b="1" dirty="0"/>
              <a:t>Priority Queue Management:</a:t>
            </a:r>
            <a:r>
              <a:rPr lang="en-US" sz="1800" dirty="0"/>
              <a:t> Handles frontier nodes more efficiently by using a combination of a priority queue and a hash table.</a:t>
            </a:r>
          </a:p>
          <a:p>
            <a:endParaRPr lang="en-IN" sz="1800" dirty="0"/>
          </a:p>
        </p:txBody>
      </p:sp>
    </p:spTree>
    <p:extLst>
      <p:ext uri="{BB962C8B-B14F-4D97-AF65-F5344CB8AC3E}">
        <p14:creationId xmlns:p14="http://schemas.microsoft.com/office/powerpoint/2010/main" val="2055748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5D081C-B0F2-B869-8F99-F7A161EE36B3}"/>
              </a:ext>
            </a:extLst>
          </p:cNvPr>
          <p:cNvSpPr>
            <a:spLocks noGrp="1"/>
          </p:cNvSpPr>
          <p:nvPr>
            <p:ph type="title"/>
          </p:nvPr>
        </p:nvSpPr>
        <p:spPr>
          <a:xfrm>
            <a:off x="0" y="92280"/>
            <a:ext cx="11353800" cy="478172"/>
          </a:xfrm>
        </p:spPr>
        <p:txBody>
          <a:bodyPr>
            <a:normAutofit/>
          </a:bodyPr>
          <a:lstStyle/>
          <a:p>
            <a:r>
              <a:rPr lang="en-IN" sz="2800" dirty="0"/>
              <a:t>Pseudocode of Uniform-Cost Search</a:t>
            </a:r>
          </a:p>
        </p:txBody>
      </p:sp>
      <p:sp>
        <p:nvSpPr>
          <p:cNvPr id="3" name="Content Placeholder 2">
            <a:extLst>
              <a:ext uri="{FF2B5EF4-FFF2-40B4-BE49-F238E27FC236}">
                <a16:creationId xmlns:a16="http://schemas.microsoft.com/office/drawing/2014/main" xmlns="" id="{9FC2EA5D-A052-4F2B-E772-FF4E0A651D0C}"/>
              </a:ext>
            </a:extLst>
          </p:cNvPr>
          <p:cNvSpPr>
            <a:spLocks noGrp="1"/>
          </p:cNvSpPr>
          <p:nvPr>
            <p:ph idx="1"/>
          </p:nvPr>
        </p:nvSpPr>
        <p:spPr>
          <a:xfrm>
            <a:off x="67112" y="570452"/>
            <a:ext cx="11286688" cy="5606511"/>
          </a:xfrm>
        </p:spPr>
        <p:txBody>
          <a:bodyPr>
            <a:normAutofit fontScale="92500" lnSpcReduction="20000"/>
          </a:bodyPr>
          <a:lstStyle/>
          <a:p>
            <a:pPr marL="0" indent="0">
              <a:buNone/>
            </a:pPr>
            <a:r>
              <a:rPr lang="en-US" sz="2300" dirty="0"/>
              <a:t>function UNIFORM-COST-SEARCH(problem) returns a solution, or failure</a:t>
            </a:r>
          </a:p>
          <a:p>
            <a:pPr marL="0" indent="0">
              <a:buNone/>
            </a:pPr>
            <a:r>
              <a:rPr lang="en-US" sz="2300" dirty="0"/>
              <a:t>  node ← a node with STATE = </a:t>
            </a:r>
            <a:r>
              <a:rPr lang="en-US" sz="2300" dirty="0" err="1"/>
              <a:t>problem.INITIAL</a:t>
            </a:r>
            <a:r>
              <a:rPr lang="en-US" sz="2300" dirty="0"/>
              <a:t>-STATE, PATH-COST = 0</a:t>
            </a:r>
          </a:p>
          <a:p>
            <a:pPr marL="0" indent="0">
              <a:buNone/>
            </a:pPr>
            <a:r>
              <a:rPr lang="en-US" sz="2300" dirty="0"/>
              <a:t>  frontier ← a priority queue ordered by PATH-COST, with node as the only element</a:t>
            </a:r>
          </a:p>
          <a:p>
            <a:pPr marL="0" indent="0">
              <a:buNone/>
            </a:pPr>
            <a:r>
              <a:rPr lang="en-US" sz="2300" dirty="0"/>
              <a:t>  explored ← an empty set</a:t>
            </a:r>
          </a:p>
          <a:p>
            <a:pPr marL="0" indent="0">
              <a:buNone/>
            </a:pPr>
            <a:r>
              <a:rPr lang="en-US" sz="2300" dirty="0"/>
              <a:t>  loop do</a:t>
            </a:r>
          </a:p>
          <a:p>
            <a:pPr marL="0" indent="0">
              <a:buNone/>
            </a:pPr>
            <a:r>
              <a:rPr lang="en-US" sz="2300" dirty="0"/>
              <a:t>    if EMPTY?(frontier ) then return failure</a:t>
            </a:r>
          </a:p>
          <a:p>
            <a:pPr marL="0" indent="0">
              <a:buNone/>
            </a:pPr>
            <a:r>
              <a:rPr lang="en-US" sz="2300" dirty="0"/>
              <a:t>    node ← POP(frontier ) /* chooses the lowest-cost node in frontier */</a:t>
            </a:r>
          </a:p>
          <a:p>
            <a:pPr marL="0" indent="0">
              <a:buNone/>
            </a:pPr>
            <a:r>
              <a:rPr lang="en-US" sz="2300" dirty="0"/>
              <a:t>    if </a:t>
            </a:r>
            <a:r>
              <a:rPr lang="en-US" sz="2300" dirty="0" err="1"/>
              <a:t>problem.GOAL</a:t>
            </a:r>
            <a:r>
              <a:rPr lang="en-US" sz="2300" dirty="0"/>
              <a:t>-TEST(</a:t>
            </a:r>
            <a:r>
              <a:rPr lang="en-US" sz="2300" dirty="0" err="1"/>
              <a:t>node.STATE</a:t>
            </a:r>
            <a:r>
              <a:rPr lang="en-US" sz="2300" dirty="0"/>
              <a:t>) then return SOLUTION(node)</a:t>
            </a:r>
          </a:p>
          <a:p>
            <a:pPr marL="0" indent="0">
              <a:buNone/>
            </a:pPr>
            <a:r>
              <a:rPr lang="en-US" sz="2300" dirty="0"/>
              <a:t>    add </a:t>
            </a:r>
            <a:r>
              <a:rPr lang="en-US" sz="2300" dirty="0" err="1"/>
              <a:t>node.STATE</a:t>
            </a:r>
            <a:r>
              <a:rPr lang="en-US" sz="2300" dirty="0"/>
              <a:t> to explored</a:t>
            </a:r>
          </a:p>
          <a:p>
            <a:pPr marL="0" indent="0">
              <a:buNone/>
            </a:pPr>
            <a:r>
              <a:rPr lang="en-US" sz="2300" dirty="0"/>
              <a:t>    for each action in </a:t>
            </a:r>
            <a:r>
              <a:rPr lang="en-US" sz="2300" dirty="0" err="1"/>
              <a:t>problem.ACTIONS</a:t>
            </a:r>
            <a:r>
              <a:rPr lang="en-US" sz="2300" dirty="0"/>
              <a:t>(</a:t>
            </a:r>
            <a:r>
              <a:rPr lang="en-US" sz="2300" dirty="0" err="1"/>
              <a:t>node.STATE</a:t>
            </a:r>
            <a:r>
              <a:rPr lang="en-US" sz="2300" dirty="0"/>
              <a:t>) do</a:t>
            </a:r>
          </a:p>
          <a:p>
            <a:pPr marL="0" indent="0">
              <a:buNone/>
            </a:pPr>
            <a:r>
              <a:rPr lang="en-US" sz="2300" dirty="0"/>
              <a:t>      child ← CHILD-NODE(problem, node, action)</a:t>
            </a:r>
          </a:p>
          <a:p>
            <a:pPr marL="0" indent="0">
              <a:buNone/>
            </a:pPr>
            <a:r>
              <a:rPr lang="en-US" sz="2300" dirty="0"/>
              <a:t>      if </a:t>
            </a:r>
            <a:r>
              <a:rPr lang="en-US" sz="2300" dirty="0" err="1"/>
              <a:t>child.STATE</a:t>
            </a:r>
            <a:r>
              <a:rPr lang="en-US" sz="2300" dirty="0"/>
              <a:t> is not in explored or frontier then</a:t>
            </a:r>
          </a:p>
          <a:p>
            <a:pPr marL="0" indent="0">
              <a:buNone/>
            </a:pPr>
            <a:r>
              <a:rPr lang="en-US" sz="2300" dirty="0"/>
              <a:t>        frontier ← INSERT(child, frontier )</a:t>
            </a:r>
          </a:p>
          <a:p>
            <a:pPr marL="0" indent="0">
              <a:buNone/>
            </a:pPr>
            <a:r>
              <a:rPr lang="en-US" sz="2300" dirty="0"/>
              <a:t>      else if </a:t>
            </a:r>
            <a:r>
              <a:rPr lang="en-US" sz="2300" dirty="0" err="1"/>
              <a:t>child.STATE</a:t>
            </a:r>
            <a:r>
              <a:rPr lang="en-US" sz="2300" dirty="0"/>
              <a:t> is in frontier with higher PATH-COST then</a:t>
            </a:r>
          </a:p>
          <a:p>
            <a:pPr marL="0" indent="0">
              <a:buNone/>
            </a:pPr>
            <a:r>
              <a:rPr lang="en-US" sz="2300" dirty="0"/>
              <a:t>        replace that frontier node with child</a:t>
            </a:r>
          </a:p>
          <a:p>
            <a:endParaRPr lang="en-IN" dirty="0"/>
          </a:p>
        </p:txBody>
      </p:sp>
    </p:spTree>
    <p:extLst>
      <p:ext uri="{BB962C8B-B14F-4D97-AF65-F5344CB8AC3E}">
        <p14:creationId xmlns:p14="http://schemas.microsoft.com/office/powerpoint/2010/main" val="1422814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8A73765-C3D8-A0E3-4F48-626D42E6EC8B}"/>
              </a:ext>
            </a:extLst>
          </p:cNvPr>
          <p:cNvSpPr>
            <a:spLocks noGrp="1"/>
          </p:cNvSpPr>
          <p:nvPr>
            <p:ph idx="1"/>
          </p:nvPr>
        </p:nvSpPr>
        <p:spPr>
          <a:xfrm>
            <a:off x="125835" y="92279"/>
            <a:ext cx="11954312" cy="6084684"/>
          </a:xfrm>
        </p:spPr>
        <p:txBody>
          <a:bodyPr>
            <a:normAutofit/>
          </a:bodyPr>
          <a:lstStyle/>
          <a:p>
            <a:pPr marL="0" indent="0">
              <a:buNone/>
            </a:pPr>
            <a:r>
              <a:rPr lang="en-US" sz="1800" b="1" dirty="0"/>
              <a:t>Example - Romania Map Problem</a:t>
            </a:r>
          </a:p>
          <a:p>
            <a:pPr>
              <a:buFont typeface="Arial" panose="020B0604020202020204" pitchFamily="34" charset="0"/>
              <a:buChar char="•"/>
            </a:pPr>
            <a:r>
              <a:rPr lang="en-US" sz="1800" b="1" dirty="0"/>
              <a:t>Objective:</a:t>
            </a:r>
            <a:r>
              <a:rPr lang="en-US" sz="1800" dirty="0"/>
              <a:t> Travel from Sibiu to Bucharest.</a:t>
            </a:r>
          </a:p>
          <a:p>
            <a:pPr>
              <a:buFont typeface="Arial" panose="020B0604020202020204" pitchFamily="34" charset="0"/>
              <a:buChar char="•"/>
            </a:pPr>
            <a:r>
              <a:rPr lang="en-US" sz="1800" b="1" dirty="0"/>
              <a:t>Nodes and Costs:</a:t>
            </a:r>
            <a:r>
              <a:rPr lang="en-US" sz="1800" dirty="0"/>
              <a:t> </a:t>
            </a:r>
            <a:r>
              <a:rPr lang="en-US" sz="1800" dirty="0" err="1"/>
              <a:t>Rimnicu</a:t>
            </a:r>
            <a:r>
              <a:rPr lang="en-US" sz="1800" dirty="0"/>
              <a:t> </a:t>
            </a:r>
            <a:r>
              <a:rPr lang="en-US" sz="1800" dirty="0" err="1"/>
              <a:t>Vilcea</a:t>
            </a:r>
            <a:r>
              <a:rPr lang="en-US" sz="1800" dirty="0"/>
              <a:t> (80), </a:t>
            </a:r>
            <a:r>
              <a:rPr lang="en-US" sz="1800" dirty="0" err="1"/>
              <a:t>Fagaras</a:t>
            </a:r>
            <a:r>
              <a:rPr lang="en-US" sz="1800" dirty="0"/>
              <a:t> (99), Pitesti (177), Bucharest (278, 310).</a:t>
            </a:r>
          </a:p>
          <a:p>
            <a:pPr>
              <a:buFont typeface="Arial" panose="020B0604020202020204" pitchFamily="34" charset="0"/>
              <a:buChar char="•"/>
            </a:pPr>
            <a:r>
              <a:rPr lang="en-US" sz="1800" b="1" dirty="0"/>
              <a:t>Process:</a:t>
            </a:r>
            <a:r>
              <a:rPr lang="en-US" sz="1800" dirty="0"/>
              <a:t> Nodes are expanded in order of their path costs, ensuring the optimal path is found.</a:t>
            </a:r>
          </a:p>
          <a:p>
            <a:pPr marL="0" indent="0">
              <a:buNone/>
            </a:pPr>
            <a:r>
              <a:rPr lang="en-US" sz="1800" b="1" dirty="0"/>
              <a:t>Optimality of Uniform-Cost Search</a:t>
            </a:r>
          </a:p>
          <a:p>
            <a:pPr>
              <a:buFont typeface="Arial" panose="020B0604020202020204" pitchFamily="34" charset="0"/>
              <a:buChar char="•"/>
            </a:pPr>
            <a:r>
              <a:rPr lang="en-US" sz="1800" b="1" dirty="0"/>
              <a:t>Path Cost Selection:</a:t>
            </a:r>
            <a:r>
              <a:rPr lang="en-US" sz="1800" dirty="0"/>
              <a:t> UCS ensures that the node selected for expansion has the lowest path cost.</a:t>
            </a:r>
          </a:p>
          <a:p>
            <a:pPr>
              <a:buFont typeface="Arial" panose="020B0604020202020204" pitchFamily="34" charset="0"/>
              <a:buChar char="•"/>
            </a:pPr>
            <a:r>
              <a:rPr lang="en-US" sz="1800" b="1" dirty="0"/>
              <a:t>Non-Negative Step Costs:</a:t>
            </a:r>
            <a:r>
              <a:rPr lang="en-US" sz="1800" dirty="0"/>
              <a:t> Guarantees optimal path cost by expanding nodes in order of increasing path cost.</a:t>
            </a:r>
          </a:p>
          <a:p>
            <a:pPr marL="0" indent="0">
              <a:buNone/>
            </a:pPr>
            <a:r>
              <a:rPr lang="en-US" sz="1800" b="1" dirty="0"/>
              <a:t>Handling Infinite Loops</a:t>
            </a:r>
          </a:p>
          <a:p>
            <a:pPr>
              <a:buFont typeface="Arial" panose="020B0604020202020204" pitchFamily="34" charset="0"/>
              <a:buChar char="•"/>
            </a:pPr>
            <a:r>
              <a:rPr lang="en-US" sz="1800" b="1" dirty="0"/>
              <a:t>Zero-Cost Actions:</a:t>
            </a:r>
            <a:r>
              <a:rPr lang="en-US" sz="1800" dirty="0"/>
              <a:t> UCS can get stuck in infinite loops with sequences of zero-cost actions (e.g., </a:t>
            </a:r>
            <a:r>
              <a:rPr lang="en-US" sz="1800" dirty="0" err="1"/>
              <a:t>NoOp</a:t>
            </a:r>
            <a:r>
              <a:rPr lang="en-US" sz="1800" dirty="0"/>
              <a:t> actions).</a:t>
            </a:r>
          </a:p>
          <a:p>
            <a:pPr>
              <a:buFont typeface="Arial" panose="020B0604020202020204" pitchFamily="34" charset="0"/>
              <a:buChar char="•"/>
            </a:pPr>
            <a:r>
              <a:rPr lang="en-US" sz="1800" b="1" dirty="0"/>
              <a:t>Solution:</a:t>
            </a:r>
            <a:r>
              <a:rPr lang="en-US" sz="1800" dirty="0"/>
              <a:t> Ensures completeness by assuming every action costs at least a small positive constant ϵ.</a:t>
            </a:r>
          </a:p>
          <a:p>
            <a:endParaRPr lang="en-IN" sz="1800" dirty="0"/>
          </a:p>
        </p:txBody>
      </p:sp>
      <p:pic>
        <p:nvPicPr>
          <p:cNvPr id="5" name="Picture 4">
            <a:extLst>
              <a:ext uri="{FF2B5EF4-FFF2-40B4-BE49-F238E27FC236}">
                <a16:creationId xmlns:a16="http://schemas.microsoft.com/office/drawing/2014/main" xmlns="" id="{21B7055B-D903-D003-96A4-4D59B63DD5AE}"/>
              </a:ext>
            </a:extLst>
          </p:cNvPr>
          <p:cNvPicPr>
            <a:picLocks noChangeAspect="1"/>
          </p:cNvPicPr>
          <p:nvPr/>
        </p:nvPicPr>
        <p:blipFill rotWithShape="1">
          <a:blip r:embed="rId2"/>
          <a:srcRect l="4687" t="4787" r="8285"/>
          <a:stretch/>
        </p:blipFill>
        <p:spPr>
          <a:xfrm>
            <a:off x="1744910" y="3917659"/>
            <a:ext cx="6358856" cy="2848062"/>
          </a:xfrm>
          <a:prstGeom prst="rect">
            <a:avLst/>
          </a:prstGeom>
        </p:spPr>
      </p:pic>
    </p:spTree>
    <p:extLst>
      <p:ext uri="{BB962C8B-B14F-4D97-AF65-F5344CB8AC3E}">
        <p14:creationId xmlns:p14="http://schemas.microsoft.com/office/powerpoint/2010/main" val="314145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F3D6173-3D25-CF30-1F97-AC5956E44C36}"/>
              </a:ext>
            </a:extLst>
          </p:cNvPr>
          <p:cNvSpPr>
            <a:spLocks noGrp="1"/>
          </p:cNvSpPr>
          <p:nvPr>
            <p:ph idx="1"/>
          </p:nvPr>
        </p:nvSpPr>
        <p:spPr>
          <a:xfrm>
            <a:off x="116746" y="122659"/>
            <a:ext cx="11938233" cy="5282097"/>
          </a:xfrm>
        </p:spPr>
        <p:txBody>
          <a:bodyPr>
            <a:noAutofit/>
          </a:bodyPr>
          <a:lstStyle/>
          <a:p>
            <a:r>
              <a:rPr lang="en-US" sz="1700" b="1" dirty="0"/>
              <a:t>Complexity Analysis</a:t>
            </a:r>
          </a:p>
          <a:p>
            <a:pPr>
              <a:buFont typeface="Arial" panose="020B0604020202020204" pitchFamily="34" charset="0"/>
              <a:buChar char="•"/>
            </a:pPr>
            <a:r>
              <a:rPr lang="en-US" sz="1700" b="1" dirty="0"/>
              <a:t>Variables:</a:t>
            </a:r>
            <a:endParaRPr lang="en-US" sz="1700" dirty="0"/>
          </a:p>
          <a:p>
            <a:pPr marL="742950" lvl="1" indent="-285750">
              <a:buFont typeface="Arial" panose="020B0604020202020204" pitchFamily="34" charset="0"/>
              <a:buChar char="•"/>
            </a:pPr>
            <a:r>
              <a:rPr lang="en-US" sz="1700" dirty="0"/>
              <a:t>C∗: Cost of the optimal solution.</a:t>
            </a:r>
          </a:p>
          <a:p>
            <a:pPr marL="742950" lvl="1" indent="-285750">
              <a:buFont typeface="Arial" panose="020B0604020202020204" pitchFamily="34" charset="0"/>
              <a:buChar char="•"/>
            </a:pPr>
            <a:r>
              <a:rPr lang="en-US" sz="1700" dirty="0"/>
              <a:t>ϵ: Minimum step cost.</a:t>
            </a:r>
          </a:p>
          <a:p>
            <a:pPr>
              <a:buFont typeface="Arial" panose="020B0604020202020204" pitchFamily="34" charset="0"/>
              <a:buChar char="•"/>
            </a:pPr>
            <a:r>
              <a:rPr lang="en-US" sz="1700" b="1" dirty="0"/>
              <a:t>Worst-Case Time and Space Complexity</a:t>
            </a:r>
          </a:p>
          <a:p>
            <a:pPr>
              <a:buFont typeface="Arial" panose="020B0604020202020204" pitchFamily="34" charset="0"/>
              <a:buChar char="•"/>
            </a:pPr>
            <a:r>
              <a:rPr lang="en-US" sz="1700" b="1" dirty="0"/>
              <a:t>Comparison with BFS:</a:t>
            </a:r>
            <a:r>
              <a:rPr lang="en-US" sz="1700" dirty="0"/>
              <a:t> UCS can be more complex due to exploring large trees of small steps.</a:t>
            </a:r>
          </a:p>
          <a:p>
            <a:pPr marL="0" indent="0">
              <a:buNone/>
            </a:pPr>
            <a:r>
              <a:rPr lang="en-US" sz="1700" b="1" dirty="0"/>
              <a:t>Breadth-First Search vs. Uniform-Cost Search</a:t>
            </a:r>
          </a:p>
          <a:p>
            <a:pPr>
              <a:buFont typeface="Arial" panose="020B0604020202020204" pitchFamily="34" charset="0"/>
              <a:buChar char="•"/>
            </a:pPr>
            <a:r>
              <a:rPr lang="en-US" sz="1700" b="1" dirty="0"/>
              <a:t>Equal Step Costs:</a:t>
            </a:r>
            <a:r>
              <a:rPr lang="en-US" sz="1700" dirty="0"/>
              <a:t> UCS is similar to BFS when all step costs are equal.</a:t>
            </a:r>
          </a:p>
          <a:p>
            <a:pPr>
              <a:buFont typeface="Arial" panose="020B0604020202020204" pitchFamily="34" charset="0"/>
              <a:buChar char="•"/>
            </a:pPr>
            <a:r>
              <a:rPr lang="en-US" sz="1700" b="1" dirty="0"/>
              <a:t>Goal Node Examination:</a:t>
            </a:r>
            <a:r>
              <a:rPr lang="en-US" sz="1700" dirty="0"/>
              <a:t> UCS checks all nodes at the goal's depth for the lowest cost, while BFS stops at the first goal.</a:t>
            </a:r>
          </a:p>
          <a:p>
            <a:pPr marL="0" indent="0">
              <a:buNone/>
            </a:pPr>
            <a:r>
              <a:rPr lang="en-US" sz="1600" b="1" dirty="0"/>
              <a:t>Practical Considerations</a:t>
            </a:r>
          </a:p>
          <a:p>
            <a:pPr>
              <a:buFont typeface="Arial" panose="020B0604020202020204" pitchFamily="34" charset="0"/>
              <a:buChar char="•"/>
            </a:pPr>
            <a:r>
              <a:rPr lang="en-US" sz="1600" b="1" dirty="0"/>
              <a:t>Memory Requirements:</a:t>
            </a:r>
            <a:r>
              <a:rPr lang="en-US" sz="1600" dirty="0"/>
              <a:t> UCS requires significant memory for storing nodes in the priority queue and explored set.</a:t>
            </a:r>
          </a:p>
          <a:p>
            <a:pPr>
              <a:buFont typeface="Arial" panose="020B0604020202020204" pitchFamily="34" charset="0"/>
              <a:buChar char="•"/>
            </a:pPr>
            <a:r>
              <a:rPr lang="en-US" sz="1600" b="1" dirty="0"/>
              <a:t>Execution Time:</a:t>
            </a:r>
            <a:r>
              <a:rPr lang="en-US" sz="1600" dirty="0"/>
              <a:t> UCS can be time-consuming for problems with large optimal solution costs.</a:t>
            </a:r>
          </a:p>
          <a:p>
            <a:pPr marL="0" indent="0">
              <a:buNone/>
            </a:pPr>
            <a:r>
              <a:rPr lang="en-US" sz="1600" b="1" dirty="0"/>
              <a:t>Conclusion</a:t>
            </a:r>
          </a:p>
          <a:p>
            <a:pPr>
              <a:buFont typeface="Arial" panose="020B0604020202020204" pitchFamily="34" charset="0"/>
              <a:buChar char="•"/>
            </a:pPr>
            <a:r>
              <a:rPr lang="en-US" sz="1600" b="1" dirty="0"/>
              <a:t>Use Case:</a:t>
            </a:r>
            <a:r>
              <a:rPr lang="en-US" sz="1600" dirty="0"/>
              <a:t> UCS is suitable for problems where step costs vary and an optimal solution is required.</a:t>
            </a:r>
          </a:p>
          <a:p>
            <a:pPr>
              <a:buFont typeface="Arial" panose="020B0604020202020204" pitchFamily="34" charset="0"/>
              <a:buChar char="•"/>
            </a:pPr>
            <a:r>
              <a:rPr lang="en-US" sz="1600" b="1" dirty="0"/>
              <a:t>Limitations:</a:t>
            </a:r>
            <a:r>
              <a:rPr lang="en-US" sz="1600" dirty="0"/>
              <a:t> Memory and time complexity can be significant, especially for large problems with many small steps.</a:t>
            </a:r>
          </a:p>
          <a:p>
            <a:endParaRPr lang="en-IN" sz="1600" dirty="0"/>
          </a:p>
          <a:p>
            <a:pPr>
              <a:buFont typeface="Arial" panose="020B0604020202020204" pitchFamily="34" charset="0"/>
              <a:buChar char="•"/>
            </a:pPr>
            <a:endParaRPr lang="en-US" sz="1700" dirty="0"/>
          </a:p>
          <a:p>
            <a:pPr marL="0" indent="0">
              <a:buNone/>
            </a:pPr>
            <a:r>
              <a:rPr lang="en-US" sz="1800" dirty="0">
                <a:solidFill>
                  <a:srgbClr val="FF0000"/>
                </a:solidFill>
              </a:rPr>
              <a:t>Example problem discussed in class—please refer to the class notes for details.</a:t>
            </a:r>
            <a:endParaRPr kumimoji="0" lang="en-US" altLang="en-US" sz="1800" b="0" i="0" u="none" strike="noStrike" cap="none" normalizeH="0" baseline="0" dirty="0">
              <a:ln>
                <a:noFill/>
              </a:ln>
              <a:solidFill>
                <a:srgbClr val="FF0000"/>
              </a:solidFill>
              <a:effectLst/>
              <a:latin typeface="Arial" panose="020B0604020202020204" pitchFamily="34" charset="0"/>
            </a:endParaRPr>
          </a:p>
          <a:p>
            <a:pPr>
              <a:buFont typeface="Arial" panose="020B0604020202020204" pitchFamily="34" charset="0"/>
              <a:buChar char="•"/>
            </a:pPr>
            <a:endParaRPr lang="en-US" sz="1700" dirty="0"/>
          </a:p>
          <a:p>
            <a:endParaRPr lang="en-IN" sz="1700" dirty="0"/>
          </a:p>
        </p:txBody>
      </p:sp>
      <p:pic>
        <p:nvPicPr>
          <p:cNvPr id="5" name="Picture 4">
            <a:extLst>
              <a:ext uri="{FF2B5EF4-FFF2-40B4-BE49-F238E27FC236}">
                <a16:creationId xmlns:a16="http://schemas.microsoft.com/office/drawing/2014/main" xmlns="" id="{CB23A2AB-DE08-7872-E817-9A32111FC4CA}"/>
              </a:ext>
            </a:extLst>
          </p:cNvPr>
          <p:cNvPicPr>
            <a:picLocks noChangeAspect="1"/>
          </p:cNvPicPr>
          <p:nvPr/>
        </p:nvPicPr>
        <p:blipFill>
          <a:blip r:embed="rId2"/>
          <a:stretch>
            <a:fillRect/>
          </a:stretch>
        </p:blipFill>
        <p:spPr>
          <a:xfrm>
            <a:off x="4512656" y="1348530"/>
            <a:ext cx="1286054" cy="390580"/>
          </a:xfrm>
          <a:prstGeom prst="rect">
            <a:avLst/>
          </a:prstGeom>
        </p:spPr>
      </p:pic>
    </p:spTree>
    <p:extLst>
      <p:ext uri="{BB962C8B-B14F-4D97-AF65-F5344CB8AC3E}">
        <p14:creationId xmlns:p14="http://schemas.microsoft.com/office/powerpoint/2010/main" val="2494957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47557C-CF02-4619-4087-F3C7C229C3F2}"/>
              </a:ext>
            </a:extLst>
          </p:cNvPr>
          <p:cNvSpPr>
            <a:spLocks noGrp="1"/>
          </p:cNvSpPr>
          <p:nvPr>
            <p:ph type="title"/>
          </p:nvPr>
        </p:nvSpPr>
        <p:spPr>
          <a:xfrm>
            <a:off x="-58723" y="83891"/>
            <a:ext cx="11412523" cy="360726"/>
          </a:xfrm>
        </p:spPr>
        <p:txBody>
          <a:bodyPr>
            <a:noAutofit/>
          </a:bodyPr>
          <a:lstStyle/>
          <a:p>
            <a:r>
              <a:rPr lang="en-IN" sz="2800" dirty="0"/>
              <a:t>Depth-first search</a:t>
            </a:r>
          </a:p>
        </p:txBody>
      </p:sp>
      <p:sp>
        <p:nvSpPr>
          <p:cNvPr id="4" name="Rectangle 1">
            <a:extLst>
              <a:ext uri="{FF2B5EF4-FFF2-40B4-BE49-F238E27FC236}">
                <a16:creationId xmlns:a16="http://schemas.microsoft.com/office/drawing/2014/main" xmlns="" id="{84721891-5BDD-E597-30BC-65CAE3C18B8E}"/>
              </a:ext>
            </a:extLst>
          </p:cNvPr>
          <p:cNvSpPr>
            <a:spLocks noGrp="1" noChangeArrowheads="1"/>
          </p:cNvSpPr>
          <p:nvPr>
            <p:ph idx="1"/>
          </p:nvPr>
        </p:nvSpPr>
        <p:spPr bwMode="auto">
          <a:xfrm>
            <a:off x="-58723" y="602291"/>
            <a:ext cx="113538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Definition:</a:t>
            </a:r>
            <a:r>
              <a:rPr kumimoji="0" lang="en-US" altLang="en-US" sz="1800" b="0" i="0" u="none" strike="noStrike" cap="none" normalizeH="0" baseline="0" dirty="0">
                <a:ln>
                  <a:noFill/>
                </a:ln>
                <a:solidFill>
                  <a:schemeClr val="tx1"/>
                </a:solidFill>
                <a:effectLst/>
                <a:latin typeface="Arial" panose="020B0604020202020204" pitchFamily="34" charset="0"/>
              </a:rPr>
              <a:t> DFS expands the deepest node in the current frontier of the search tree.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Search Strategy:</a:t>
            </a:r>
            <a:r>
              <a:rPr kumimoji="0" lang="en-US" altLang="en-US" sz="1800" b="0" i="0" u="none" strike="noStrike" cap="none" normalizeH="0" baseline="0" dirty="0">
                <a:ln>
                  <a:noFill/>
                </a:ln>
                <a:solidFill>
                  <a:schemeClr val="tx1"/>
                </a:solidFill>
                <a:effectLst/>
                <a:latin typeface="Arial" panose="020B0604020202020204" pitchFamily="34" charset="0"/>
              </a:rPr>
              <a:t> Proceeds to the deepest level, backs up when no successors are found. </a:t>
            </a:r>
          </a:p>
        </p:txBody>
      </p:sp>
      <p:sp>
        <p:nvSpPr>
          <p:cNvPr id="7" name="Rectangle 4">
            <a:extLst>
              <a:ext uri="{FF2B5EF4-FFF2-40B4-BE49-F238E27FC236}">
                <a16:creationId xmlns:a16="http://schemas.microsoft.com/office/drawing/2014/main" xmlns="" id="{D1340367-E14C-6A8D-4A71-CEE9C36CFDB3}"/>
              </a:ext>
            </a:extLst>
          </p:cNvPr>
          <p:cNvSpPr>
            <a:spLocks noChangeArrowheads="1"/>
          </p:cNvSpPr>
          <p:nvPr/>
        </p:nvSpPr>
        <p:spPr bwMode="auto">
          <a:xfrm>
            <a:off x="0" y="-2320484"/>
            <a:ext cx="11412523"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xmlns="" id="{23ACA07F-1160-503A-09BD-C72007A80DAC}"/>
              </a:ext>
            </a:extLst>
          </p:cNvPr>
          <p:cNvSpPr txBox="1"/>
          <p:nvPr/>
        </p:nvSpPr>
        <p:spPr>
          <a:xfrm>
            <a:off x="1" y="1535185"/>
            <a:ext cx="10858500" cy="1786684"/>
          </a:xfrm>
          <a:prstGeom prst="rect">
            <a:avLst/>
          </a:prstGeom>
          <a:noFill/>
        </p:spPr>
        <p:txBody>
          <a:bodyPr wrap="square">
            <a:spAutoFit/>
          </a:bodyPr>
          <a:lstStyle/>
          <a:p>
            <a:r>
              <a:rPr lang="en-IN" b="1" dirty="0"/>
              <a:t>DFS Implementation</a:t>
            </a:r>
          </a:p>
          <a:p>
            <a:pPr>
              <a:buFont typeface="Arial" panose="020B0604020202020204" pitchFamily="34" charset="0"/>
              <a:buChar char="•"/>
            </a:pPr>
            <a:r>
              <a:rPr lang="en-IN" b="1" dirty="0"/>
              <a:t>Algorithm Type:</a:t>
            </a:r>
            <a:r>
              <a:rPr lang="en-IN" dirty="0"/>
              <a:t> Graph-search and tree-search variations.</a:t>
            </a:r>
          </a:p>
          <a:p>
            <a:pPr>
              <a:buFont typeface="Arial" panose="020B0604020202020204" pitchFamily="34" charset="0"/>
              <a:buChar char="•"/>
            </a:pPr>
            <a:r>
              <a:rPr lang="en-IN" b="1" dirty="0"/>
              <a:t>Queue Type:</a:t>
            </a:r>
            <a:r>
              <a:rPr lang="en-IN" dirty="0"/>
              <a:t> LIFO (Last-In, First-Out) queue, ensuring the deepest unexpanded node is chosen.</a:t>
            </a:r>
          </a:p>
          <a:p>
            <a:pPr>
              <a:buFont typeface="Arial" panose="020B0604020202020204" pitchFamily="34" charset="0"/>
              <a:buChar char="•"/>
            </a:pPr>
            <a:r>
              <a:rPr lang="en-IN" b="1" dirty="0"/>
              <a:t>Alternative Implementation:</a:t>
            </a:r>
            <a:r>
              <a:rPr lang="en-IN" dirty="0"/>
              <a:t> Recursive function calls.</a:t>
            </a:r>
          </a:p>
          <a:p>
            <a:pPr>
              <a:buFont typeface="Arial" panose="020B0604020202020204" pitchFamily="34" charset="0"/>
              <a:buChar char="•"/>
            </a:pPr>
            <a:endParaRPr lang="en-IN" dirty="0"/>
          </a:p>
          <a:p>
            <a:pPr>
              <a:buFont typeface="Arial" panose="020B0604020202020204" pitchFamily="34" charset="0"/>
              <a:buChar char="•"/>
            </a:pPr>
            <a:endParaRPr lang="en-IN" dirty="0"/>
          </a:p>
        </p:txBody>
      </p:sp>
      <p:sp>
        <p:nvSpPr>
          <p:cNvPr id="11" name="TextBox 10">
            <a:extLst>
              <a:ext uri="{FF2B5EF4-FFF2-40B4-BE49-F238E27FC236}">
                <a16:creationId xmlns:a16="http://schemas.microsoft.com/office/drawing/2014/main" xmlns="" id="{AC8D45D3-1FDD-0D07-9DFB-B6914EB12480}"/>
              </a:ext>
            </a:extLst>
          </p:cNvPr>
          <p:cNvSpPr txBox="1"/>
          <p:nvPr/>
        </p:nvSpPr>
        <p:spPr>
          <a:xfrm>
            <a:off x="0" y="3020037"/>
            <a:ext cx="9890620" cy="3139321"/>
          </a:xfrm>
          <a:prstGeom prst="rect">
            <a:avLst/>
          </a:prstGeom>
          <a:noFill/>
        </p:spPr>
        <p:txBody>
          <a:bodyPr wrap="square">
            <a:spAutoFit/>
          </a:bodyPr>
          <a:lstStyle/>
          <a:p>
            <a:pPr marL="0" indent="0">
              <a:buNone/>
            </a:pPr>
            <a:r>
              <a:rPr lang="en-US" sz="1800" b="1" dirty="0"/>
              <a:t>DFS Properties and Example</a:t>
            </a:r>
          </a:p>
          <a:p>
            <a:pPr>
              <a:buFont typeface="Arial" panose="020B0604020202020204" pitchFamily="34" charset="0"/>
              <a:buChar char="•"/>
            </a:pPr>
            <a:r>
              <a:rPr lang="en-US" sz="1800" b="1" dirty="0"/>
              <a:t>Graph-Search vs. Tree-Search:</a:t>
            </a:r>
            <a:r>
              <a:rPr lang="en-US" sz="1800" dirty="0"/>
              <a:t> Graph-search avoids repeated states, while tree-search does not.</a:t>
            </a:r>
          </a:p>
          <a:p>
            <a:pPr>
              <a:buFont typeface="Arial" panose="020B0604020202020204" pitchFamily="34" charset="0"/>
              <a:buChar char="•"/>
            </a:pPr>
            <a:r>
              <a:rPr lang="en-US" sz="1800" b="1" dirty="0"/>
              <a:t>Completeness:</a:t>
            </a:r>
            <a:r>
              <a:rPr lang="en-US" sz="1800" dirty="0"/>
              <a:t> Graph-search is complete in finite state spaces; tree-search is not.</a:t>
            </a:r>
          </a:p>
          <a:p>
            <a:pPr>
              <a:buFont typeface="Arial" panose="020B0604020202020204" pitchFamily="34" charset="0"/>
              <a:buChar char="•"/>
            </a:pPr>
            <a:r>
              <a:rPr lang="en-US" sz="1800" b="1" dirty="0"/>
              <a:t>Example:</a:t>
            </a:r>
            <a:r>
              <a:rPr lang="en-US" sz="1800" dirty="0"/>
              <a:t> Tree expansion with nodes A to J, showing DFS progression.</a:t>
            </a:r>
          </a:p>
          <a:p>
            <a:pPr marL="0" indent="0">
              <a:buNone/>
            </a:pPr>
            <a:r>
              <a:rPr lang="en-US" sz="1800" b="1" dirty="0"/>
              <a:t>Completeness and Optimality</a:t>
            </a:r>
          </a:p>
          <a:p>
            <a:pPr>
              <a:buFont typeface="Arial" panose="020B0604020202020204" pitchFamily="34" charset="0"/>
              <a:buChar char="•"/>
            </a:pPr>
            <a:r>
              <a:rPr lang="en-US" sz="1800" b="1" dirty="0"/>
              <a:t>Completeness:</a:t>
            </a:r>
            <a:endParaRPr lang="en-US" sz="1800" dirty="0"/>
          </a:p>
          <a:p>
            <a:pPr marL="742950" lvl="1" indent="-285750">
              <a:buFont typeface="Arial" panose="020B0604020202020204" pitchFamily="34" charset="0"/>
              <a:buChar char="•"/>
            </a:pPr>
            <a:r>
              <a:rPr lang="en-US" sz="1800" dirty="0"/>
              <a:t>Graph-Search: Complete in finite state spaces.</a:t>
            </a:r>
          </a:p>
          <a:p>
            <a:pPr marL="742950" lvl="1" indent="-285750">
              <a:buFont typeface="Arial" panose="020B0604020202020204" pitchFamily="34" charset="0"/>
              <a:buChar char="•"/>
            </a:pPr>
            <a:r>
              <a:rPr lang="en-US" sz="1800" dirty="0"/>
              <a:t>Tree-Search: Not complete, can get stuck in infinite loops.</a:t>
            </a:r>
          </a:p>
          <a:p>
            <a:pPr>
              <a:buFont typeface="Arial" panose="020B0604020202020204" pitchFamily="34" charset="0"/>
              <a:buChar char="•"/>
            </a:pPr>
            <a:r>
              <a:rPr lang="en-US" sz="1800" b="1" dirty="0"/>
              <a:t>Optimality:</a:t>
            </a:r>
            <a:r>
              <a:rPr lang="en-US" sz="1800" dirty="0"/>
              <a:t> DFS is not optimal; it may not find the shortest or least-cost path to a goal.</a:t>
            </a:r>
          </a:p>
          <a:p>
            <a:pPr>
              <a:buFont typeface="Arial" panose="020B0604020202020204" pitchFamily="34" charset="0"/>
              <a:buChar char="•"/>
            </a:pPr>
            <a:endParaRPr lang="en-US" sz="1800" dirty="0"/>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4165137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E8C09A27-FC96-6C4C-690A-93224E04DBBB}"/>
              </a:ext>
            </a:extLst>
          </p:cNvPr>
          <p:cNvPicPr>
            <a:picLocks noChangeAspect="1"/>
          </p:cNvPicPr>
          <p:nvPr/>
        </p:nvPicPr>
        <p:blipFill>
          <a:blip r:embed="rId2"/>
          <a:stretch>
            <a:fillRect/>
          </a:stretch>
        </p:blipFill>
        <p:spPr>
          <a:xfrm>
            <a:off x="2366442" y="90021"/>
            <a:ext cx="7459116" cy="6677957"/>
          </a:xfrm>
          <a:prstGeom prst="rect">
            <a:avLst/>
          </a:prstGeom>
        </p:spPr>
      </p:pic>
    </p:spTree>
    <p:extLst>
      <p:ext uri="{BB962C8B-B14F-4D97-AF65-F5344CB8AC3E}">
        <p14:creationId xmlns:p14="http://schemas.microsoft.com/office/powerpoint/2010/main" val="185738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96C5765-E6E1-9DF6-2930-87F0CBCCF91E}"/>
              </a:ext>
            </a:extLst>
          </p:cNvPr>
          <p:cNvSpPr>
            <a:spLocks noGrp="1"/>
          </p:cNvSpPr>
          <p:nvPr>
            <p:ph idx="1"/>
          </p:nvPr>
        </p:nvSpPr>
        <p:spPr>
          <a:xfrm>
            <a:off x="92279" y="100668"/>
            <a:ext cx="11261521" cy="6076295"/>
          </a:xfrm>
        </p:spPr>
        <p:txBody>
          <a:bodyPr>
            <a:normAutofit/>
          </a:bodyPr>
          <a:lstStyle/>
          <a:p>
            <a:pPr marL="0" indent="0">
              <a:buNone/>
            </a:pPr>
            <a:r>
              <a:rPr lang="en-US" sz="1900" dirty="0"/>
              <a:t>function DEPTH-FIRST-SEARCH(problem) returns a solution, or failure</a:t>
            </a:r>
          </a:p>
          <a:p>
            <a:pPr marL="0" indent="0">
              <a:buNone/>
            </a:pPr>
            <a:r>
              <a:rPr lang="en-US" sz="1900" dirty="0"/>
              <a:t>  node ← a node with STATE = </a:t>
            </a:r>
            <a:r>
              <a:rPr lang="en-US" sz="1900" dirty="0" err="1"/>
              <a:t>problem.INITIAL</a:t>
            </a:r>
            <a:r>
              <a:rPr lang="en-US" sz="1900" dirty="0"/>
              <a:t>-STATE</a:t>
            </a:r>
          </a:p>
          <a:p>
            <a:pPr marL="0" indent="0">
              <a:buNone/>
            </a:pPr>
            <a:r>
              <a:rPr lang="en-US" sz="1900" dirty="0"/>
              <a:t>  frontier ← a LIFO queue with node as the only element</a:t>
            </a:r>
          </a:p>
          <a:p>
            <a:pPr marL="0" indent="0">
              <a:buNone/>
            </a:pPr>
            <a:r>
              <a:rPr lang="en-US" sz="1900" dirty="0"/>
              <a:t>  explored ← an empty set</a:t>
            </a:r>
          </a:p>
          <a:p>
            <a:pPr marL="0" indent="0">
              <a:buNone/>
            </a:pPr>
            <a:r>
              <a:rPr lang="en-US" sz="1900" dirty="0"/>
              <a:t>  loop do</a:t>
            </a:r>
          </a:p>
          <a:p>
            <a:pPr marL="0" indent="0">
              <a:buNone/>
            </a:pPr>
            <a:r>
              <a:rPr lang="en-US" sz="1900" dirty="0"/>
              <a:t>    if EMPTY?(frontier) then return failure</a:t>
            </a:r>
          </a:p>
          <a:p>
            <a:pPr marL="0" indent="0">
              <a:buNone/>
            </a:pPr>
            <a:r>
              <a:rPr lang="en-US" sz="1900" dirty="0"/>
              <a:t>    node ← POP(frontier)</a:t>
            </a:r>
          </a:p>
          <a:p>
            <a:pPr marL="0" indent="0">
              <a:buNone/>
            </a:pPr>
            <a:r>
              <a:rPr lang="en-US" sz="1900" dirty="0"/>
              <a:t>    if </a:t>
            </a:r>
            <a:r>
              <a:rPr lang="en-US" sz="1900" dirty="0" err="1"/>
              <a:t>problem.GOAL</a:t>
            </a:r>
            <a:r>
              <a:rPr lang="en-US" sz="1900" dirty="0"/>
              <a:t>-TEST(</a:t>
            </a:r>
            <a:r>
              <a:rPr lang="en-US" sz="1900" dirty="0" err="1"/>
              <a:t>node.STATE</a:t>
            </a:r>
            <a:r>
              <a:rPr lang="en-US" sz="1900" dirty="0"/>
              <a:t>) then return SOLUTION(node)</a:t>
            </a:r>
          </a:p>
          <a:p>
            <a:pPr marL="0" indent="0">
              <a:buNone/>
            </a:pPr>
            <a:r>
              <a:rPr lang="en-US" sz="1900" dirty="0"/>
              <a:t>    add </a:t>
            </a:r>
            <a:r>
              <a:rPr lang="en-US" sz="1900" dirty="0" err="1"/>
              <a:t>node.STATE</a:t>
            </a:r>
            <a:r>
              <a:rPr lang="en-US" sz="1900" dirty="0"/>
              <a:t> to explored</a:t>
            </a:r>
          </a:p>
          <a:p>
            <a:pPr marL="0" indent="0">
              <a:buNone/>
            </a:pPr>
            <a:r>
              <a:rPr lang="en-US" sz="1900" dirty="0"/>
              <a:t>    for each action in </a:t>
            </a:r>
            <a:r>
              <a:rPr lang="en-US" sz="1900" dirty="0" err="1"/>
              <a:t>problem.ACTIONS</a:t>
            </a:r>
            <a:r>
              <a:rPr lang="en-US" sz="1900" dirty="0"/>
              <a:t>(</a:t>
            </a:r>
            <a:r>
              <a:rPr lang="en-US" sz="1900" dirty="0" err="1"/>
              <a:t>node.STATE</a:t>
            </a:r>
            <a:r>
              <a:rPr lang="en-US" sz="1900" dirty="0"/>
              <a:t>) do</a:t>
            </a:r>
          </a:p>
          <a:p>
            <a:pPr marL="0" indent="0">
              <a:buNone/>
            </a:pPr>
            <a:r>
              <a:rPr lang="en-US" sz="1900" dirty="0"/>
              <a:t>      child ← CHILD-NODE(problem, node, action)</a:t>
            </a:r>
          </a:p>
          <a:p>
            <a:pPr marL="0" indent="0">
              <a:buNone/>
            </a:pPr>
            <a:r>
              <a:rPr lang="en-US" sz="1900" dirty="0"/>
              <a:t>      if </a:t>
            </a:r>
            <a:r>
              <a:rPr lang="en-US" sz="1900" dirty="0" err="1"/>
              <a:t>child.STATE</a:t>
            </a:r>
            <a:r>
              <a:rPr lang="en-US" sz="1900" dirty="0"/>
              <a:t> is not in explored or frontier then</a:t>
            </a:r>
          </a:p>
          <a:p>
            <a:pPr marL="0" indent="0">
              <a:buNone/>
            </a:pPr>
            <a:r>
              <a:rPr lang="en-US" sz="1900" dirty="0"/>
              <a:t>        frontier ← INSERT(child, frontier)</a:t>
            </a:r>
          </a:p>
          <a:p>
            <a:pPr marL="0" indent="0">
              <a:buNone/>
            </a:pPr>
            <a:endParaRPr lang="en-IN" sz="1900" dirty="0"/>
          </a:p>
          <a:p>
            <a:endParaRPr lang="en-IN" dirty="0"/>
          </a:p>
        </p:txBody>
      </p:sp>
      <p:sp>
        <p:nvSpPr>
          <p:cNvPr id="4" name="TextBox 3">
            <a:extLst>
              <a:ext uri="{FF2B5EF4-FFF2-40B4-BE49-F238E27FC236}">
                <a16:creationId xmlns:a16="http://schemas.microsoft.com/office/drawing/2014/main" xmlns="" id="{CE0D29B8-8DCF-C551-E093-7F1C97521B23}"/>
              </a:ext>
            </a:extLst>
          </p:cNvPr>
          <p:cNvSpPr txBox="1"/>
          <p:nvPr/>
        </p:nvSpPr>
        <p:spPr>
          <a:xfrm>
            <a:off x="1075887" y="5530632"/>
            <a:ext cx="7623495"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sz="1800" dirty="0">
                <a:solidFill>
                  <a:srgbClr val="FF0000"/>
                </a:solidFill>
              </a:rPr>
              <a:t>Example problem discussed in class—please refer to the class notes for details.</a:t>
            </a:r>
            <a:endParaRPr kumimoji="0" lang="en-US" altLang="en-US" sz="1800" b="0" i="0" u="none" strike="noStrike" cap="none" normalizeH="0" baseline="0" dirty="0">
              <a:ln>
                <a:noFill/>
              </a:ln>
              <a:solidFill>
                <a:srgbClr val="FF0000"/>
              </a:solidFill>
              <a:effectLst/>
              <a:latin typeface="Arial" panose="020B0604020202020204" pitchFamily="34" charset="0"/>
            </a:endParaRPr>
          </a:p>
        </p:txBody>
      </p:sp>
    </p:spTree>
    <p:extLst>
      <p:ext uri="{BB962C8B-B14F-4D97-AF65-F5344CB8AC3E}">
        <p14:creationId xmlns:p14="http://schemas.microsoft.com/office/powerpoint/2010/main" val="1264693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6B599F7-64AD-DAFF-EB00-2DCFA36BCB93}"/>
              </a:ext>
            </a:extLst>
          </p:cNvPr>
          <p:cNvSpPr>
            <a:spLocks noGrp="1"/>
          </p:cNvSpPr>
          <p:nvPr>
            <p:ph idx="1"/>
          </p:nvPr>
        </p:nvSpPr>
        <p:spPr>
          <a:xfrm>
            <a:off x="0" y="0"/>
            <a:ext cx="11353800" cy="6176963"/>
          </a:xfrm>
        </p:spPr>
        <p:txBody>
          <a:bodyPr>
            <a:normAutofit fontScale="92500" lnSpcReduction="10000"/>
          </a:bodyPr>
          <a:lstStyle/>
          <a:p>
            <a:pPr marL="0" indent="0">
              <a:buNone/>
            </a:pPr>
            <a:r>
              <a:rPr lang="en-US" sz="1800" b="1" dirty="0"/>
              <a:t>Time Complexity of DFS</a:t>
            </a:r>
          </a:p>
          <a:p>
            <a:pPr>
              <a:buFont typeface="Arial" panose="020B0604020202020204" pitchFamily="34" charset="0"/>
              <a:buChar char="•"/>
            </a:pPr>
            <a:r>
              <a:rPr lang="en-US" sz="1800" b="1" dirty="0"/>
              <a:t>Graph Search:</a:t>
            </a:r>
            <a:r>
              <a:rPr lang="en-US" sz="1800" dirty="0"/>
              <a:t> Bounded by the size of the state space.</a:t>
            </a:r>
          </a:p>
          <a:p>
            <a:pPr>
              <a:buFont typeface="Arial" panose="020B0604020202020204" pitchFamily="34" charset="0"/>
              <a:buChar char="•"/>
            </a:pPr>
            <a:r>
              <a:rPr lang="en-US" sz="1800" b="1" dirty="0"/>
              <a:t>Tree Search:</a:t>
            </a:r>
            <a:r>
              <a:rPr lang="en-US" sz="1800" dirty="0"/>
              <a:t> Can generate O(</a:t>
            </a:r>
            <a:r>
              <a:rPr lang="en-US" sz="1800" dirty="0" err="1"/>
              <a:t>b^m</a:t>
            </a:r>
            <a:r>
              <a:rPr lang="en-US" sz="1800" dirty="0"/>
              <a:t>) nodes, where m is the maximum depth.</a:t>
            </a:r>
          </a:p>
          <a:p>
            <a:pPr>
              <a:buFont typeface="Arial" panose="020B0604020202020204" pitchFamily="34" charset="0"/>
              <a:buChar char="•"/>
            </a:pPr>
            <a:r>
              <a:rPr lang="en-US" sz="1800" b="1" dirty="0"/>
              <a:t>Depth (m) vs. Solution Depth (d):</a:t>
            </a:r>
            <a:r>
              <a:rPr lang="en-US" sz="1800" dirty="0"/>
              <a:t> m can be much larger than d and infinite in unbounded trees.</a:t>
            </a:r>
          </a:p>
          <a:p>
            <a:pPr marL="0" indent="0">
              <a:buNone/>
            </a:pPr>
            <a:r>
              <a:rPr lang="en-US" sz="1800" b="1" dirty="0"/>
              <a:t>Space Complexity of DFS</a:t>
            </a:r>
          </a:p>
          <a:p>
            <a:pPr>
              <a:buFont typeface="Arial" panose="020B0604020202020204" pitchFamily="34" charset="0"/>
              <a:buChar char="•"/>
            </a:pPr>
            <a:r>
              <a:rPr lang="en-US" sz="1800" b="1" dirty="0"/>
              <a:t>Graph Search:</a:t>
            </a:r>
            <a:r>
              <a:rPr lang="en-US" sz="1800" dirty="0"/>
              <a:t> No advantage in space complexity.</a:t>
            </a:r>
          </a:p>
          <a:p>
            <a:pPr>
              <a:buFont typeface="Arial" panose="020B0604020202020204" pitchFamily="34" charset="0"/>
              <a:buChar char="•"/>
            </a:pPr>
            <a:r>
              <a:rPr lang="en-US" sz="1800" b="1" dirty="0"/>
              <a:t>Tree Search:</a:t>
            </a:r>
            <a:r>
              <a:rPr lang="en-US" sz="1800" dirty="0"/>
              <a:t> Requires storage of O(bm) nodes.</a:t>
            </a:r>
          </a:p>
          <a:p>
            <a:pPr>
              <a:buFont typeface="Arial" panose="020B0604020202020204" pitchFamily="34" charset="0"/>
              <a:buChar char="•"/>
            </a:pPr>
            <a:r>
              <a:rPr lang="en-US" sz="1800" b="1" dirty="0"/>
              <a:t>Memory Efficiency:</a:t>
            </a:r>
            <a:r>
              <a:rPr lang="en-US" sz="1800" dirty="0"/>
              <a:t> DFS uses significantly less memory than BFS, especially at large depths.</a:t>
            </a:r>
          </a:p>
          <a:p>
            <a:pPr marL="0" indent="0">
              <a:buNone/>
            </a:pPr>
            <a:r>
              <a:rPr lang="en-US" sz="1800" b="1" dirty="0"/>
              <a:t>Practical Applications of DFS</a:t>
            </a:r>
          </a:p>
          <a:p>
            <a:pPr>
              <a:buFont typeface="Arial" panose="020B0604020202020204" pitchFamily="34" charset="0"/>
              <a:buChar char="•"/>
            </a:pPr>
            <a:r>
              <a:rPr lang="en-US" sz="1800" b="1" dirty="0"/>
              <a:t>Areas of Use:</a:t>
            </a:r>
            <a:r>
              <a:rPr lang="en-US" sz="1800" dirty="0"/>
              <a:t> Constraint satisfaction, propositional satisfiability, logic programming.</a:t>
            </a:r>
          </a:p>
          <a:p>
            <a:pPr>
              <a:buFont typeface="Arial" panose="020B0604020202020204" pitchFamily="34" charset="0"/>
              <a:buChar char="•"/>
            </a:pPr>
            <a:r>
              <a:rPr lang="en-US" sz="1800" b="1" dirty="0"/>
              <a:t>Memory Efficiency:</a:t>
            </a:r>
            <a:r>
              <a:rPr lang="en-US" sz="1800" dirty="0"/>
              <a:t> Critical for success in areas with large state descriptions.</a:t>
            </a:r>
          </a:p>
          <a:p>
            <a:pPr marL="0" indent="0">
              <a:buNone/>
            </a:pPr>
            <a:r>
              <a:rPr lang="en-US" sz="1800" b="1" dirty="0"/>
              <a:t>Backtracking Search</a:t>
            </a:r>
          </a:p>
          <a:p>
            <a:pPr>
              <a:buFont typeface="Arial" panose="020B0604020202020204" pitchFamily="34" charset="0"/>
              <a:buChar char="•"/>
            </a:pPr>
            <a:r>
              <a:rPr lang="en-US" sz="1800" b="1" dirty="0"/>
              <a:t>Definition:</a:t>
            </a:r>
            <a:r>
              <a:rPr lang="en-US" sz="1800" dirty="0"/>
              <a:t> A variant of DFS that generates one successor at a time.</a:t>
            </a:r>
          </a:p>
          <a:p>
            <a:pPr>
              <a:buFont typeface="Arial" panose="020B0604020202020204" pitchFamily="34" charset="0"/>
              <a:buChar char="•"/>
            </a:pPr>
            <a:r>
              <a:rPr lang="en-US" sz="1800" b="1" dirty="0"/>
              <a:t>Memory Use:</a:t>
            </a:r>
            <a:r>
              <a:rPr lang="en-US" sz="1800" dirty="0"/>
              <a:t> Needs only O(m) memory, further reduced to one state description and O(m) actions.</a:t>
            </a:r>
          </a:p>
          <a:p>
            <a:pPr>
              <a:buFont typeface="Arial" panose="020B0604020202020204" pitchFamily="34" charset="0"/>
              <a:buChar char="•"/>
            </a:pPr>
            <a:r>
              <a:rPr lang="en-US" sz="1800" b="1" dirty="0"/>
              <a:t>Technique:</a:t>
            </a:r>
            <a:r>
              <a:rPr lang="en-US" sz="1800" dirty="0"/>
              <a:t> Modifies current state description directly, must be able to undo modifications.</a:t>
            </a:r>
          </a:p>
          <a:p>
            <a:pPr>
              <a:buFont typeface="Arial" panose="020B0604020202020204" pitchFamily="34" charset="0"/>
              <a:buChar char="•"/>
            </a:pPr>
            <a:endParaRPr lang="en-US" sz="1800" dirty="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Advantages:</a:t>
            </a:r>
            <a:r>
              <a:rPr kumimoji="0" lang="en-US" altLang="en-US" sz="1800" b="0" i="0" u="none" strike="noStrike" cap="none" normalizeH="0" baseline="0" dirty="0">
                <a:ln>
                  <a:noFill/>
                </a:ln>
                <a:solidFill>
                  <a:schemeClr val="tx1"/>
                </a:solidFill>
                <a:effectLst/>
              </a:rPr>
              <a:t> Space efficiency, foundational in many AI applications.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Limitations:</a:t>
            </a:r>
            <a:r>
              <a:rPr kumimoji="0" lang="en-US" altLang="en-US" sz="1800" b="0" i="0" u="none" strike="noStrike" cap="none" normalizeH="0" baseline="0" dirty="0">
                <a:ln>
                  <a:noFill/>
                </a:ln>
                <a:solidFill>
                  <a:schemeClr val="tx1"/>
                </a:solidFill>
                <a:effectLst/>
              </a:rPr>
              <a:t> Not complete in infinite state spaces, nonoptimal paths.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Memory-Saving Techniques:</a:t>
            </a:r>
            <a:r>
              <a:rPr kumimoji="0" lang="en-US" altLang="en-US" sz="1800" b="0" i="0" u="none" strike="noStrike" cap="none" normalizeH="0" baseline="0" dirty="0">
                <a:ln>
                  <a:noFill/>
                </a:ln>
                <a:solidFill>
                  <a:schemeClr val="tx1"/>
                </a:solidFill>
                <a:effectLst/>
              </a:rPr>
              <a:t> Backtracking search and state modification critical for large problems. </a:t>
            </a:r>
          </a:p>
          <a:p>
            <a:pPr>
              <a:buFont typeface="Arial" panose="020B0604020202020204" pitchFamily="34" charset="0"/>
              <a:buChar char="•"/>
            </a:pPr>
            <a:endParaRPr lang="en-US" sz="1800" dirty="0"/>
          </a:p>
          <a:p>
            <a:pPr>
              <a:buFont typeface="Arial" panose="020B0604020202020204" pitchFamily="34" charset="0"/>
              <a:buChar char="•"/>
            </a:pPr>
            <a:endParaRPr lang="en-US" sz="1800" dirty="0"/>
          </a:p>
          <a:p>
            <a:endParaRPr lang="en-IN" sz="1800" dirty="0"/>
          </a:p>
        </p:txBody>
      </p:sp>
    </p:spTree>
    <p:extLst>
      <p:ext uri="{BB962C8B-B14F-4D97-AF65-F5344CB8AC3E}">
        <p14:creationId xmlns:p14="http://schemas.microsoft.com/office/powerpoint/2010/main" val="3382214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B43D5DB-2F70-C95F-4848-9550C39B4938}"/>
              </a:ext>
            </a:extLst>
          </p:cNvPr>
          <p:cNvSpPr>
            <a:spLocks noGrp="1"/>
          </p:cNvSpPr>
          <p:nvPr>
            <p:ph type="title"/>
          </p:nvPr>
        </p:nvSpPr>
        <p:spPr>
          <a:xfrm>
            <a:off x="0" y="1"/>
            <a:ext cx="11353800" cy="562061"/>
          </a:xfrm>
        </p:spPr>
        <p:txBody>
          <a:bodyPr>
            <a:normAutofit/>
          </a:bodyPr>
          <a:lstStyle/>
          <a:p>
            <a:r>
              <a:rPr lang="en-IN" sz="2800" dirty="0"/>
              <a:t>Iterative deepening depth-first search</a:t>
            </a:r>
          </a:p>
        </p:txBody>
      </p:sp>
      <p:sp>
        <p:nvSpPr>
          <p:cNvPr id="5" name="Rectangle 2">
            <a:extLst>
              <a:ext uri="{FF2B5EF4-FFF2-40B4-BE49-F238E27FC236}">
                <a16:creationId xmlns:a16="http://schemas.microsoft.com/office/drawing/2014/main" xmlns="" id="{4E9A417B-14D8-5FE8-8774-C05F8ACA0540}"/>
              </a:ext>
            </a:extLst>
          </p:cNvPr>
          <p:cNvSpPr>
            <a:spLocks noGrp="1" noChangeArrowheads="1"/>
          </p:cNvSpPr>
          <p:nvPr>
            <p:ph idx="1"/>
          </p:nvPr>
        </p:nvSpPr>
        <p:spPr bwMode="auto">
          <a:xfrm>
            <a:off x="67111" y="-895068"/>
            <a:ext cx="12046591" cy="3903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Definition: IDS is a search strategy that combines the benefits of Depth-First Search (DFS) and Breadth-First Search (BFS).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It gradually increases the depth limit from 0 upwards until the goal is found. </a:t>
            </a:r>
          </a:p>
          <a:p>
            <a:r>
              <a:rPr lang="en-US" sz="1800" b="1" dirty="0"/>
              <a:t>Why Use Iterative Deepening Search?</a:t>
            </a:r>
          </a:p>
          <a:p>
            <a:pPr marL="742950" lvl="1" indent="-285750">
              <a:buFont typeface="Arial" panose="020B0604020202020204" pitchFamily="34" charset="0"/>
              <a:buChar char="•"/>
            </a:pPr>
            <a:r>
              <a:rPr lang="en-US" sz="1800" dirty="0"/>
              <a:t>Memory Efficiency: Like DFS, IDS has modest memory requirements, O(bd).</a:t>
            </a:r>
          </a:p>
          <a:p>
            <a:pPr marL="742950" lvl="1" indent="-285750">
              <a:buFont typeface="Arial" panose="020B0604020202020204" pitchFamily="34" charset="0"/>
              <a:buChar char="•"/>
            </a:pPr>
            <a:r>
              <a:rPr lang="en-US" sz="1800" dirty="0"/>
              <a:t>Completeness: Like BFS, IDS is complete when the branching factor is finite.</a:t>
            </a:r>
          </a:p>
          <a:p>
            <a:pPr marL="742950" lvl="1" indent="-285750">
              <a:buFont typeface="Arial" panose="020B0604020202020204" pitchFamily="34" charset="0"/>
              <a:buChar char="•"/>
            </a:pPr>
            <a:r>
              <a:rPr lang="en-US" sz="1800" dirty="0"/>
              <a:t>Optimality: IDS is optimal when the path cost is a nondecreasing function of node depth.</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p:txBody>
      </p:sp>
      <p:sp>
        <p:nvSpPr>
          <p:cNvPr id="7" name="TextBox 6">
            <a:extLst>
              <a:ext uri="{FF2B5EF4-FFF2-40B4-BE49-F238E27FC236}">
                <a16:creationId xmlns:a16="http://schemas.microsoft.com/office/drawing/2014/main" xmlns="" id="{281818B1-39DC-1B39-050A-CCC10159179C}"/>
              </a:ext>
            </a:extLst>
          </p:cNvPr>
          <p:cNvSpPr txBox="1"/>
          <p:nvPr/>
        </p:nvSpPr>
        <p:spPr>
          <a:xfrm>
            <a:off x="142613" y="3045204"/>
            <a:ext cx="9009776" cy="646331"/>
          </a:xfrm>
          <a:prstGeom prst="rect">
            <a:avLst/>
          </a:prstGeom>
          <a:noFill/>
        </p:spPr>
        <p:txBody>
          <a:bodyPr wrap="square">
            <a:spAutoFit/>
          </a:bodyPr>
          <a:lstStyle/>
          <a:p>
            <a:r>
              <a:rPr lang="en-US" b="1" dirty="0"/>
              <a:t>How IDS Works</a:t>
            </a:r>
          </a:p>
          <a:p>
            <a:pPr marL="742950" lvl="1" indent="-285750">
              <a:buFont typeface="Arial" panose="020B0604020202020204" pitchFamily="34" charset="0"/>
              <a:buChar char="•"/>
            </a:pPr>
            <a:r>
              <a:rPr lang="en-US" dirty="0"/>
              <a:t>IDS repeatedly applies Depth-Limited Search (DLS) with increasing depth limits.</a:t>
            </a:r>
          </a:p>
        </p:txBody>
      </p:sp>
      <p:sp>
        <p:nvSpPr>
          <p:cNvPr id="9" name="TextBox 8">
            <a:extLst>
              <a:ext uri="{FF2B5EF4-FFF2-40B4-BE49-F238E27FC236}">
                <a16:creationId xmlns:a16="http://schemas.microsoft.com/office/drawing/2014/main" xmlns="" id="{6F35133B-984D-D634-E881-FD9D95A8E222}"/>
              </a:ext>
            </a:extLst>
          </p:cNvPr>
          <p:cNvSpPr txBox="1"/>
          <p:nvPr/>
        </p:nvSpPr>
        <p:spPr>
          <a:xfrm>
            <a:off x="0" y="3849949"/>
            <a:ext cx="9051721" cy="1200329"/>
          </a:xfrm>
          <a:prstGeom prst="rect">
            <a:avLst/>
          </a:prstGeom>
          <a:noFill/>
        </p:spPr>
        <p:txBody>
          <a:bodyPr wrap="square">
            <a:spAutoFit/>
          </a:bodyPr>
          <a:lstStyle/>
          <a:p>
            <a:pPr marL="0" indent="0">
              <a:buNone/>
            </a:pPr>
            <a:r>
              <a:rPr lang="en-US" sz="1800" dirty="0"/>
              <a:t>function ITERATIVE-DEEPENING-SEARCH(problem) returns a solution, or failure</a:t>
            </a:r>
          </a:p>
          <a:p>
            <a:pPr marL="0" indent="0">
              <a:buNone/>
            </a:pPr>
            <a:r>
              <a:rPr lang="en-US" sz="1800" dirty="0"/>
              <a:t>  for depth = 0 to ∞ do</a:t>
            </a:r>
          </a:p>
          <a:p>
            <a:pPr marL="0" indent="0">
              <a:buNone/>
            </a:pPr>
            <a:r>
              <a:rPr lang="en-US" sz="1800" dirty="0"/>
              <a:t>    result ← DEPTH-LIMITED-SEARCH(problem, depth)</a:t>
            </a:r>
          </a:p>
          <a:p>
            <a:pPr marL="0" indent="0">
              <a:buNone/>
            </a:pPr>
            <a:r>
              <a:rPr lang="en-US" sz="1800" dirty="0"/>
              <a:t>    if result ≠ cutoff then return result</a:t>
            </a:r>
          </a:p>
        </p:txBody>
      </p:sp>
    </p:spTree>
    <p:extLst>
      <p:ext uri="{BB962C8B-B14F-4D97-AF65-F5344CB8AC3E}">
        <p14:creationId xmlns:p14="http://schemas.microsoft.com/office/powerpoint/2010/main" val="3697592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77B7481-C134-0FB2-45D1-55354B6B26B8}"/>
              </a:ext>
            </a:extLst>
          </p:cNvPr>
          <p:cNvSpPr>
            <a:spLocks noGrp="1"/>
          </p:cNvSpPr>
          <p:nvPr>
            <p:ph idx="1"/>
          </p:nvPr>
        </p:nvSpPr>
        <p:spPr>
          <a:xfrm>
            <a:off x="228600" y="195943"/>
            <a:ext cx="11963400" cy="5981020"/>
          </a:xfrm>
        </p:spPr>
        <p:txBody>
          <a:bodyPr>
            <a:normAutofit/>
          </a:bodyPr>
          <a:lstStyle/>
          <a:p>
            <a:r>
              <a:rPr lang="en-US" sz="1800" b="1" dirty="0"/>
              <a:t>Depth-Limited Search (DLS)</a:t>
            </a:r>
          </a:p>
          <a:p>
            <a:pPr marL="742950" lvl="1" indent="-285750">
              <a:buFont typeface="Arial" panose="020B0604020202020204" pitchFamily="34" charset="0"/>
              <a:buChar char="•"/>
            </a:pPr>
            <a:r>
              <a:rPr lang="en-US" sz="1800" dirty="0"/>
              <a:t>DLS is a DFS with a predetermined depth limit.</a:t>
            </a:r>
          </a:p>
          <a:p>
            <a:pPr marL="742950" lvl="1" indent="-285750">
              <a:buFont typeface="Arial" panose="020B0604020202020204" pitchFamily="34" charset="0"/>
              <a:buChar char="•"/>
            </a:pPr>
            <a:r>
              <a:rPr lang="en-US" sz="1800" dirty="0"/>
              <a:t>It explores nodes up to the specified depth limit and returns failure if the goal is not found within this limit.</a:t>
            </a:r>
          </a:p>
          <a:p>
            <a:r>
              <a:rPr lang="en-US" sz="1800" b="1" dirty="0"/>
              <a:t>Iterative Process</a:t>
            </a:r>
          </a:p>
          <a:p>
            <a:pPr marL="742950" lvl="1" indent="-285750">
              <a:buFont typeface="Arial" panose="020B0604020202020204" pitchFamily="34" charset="0"/>
              <a:buChar char="•"/>
            </a:pPr>
            <a:r>
              <a:rPr lang="en-US" sz="1800" dirty="0"/>
              <a:t>IDS starts with depth = 0 and increases it incrementally.</a:t>
            </a:r>
          </a:p>
          <a:p>
            <a:pPr marL="742950" lvl="1" indent="-285750">
              <a:buFont typeface="Arial" panose="020B0604020202020204" pitchFamily="34" charset="0"/>
              <a:buChar char="•"/>
            </a:pPr>
            <a:r>
              <a:rPr lang="en-US" sz="1800" dirty="0"/>
              <a:t>Each iteration runs DLS to the current depth limit.</a:t>
            </a:r>
          </a:p>
          <a:p>
            <a:pPr marL="742950" lvl="1" indent="-285750">
              <a:buFont typeface="Arial" panose="020B0604020202020204" pitchFamily="34" charset="0"/>
              <a:buChar char="•"/>
            </a:pPr>
            <a:r>
              <a:rPr lang="en-US" sz="1800" dirty="0"/>
              <a:t>Example illustration of IDS on a binary tree:</a:t>
            </a:r>
          </a:p>
          <a:p>
            <a:pPr marL="1143000" lvl="2" indent="-228600">
              <a:buFont typeface="Arial" panose="020B0604020202020204" pitchFamily="34" charset="0"/>
              <a:buChar char="•"/>
            </a:pPr>
            <a:r>
              <a:rPr lang="en-US" sz="1800" dirty="0"/>
              <a:t>Limit = 0: Explores root only.</a:t>
            </a:r>
          </a:p>
          <a:p>
            <a:pPr marL="1143000" lvl="2" indent="-228600">
              <a:buFont typeface="Arial" panose="020B0604020202020204" pitchFamily="34" charset="0"/>
              <a:buChar char="•"/>
            </a:pPr>
            <a:r>
              <a:rPr lang="en-US" sz="1800" dirty="0"/>
              <a:t>Limit = 1: Explores root and its children.</a:t>
            </a:r>
          </a:p>
          <a:p>
            <a:pPr marL="1143000" lvl="2" indent="-228600">
              <a:buFont typeface="Arial" panose="020B0604020202020204" pitchFamily="34" charset="0"/>
              <a:buChar char="•"/>
            </a:pPr>
            <a:r>
              <a:rPr lang="en-US" sz="1800" dirty="0"/>
              <a:t>Limit = 2: Explores root, children, and grandchildren, and so on.</a:t>
            </a:r>
          </a:p>
          <a:p>
            <a:pPr marL="742950" lvl="1" indent="-285750">
              <a:buFont typeface="Arial" panose="020B0604020202020204" pitchFamily="34" charset="0"/>
              <a:buChar char="•"/>
            </a:pPr>
            <a:endParaRPr lang="en-US" sz="1800" dirty="0"/>
          </a:p>
          <a:p>
            <a:pPr marL="0" indent="0">
              <a:buNone/>
            </a:pPr>
            <a:endParaRPr lang="en-IN" sz="1800" dirty="0"/>
          </a:p>
        </p:txBody>
      </p:sp>
      <p:pic>
        <p:nvPicPr>
          <p:cNvPr id="5" name="Content Placeholder 4">
            <a:extLst>
              <a:ext uri="{FF2B5EF4-FFF2-40B4-BE49-F238E27FC236}">
                <a16:creationId xmlns:a16="http://schemas.microsoft.com/office/drawing/2014/main" xmlns="" id="{452A70F9-DF9B-90BF-7DBA-8A97E25D8F42}"/>
              </a:ext>
            </a:extLst>
          </p:cNvPr>
          <p:cNvPicPr>
            <a:picLocks noChangeAspect="1"/>
          </p:cNvPicPr>
          <p:nvPr/>
        </p:nvPicPr>
        <p:blipFill>
          <a:blip r:embed="rId2"/>
          <a:stretch>
            <a:fillRect/>
          </a:stretch>
        </p:blipFill>
        <p:spPr>
          <a:xfrm>
            <a:off x="6303524" y="1276916"/>
            <a:ext cx="5297133" cy="5581084"/>
          </a:xfrm>
          <a:prstGeom prst="rect">
            <a:avLst/>
          </a:prstGeom>
        </p:spPr>
      </p:pic>
      <p:sp>
        <p:nvSpPr>
          <p:cNvPr id="6" name="TextBox 5">
            <a:extLst>
              <a:ext uri="{FF2B5EF4-FFF2-40B4-BE49-F238E27FC236}">
                <a16:creationId xmlns:a16="http://schemas.microsoft.com/office/drawing/2014/main" xmlns="" id="{48EEE933-C341-341E-F138-776DD9868C5C}"/>
              </a:ext>
            </a:extLst>
          </p:cNvPr>
          <p:cNvSpPr txBox="1"/>
          <p:nvPr/>
        </p:nvSpPr>
        <p:spPr>
          <a:xfrm>
            <a:off x="155643" y="3429000"/>
            <a:ext cx="6768018"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show the iterations on a binary tree.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Highlight how nodes at each level are explored fully before increasing the limit. </a:t>
            </a:r>
          </a:p>
        </p:txBody>
      </p:sp>
    </p:spTree>
    <p:extLst>
      <p:ext uri="{BB962C8B-B14F-4D97-AF65-F5344CB8AC3E}">
        <p14:creationId xmlns:p14="http://schemas.microsoft.com/office/powerpoint/2010/main" val="1364920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BB320EC-4836-E185-20C8-4318DC6295D9}"/>
              </a:ext>
            </a:extLst>
          </p:cNvPr>
          <p:cNvSpPr>
            <a:spLocks noGrp="1"/>
          </p:cNvSpPr>
          <p:nvPr>
            <p:ph idx="1"/>
          </p:nvPr>
        </p:nvSpPr>
        <p:spPr>
          <a:xfrm>
            <a:off x="163286" y="0"/>
            <a:ext cx="11190514" cy="6176963"/>
          </a:xfrm>
        </p:spPr>
        <p:txBody>
          <a:bodyPr>
            <a:normAutofit/>
          </a:bodyPr>
          <a:lstStyle/>
          <a:p>
            <a:r>
              <a:rPr lang="en-US" sz="1800" b="1" dirty="0"/>
              <a:t>Time Complexity Analysis</a:t>
            </a:r>
          </a:p>
          <a:p>
            <a:pPr marL="742950" lvl="1" indent="-285750">
              <a:buFont typeface="Arial" panose="020B0604020202020204" pitchFamily="34" charset="0"/>
              <a:buChar char="•"/>
            </a:pPr>
            <a:r>
              <a:rPr lang="en-US" sz="1800" dirty="0"/>
              <a:t>Worst-case time complexity: O(bd), where b is the branching factor and d is the depth of the shallowest goal node.</a:t>
            </a:r>
          </a:p>
          <a:p>
            <a:r>
              <a:rPr lang="en-US" sz="1800" dirty="0"/>
              <a:t>Formula for total nodes generated</a:t>
            </a:r>
            <a:endParaRPr lang="en-IN" sz="1800" dirty="0"/>
          </a:p>
          <a:p>
            <a:r>
              <a:rPr lang="en-IN" sz="1800" dirty="0"/>
              <a:t>N(IDS) = (d)b + (d-1)b^2 + ... + (1)bd</a:t>
            </a:r>
          </a:p>
          <a:p>
            <a:r>
              <a:rPr lang="en-US" sz="1800" dirty="0"/>
              <a:t>Example calculation for b = 10, d = 5</a:t>
            </a:r>
            <a:endParaRPr lang="en-IN" sz="1800" dirty="0"/>
          </a:p>
          <a:p>
            <a:r>
              <a:rPr lang="pt-BR" sz="1800" dirty="0"/>
              <a:t>N(IDS) = 50 + 400 + 3,000 + 20,000 + 100,000 = 123,450</a:t>
            </a:r>
          </a:p>
          <a:p>
            <a:r>
              <a:rPr lang="pt-BR" sz="1800" dirty="0"/>
              <a:t>N(BFS) = 10 + 100 + 1,000 + 10,000 + 100,000 = 111,110</a:t>
            </a:r>
          </a:p>
          <a:p>
            <a:pPr marL="0" lvl="0" indent="0" eaLnBrk="0" fontAlgn="base" hangingPunct="0">
              <a:lnSpc>
                <a:spcPct val="100000"/>
              </a:lnSpc>
              <a:spcBef>
                <a:spcPct val="0"/>
              </a:spcBef>
              <a:spcAft>
                <a:spcPct val="0"/>
              </a:spcAft>
              <a:buNone/>
            </a:pPr>
            <a:endParaRPr lang="en-US" altLang="en-US" sz="1800" dirty="0"/>
          </a:p>
          <a:p>
            <a:pPr marL="0" lvl="0" indent="0" eaLnBrk="0" fontAlgn="base" hangingPunct="0">
              <a:lnSpc>
                <a:spcPct val="100000"/>
              </a:lnSpc>
              <a:spcBef>
                <a:spcPct val="0"/>
              </a:spcBef>
              <a:spcAft>
                <a:spcPct val="0"/>
              </a:spcAft>
              <a:buNone/>
            </a:pPr>
            <a:r>
              <a:rPr lang="en-US" altLang="en-US" sz="1800" dirty="0"/>
              <a:t>Practical Considerations</a:t>
            </a:r>
          </a:p>
          <a:p>
            <a:pPr marL="0" lvl="0" indent="0" eaLnBrk="0" fontAlgn="base" hangingPunct="0">
              <a:lnSpc>
                <a:spcPct val="100000"/>
              </a:lnSpc>
              <a:spcBef>
                <a:spcPct val="0"/>
              </a:spcBef>
              <a:spcAft>
                <a:spcPct val="0"/>
              </a:spcAft>
              <a:buFontTx/>
              <a:buChar char="•"/>
            </a:pPr>
            <a:r>
              <a:rPr lang="en-US" altLang="en-US" sz="1800" dirty="0"/>
              <a:t>IDS may seem wasteful due to repeated state generation.</a:t>
            </a:r>
          </a:p>
          <a:p>
            <a:pPr marL="0" lvl="0" indent="0" eaLnBrk="0" fontAlgn="base" hangingPunct="0">
              <a:lnSpc>
                <a:spcPct val="100000"/>
              </a:lnSpc>
              <a:spcBef>
                <a:spcPct val="0"/>
              </a:spcBef>
              <a:spcAft>
                <a:spcPct val="0"/>
              </a:spcAft>
              <a:buFontTx/>
              <a:buChar char="•"/>
            </a:pPr>
            <a:r>
              <a:rPr lang="en-US" altLang="en-US" sz="1800" dirty="0"/>
              <a:t>Upper-level nodes are generated multiple times, but this overhead is minor compared to the overall search cost.</a:t>
            </a:r>
          </a:p>
          <a:p>
            <a:pPr marL="0" lvl="0" indent="0" eaLnBrk="0" fontAlgn="base" hangingPunct="0">
              <a:lnSpc>
                <a:spcPct val="100000"/>
              </a:lnSpc>
              <a:spcBef>
                <a:spcPct val="0"/>
              </a:spcBef>
              <a:spcAft>
                <a:spcPct val="0"/>
              </a:spcAft>
              <a:buFontTx/>
              <a:buChar char="•"/>
            </a:pPr>
            <a:r>
              <a:rPr lang="en-US" altLang="en-US" sz="1800" dirty="0"/>
              <a:t>Comparison of node generations at different levels.</a:t>
            </a:r>
          </a:p>
          <a:p>
            <a:endParaRPr lang="en-IN" sz="1800" dirty="0"/>
          </a:p>
        </p:txBody>
      </p:sp>
      <p:sp>
        <p:nvSpPr>
          <p:cNvPr id="4" name="Rectangle 1">
            <a:extLst>
              <a:ext uri="{FF2B5EF4-FFF2-40B4-BE49-F238E27FC236}">
                <a16:creationId xmlns:a16="http://schemas.microsoft.com/office/drawing/2014/main" xmlns="" id="{A2F6A892-B355-65C2-2CF0-F2C917EAD696}"/>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xmlns="" id="{187400F7-859D-F914-C229-A780742E4E92}"/>
              </a:ext>
            </a:extLst>
          </p:cNvPr>
          <p:cNvSpPr txBox="1"/>
          <p:nvPr/>
        </p:nvSpPr>
        <p:spPr>
          <a:xfrm>
            <a:off x="421546" y="4915759"/>
            <a:ext cx="7640273"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sz="1800" dirty="0">
                <a:solidFill>
                  <a:srgbClr val="FF0000"/>
                </a:solidFill>
              </a:rPr>
              <a:t>Example problem discussed in class—please refer to the class notes for details.</a:t>
            </a:r>
            <a:endParaRPr kumimoji="0" lang="en-US" altLang="en-US" sz="1800" b="0" i="0" u="none" strike="noStrike" cap="none" normalizeH="0" baseline="0" dirty="0">
              <a:ln>
                <a:noFill/>
              </a:ln>
              <a:solidFill>
                <a:srgbClr val="FF0000"/>
              </a:solidFill>
              <a:effectLst/>
              <a:latin typeface="Arial" panose="020B0604020202020204" pitchFamily="34" charset="0"/>
            </a:endParaRPr>
          </a:p>
        </p:txBody>
      </p:sp>
    </p:spTree>
    <p:extLst>
      <p:ext uri="{BB962C8B-B14F-4D97-AF65-F5344CB8AC3E}">
        <p14:creationId xmlns:p14="http://schemas.microsoft.com/office/powerpoint/2010/main" val="569453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xmlns="" id="{E1058926-5F4F-92F0-E482-D4F6A04DE459}"/>
              </a:ext>
            </a:extLst>
          </p:cNvPr>
          <p:cNvSpPr>
            <a:spLocks noGrp="1" noChangeArrowheads="1"/>
          </p:cNvSpPr>
          <p:nvPr>
            <p:ph idx="1"/>
          </p:nvPr>
        </p:nvSpPr>
        <p:spPr bwMode="auto">
          <a:xfrm>
            <a:off x="838200" y="3678128"/>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xmlns="" id="{B7ECD9B2-F67F-DC15-9784-D126AC22F4D5}"/>
              </a:ext>
            </a:extLst>
          </p:cNvPr>
          <p:cNvSpPr txBox="1"/>
          <p:nvPr/>
        </p:nvSpPr>
        <p:spPr>
          <a:xfrm>
            <a:off x="293914" y="522514"/>
            <a:ext cx="10352315"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Hybrid Approaches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Combining BFS and IDS: Run BFS until memory is almost full, then use IDS from frontier nodes.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Benefits: Balances memory use and search efficiency.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4">
            <a:extLst>
              <a:ext uri="{FF2B5EF4-FFF2-40B4-BE49-F238E27FC236}">
                <a16:creationId xmlns:a16="http://schemas.microsoft.com/office/drawing/2014/main" xmlns="" id="{AFA197A1-A5CC-88CD-A294-7F365CA7BFC0}"/>
              </a:ext>
            </a:extLst>
          </p:cNvPr>
          <p:cNvSpPr>
            <a:spLocks noChangeArrowheads="1"/>
          </p:cNvSpPr>
          <p:nvPr/>
        </p:nvSpPr>
        <p:spPr bwMode="auto">
          <a:xfrm>
            <a:off x="0" y="-3231646"/>
            <a:ext cx="7521098"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IN" dirty="0"/>
              <a:t>Iterative Lengthening Search</a:t>
            </a:r>
            <a:endParaRPr lang="en-US" altLang="en-US" b="1"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Analogous to IDS but uses increasing path-cost limits instead of depth limits.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This approach is optimal but incurs more overhead than uniform-cost search.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p:txBody>
      </p:sp>
      <p:sp>
        <p:nvSpPr>
          <p:cNvPr id="10" name="Rectangle 5">
            <a:extLst>
              <a:ext uri="{FF2B5EF4-FFF2-40B4-BE49-F238E27FC236}">
                <a16:creationId xmlns:a16="http://schemas.microsoft.com/office/drawing/2014/main" xmlns="" id="{701BA629-F0FE-2943-9E00-B1FB9CF6DF5D}"/>
              </a:ext>
            </a:extLst>
          </p:cNvPr>
          <p:cNvSpPr>
            <a:spLocks noChangeArrowheads="1"/>
          </p:cNvSpPr>
          <p:nvPr/>
        </p:nvSpPr>
        <p:spPr bwMode="auto">
          <a:xfrm>
            <a:off x="0" y="-4755134"/>
            <a:ext cx="10486417" cy="9510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Conclusion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IDS is a powerful search strategy combining the benefits of DFS and BFS.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Ideal for large search spaces with unknown solution depths.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Balances memory efficiency and completeness/optimality.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758555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5D65A3-C91B-D352-4BC6-C1882B501628}"/>
              </a:ext>
            </a:extLst>
          </p:cNvPr>
          <p:cNvSpPr>
            <a:spLocks noGrp="1"/>
          </p:cNvSpPr>
          <p:nvPr>
            <p:ph type="title"/>
          </p:nvPr>
        </p:nvSpPr>
        <p:spPr>
          <a:xfrm>
            <a:off x="0" y="87550"/>
            <a:ext cx="11353800" cy="593488"/>
          </a:xfrm>
        </p:spPr>
        <p:txBody>
          <a:bodyPr>
            <a:normAutofit/>
          </a:bodyPr>
          <a:lstStyle/>
          <a:p>
            <a:r>
              <a:rPr lang="en-IN" sz="2800" dirty="0">
                <a:solidFill>
                  <a:srgbClr val="221F1F"/>
                </a:solidFill>
                <a:effectLst/>
                <a:ea typeface="Aptos" panose="020B0004020202020204" pitchFamily="34" charset="0"/>
              </a:rPr>
              <a:t>Bidirectional search</a:t>
            </a:r>
            <a:endParaRPr lang="en-IN" sz="2800" dirty="0"/>
          </a:p>
        </p:txBody>
      </p:sp>
      <p:sp>
        <p:nvSpPr>
          <p:cNvPr id="3" name="Content Placeholder 2">
            <a:extLst>
              <a:ext uri="{FF2B5EF4-FFF2-40B4-BE49-F238E27FC236}">
                <a16:creationId xmlns:a16="http://schemas.microsoft.com/office/drawing/2014/main" xmlns="" id="{D88EBF03-FD42-61AC-1A2A-4EE8E1F22AFF}"/>
              </a:ext>
            </a:extLst>
          </p:cNvPr>
          <p:cNvSpPr>
            <a:spLocks noGrp="1"/>
          </p:cNvSpPr>
          <p:nvPr>
            <p:ph idx="1"/>
          </p:nvPr>
        </p:nvSpPr>
        <p:spPr>
          <a:xfrm>
            <a:off x="136187" y="787940"/>
            <a:ext cx="11893626" cy="5389023"/>
          </a:xfrm>
        </p:spPr>
        <p:txBody>
          <a:bodyPr>
            <a:normAutofit/>
          </a:bodyPr>
          <a:lstStyle/>
          <a:p>
            <a:pPr algn="just"/>
            <a:r>
              <a:rPr lang="en-US" sz="1800" dirty="0"/>
              <a:t>bidirectional search is to run two simultaneous searches—one forward from the initial state and the other backward from the goal—hoping that the two searches meet in the middle(This algorithm stops when both search meet in the middle)</a:t>
            </a:r>
          </a:p>
          <a:p>
            <a:pPr algn="just"/>
            <a:r>
              <a:rPr lang="en-US" sz="1800" dirty="0"/>
              <a:t>Can (sometimes) lead to finding a solution more quickly.</a:t>
            </a:r>
          </a:p>
          <a:p>
            <a:pPr algn="just"/>
            <a:r>
              <a:rPr lang="en-US" sz="1800" dirty="0"/>
              <a:t>The motivation is that bd/2 + bd/2 is much less than bd, or in the figure, the area of the two small circles is less than the area of one big circle centered on the start and reaching to the goal.</a:t>
            </a:r>
            <a:endParaRPr lang="en-IN" sz="1800" dirty="0"/>
          </a:p>
          <a:p>
            <a:pPr algn="just"/>
            <a:r>
              <a:rPr lang="en-IN" sz="1800" dirty="0"/>
              <a:t>Can be implemented using BFS or iterative </a:t>
            </a:r>
            <a:r>
              <a:rPr lang="en-IN" sz="1800" dirty="0" err="1"/>
              <a:t>deepending</a:t>
            </a:r>
            <a:r>
              <a:rPr lang="en-IN" sz="1800" dirty="0"/>
              <a:t> (but at least one frontier needs to be kept in memory)</a:t>
            </a:r>
          </a:p>
          <a:p>
            <a:pPr algn="just"/>
            <a:r>
              <a:rPr lang="en-IN" sz="1800" dirty="0"/>
              <a:t>Works well only when there are unique start and goal states.</a:t>
            </a:r>
          </a:p>
          <a:p>
            <a:pPr algn="just"/>
            <a:r>
              <a:rPr lang="en-IN" sz="1800" dirty="0">
                <a:solidFill>
                  <a:srgbClr val="FF0000"/>
                </a:solidFill>
              </a:rPr>
              <a:t>Complete: </a:t>
            </a:r>
            <a:r>
              <a:rPr lang="en-IN" sz="1800" dirty="0"/>
              <a:t>yes(if only single goal, otherwise difficult)</a:t>
            </a:r>
          </a:p>
          <a:p>
            <a:pPr algn="just"/>
            <a:r>
              <a:rPr lang="en-IN" sz="1800" dirty="0">
                <a:solidFill>
                  <a:srgbClr val="FF0000"/>
                </a:solidFill>
              </a:rPr>
              <a:t>Time complexity: </a:t>
            </a:r>
            <a:r>
              <a:rPr lang="en-IN" sz="1800" dirty="0"/>
              <a:t>O(</a:t>
            </a:r>
            <a:r>
              <a:rPr lang="en-IN" sz="1800" dirty="0" err="1"/>
              <a:t>b^d</a:t>
            </a:r>
            <a:r>
              <a:rPr lang="en-IN" sz="1800" dirty="0"/>
              <a:t>/2)(Better when compared to other algorithms)</a:t>
            </a:r>
          </a:p>
          <a:p>
            <a:pPr algn="just"/>
            <a:r>
              <a:rPr lang="en-IN" sz="1800" dirty="0">
                <a:solidFill>
                  <a:srgbClr val="FF0000"/>
                </a:solidFill>
              </a:rPr>
              <a:t>Space complexity: </a:t>
            </a:r>
            <a:r>
              <a:rPr lang="en-IN" sz="1800" dirty="0"/>
              <a:t>O(</a:t>
            </a:r>
            <a:r>
              <a:rPr lang="en-IN" sz="1800" dirty="0" err="1"/>
              <a:t>b^d</a:t>
            </a:r>
            <a:r>
              <a:rPr lang="en-IN" sz="1800" dirty="0"/>
              <a:t>/2) (Space </a:t>
            </a:r>
            <a:r>
              <a:rPr lang="en-IN" sz="1800" dirty="0" err="1"/>
              <a:t>requriment</a:t>
            </a:r>
            <a:r>
              <a:rPr lang="en-IN" sz="1800" dirty="0"/>
              <a:t> is more.</a:t>
            </a:r>
          </a:p>
          <a:p>
            <a:pPr algn="just"/>
            <a:r>
              <a:rPr lang="en-IN" sz="1800" dirty="0">
                <a:solidFill>
                  <a:srgbClr val="FF0000"/>
                </a:solidFill>
              </a:rPr>
              <a:t>Optimal: </a:t>
            </a:r>
            <a:r>
              <a:rPr lang="en-IN" sz="1800" dirty="0"/>
              <a:t>Yes, But not always optimal, even if both searches are BFS </a:t>
            </a:r>
          </a:p>
          <a:p>
            <a:pPr algn="just"/>
            <a:r>
              <a:rPr lang="en-IN" sz="1800" dirty="0"/>
              <a:t>Check when each node is expanded or selected for expansion.</a:t>
            </a:r>
          </a:p>
          <a:p>
            <a:pPr algn="just"/>
            <a:endParaRPr lang="en-IN" sz="1800" dirty="0"/>
          </a:p>
        </p:txBody>
      </p:sp>
      <p:pic>
        <p:nvPicPr>
          <p:cNvPr id="5" name="Picture 4">
            <a:extLst>
              <a:ext uri="{FF2B5EF4-FFF2-40B4-BE49-F238E27FC236}">
                <a16:creationId xmlns:a16="http://schemas.microsoft.com/office/drawing/2014/main" xmlns="" id="{0D594C5F-109F-7611-F832-C03C9F614B5C}"/>
              </a:ext>
            </a:extLst>
          </p:cNvPr>
          <p:cNvPicPr>
            <a:picLocks noChangeAspect="1"/>
          </p:cNvPicPr>
          <p:nvPr/>
        </p:nvPicPr>
        <p:blipFill rotWithShape="1">
          <a:blip r:embed="rId2"/>
          <a:srcRect l="6331" t="7260" r="3949"/>
          <a:stretch/>
        </p:blipFill>
        <p:spPr>
          <a:xfrm>
            <a:off x="7221246" y="3350567"/>
            <a:ext cx="4480777" cy="1861917"/>
          </a:xfrm>
          <a:prstGeom prst="rect">
            <a:avLst/>
          </a:prstGeom>
        </p:spPr>
      </p:pic>
      <p:sp>
        <p:nvSpPr>
          <p:cNvPr id="6" name="TextBox 5">
            <a:extLst>
              <a:ext uri="{FF2B5EF4-FFF2-40B4-BE49-F238E27FC236}">
                <a16:creationId xmlns:a16="http://schemas.microsoft.com/office/drawing/2014/main" xmlns="" id="{A1CBCC17-52F6-B0FE-89EB-17DC5A8C6F6F}"/>
              </a:ext>
            </a:extLst>
          </p:cNvPr>
          <p:cNvSpPr txBox="1"/>
          <p:nvPr/>
        </p:nvSpPr>
        <p:spPr>
          <a:xfrm>
            <a:off x="654340" y="5423729"/>
            <a:ext cx="8120543"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sz="1800" dirty="0">
                <a:solidFill>
                  <a:srgbClr val="FF0000"/>
                </a:solidFill>
              </a:rPr>
              <a:t>Example problem discussed in class—please refer to the class notes for details.</a:t>
            </a:r>
            <a:endParaRPr kumimoji="0" lang="en-US" altLang="en-US" sz="1800" b="0" i="0" u="none" strike="noStrike" cap="none" normalizeH="0" baseline="0" dirty="0">
              <a:ln>
                <a:noFill/>
              </a:ln>
              <a:solidFill>
                <a:srgbClr val="FF0000"/>
              </a:solidFill>
              <a:effectLst/>
              <a:latin typeface="Arial" panose="020B0604020202020204" pitchFamily="34" charset="0"/>
            </a:endParaRPr>
          </a:p>
        </p:txBody>
      </p:sp>
    </p:spTree>
    <p:extLst>
      <p:ext uri="{BB962C8B-B14F-4D97-AF65-F5344CB8AC3E}">
        <p14:creationId xmlns:p14="http://schemas.microsoft.com/office/powerpoint/2010/main" val="8719932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D5E598-F5C6-BAD6-DFE8-8DAAFA2222F0}"/>
              </a:ext>
            </a:extLst>
          </p:cNvPr>
          <p:cNvSpPr>
            <a:spLocks noGrp="1"/>
          </p:cNvSpPr>
          <p:nvPr>
            <p:ph type="title"/>
          </p:nvPr>
        </p:nvSpPr>
        <p:spPr>
          <a:xfrm>
            <a:off x="97278" y="1"/>
            <a:ext cx="11256522" cy="1138136"/>
          </a:xfrm>
        </p:spPr>
        <p:txBody>
          <a:bodyPr>
            <a:normAutofit/>
          </a:bodyPr>
          <a:lstStyle/>
          <a:p>
            <a:r>
              <a:rPr lang="en-IN" sz="2800" dirty="0"/>
              <a:t>Comparing uninformed search strategies</a:t>
            </a:r>
          </a:p>
        </p:txBody>
      </p:sp>
      <p:pic>
        <p:nvPicPr>
          <p:cNvPr id="5" name="Content Placeholder 4">
            <a:extLst>
              <a:ext uri="{FF2B5EF4-FFF2-40B4-BE49-F238E27FC236}">
                <a16:creationId xmlns:a16="http://schemas.microsoft.com/office/drawing/2014/main" xmlns="" id="{8E729A41-31ED-916E-E4A8-DD48B1B4B4BC}"/>
              </a:ext>
            </a:extLst>
          </p:cNvPr>
          <p:cNvPicPr>
            <a:picLocks noGrp="1" noChangeAspect="1"/>
          </p:cNvPicPr>
          <p:nvPr>
            <p:ph idx="1"/>
          </p:nvPr>
        </p:nvPicPr>
        <p:blipFill>
          <a:blip r:embed="rId2"/>
          <a:stretch>
            <a:fillRect/>
          </a:stretch>
        </p:blipFill>
        <p:spPr>
          <a:xfrm>
            <a:off x="752721" y="1670019"/>
            <a:ext cx="10017962" cy="3952568"/>
          </a:xfrm>
        </p:spPr>
      </p:pic>
    </p:spTree>
    <p:extLst>
      <p:ext uri="{BB962C8B-B14F-4D97-AF65-F5344CB8AC3E}">
        <p14:creationId xmlns:p14="http://schemas.microsoft.com/office/powerpoint/2010/main" val="349971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7B5A65-A6A1-B49E-A3DE-BE21686C0531}"/>
              </a:ext>
            </a:extLst>
          </p:cNvPr>
          <p:cNvSpPr>
            <a:spLocks noGrp="1"/>
          </p:cNvSpPr>
          <p:nvPr>
            <p:ph type="title"/>
          </p:nvPr>
        </p:nvSpPr>
        <p:spPr>
          <a:xfrm>
            <a:off x="0" y="63668"/>
            <a:ext cx="10293485" cy="617369"/>
          </a:xfrm>
        </p:spPr>
        <p:txBody>
          <a:bodyPr>
            <a:normAutofit/>
          </a:bodyPr>
          <a:lstStyle/>
          <a:p>
            <a:r>
              <a:rPr lang="en-US" sz="2800" dirty="0"/>
              <a:t>INFORMED (HEURISTIC) SEARCH STRATEGIES</a:t>
            </a:r>
            <a:endParaRPr lang="en-IN" sz="2800" dirty="0"/>
          </a:p>
        </p:txBody>
      </p:sp>
      <p:sp>
        <p:nvSpPr>
          <p:cNvPr id="3" name="Content Placeholder 2">
            <a:extLst>
              <a:ext uri="{FF2B5EF4-FFF2-40B4-BE49-F238E27FC236}">
                <a16:creationId xmlns:a16="http://schemas.microsoft.com/office/drawing/2014/main" xmlns="" id="{A060059A-C298-505C-9030-4872C3044DBB}"/>
              </a:ext>
            </a:extLst>
          </p:cNvPr>
          <p:cNvSpPr>
            <a:spLocks noGrp="1"/>
          </p:cNvSpPr>
          <p:nvPr>
            <p:ph idx="1"/>
          </p:nvPr>
        </p:nvSpPr>
        <p:spPr>
          <a:xfrm>
            <a:off x="0" y="681036"/>
            <a:ext cx="12110936" cy="6176963"/>
          </a:xfrm>
        </p:spPr>
        <p:txBody>
          <a:bodyPr>
            <a:normAutofit/>
          </a:bodyPr>
          <a:lstStyle/>
          <a:p>
            <a:pPr algn="just"/>
            <a:r>
              <a:rPr lang="en-US" sz="1800" b="1" dirty="0"/>
              <a:t>Informed Search Strategy</a:t>
            </a:r>
            <a:r>
              <a:rPr lang="en-US" sz="1800" dirty="0"/>
              <a:t>: Informed search strategies use problem-specific knowledge beyond just the problem definition to find solutions more efficiently than uninformed search strategies. These strategies incorporate additional information to make more informed decisions about which paths to explore in the search space.</a:t>
            </a:r>
          </a:p>
          <a:p>
            <a:pPr algn="just"/>
            <a:r>
              <a:rPr lang="en-US" sz="1800" b="1" dirty="0"/>
              <a:t>Best-First Search</a:t>
            </a:r>
            <a:r>
              <a:rPr lang="en-US" sz="1800" dirty="0"/>
              <a:t>: Best-first search is a type of informed search strategy. It is a general approach that selects which node to expand based on an evaluation function, denoted as f(n). This evaluation function estimates the cost associated with expanding a node, and the node with the lowest estimated cost is expanded first.</a:t>
            </a:r>
          </a:p>
          <a:p>
            <a:pPr algn="just"/>
            <a:r>
              <a:rPr lang="en-US" sz="1800" b="1" dirty="0"/>
              <a:t>Evaluation Function (f(n))</a:t>
            </a:r>
            <a:r>
              <a:rPr lang="en-US" sz="1800" dirty="0"/>
              <a:t>: The evaluation function is a key component of best-first search. It is used to order nodes in the priority queue, determining the order in which nodes are expanded. The choice of the evaluation function f directly affects the search strategy.</a:t>
            </a:r>
          </a:p>
          <a:p>
            <a:pPr algn="just"/>
            <a:r>
              <a:rPr lang="en-US" sz="1800" b="1" dirty="0"/>
              <a:t>Uniform-Cost Search Similarity</a:t>
            </a:r>
            <a:r>
              <a:rPr lang="en-US" sz="1800" dirty="0"/>
              <a:t>: The implementation of best-first search is similar to uniform-cost search but differs in the function used to order the priority queue. While uniform-cost search uses the cost to reach a node g(n), best-first search uses f(n)f(n)f(n), which can include other heuristic information.</a:t>
            </a:r>
          </a:p>
          <a:p>
            <a:pPr algn="just"/>
            <a:r>
              <a:rPr lang="en-US" sz="1800" b="1" dirty="0"/>
              <a:t>Heuristic Function (h(n))</a:t>
            </a:r>
            <a:r>
              <a:rPr lang="en-US" sz="1800" dirty="0"/>
              <a:t>: A common component of the evaluation function in best-first search is the heuristic function h(n). The heuristic function estimates the cost of the cheapest path from a node n to a goal state. It is a nonnegative, problem-specific function that provides additional knowledge to guide the search process.</a:t>
            </a:r>
          </a:p>
          <a:p>
            <a:pPr algn="just"/>
            <a:r>
              <a:rPr lang="en-US" sz="1800" b="1" dirty="0"/>
              <a:t>Use of Heuristic Information</a:t>
            </a:r>
            <a:r>
              <a:rPr lang="en-US" sz="1800" dirty="0"/>
              <a:t>: Heuristic functions help in guiding the search towards the goal more effectively by providing an estimate of the cost remaining to reach the goal. This estimate helps prioritize nodes that appear to be closer to a solution.</a:t>
            </a:r>
          </a:p>
          <a:p>
            <a:pPr algn="just"/>
            <a:r>
              <a:rPr lang="en-US" sz="1800" b="1" dirty="0"/>
              <a:t>Goal Node Condition</a:t>
            </a:r>
            <a:r>
              <a:rPr lang="en-US" sz="1800" dirty="0"/>
              <a:t>: For heuristic functions, one key constraint is that if a node n is a goal node, then h(n)=0. This ensures that the heuristic function is admissible and never overestimates the cost to reach the goal.</a:t>
            </a:r>
          </a:p>
          <a:p>
            <a:pPr algn="just"/>
            <a:r>
              <a:rPr lang="en-US" sz="1800" b="1" dirty="0"/>
              <a:t>Efficiency</a:t>
            </a:r>
            <a:r>
              <a:rPr lang="en-US" sz="1800" dirty="0"/>
              <a:t>: By using heuristic information, best-first search strategies can significantly reduce the number of nodes expanded during the search, leading to more efficient solutions compared to uninformed strategies.</a:t>
            </a:r>
            <a:endParaRPr lang="en-IN" sz="1800" dirty="0"/>
          </a:p>
          <a:p>
            <a:pPr algn="just"/>
            <a:endParaRPr lang="en-IN" sz="1800" dirty="0"/>
          </a:p>
          <a:p>
            <a:pPr marL="0" indent="0" algn="just">
              <a:buNone/>
            </a:pPr>
            <a:endParaRPr lang="en-IN" sz="1800" dirty="0"/>
          </a:p>
        </p:txBody>
      </p:sp>
    </p:spTree>
    <p:extLst>
      <p:ext uri="{BB962C8B-B14F-4D97-AF65-F5344CB8AC3E}">
        <p14:creationId xmlns:p14="http://schemas.microsoft.com/office/powerpoint/2010/main" val="839093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92EE7D-5C6C-9A9B-5BD6-606AE86FDCFD}"/>
              </a:ext>
            </a:extLst>
          </p:cNvPr>
          <p:cNvSpPr>
            <a:spLocks noGrp="1"/>
          </p:cNvSpPr>
          <p:nvPr>
            <p:ph type="title"/>
          </p:nvPr>
        </p:nvSpPr>
        <p:spPr>
          <a:xfrm>
            <a:off x="1" y="1"/>
            <a:ext cx="11353800" cy="885216"/>
          </a:xfrm>
        </p:spPr>
        <p:txBody>
          <a:bodyPr>
            <a:normAutofit/>
          </a:bodyPr>
          <a:lstStyle/>
          <a:p>
            <a:r>
              <a:rPr lang="en-IN" sz="2800" dirty="0"/>
              <a:t>Greedy best-first search</a:t>
            </a:r>
          </a:p>
        </p:txBody>
      </p:sp>
      <p:sp>
        <p:nvSpPr>
          <p:cNvPr id="3" name="Content Placeholder 2">
            <a:extLst>
              <a:ext uri="{FF2B5EF4-FFF2-40B4-BE49-F238E27FC236}">
                <a16:creationId xmlns:a16="http://schemas.microsoft.com/office/drawing/2014/main" xmlns="" id="{87F7D0D9-DDF2-F4EF-63B3-F51B659DF2B0}"/>
              </a:ext>
            </a:extLst>
          </p:cNvPr>
          <p:cNvSpPr>
            <a:spLocks noGrp="1"/>
          </p:cNvSpPr>
          <p:nvPr>
            <p:ph idx="1"/>
          </p:nvPr>
        </p:nvSpPr>
        <p:spPr>
          <a:xfrm>
            <a:off x="-1" y="817123"/>
            <a:ext cx="12042843" cy="5359840"/>
          </a:xfrm>
        </p:spPr>
        <p:txBody>
          <a:bodyPr>
            <a:normAutofit lnSpcReduction="10000"/>
          </a:bodyPr>
          <a:lstStyle/>
          <a:p>
            <a:r>
              <a:rPr lang="en-US" sz="1800" dirty="0"/>
              <a:t>Greedy Best-First Search is a search algorithm that expands the node that appears to be closest to the goal, based on the heuristic function h(n). It aims to find a solution quickly by always choosing the path that seems to be the shortest to the goal.</a:t>
            </a:r>
          </a:p>
          <a:p>
            <a:r>
              <a:rPr lang="en-IN" sz="1800" dirty="0"/>
              <a:t>It is the combination of depth first search and breadth first search algorithms</a:t>
            </a:r>
          </a:p>
          <a:p>
            <a:r>
              <a:rPr lang="en-IN" sz="1800" dirty="0"/>
              <a:t>It uses, the heuristic function and search</a:t>
            </a:r>
          </a:p>
          <a:p>
            <a:r>
              <a:rPr lang="en-IN" sz="1800" dirty="0"/>
              <a:t>With the help of best first search at each step, we can choose the most promising node.</a:t>
            </a:r>
          </a:p>
          <a:p>
            <a:r>
              <a:rPr lang="en-IN" sz="1800" dirty="0"/>
              <a:t>In the best first search algorithm, we expand the node, which is closest to the goal node and the minimum cost is estimated by heuristic function.</a:t>
            </a:r>
          </a:p>
          <a:p>
            <a:r>
              <a:rPr lang="en-US" sz="1800" b="1" dirty="0"/>
              <a:t>Evaluation Function</a:t>
            </a:r>
            <a:r>
              <a:rPr lang="en-US" sz="1800" dirty="0"/>
              <a:t>: In Greedy Best-First Search, the evaluation function is simply the heuristic function: f(n)=h(n). This function estimates the cost from the current node n to the goal.</a:t>
            </a:r>
          </a:p>
          <a:p>
            <a:r>
              <a:rPr lang="en-IN" sz="1800" dirty="0"/>
              <a:t>Greedy Sir ignores the cost of the path that has already been traversed to reach n</a:t>
            </a:r>
          </a:p>
          <a:p>
            <a:r>
              <a:rPr lang="en-IN" sz="1800" dirty="0"/>
              <a:t>Therefore, the solution given is not necessarily optimal</a:t>
            </a:r>
          </a:p>
          <a:p>
            <a:pPr algn="just"/>
            <a:r>
              <a:rPr lang="en-IN" sz="1800" b="1" dirty="0"/>
              <a:t>Example - Route-Finding in Romania</a:t>
            </a:r>
            <a:r>
              <a:rPr lang="en-IN" sz="1800" dirty="0"/>
              <a:t>: For a route-finding problem in Romania, the heuristic function </a:t>
            </a:r>
            <a:r>
              <a:rPr lang="en-IN" sz="1800" dirty="0" err="1"/>
              <a:t>hSLD</a:t>
            </a:r>
            <a:r>
              <a:rPr lang="en-IN" sz="1800" dirty="0"/>
              <a:t>(n) represents the straight-line distance from a node n to the goal (Bucharest). For instance, </a:t>
            </a:r>
            <a:r>
              <a:rPr lang="en-IN" sz="1800" dirty="0" err="1"/>
              <a:t>hSLD</a:t>
            </a:r>
            <a:r>
              <a:rPr lang="en-IN" sz="1800" dirty="0"/>
              <a:t>(Arad)=366h</a:t>
            </a:r>
          </a:p>
          <a:p>
            <a:pPr algn="just"/>
            <a:r>
              <a:rPr lang="en-US" sz="1800" b="1" dirty="0"/>
              <a:t>Heuristic Information</a:t>
            </a:r>
            <a:r>
              <a:rPr lang="en-US" sz="1800" dirty="0"/>
              <a:t>: The heuristic function </a:t>
            </a:r>
            <a:r>
              <a:rPr lang="en-US" sz="1800" dirty="0" err="1"/>
              <a:t>hSLD</a:t>
            </a:r>
            <a:r>
              <a:rPr lang="en-US" sz="1800" dirty="0"/>
              <a:t> is based on prior knowledge (like straight-line distances) that cannot be directly computed from the problem's description. The heuristic's usefulness depends on its correlation with the actual costs (e.g., road distances).</a:t>
            </a:r>
            <a:endParaRPr lang="en-IN" sz="1800" dirty="0"/>
          </a:p>
          <a:p>
            <a:endParaRPr lang="en-IN" sz="1800" dirty="0"/>
          </a:p>
          <a:p>
            <a:endParaRPr lang="en-IN" sz="1800" dirty="0"/>
          </a:p>
        </p:txBody>
      </p:sp>
    </p:spTree>
    <p:extLst>
      <p:ext uri="{BB962C8B-B14F-4D97-AF65-F5344CB8AC3E}">
        <p14:creationId xmlns:p14="http://schemas.microsoft.com/office/powerpoint/2010/main" val="3710183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C6A4C26-BBC1-BDF5-F9B8-6B40A1AA4082}"/>
              </a:ext>
            </a:extLst>
          </p:cNvPr>
          <p:cNvSpPr>
            <a:spLocks noGrp="1"/>
          </p:cNvSpPr>
          <p:nvPr>
            <p:ph idx="1"/>
          </p:nvPr>
        </p:nvSpPr>
        <p:spPr>
          <a:xfrm>
            <a:off x="0" y="0"/>
            <a:ext cx="12192000" cy="5657850"/>
          </a:xfrm>
        </p:spPr>
        <p:txBody>
          <a:bodyPr>
            <a:normAutofit lnSpcReduction="10000"/>
          </a:bodyPr>
          <a:lstStyle/>
          <a:p>
            <a:pPr algn="just"/>
            <a:r>
              <a:rPr lang="en-US" sz="1800" b="1" dirty="0"/>
              <a:t>Search Example</a:t>
            </a:r>
            <a:r>
              <a:rPr lang="en-US" sz="1800" dirty="0"/>
              <a:t>: In the example of finding a path from Arad to Bucharest using Greedy Best-First Search with </a:t>
            </a:r>
            <a:r>
              <a:rPr lang="en-US" sz="1800" dirty="0" err="1"/>
              <a:t>hSLDh</a:t>
            </a:r>
            <a:r>
              <a:rPr lang="en-US" sz="1800" dirty="0"/>
              <a:t>​, the algorithm expands Sibiu first (closest to Bucharest), then </a:t>
            </a:r>
            <a:r>
              <a:rPr lang="en-US" sz="1800" dirty="0" err="1"/>
              <a:t>Fagaras</a:t>
            </a:r>
            <a:r>
              <a:rPr lang="en-US" sz="1800" dirty="0"/>
              <a:t>, and finally Bucharest. This solution path doesn't expand any unnecessary nodes, showing minimal search cost.</a:t>
            </a:r>
          </a:p>
          <a:p>
            <a:pPr algn="just"/>
            <a:r>
              <a:rPr lang="en-US" sz="1800" b="1" dirty="0"/>
              <a:t>Non-Optimality</a:t>
            </a:r>
            <a:r>
              <a:rPr lang="en-US" sz="1800" dirty="0"/>
              <a:t>: Although the search finds a path quickly, it is not necessarily the shortest path. For instance, the path through Sibiu and </a:t>
            </a:r>
            <a:r>
              <a:rPr lang="en-US" sz="1800" dirty="0" err="1"/>
              <a:t>Fagaras</a:t>
            </a:r>
            <a:r>
              <a:rPr lang="en-US" sz="1800" dirty="0"/>
              <a:t> to Bucharest is 32 kilometers longer than the shortest path through </a:t>
            </a:r>
            <a:r>
              <a:rPr lang="en-US" sz="1800" dirty="0" err="1"/>
              <a:t>Rimnicu</a:t>
            </a:r>
            <a:r>
              <a:rPr lang="en-US" sz="1800" dirty="0"/>
              <a:t> </a:t>
            </a:r>
            <a:r>
              <a:rPr lang="en-US" sz="1800" dirty="0" err="1"/>
              <a:t>Vilcea</a:t>
            </a:r>
            <a:r>
              <a:rPr lang="en-US" sz="1800" dirty="0"/>
              <a:t> and Pitesti.</a:t>
            </a:r>
          </a:p>
          <a:p>
            <a:pPr algn="just"/>
            <a:r>
              <a:rPr lang="en-US" sz="1800" b="1" dirty="0"/>
              <a:t>Greedy Nature</a:t>
            </a:r>
            <a:r>
              <a:rPr lang="en-US" sz="1800" dirty="0"/>
              <a:t>: The algorithm is called "greedy" because at each step, it chooses the node that seems closest to the goal according to the heuristic, without considering the overall optimal path.</a:t>
            </a:r>
          </a:p>
          <a:p>
            <a:r>
              <a:rPr lang="en-US" sz="1800" b="1" dirty="0"/>
              <a:t>Incompleteness</a:t>
            </a:r>
            <a:r>
              <a:rPr lang="en-US" sz="1800" dirty="0"/>
              <a:t>: Greedy Best-First Tree Search is not guaranteed to find a solution, even in a finite state space, similar to Depth-First Search. For example, when searching from Iasi to </a:t>
            </a:r>
            <a:r>
              <a:rPr lang="en-US" sz="1800" dirty="0" err="1"/>
              <a:t>Fagaras</a:t>
            </a:r>
            <a:r>
              <a:rPr lang="en-US" sz="1800" dirty="0"/>
              <a:t>, it might expand </a:t>
            </a:r>
            <a:r>
              <a:rPr lang="en-US" sz="1800" dirty="0" err="1"/>
              <a:t>Neamt</a:t>
            </a:r>
            <a:r>
              <a:rPr lang="en-US" sz="1800" dirty="0"/>
              <a:t> first (closest to </a:t>
            </a:r>
            <a:r>
              <a:rPr lang="en-US" sz="1800" dirty="0" err="1"/>
              <a:t>Fagaras</a:t>
            </a:r>
            <a:r>
              <a:rPr lang="en-US" sz="1800" dirty="0"/>
              <a:t> by heuristic), leading to a dead end and an infinite loop if backtracking is not allowed.</a:t>
            </a:r>
          </a:p>
          <a:p>
            <a:r>
              <a:rPr lang="en-US" sz="1800" b="1" dirty="0"/>
              <a:t>Graph Search Version</a:t>
            </a:r>
            <a:r>
              <a:rPr lang="en-US" sz="1800" dirty="0"/>
              <a:t>: The graph search version of Greedy Best-First Search is complete in finite spaces because it avoids revisiting nodes. However, it is not complete in infinite state spaces due to the risk of infinite loops.</a:t>
            </a:r>
          </a:p>
          <a:p>
            <a:r>
              <a:rPr lang="en-US" sz="1800" b="1" dirty="0"/>
              <a:t>Complexity</a:t>
            </a:r>
            <a:r>
              <a:rPr lang="en-US" sz="1800" dirty="0"/>
              <a:t>: In the worst case, the time and space complexity of the tree version is O(</a:t>
            </a:r>
            <a:r>
              <a:rPr lang="en-US" sz="1800" dirty="0" err="1"/>
              <a:t>b^m</a:t>
            </a:r>
            <a:r>
              <a:rPr lang="en-US" sz="1800" dirty="0"/>
              <a:t>) where b is the branching factor and m is the maximum depth of the search space.</a:t>
            </a:r>
          </a:p>
          <a:p>
            <a:r>
              <a:rPr lang="en-US" sz="1800" b="1" dirty="0"/>
              <a:t>Heuristic Impact</a:t>
            </a:r>
            <a:r>
              <a:rPr lang="en-US" sz="1800" dirty="0"/>
              <a:t>: With a good heuristic function, the complexity of the search can be significantly reduced, making the algorithm more efficient. The extent of this reduction depends on the specific problem and the quality of the heuristic used.</a:t>
            </a:r>
          </a:p>
          <a:p>
            <a:endParaRPr lang="en-US" sz="1800" dirty="0"/>
          </a:p>
          <a:p>
            <a:endParaRPr lang="en-IN" sz="1800" dirty="0"/>
          </a:p>
          <a:p>
            <a:pPr algn="just"/>
            <a:r>
              <a:rPr lang="en-US" sz="1800" dirty="0">
                <a:solidFill>
                  <a:srgbClr val="FF0000"/>
                </a:solidFill>
              </a:rPr>
              <a:t>Example problem discussed in class—please refer to the class notes for details.</a:t>
            </a:r>
            <a:endParaRPr kumimoji="0" lang="en-US" altLang="en-US" sz="1800" b="0" i="0" u="none" strike="noStrike" cap="none" normalizeH="0" baseline="0" dirty="0">
              <a:ln>
                <a:noFill/>
              </a:ln>
              <a:solidFill>
                <a:srgbClr val="FF0000"/>
              </a:solidFill>
              <a:effectLst/>
              <a:latin typeface="Arial" panose="020B0604020202020204" pitchFamily="34" charset="0"/>
            </a:endParaRPr>
          </a:p>
          <a:p>
            <a:pPr algn="just"/>
            <a:endParaRPr lang="en-IN" sz="1800" dirty="0"/>
          </a:p>
        </p:txBody>
      </p:sp>
    </p:spTree>
    <p:extLst>
      <p:ext uri="{BB962C8B-B14F-4D97-AF65-F5344CB8AC3E}">
        <p14:creationId xmlns:p14="http://schemas.microsoft.com/office/powerpoint/2010/main" val="1218637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E12D430E-3860-9452-4A70-126AC7E2C634}"/>
              </a:ext>
            </a:extLst>
          </p:cNvPr>
          <p:cNvPicPr>
            <a:picLocks noGrp="1" noChangeAspect="1"/>
          </p:cNvPicPr>
          <p:nvPr>
            <p:ph idx="1"/>
          </p:nvPr>
        </p:nvPicPr>
        <p:blipFill rotWithShape="1">
          <a:blip r:embed="rId2"/>
          <a:srcRect l="5640" r="21006"/>
          <a:stretch/>
        </p:blipFill>
        <p:spPr>
          <a:xfrm>
            <a:off x="486383" y="134974"/>
            <a:ext cx="4912468" cy="2419688"/>
          </a:xfrm>
        </p:spPr>
      </p:pic>
      <p:pic>
        <p:nvPicPr>
          <p:cNvPr id="7" name="Picture 6">
            <a:extLst>
              <a:ext uri="{FF2B5EF4-FFF2-40B4-BE49-F238E27FC236}">
                <a16:creationId xmlns:a16="http://schemas.microsoft.com/office/drawing/2014/main" xmlns="" id="{D24F77A8-6D10-FFCF-C21B-65FC2BD22C31}"/>
              </a:ext>
            </a:extLst>
          </p:cNvPr>
          <p:cNvPicPr>
            <a:picLocks noChangeAspect="1"/>
          </p:cNvPicPr>
          <p:nvPr/>
        </p:nvPicPr>
        <p:blipFill>
          <a:blip r:embed="rId3"/>
          <a:stretch>
            <a:fillRect/>
          </a:stretch>
        </p:blipFill>
        <p:spPr>
          <a:xfrm>
            <a:off x="5502457" y="134974"/>
            <a:ext cx="6601746" cy="6268325"/>
          </a:xfrm>
          <a:prstGeom prst="rect">
            <a:avLst/>
          </a:prstGeom>
        </p:spPr>
      </p:pic>
    </p:spTree>
    <p:extLst>
      <p:ext uri="{BB962C8B-B14F-4D97-AF65-F5344CB8AC3E}">
        <p14:creationId xmlns:p14="http://schemas.microsoft.com/office/powerpoint/2010/main" val="3511088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C3731F-ED88-6576-6627-76A5F4F35680}"/>
              </a:ext>
            </a:extLst>
          </p:cNvPr>
          <p:cNvSpPr>
            <a:spLocks noGrp="1"/>
          </p:cNvSpPr>
          <p:nvPr>
            <p:ph type="title"/>
          </p:nvPr>
        </p:nvSpPr>
        <p:spPr>
          <a:xfrm>
            <a:off x="0" y="190028"/>
            <a:ext cx="10254574" cy="393632"/>
          </a:xfrm>
        </p:spPr>
        <p:txBody>
          <a:bodyPr>
            <a:normAutofit fontScale="90000"/>
          </a:bodyPr>
          <a:lstStyle/>
          <a:p>
            <a:r>
              <a:rPr lang="en-US" sz="2800" dirty="0"/>
              <a:t>A* search: Minimizing the total estimated solution cost</a:t>
            </a:r>
            <a:endParaRPr lang="en-IN" sz="2800" dirty="0"/>
          </a:p>
        </p:txBody>
      </p:sp>
      <p:sp>
        <p:nvSpPr>
          <p:cNvPr id="3" name="Content Placeholder 2">
            <a:extLst>
              <a:ext uri="{FF2B5EF4-FFF2-40B4-BE49-F238E27FC236}">
                <a16:creationId xmlns:a16="http://schemas.microsoft.com/office/drawing/2014/main" xmlns="" id="{83D0A5FE-0451-356E-44E7-C6B59BC5D208}"/>
              </a:ext>
            </a:extLst>
          </p:cNvPr>
          <p:cNvSpPr>
            <a:spLocks noGrp="1"/>
          </p:cNvSpPr>
          <p:nvPr>
            <p:ph idx="1"/>
          </p:nvPr>
        </p:nvSpPr>
        <p:spPr>
          <a:xfrm>
            <a:off x="0" y="797668"/>
            <a:ext cx="12052570" cy="5379295"/>
          </a:xfrm>
        </p:spPr>
        <p:txBody>
          <a:bodyPr>
            <a:normAutofit/>
          </a:bodyPr>
          <a:lstStyle/>
          <a:p>
            <a:pPr algn="just">
              <a:buFont typeface="Arial" panose="020B0604020202020204" pitchFamily="34" charset="0"/>
              <a:buChar char="•"/>
            </a:pPr>
            <a:r>
              <a:rPr lang="en-US" sz="1800" dirty="0"/>
              <a:t>A* search is a popular best-first search algorithm that evaluates nodes by combining two functions:</a:t>
            </a:r>
          </a:p>
          <a:p>
            <a:pPr marL="0" indent="0" algn="just">
              <a:buNone/>
            </a:pPr>
            <a:r>
              <a:rPr lang="en-US" sz="1800" dirty="0"/>
              <a:t>g(n): the cost to reach the node n from the start node.</a:t>
            </a:r>
          </a:p>
          <a:p>
            <a:pPr marL="0" indent="0" algn="just">
              <a:buNone/>
            </a:pPr>
            <a:r>
              <a:rPr lang="en-US" sz="1800" dirty="0"/>
              <a:t>h(n) : the estimated cost to reach the goal from node n.</a:t>
            </a:r>
          </a:p>
          <a:p>
            <a:pPr marL="0" indent="0" algn="just">
              <a:buNone/>
            </a:pPr>
            <a:r>
              <a:rPr lang="en-US" sz="1800" dirty="0"/>
              <a:t>The evaluation function is defined as f(n)=g(n)+h(n)f, which represents the estimated total cost of the cheapest solution through node n.</a:t>
            </a:r>
          </a:p>
          <a:p>
            <a:pPr marL="0" indent="0" algn="just">
              <a:buNone/>
            </a:pPr>
            <a:r>
              <a:rPr lang="en-IN" sz="1800" i="1" dirty="0">
                <a:solidFill>
                  <a:srgbClr val="FF0000"/>
                </a:solidFill>
              </a:rPr>
              <a:t>Goal of A Search</a:t>
            </a:r>
            <a:r>
              <a:rPr lang="en-IN" sz="1800" dirty="0">
                <a:solidFill>
                  <a:srgbClr val="FF0000"/>
                </a:solidFill>
              </a:rPr>
              <a:t>*:</a:t>
            </a:r>
          </a:p>
          <a:p>
            <a:pPr marL="0" indent="0" algn="just">
              <a:buNone/>
            </a:pPr>
            <a:r>
              <a:rPr lang="en-US" sz="1800" dirty="0"/>
              <a:t>A* aims to find the least-cost path from the start node to the goal node by always expanding the node with the lowest f(n) value.</a:t>
            </a:r>
          </a:p>
          <a:p>
            <a:pPr marL="0" indent="0" algn="just">
              <a:buNone/>
            </a:pPr>
            <a:r>
              <a:rPr lang="en-IN" sz="1800" b="1" dirty="0"/>
              <a:t>Completeness and Optimality</a:t>
            </a:r>
            <a:r>
              <a:rPr lang="en-IN" sz="1800" dirty="0"/>
              <a:t>:</a:t>
            </a:r>
            <a:r>
              <a:rPr lang="en-US" sz="1800" dirty="0"/>
              <a:t>A* search is complete (will always find a solution if one exists) and optimal (will find the least-cost solution) if the heuristic function h(n)</a:t>
            </a:r>
          </a:p>
          <a:p>
            <a:pPr marL="0" indent="0" algn="just">
              <a:buNone/>
            </a:pPr>
            <a:r>
              <a:rPr lang="en-US" sz="1800" dirty="0"/>
              <a:t> satisfies certain conditions, specifically admissibility and consistency.</a:t>
            </a:r>
          </a:p>
          <a:p>
            <a:pPr algn="just"/>
            <a:endParaRPr lang="en-IN" sz="1800" dirty="0"/>
          </a:p>
        </p:txBody>
      </p:sp>
    </p:spTree>
    <p:extLst>
      <p:ext uri="{BB962C8B-B14F-4D97-AF65-F5344CB8AC3E}">
        <p14:creationId xmlns:p14="http://schemas.microsoft.com/office/powerpoint/2010/main" val="587029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E71E7BF-A729-32A2-C690-3689FB47FCC0}"/>
              </a:ext>
            </a:extLst>
          </p:cNvPr>
          <p:cNvSpPr>
            <a:spLocks noGrp="1"/>
          </p:cNvSpPr>
          <p:nvPr>
            <p:ph idx="1"/>
          </p:nvPr>
        </p:nvSpPr>
        <p:spPr>
          <a:xfrm>
            <a:off x="-1" y="261257"/>
            <a:ext cx="12091481" cy="5915706"/>
          </a:xfrm>
        </p:spPr>
        <p:txBody>
          <a:bodyPr>
            <a:normAutofit/>
          </a:bodyPr>
          <a:lstStyle/>
          <a:p>
            <a:pPr algn="just"/>
            <a:r>
              <a:rPr lang="en-IN" sz="1800" b="1"/>
              <a:t>Admissible Heuristic</a:t>
            </a:r>
            <a:r>
              <a:rPr lang="en-IN" sz="1800"/>
              <a:t>: </a:t>
            </a:r>
            <a:r>
              <a:rPr lang="en-US" sz="1800"/>
              <a:t>A heuristic function h(n) is called </a:t>
            </a:r>
            <a:r>
              <a:rPr lang="en-US" sz="1800" b="1"/>
              <a:t>admissible</a:t>
            </a:r>
            <a:r>
              <a:rPr lang="en-US" sz="1800"/>
              <a:t> if it never overestimates the cost to reach the goal from node n. This means that for all nodes, h(n) is less than or equal to the actual cost to reach the goal.</a:t>
            </a:r>
          </a:p>
          <a:p>
            <a:pPr algn="just"/>
            <a:r>
              <a:rPr lang="en-US" sz="1800"/>
              <a:t>Admissible heuristics are "optimistic" because they assume the cost to reach the goal is less than or equal to the actual cost.</a:t>
            </a:r>
          </a:p>
          <a:p>
            <a:pPr algn="just"/>
            <a:r>
              <a:rPr lang="en-IN" sz="1800" b="1"/>
              <a:t>Example of Admissible Heuristic</a:t>
            </a:r>
            <a:r>
              <a:rPr lang="en-IN" sz="1800"/>
              <a:t>:</a:t>
            </a:r>
            <a:r>
              <a:rPr lang="en-US" sz="1800"/>
              <a:t>The straight-line distance heuristic (hSLD) is admissible because the shortest path between any two points is a straight line, which cannot overestimate the true cost.</a:t>
            </a:r>
          </a:p>
          <a:p>
            <a:pPr algn="just"/>
            <a:r>
              <a:rPr lang="en-IN" sz="1800" b="1"/>
              <a:t>Consistency (Monotonicity)</a:t>
            </a:r>
            <a:r>
              <a:rPr lang="en-IN" sz="1800"/>
              <a:t>:</a:t>
            </a:r>
            <a:r>
              <a:rPr lang="en-US" sz="1800"/>
              <a:t>A heuristic h(n) is </a:t>
            </a:r>
            <a:r>
              <a:rPr lang="en-US" sz="1800" b="1"/>
              <a:t>consistent</a:t>
            </a:r>
            <a:r>
              <a:rPr lang="en-US" sz="1800"/>
              <a:t> (or </a:t>
            </a:r>
            <a:r>
              <a:rPr lang="en-US" sz="1800" b="1"/>
              <a:t>monotonic</a:t>
            </a:r>
            <a:r>
              <a:rPr lang="en-US" sz="1800"/>
              <a:t>) if, for every node n and successor n′ of n, the estimated cost to reach the goal from n is no greater than the cost of getting to n′ plus the estimated cost from n′ to the goal: h(n)≤c(n,a,n′)+h(n′).</a:t>
            </a:r>
          </a:p>
          <a:p>
            <a:pPr algn="just"/>
            <a:r>
              <a:rPr lang="en-US" sz="1800"/>
              <a:t>This property ensures that the estimated cost h(n) follows the triangle inequality, meaning the direct path from n to the goal should not be more expensive than going through an intermediate node n′.</a:t>
            </a:r>
          </a:p>
          <a:p>
            <a:pPr algn="just"/>
            <a:r>
              <a:rPr lang="en-US" sz="1800" b="1"/>
              <a:t>Relation Between Consistency and Admissibility</a:t>
            </a:r>
            <a:r>
              <a:rPr lang="en-US" sz="1800"/>
              <a:t>:Every consistent heuristic is also admissible, but not every admissible heuristic is necessarily consistent. Consistency is a stricter requirement.</a:t>
            </a:r>
            <a:endParaRPr lang="en-IN" sz="1800" dirty="0"/>
          </a:p>
        </p:txBody>
      </p:sp>
      <p:sp>
        <p:nvSpPr>
          <p:cNvPr id="4" name="TextBox 3">
            <a:extLst>
              <a:ext uri="{FF2B5EF4-FFF2-40B4-BE49-F238E27FC236}">
                <a16:creationId xmlns:a16="http://schemas.microsoft.com/office/drawing/2014/main" xmlns="" id="{50F8A9DB-B5FE-403D-9A29-078554F4B3B7}"/>
              </a:ext>
            </a:extLst>
          </p:cNvPr>
          <p:cNvSpPr txBox="1"/>
          <p:nvPr/>
        </p:nvSpPr>
        <p:spPr>
          <a:xfrm>
            <a:off x="658534" y="4844453"/>
            <a:ext cx="8980415"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sz="1800" dirty="0">
                <a:solidFill>
                  <a:srgbClr val="FF0000"/>
                </a:solidFill>
              </a:rPr>
              <a:t>Example problem discussed in class—please refer to the class notes for details.</a:t>
            </a:r>
            <a:endParaRPr kumimoji="0" lang="en-US" altLang="en-US" sz="1800" b="0" i="0" u="none" strike="noStrike" cap="none" normalizeH="0" baseline="0" dirty="0">
              <a:ln>
                <a:noFill/>
              </a:ln>
              <a:solidFill>
                <a:srgbClr val="FF0000"/>
              </a:solidFill>
              <a:effectLst/>
              <a:latin typeface="Arial" panose="020B0604020202020204" pitchFamily="34" charset="0"/>
            </a:endParaRPr>
          </a:p>
        </p:txBody>
      </p:sp>
    </p:spTree>
    <p:extLst>
      <p:ext uri="{BB962C8B-B14F-4D97-AF65-F5344CB8AC3E}">
        <p14:creationId xmlns:p14="http://schemas.microsoft.com/office/powerpoint/2010/main" val="25069209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0835B1-8547-F57A-6C44-CBC057EC8C88}"/>
              </a:ext>
            </a:extLst>
          </p:cNvPr>
          <p:cNvSpPr>
            <a:spLocks noGrp="1"/>
          </p:cNvSpPr>
          <p:nvPr>
            <p:ph type="title"/>
          </p:nvPr>
        </p:nvSpPr>
        <p:spPr>
          <a:xfrm>
            <a:off x="0" y="136526"/>
            <a:ext cx="11353800" cy="544512"/>
          </a:xfrm>
        </p:spPr>
        <p:txBody>
          <a:bodyPr>
            <a:normAutofit fontScale="90000"/>
          </a:bodyPr>
          <a:lstStyle/>
          <a:p>
            <a:r>
              <a:rPr lang="en-IN" dirty="0"/>
              <a:t>Practical Example</a:t>
            </a:r>
          </a:p>
        </p:txBody>
      </p:sp>
      <p:sp>
        <p:nvSpPr>
          <p:cNvPr id="3" name="Content Placeholder 2">
            <a:extLst>
              <a:ext uri="{FF2B5EF4-FFF2-40B4-BE49-F238E27FC236}">
                <a16:creationId xmlns:a16="http://schemas.microsoft.com/office/drawing/2014/main" xmlns="" id="{EFBBB429-675C-F6A7-3287-263F4DD22984}"/>
              </a:ext>
            </a:extLst>
          </p:cNvPr>
          <p:cNvSpPr>
            <a:spLocks noGrp="1"/>
          </p:cNvSpPr>
          <p:nvPr>
            <p:ph idx="1"/>
          </p:nvPr>
        </p:nvSpPr>
        <p:spPr>
          <a:xfrm>
            <a:off x="97276" y="768486"/>
            <a:ext cx="11994205" cy="5408478"/>
          </a:xfrm>
        </p:spPr>
        <p:txBody>
          <a:bodyPr>
            <a:normAutofit/>
          </a:bodyPr>
          <a:lstStyle/>
          <a:p>
            <a:pPr algn="just"/>
            <a:r>
              <a:rPr lang="en-US" sz="1800" dirty="0"/>
              <a:t>In a route-finding example to Bucharest, A* search might initially find a suboptimal path (e.g., through Pitesti) if the heuristic value h(n) for a different node (like Bucharest) results in a higher f(n). This ensures that all possible paths are considered to find the cheapest one.</a:t>
            </a:r>
          </a:p>
          <a:p>
            <a:pPr algn="just"/>
            <a:r>
              <a:rPr lang="en-IN" sz="1800" b="1" dirty="0"/>
              <a:t>Triangle Inequality</a:t>
            </a:r>
            <a:r>
              <a:rPr lang="en-IN" sz="1800" dirty="0"/>
              <a:t>:</a:t>
            </a:r>
            <a:r>
              <a:rPr lang="en-US" sz="1800" dirty="0"/>
              <a:t>The triangle inequality principle in the context of heuristics means that the cost from node n to the goal via an intermediate node n′ should not be cheaper than the direct path from n to the goal, ensuring the heuristic remains a lower bound.</a:t>
            </a:r>
          </a:p>
          <a:p>
            <a:pPr algn="just"/>
            <a:r>
              <a:rPr lang="en-US" sz="1800" dirty="0"/>
              <a:t>For graph search (as opposed to tree search), consistency is crucial for A* to ensure that once a node is expanded, it does not need to be revisited, which guarantees optimality in finding the least-cost path.</a:t>
            </a:r>
            <a:endParaRPr lang="en-IN" sz="1800" dirty="0"/>
          </a:p>
        </p:txBody>
      </p:sp>
    </p:spTree>
    <p:extLst>
      <p:ext uri="{BB962C8B-B14F-4D97-AF65-F5344CB8AC3E}">
        <p14:creationId xmlns:p14="http://schemas.microsoft.com/office/powerpoint/2010/main" val="7967943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E01C4890-08CD-2AC3-D6E8-5A6CBD289DAB}"/>
              </a:ext>
            </a:extLst>
          </p:cNvPr>
          <p:cNvPicPr>
            <a:picLocks noGrp="1" noChangeAspect="1"/>
          </p:cNvPicPr>
          <p:nvPr>
            <p:ph idx="1"/>
          </p:nvPr>
        </p:nvPicPr>
        <p:blipFill>
          <a:blip r:embed="rId2"/>
          <a:stretch>
            <a:fillRect/>
          </a:stretch>
        </p:blipFill>
        <p:spPr>
          <a:xfrm>
            <a:off x="1228725" y="-13"/>
            <a:ext cx="9744075" cy="7587721"/>
          </a:xfrm>
        </p:spPr>
      </p:pic>
    </p:spTree>
    <p:extLst>
      <p:ext uri="{BB962C8B-B14F-4D97-AF65-F5344CB8AC3E}">
        <p14:creationId xmlns:p14="http://schemas.microsoft.com/office/powerpoint/2010/main" val="2624800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FC5024-96C4-DF2A-4630-0FA1E2293BAD}"/>
              </a:ext>
            </a:extLst>
          </p:cNvPr>
          <p:cNvSpPr>
            <a:spLocks noGrp="1"/>
          </p:cNvSpPr>
          <p:nvPr>
            <p:ph type="title"/>
          </p:nvPr>
        </p:nvSpPr>
        <p:spPr>
          <a:xfrm>
            <a:off x="0" y="-29084"/>
            <a:ext cx="10501009" cy="530736"/>
          </a:xfrm>
        </p:spPr>
        <p:txBody>
          <a:bodyPr>
            <a:normAutofit/>
          </a:bodyPr>
          <a:lstStyle/>
          <a:p>
            <a:r>
              <a:rPr lang="en-US" sz="2400" dirty="0"/>
              <a:t>HEURISTIC FUNCTIONS</a:t>
            </a:r>
            <a:endParaRPr lang="en-IN" sz="2400" dirty="0"/>
          </a:p>
        </p:txBody>
      </p:sp>
      <p:sp>
        <p:nvSpPr>
          <p:cNvPr id="3" name="Content Placeholder 2">
            <a:extLst>
              <a:ext uri="{FF2B5EF4-FFF2-40B4-BE49-F238E27FC236}">
                <a16:creationId xmlns:a16="http://schemas.microsoft.com/office/drawing/2014/main" xmlns="" id="{8169FDF6-FC83-6F92-4EFE-FAC01FEA0643}"/>
              </a:ext>
            </a:extLst>
          </p:cNvPr>
          <p:cNvSpPr>
            <a:spLocks noGrp="1"/>
          </p:cNvSpPr>
          <p:nvPr>
            <p:ph idx="1"/>
          </p:nvPr>
        </p:nvSpPr>
        <p:spPr>
          <a:xfrm>
            <a:off x="0" y="501652"/>
            <a:ext cx="12091480" cy="5967242"/>
          </a:xfrm>
        </p:spPr>
        <p:txBody>
          <a:bodyPr>
            <a:normAutofit fontScale="85000" lnSpcReduction="20000"/>
          </a:bodyPr>
          <a:lstStyle/>
          <a:p>
            <a:r>
              <a:rPr lang="en-US" sz="1800" dirty="0"/>
              <a:t>The 8-puzzle problem is a classic example used in heuristic search studies. In the problem, the goal is to rearrange a set of numbered tiles on a 3x3 grid by sliding them into an empty space until the tiles match a specific goal configuration. This task can be solved by various search algorithms, and the effectiveness of these algorithms can be enhanced by using heuristics.</a:t>
            </a:r>
          </a:p>
          <a:p>
            <a:r>
              <a:rPr lang="en-US" sz="1800" b="1" dirty="0"/>
              <a:t>Heuristic Functions:</a:t>
            </a:r>
            <a:endParaRPr lang="en-US" sz="1800" dirty="0"/>
          </a:p>
          <a:p>
            <a:pPr>
              <a:buFont typeface="Arial" panose="020B0604020202020204" pitchFamily="34" charset="0"/>
              <a:buChar char="•"/>
            </a:pPr>
            <a:r>
              <a:rPr lang="en-US" sz="1800" b="1" dirty="0"/>
              <a:t>h1: Number of Misplaced Tiles</a:t>
            </a:r>
            <a:endParaRPr lang="en-US" sz="1800" dirty="0"/>
          </a:p>
          <a:p>
            <a:pPr marL="742950" lvl="1" indent="-285750">
              <a:buFont typeface="Arial" panose="020B0604020202020204" pitchFamily="34" charset="0"/>
              <a:buChar char="•"/>
            </a:pPr>
            <a:r>
              <a:rPr lang="en-US" sz="1800" dirty="0"/>
              <a:t>This heuristic counts how many tiles are not in their goal position. For example, if all eight tiles are out of place, then h1=8. This is an admissible heuristic because each misplaced tile must be moved at least once to reach its goal position.</a:t>
            </a:r>
          </a:p>
          <a:p>
            <a:r>
              <a:rPr lang="en-US" sz="1800" b="1" dirty="0"/>
              <a:t>h2: Manhattan Distance (City Block Distance)</a:t>
            </a:r>
          </a:p>
          <a:p>
            <a:r>
              <a:rPr lang="en-US" sz="1800" dirty="0"/>
              <a:t>This heuristic calculates the sum of the distances each tile is away from its goal position, only counting horizontal and vertical moves. It is also admissible because moving a tile closer to its goal position reduces the distance by one step.</a:t>
            </a:r>
          </a:p>
          <a:p>
            <a:r>
              <a:rPr lang="en-IN" sz="1800" b="1" dirty="0"/>
              <a:t>Effectiveness of Heuristics:</a:t>
            </a:r>
          </a:p>
          <a:p>
            <a:pPr algn="just"/>
            <a:r>
              <a:rPr lang="en-US" sz="1800" dirty="0"/>
              <a:t>The effectiveness of a heuristic can be measured by the effective branching factor, which is an estimate of the average number of child nodes expanded per node. A lower effective branching factor indicates a more efficient search.</a:t>
            </a:r>
          </a:p>
          <a:p>
            <a:pPr algn="just"/>
            <a:r>
              <a:rPr lang="en-US" sz="1800" dirty="0"/>
              <a:t>The results from experiments show that heuristic h2 (Manhattan distance) is generally more effective than h1 (number of misplaced tiles) because it gives a more accurate estimate of the steps required to solve the puzzle.</a:t>
            </a:r>
          </a:p>
          <a:p>
            <a:pPr algn="just"/>
            <a:r>
              <a:rPr lang="en-IN" sz="1800" b="1" dirty="0"/>
              <a:t>Pattern Databases:</a:t>
            </a:r>
          </a:p>
          <a:p>
            <a:pPr algn="just"/>
            <a:r>
              <a:rPr lang="en-US" sz="1800" b="1" dirty="0"/>
              <a:t>Pattern databases</a:t>
            </a:r>
            <a:r>
              <a:rPr lang="en-US" sz="1800" dirty="0"/>
              <a:t> store the exact solution costs for every possible subproblem configuration. For instance, a database might store the cost to solve a subset of the puzzle, such as arranging the tiles 1, 2, 3, and 4. These databases provide admissible heuristics that can be looked up during the search to give accurate estimates of the cost to reach the goal.</a:t>
            </a:r>
          </a:p>
          <a:p>
            <a:pPr algn="just"/>
            <a:r>
              <a:rPr lang="en-US" sz="1800" b="1" dirty="0"/>
              <a:t>Disjoint Pattern Databases:</a:t>
            </a:r>
            <a:r>
              <a:rPr lang="en-US" sz="1800" dirty="0"/>
              <a:t> These store information for non-overlapping subsets of the puzzle, which can further reduce the number of nodes generated during the search.</a:t>
            </a:r>
          </a:p>
          <a:p>
            <a:pPr algn="just"/>
            <a:r>
              <a:rPr lang="en-IN" sz="1800" b="1" dirty="0"/>
              <a:t>Learning Heuristics from Experience:</a:t>
            </a:r>
          </a:p>
          <a:p>
            <a:pPr algn="just"/>
            <a:r>
              <a:rPr lang="en-US" sz="1800" dirty="0"/>
              <a:t>Another method to generate heuristics is by learning from experience, such as solving multiple instances of the 8-puzzle and using the data to predict the cost of reaching the goal from different states. Machine learning techniques like neural networks and decision trees can be employed to learn these heuristics.</a:t>
            </a:r>
            <a:endParaRPr lang="en-IN" sz="1800" dirty="0"/>
          </a:p>
          <a:p>
            <a:pPr algn="just"/>
            <a:r>
              <a:rPr lang="en-US" sz="1800" dirty="0">
                <a:solidFill>
                  <a:srgbClr val="FF0000"/>
                </a:solidFill>
              </a:rPr>
              <a:t>Example problem discussed in class—please refer to the class notes for details.</a:t>
            </a:r>
            <a:endParaRPr kumimoji="0" lang="en-US" altLang="en-US" sz="1800" b="0" i="0" u="none" strike="noStrike" cap="none" normalizeH="0" baseline="0" dirty="0">
              <a:ln>
                <a:noFill/>
              </a:ln>
              <a:solidFill>
                <a:srgbClr val="FF0000"/>
              </a:solidFill>
              <a:effectLst/>
              <a:latin typeface="Arial" panose="020B0604020202020204" pitchFamily="34" charset="0"/>
            </a:endParaRPr>
          </a:p>
          <a:p>
            <a:pPr algn="just"/>
            <a:endParaRPr lang="en-IN" sz="1800" b="1" dirty="0"/>
          </a:p>
          <a:p>
            <a:endParaRPr lang="en-US" sz="1800" b="1" dirty="0"/>
          </a:p>
          <a:p>
            <a:endParaRPr lang="en-IN" sz="1800" dirty="0"/>
          </a:p>
        </p:txBody>
      </p:sp>
    </p:spTree>
    <p:extLst>
      <p:ext uri="{BB962C8B-B14F-4D97-AF65-F5344CB8AC3E}">
        <p14:creationId xmlns:p14="http://schemas.microsoft.com/office/powerpoint/2010/main" val="12433048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92F80A-6015-2521-9075-E7713CB38F34}"/>
              </a:ext>
            </a:extLst>
          </p:cNvPr>
          <p:cNvSpPr>
            <a:spLocks noGrp="1"/>
          </p:cNvSpPr>
          <p:nvPr>
            <p:ph type="title"/>
          </p:nvPr>
        </p:nvSpPr>
        <p:spPr>
          <a:xfrm>
            <a:off x="67112" y="100669"/>
            <a:ext cx="11286688" cy="402670"/>
          </a:xfrm>
        </p:spPr>
        <p:txBody>
          <a:bodyPr>
            <a:noAutofit/>
          </a:bodyPr>
          <a:lstStyle/>
          <a:p>
            <a:r>
              <a:rPr lang="en-IN" sz="2800" dirty="0"/>
              <a:t>Local Search Algorithms</a:t>
            </a:r>
          </a:p>
        </p:txBody>
      </p:sp>
      <p:sp>
        <p:nvSpPr>
          <p:cNvPr id="3" name="Content Placeholder 2">
            <a:extLst>
              <a:ext uri="{FF2B5EF4-FFF2-40B4-BE49-F238E27FC236}">
                <a16:creationId xmlns:a16="http://schemas.microsoft.com/office/drawing/2014/main" xmlns="" id="{C0590E1E-C329-A75B-95FA-219128C0FB87}"/>
              </a:ext>
            </a:extLst>
          </p:cNvPr>
          <p:cNvSpPr>
            <a:spLocks noGrp="1"/>
          </p:cNvSpPr>
          <p:nvPr>
            <p:ph idx="1"/>
          </p:nvPr>
        </p:nvSpPr>
        <p:spPr>
          <a:xfrm>
            <a:off x="125835" y="587229"/>
            <a:ext cx="11870422" cy="5589734"/>
          </a:xfrm>
        </p:spPr>
        <p:txBody>
          <a:bodyPr>
            <a:normAutofit/>
          </a:bodyPr>
          <a:lstStyle/>
          <a:p>
            <a:r>
              <a:rPr lang="en-US" sz="1800" dirty="0"/>
              <a:t>Local search algorithms focus on exploring the state space without systematically keeping track of the path to reach the goal.</a:t>
            </a:r>
          </a:p>
          <a:p>
            <a:r>
              <a:rPr lang="en-US" sz="1800" dirty="0"/>
              <a:t>They operate using a single current node and move only to neighbors of that node, not retaining the paths followed by the search.</a:t>
            </a:r>
          </a:p>
          <a:p>
            <a:r>
              <a:rPr lang="en-IN" sz="1800" b="1" dirty="0"/>
              <a:t>Characteristics</a:t>
            </a:r>
            <a:r>
              <a:rPr lang="en-IN" sz="1800" dirty="0"/>
              <a:t>:</a:t>
            </a:r>
            <a:endParaRPr lang="en-US" sz="1800" dirty="0"/>
          </a:p>
          <a:p>
            <a:r>
              <a:rPr lang="en-US" sz="1800" b="1" dirty="0"/>
              <a:t>Path Irrelevance</a:t>
            </a:r>
            <a:r>
              <a:rPr lang="en-US" sz="1800" dirty="0"/>
              <a:t>: In many problems, the path to the goal is irrelevant; only the final state matters (e.g., 8-queens problem, integrated-circuit design, factory-floor layout).</a:t>
            </a:r>
          </a:p>
          <a:p>
            <a:r>
              <a:rPr lang="en-US" sz="1800" b="1" dirty="0"/>
              <a:t>Memory Efficiency</a:t>
            </a:r>
            <a:r>
              <a:rPr lang="en-US" sz="1800" dirty="0"/>
              <a:t>: They use very little memory, usually a constant amount, making them suitable for large or infinite state spaces.</a:t>
            </a:r>
          </a:p>
          <a:p>
            <a:r>
              <a:rPr lang="en-US" sz="1800" b="1" dirty="0"/>
              <a:t>Optimization Focus</a:t>
            </a:r>
            <a:r>
              <a:rPr lang="en-US" sz="1800" dirty="0"/>
              <a:t>: Often used for solving optimization problems, where the goal is to find the best state according to an objective function rather than a specific goal state or path.</a:t>
            </a:r>
          </a:p>
          <a:p>
            <a:r>
              <a:rPr lang="en-US" sz="1800" b="1" dirty="0"/>
              <a:t>Optimization Problems</a:t>
            </a:r>
            <a:r>
              <a:rPr lang="en-US" sz="1800" dirty="0"/>
              <a:t>:</a:t>
            </a:r>
          </a:p>
          <a:p>
            <a:pPr>
              <a:buFont typeface="Arial" panose="020B0604020202020204" pitchFamily="34" charset="0"/>
              <a:buChar char="•"/>
            </a:pPr>
            <a:r>
              <a:rPr lang="en-US" sz="1800" b="1" dirty="0"/>
              <a:t>Objective Function</a:t>
            </a:r>
            <a:r>
              <a:rPr lang="en-US" sz="1800" dirty="0"/>
              <a:t>: Local search algorithms are designed to optimize an objective function, which is a measure of how good a particular state is (e.g., reproductive fitness in evolution, where there's no explicit goal test or path cost).</a:t>
            </a:r>
          </a:p>
          <a:p>
            <a:endParaRPr lang="en-IN" sz="1800" dirty="0"/>
          </a:p>
        </p:txBody>
      </p:sp>
    </p:spTree>
    <p:extLst>
      <p:ext uri="{BB962C8B-B14F-4D97-AF65-F5344CB8AC3E}">
        <p14:creationId xmlns:p14="http://schemas.microsoft.com/office/powerpoint/2010/main" val="12976910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CAA5E88-36E2-388F-10CC-50138F090ABF}"/>
              </a:ext>
            </a:extLst>
          </p:cNvPr>
          <p:cNvSpPr>
            <a:spLocks noGrp="1"/>
          </p:cNvSpPr>
          <p:nvPr>
            <p:ph idx="1"/>
          </p:nvPr>
        </p:nvSpPr>
        <p:spPr>
          <a:xfrm>
            <a:off x="46781" y="75501"/>
            <a:ext cx="12098438" cy="6101462"/>
          </a:xfrm>
        </p:spPr>
        <p:txBody>
          <a:bodyPr>
            <a:normAutofit/>
          </a:bodyPr>
          <a:lstStyle/>
          <a:p>
            <a:pPr algn="just"/>
            <a:r>
              <a:rPr lang="en-US" sz="1800" b="1" dirty="0"/>
              <a:t>State-Space Landscape</a:t>
            </a:r>
            <a:r>
              <a:rPr lang="en-US" sz="1800" dirty="0"/>
              <a:t>:</a:t>
            </a:r>
          </a:p>
          <a:p>
            <a:pPr algn="just">
              <a:buFont typeface="Arial" panose="020B0604020202020204" pitchFamily="34" charset="0"/>
              <a:buChar char="•"/>
            </a:pPr>
            <a:r>
              <a:rPr lang="en-US" sz="1800" b="1" dirty="0"/>
              <a:t>Location and Elevation</a:t>
            </a:r>
            <a:r>
              <a:rPr lang="en-US" sz="1800" dirty="0"/>
              <a:t>: The state-space landscape has "location" (defined by the state) and "elevation" (defined by the heuristic cost function or objective function).</a:t>
            </a:r>
          </a:p>
          <a:p>
            <a:pPr algn="just">
              <a:buFont typeface="Arial" panose="020B0604020202020204" pitchFamily="34" charset="0"/>
              <a:buChar char="•"/>
            </a:pPr>
            <a:r>
              <a:rPr lang="en-US" sz="1800" b="1" dirty="0"/>
              <a:t>Global Minimum/Maximum</a:t>
            </a:r>
            <a:r>
              <a:rPr lang="en-US" sz="1800" dirty="0"/>
              <a:t>: Depending on the problem, the algorithm aims to find the lowest valley (global minimum) or the highest peak (global maximum).</a:t>
            </a:r>
          </a:p>
          <a:p>
            <a:pPr algn="just"/>
            <a:r>
              <a:rPr lang="en-US" sz="1800" b="1" dirty="0"/>
              <a:t>Advantages</a:t>
            </a:r>
            <a:r>
              <a:rPr lang="en-US" sz="1800" dirty="0"/>
              <a:t>:</a:t>
            </a:r>
          </a:p>
          <a:p>
            <a:pPr algn="just">
              <a:buFont typeface="Arial" panose="020B0604020202020204" pitchFamily="34" charset="0"/>
              <a:buChar char="•"/>
            </a:pPr>
            <a:r>
              <a:rPr lang="en-US" sz="1800" b="1" dirty="0"/>
              <a:t>Low Memory Usage</a:t>
            </a:r>
            <a:r>
              <a:rPr lang="en-US" sz="1800" dirty="0"/>
              <a:t>: Local search algorithms use minimal memory, making them efficient for problems with large state spaces.</a:t>
            </a:r>
          </a:p>
          <a:p>
            <a:pPr algn="just">
              <a:buFont typeface="Arial" panose="020B0604020202020204" pitchFamily="34" charset="0"/>
              <a:buChar char="•"/>
            </a:pPr>
            <a:r>
              <a:rPr lang="en-US" sz="1800" b="1" dirty="0"/>
              <a:t>Suitable for Large or Infinite State Spaces</a:t>
            </a:r>
            <a:r>
              <a:rPr lang="en-US" sz="1800" dirty="0"/>
              <a:t>: They can find reasonable solutions even when systematic algorithms are not feasible due to the size or continuity of the state space.</a:t>
            </a:r>
          </a:p>
          <a:p>
            <a:pPr algn="just"/>
            <a:r>
              <a:rPr lang="en-US" sz="1800" b="1" dirty="0"/>
              <a:t>Completeness and Optimality</a:t>
            </a:r>
            <a:r>
              <a:rPr lang="en-US" sz="1800" dirty="0"/>
              <a:t>:</a:t>
            </a:r>
          </a:p>
          <a:p>
            <a:pPr algn="just">
              <a:buFont typeface="Arial" panose="020B0604020202020204" pitchFamily="34" charset="0"/>
              <a:buChar char="•"/>
            </a:pPr>
            <a:r>
              <a:rPr lang="en-US" sz="1800" dirty="0"/>
              <a:t>A </a:t>
            </a:r>
            <a:r>
              <a:rPr lang="en-US" sz="1800" b="1" dirty="0"/>
              <a:t>complete</a:t>
            </a:r>
            <a:r>
              <a:rPr lang="en-US" sz="1800" dirty="0"/>
              <a:t> local search algorithm will find a goal if one exists.</a:t>
            </a:r>
          </a:p>
          <a:p>
            <a:pPr algn="just">
              <a:buFont typeface="Arial" panose="020B0604020202020204" pitchFamily="34" charset="0"/>
              <a:buChar char="•"/>
            </a:pPr>
            <a:r>
              <a:rPr lang="en-US" sz="1800" dirty="0"/>
              <a:t>An </a:t>
            </a:r>
            <a:r>
              <a:rPr lang="en-US" sz="1800" b="1" dirty="0"/>
              <a:t>optimal</a:t>
            </a:r>
            <a:r>
              <a:rPr lang="en-US" sz="1800" dirty="0"/>
              <a:t> local search algorithm will find the global minimum or maximum.</a:t>
            </a:r>
          </a:p>
          <a:p>
            <a:pPr algn="just">
              <a:buFont typeface="Arial" panose="020B0604020202020204" pitchFamily="34" charset="0"/>
              <a:buChar char="•"/>
            </a:pPr>
            <a:endParaRPr lang="en-US" sz="1800" dirty="0"/>
          </a:p>
          <a:p>
            <a:pPr algn="just"/>
            <a:endParaRPr lang="en-IN" sz="1800" dirty="0"/>
          </a:p>
        </p:txBody>
      </p:sp>
      <p:pic>
        <p:nvPicPr>
          <p:cNvPr id="5" name="Picture 4">
            <a:extLst>
              <a:ext uri="{FF2B5EF4-FFF2-40B4-BE49-F238E27FC236}">
                <a16:creationId xmlns:a16="http://schemas.microsoft.com/office/drawing/2014/main" xmlns="" id="{C0F3ABAE-D940-BAEE-2222-361376A788C1}"/>
              </a:ext>
            </a:extLst>
          </p:cNvPr>
          <p:cNvPicPr>
            <a:picLocks noChangeAspect="1"/>
          </p:cNvPicPr>
          <p:nvPr/>
        </p:nvPicPr>
        <p:blipFill>
          <a:blip r:embed="rId2"/>
          <a:stretch>
            <a:fillRect/>
          </a:stretch>
        </p:blipFill>
        <p:spPr>
          <a:xfrm>
            <a:off x="7473609" y="3429000"/>
            <a:ext cx="4718391" cy="2875617"/>
          </a:xfrm>
          <a:prstGeom prst="rect">
            <a:avLst/>
          </a:prstGeom>
        </p:spPr>
      </p:pic>
    </p:spTree>
    <p:extLst>
      <p:ext uri="{BB962C8B-B14F-4D97-AF65-F5344CB8AC3E}">
        <p14:creationId xmlns:p14="http://schemas.microsoft.com/office/powerpoint/2010/main" val="25845877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62C3B9-CE82-5C8C-B624-33186A45576A}"/>
              </a:ext>
            </a:extLst>
          </p:cNvPr>
          <p:cNvSpPr>
            <a:spLocks noGrp="1"/>
          </p:cNvSpPr>
          <p:nvPr>
            <p:ph type="title"/>
          </p:nvPr>
        </p:nvSpPr>
        <p:spPr>
          <a:xfrm>
            <a:off x="0" y="67113"/>
            <a:ext cx="11353800" cy="613924"/>
          </a:xfrm>
        </p:spPr>
        <p:txBody>
          <a:bodyPr>
            <a:normAutofit fontScale="90000"/>
          </a:bodyPr>
          <a:lstStyle/>
          <a:p>
            <a:r>
              <a:rPr lang="en-IN" sz="2800" b="1" dirty="0"/>
              <a:t>Hill-Climbing Search Algorithm</a:t>
            </a:r>
            <a:br>
              <a:rPr lang="en-IN" sz="2800" b="1" dirty="0"/>
            </a:br>
            <a:endParaRPr lang="en-IN" sz="2800" dirty="0"/>
          </a:p>
        </p:txBody>
      </p:sp>
      <p:sp>
        <p:nvSpPr>
          <p:cNvPr id="3" name="Content Placeholder 2">
            <a:extLst>
              <a:ext uri="{FF2B5EF4-FFF2-40B4-BE49-F238E27FC236}">
                <a16:creationId xmlns:a16="http://schemas.microsoft.com/office/drawing/2014/main" xmlns="" id="{42C63823-4207-B34D-DBB4-AFA8D115F352}"/>
              </a:ext>
            </a:extLst>
          </p:cNvPr>
          <p:cNvSpPr>
            <a:spLocks noGrp="1"/>
          </p:cNvSpPr>
          <p:nvPr>
            <p:ph idx="1"/>
          </p:nvPr>
        </p:nvSpPr>
        <p:spPr>
          <a:xfrm>
            <a:off x="109057" y="3129094"/>
            <a:ext cx="5986943" cy="3213340"/>
          </a:xfrm>
        </p:spPr>
        <p:txBody>
          <a:bodyPr>
            <a:normAutofit lnSpcReduction="10000"/>
          </a:bodyPr>
          <a:lstStyle/>
          <a:p>
            <a:pPr algn="just"/>
            <a:r>
              <a:rPr lang="en-US" sz="1800" b="1" dirty="0"/>
              <a:t>Characteristics</a:t>
            </a:r>
            <a:r>
              <a:rPr lang="en-US" sz="1800" dirty="0"/>
              <a:t>:</a:t>
            </a:r>
          </a:p>
          <a:p>
            <a:pPr algn="just">
              <a:buFont typeface="Arial" panose="020B0604020202020204" pitchFamily="34" charset="0"/>
              <a:buChar char="•"/>
            </a:pPr>
            <a:r>
              <a:rPr lang="en-US" sz="1800" b="1" dirty="0"/>
              <a:t>Greedy Local Search</a:t>
            </a:r>
            <a:r>
              <a:rPr lang="en-US" sz="1800" dirty="0"/>
              <a:t>: Chooses the best immediate option without considering long-term consequences. It can be efficient but may get stuck.</a:t>
            </a:r>
          </a:p>
          <a:p>
            <a:pPr algn="just">
              <a:buFont typeface="Arial" panose="020B0604020202020204" pitchFamily="34" charset="0"/>
              <a:buChar char="•"/>
            </a:pPr>
            <a:r>
              <a:rPr lang="en-US" sz="1800" b="1" dirty="0"/>
              <a:t>Stuck Scenarios</a:t>
            </a:r>
            <a:r>
              <a:rPr lang="en-US" sz="1800" dirty="0"/>
              <a:t>:</a:t>
            </a:r>
          </a:p>
          <a:p>
            <a:pPr marL="742950" lvl="1" indent="-285750" algn="just">
              <a:buFont typeface="Arial" panose="020B0604020202020204" pitchFamily="34" charset="0"/>
              <a:buChar char="•"/>
            </a:pPr>
            <a:r>
              <a:rPr lang="en-US" sz="1800" b="1" dirty="0"/>
              <a:t>Local Maxima</a:t>
            </a:r>
            <a:r>
              <a:rPr lang="en-US" sz="1800" dirty="0"/>
              <a:t>: Peaks that are higher than neighboring states but not the global maximum.</a:t>
            </a:r>
          </a:p>
          <a:p>
            <a:pPr marL="742950" lvl="1" indent="-285750" algn="just">
              <a:buFont typeface="Arial" panose="020B0604020202020204" pitchFamily="34" charset="0"/>
              <a:buChar char="•"/>
            </a:pPr>
            <a:r>
              <a:rPr lang="en-US" sz="1800" b="1" dirty="0"/>
              <a:t>Ridges</a:t>
            </a:r>
            <a:r>
              <a:rPr lang="en-US" sz="1800" dirty="0"/>
              <a:t>: Sequences of local maxima that are difficult to navigate.</a:t>
            </a:r>
          </a:p>
          <a:p>
            <a:pPr marL="742950" lvl="1" indent="-285750" algn="just">
              <a:buFont typeface="Arial" panose="020B0604020202020204" pitchFamily="34" charset="0"/>
              <a:buChar char="•"/>
            </a:pPr>
            <a:r>
              <a:rPr lang="en-US" sz="1800" b="1" dirty="0" err="1"/>
              <a:t>Plateaux</a:t>
            </a:r>
            <a:r>
              <a:rPr lang="en-US" sz="1800" dirty="0"/>
              <a:t>: Flat areas that can either be flat local maxima or shoulders where progress is still possible.</a:t>
            </a:r>
          </a:p>
          <a:p>
            <a:pPr algn="just">
              <a:buFont typeface="Arial" panose="020B0604020202020204" pitchFamily="34" charset="0"/>
              <a:buChar char="•"/>
            </a:pPr>
            <a:endParaRPr lang="en-US" sz="1800" dirty="0"/>
          </a:p>
          <a:p>
            <a:pPr algn="just">
              <a:buFont typeface="Arial" panose="020B0604020202020204" pitchFamily="34" charset="0"/>
              <a:buChar char="•"/>
            </a:pPr>
            <a:endParaRPr lang="en-US" sz="1800" dirty="0"/>
          </a:p>
          <a:p>
            <a:pPr algn="just">
              <a:buFont typeface="Arial" panose="020B0604020202020204" pitchFamily="34" charset="0"/>
              <a:buChar char="•"/>
            </a:pPr>
            <a:endParaRPr lang="en-US" sz="1800" dirty="0"/>
          </a:p>
          <a:p>
            <a:pPr algn="just"/>
            <a:endParaRPr lang="en-IN" sz="1800" dirty="0"/>
          </a:p>
        </p:txBody>
      </p:sp>
      <p:sp>
        <p:nvSpPr>
          <p:cNvPr id="7" name="TextBox 6">
            <a:extLst>
              <a:ext uri="{FF2B5EF4-FFF2-40B4-BE49-F238E27FC236}">
                <a16:creationId xmlns:a16="http://schemas.microsoft.com/office/drawing/2014/main" xmlns="" id="{DFCBDB5E-5569-6F29-332E-DD53A19DA33A}"/>
              </a:ext>
            </a:extLst>
          </p:cNvPr>
          <p:cNvSpPr txBox="1"/>
          <p:nvPr/>
        </p:nvSpPr>
        <p:spPr>
          <a:xfrm>
            <a:off x="201336" y="681037"/>
            <a:ext cx="11803310" cy="2308324"/>
          </a:xfrm>
          <a:prstGeom prst="rect">
            <a:avLst/>
          </a:prstGeom>
          <a:noFill/>
        </p:spPr>
        <p:txBody>
          <a:bodyPr wrap="square">
            <a:spAutoFit/>
          </a:bodyPr>
          <a:lstStyle/>
          <a:p>
            <a:pPr algn="just">
              <a:buFont typeface="Arial" panose="020B0604020202020204" pitchFamily="34" charset="0"/>
              <a:buChar char="•"/>
            </a:pPr>
            <a:r>
              <a:rPr lang="en-US" sz="1800" dirty="0"/>
              <a:t>A local search algorithm that continually moves in the direction of increasing value, aiming to reach a peak or maximum value point.</a:t>
            </a:r>
          </a:p>
          <a:p>
            <a:pPr algn="just">
              <a:buFont typeface="Arial" panose="020B0604020202020204" pitchFamily="34" charset="0"/>
              <a:buChar char="•"/>
            </a:pPr>
            <a:r>
              <a:rPr lang="en-US" sz="1800" dirty="0"/>
              <a:t>The algorithm stops when it reaches a state where no neighboring state has a higher value.</a:t>
            </a:r>
          </a:p>
          <a:p>
            <a:pPr algn="just"/>
            <a:r>
              <a:rPr lang="en-US" sz="1800" b="1" dirty="0"/>
              <a:t>Steepest-Ascent Hill Climbing</a:t>
            </a:r>
            <a:r>
              <a:rPr lang="en-US" sz="1800" dirty="0"/>
              <a:t>:</a:t>
            </a:r>
          </a:p>
          <a:p>
            <a:pPr algn="just">
              <a:buFont typeface="Arial" panose="020B0604020202020204" pitchFamily="34" charset="0"/>
              <a:buChar char="•"/>
            </a:pPr>
            <a:r>
              <a:rPr lang="en-US" sz="1800" dirty="0"/>
              <a:t>Chooses the neighbor with the highest value (steepest ascent).</a:t>
            </a:r>
          </a:p>
          <a:p>
            <a:pPr algn="just">
              <a:buFont typeface="Arial" panose="020B0604020202020204" pitchFamily="34" charset="0"/>
              <a:buChar char="•"/>
            </a:pPr>
            <a:r>
              <a:rPr lang="en-US" sz="1800" dirty="0"/>
              <a:t>Does not maintain a search tree; focuses on the current state and its immediate neighbors.</a:t>
            </a:r>
          </a:p>
          <a:p>
            <a:pPr algn="just">
              <a:buFont typeface="Arial" panose="020B0604020202020204" pitchFamily="34" charset="0"/>
              <a:buChar char="•"/>
            </a:pPr>
            <a:r>
              <a:rPr lang="en-US" sz="1800" dirty="0"/>
              <a:t>Example: 8-queens problem, where the objective is to minimize the number of attacking pairs of queens. Moves are made to lower the heuristic cost function h.</a:t>
            </a:r>
          </a:p>
        </p:txBody>
      </p:sp>
      <p:pic>
        <p:nvPicPr>
          <p:cNvPr id="9" name="Picture 8">
            <a:extLst>
              <a:ext uri="{FF2B5EF4-FFF2-40B4-BE49-F238E27FC236}">
                <a16:creationId xmlns:a16="http://schemas.microsoft.com/office/drawing/2014/main" xmlns="" id="{41CC2E1A-981B-80A8-3D7C-4D292D441C44}"/>
              </a:ext>
            </a:extLst>
          </p:cNvPr>
          <p:cNvPicPr>
            <a:picLocks noChangeAspect="1"/>
          </p:cNvPicPr>
          <p:nvPr/>
        </p:nvPicPr>
        <p:blipFill>
          <a:blip r:embed="rId2"/>
          <a:stretch>
            <a:fillRect/>
          </a:stretch>
        </p:blipFill>
        <p:spPr>
          <a:xfrm>
            <a:off x="5961781" y="3505314"/>
            <a:ext cx="6230219" cy="2476846"/>
          </a:xfrm>
          <a:prstGeom prst="rect">
            <a:avLst/>
          </a:prstGeom>
        </p:spPr>
      </p:pic>
    </p:spTree>
    <p:extLst>
      <p:ext uri="{BB962C8B-B14F-4D97-AF65-F5344CB8AC3E}">
        <p14:creationId xmlns:p14="http://schemas.microsoft.com/office/powerpoint/2010/main" val="36603103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D331937-F98E-8358-4D3D-B5E096AEE256}"/>
              </a:ext>
            </a:extLst>
          </p:cNvPr>
          <p:cNvSpPr>
            <a:spLocks noGrp="1"/>
          </p:cNvSpPr>
          <p:nvPr>
            <p:ph idx="1"/>
          </p:nvPr>
        </p:nvSpPr>
        <p:spPr>
          <a:xfrm>
            <a:off x="100667" y="176169"/>
            <a:ext cx="11962701" cy="6000794"/>
          </a:xfrm>
        </p:spPr>
        <p:txBody>
          <a:bodyPr>
            <a:normAutofit/>
          </a:bodyPr>
          <a:lstStyle/>
          <a:p>
            <a:r>
              <a:rPr lang="en-US" sz="1800" b="1" dirty="0"/>
              <a:t>Variations</a:t>
            </a:r>
            <a:r>
              <a:rPr lang="en-US" sz="1800" dirty="0"/>
              <a:t>:</a:t>
            </a:r>
          </a:p>
          <a:p>
            <a:pPr>
              <a:buFont typeface="Arial" panose="020B0604020202020204" pitchFamily="34" charset="0"/>
              <a:buChar char="•"/>
            </a:pPr>
            <a:r>
              <a:rPr lang="en-US" sz="1800" b="1" dirty="0"/>
              <a:t>Stochastic Hill Climbing</a:t>
            </a:r>
            <a:r>
              <a:rPr lang="en-US" sz="1800" dirty="0"/>
              <a:t>: Randomly selects from among the uphill moves, potentially slower but can find better solutions in some landscapes.</a:t>
            </a:r>
          </a:p>
          <a:p>
            <a:pPr>
              <a:buFont typeface="Arial" panose="020B0604020202020204" pitchFamily="34" charset="0"/>
              <a:buChar char="•"/>
            </a:pPr>
            <a:r>
              <a:rPr lang="en-US" sz="1800" b="1" dirty="0"/>
              <a:t>First-Choice Hill Climbing</a:t>
            </a:r>
            <a:r>
              <a:rPr lang="en-US" sz="1800" dirty="0"/>
              <a:t>: Randomly generates successors until a better one is found; useful when there are many successors.</a:t>
            </a:r>
          </a:p>
          <a:p>
            <a:pPr>
              <a:buFont typeface="Arial" panose="020B0604020202020204" pitchFamily="34" charset="0"/>
              <a:buChar char="•"/>
            </a:pPr>
            <a:r>
              <a:rPr lang="en-US" sz="1800" b="1" dirty="0"/>
              <a:t>Random-Restart Hill Climbing</a:t>
            </a:r>
            <a:r>
              <a:rPr lang="en-US" sz="1800" dirty="0"/>
              <a:t>: Repeatedly performs hill climbing from randomly generated initial states until a goal is found. It increases completeness by ensuring that a solution will eventually be found with enough attempts.</a:t>
            </a:r>
          </a:p>
          <a:p>
            <a:r>
              <a:rPr lang="en-US" sz="1800" b="1" dirty="0"/>
              <a:t>Advantages</a:t>
            </a:r>
            <a:r>
              <a:rPr lang="en-US" sz="1800" dirty="0"/>
              <a:t>:</a:t>
            </a:r>
          </a:p>
          <a:p>
            <a:pPr>
              <a:buFont typeface="Arial" panose="020B0604020202020204" pitchFamily="34" charset="0"/>
              <a:buChar char="•"/>
            </a:pPr>
            <a:r>
              <a:rPr lang="en-US" sz="1800" b="1" dirty="0"/>
              <a:t>Efficiency</a:t>
            </a:r>
            <a:r>
              <a:rPr lang="en-US" sz="1800" dirty="0"/>
              <a:t>: Rapidly improves a bad state in many cases.</a:t>
            </a:r>
          </a:p>
          <a:p>
            <a:pPr>
              <a:buFont typeface="Arial" panose="020B0604020202020204" pitchFamily="34" charset="0"/>
              <a:buChar char="•"/>
            </a:pPr>
            <a:r>
              <a:rPr lang="en-US" sz="1800" b="1" dirty="0"/>
              <a:t>Effectiveness with Random Restarts</a:t>
            </a:r>
            <a:r>
              <a:rPr lang="en-US" sz="1800" dirty="0"/>
              <a:t>: Effective for large problems (like 8-queens with millions of states) when combined with random restarts.</a:t>
            </a:r>
          </a:p>
          <a:p>
            <a:r>
              <a:rPr lang="en-US" sz="1800" b="1" dirty="0"/>
              <a:t>Limitations</a:t>
            </a:r>
            <a:r>
              <a:rPr lang="en-US" sz="1800" dirty="0"/>
              <a:t>:</a:t>
            </a:r>
          </a:p>
          <a:p>
            <a:pPr>
              <a:buFont typeface="Arial" panose="020B0604020202020204" pitchFamily="34" charset="0"/>
              <a:buChar char="•"/>
            </a:pPr>
            <a:r>
              <a:rPr lang="en-US" sz="1800" b="1" dirty="0"/>
              <a:t>Incomplete</a:t>
            </a:r>
            <a:r>
              <a:rPr lang="en-US" sz="1800" dirty="0"/>
              <a:t>: Can fail to find a goal if it gets stuck on local maxima or </a:t>
            </a:r>
            <a:r>
              <a:rPr lang="en-US" sz="1800" dirty="0" err="1"/>
              <a:t>plateaux</a:t>
            </a:r>
            <a:r>
              <a:rPr lang="en-US" sz="1800" dirty="0"/>
              <a:t>.</a:t>
            </a:r>
          </a:p>
          <a:p>
            <a:pPr>
              <a:buFont typeface="Arial" panose="020B0604020202020204" pitchFamily="34" charset="0"/>
              <a:buChar char="•"/>
            </a:pPr>
            <a:r>
              <a:rPr lang="en-US" sz="1800" b="1" dirty="0"/>
              <a:t>Highly Dependent on State Space Landscape</a:t>
            </a:r>
            <a:r>
              <a:rPr lang="en-US" sz="1800" dirty="0"/>
              <a:t>: More effective if there are fewer local maxima and </a:t>
            </a:r>
            <a:r>
              <a:rPr lang="en-US" sz="1800" dirty="0" err="1"/>
              <a:t>plateaux</a:t>
            </a:r>
            <a:r>
              <a:rPr lang="en-US" sz="1800" dirty="0"/>
              <a:t>. Less effective in complex landscapes with many local maxima, typical of NP-hard problems.</a:t>
            </a:r>
          </a:p>
          <a:p>
            <a:pPr>
              <a:buFont typeface="Arial" panose="020B0604020202020204" pitchFamily="34" charset="0"/>
              <a:buChar char="•"/>
            </a:pPr>
            <a:endParaRPr lang="en-US" sz="1800" dirty="0"/>
          </a:p>
          <a:p>
            <a:endParaRPr lang="en-IN" sz="1800" dirty="0"/>
          </a:p>
        </p:txBody>
      </p:sp>
      <p:sp>
        <p:nvSpPr>
          <p:cNvPr id="6" name="TextBox 5">
            <a:extLst>
              <a:ext uri="{FF2B5EF4-FFF2-40B4-BE49-F238E27FC236}">
                <a16:creationId xmlns:a16="http://schemas.microsoft.com/office/drawing/2014/main" xmlns="" id="{33995CCE-DA0E-713F-DCC9-0B030DF925AB}"/>
              </a:ext>
            </a:extLst>
          </p:cNvPr>
          <p:cNvSpPr txBox="1"/>
          <p:nvPr/>
        </p:nvSpPr>
        <p:spPr>
          <a:xfrm>
            <a:off x="404768" y="5456849"/>
            <a:ext cx="8303004"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sz="1800" dirty="0">
                <a:solidFill>
                  <a:srgbClr val="FF0000"/>
                </a:solidFill>
              </a:rPr>
              <a:t>Example problem discussed in class—please refer to the class notes for details.</a:t>
            </a:r>
            <a:endParaRPr kumimoji="0" lang="en-US" altLang="en-US" sz="1800" b="0" i="0" u="none" strike="noStrike" cap="none" normalizeH="0" baseline="0" dirty="0">
              <a:ln>
                <a:noFill/>
              </a:ln>
              <a:solidFill>
                <a:srgbClr val="FF0000"/>
              </a:solidFill>
              <a:effectLst/>
              <a:latin typeface="Arial" panose="020B0604020202020204" pitchFamily="34" charset="0"/>
            </a:endParaRPr>
          </a:p>
        </p:txBody>
      </p:sp>
    </p:spTree>
    <p:extLst>
      <p:ext uri="{BB962C8B-B14F-4D97-AF65-F5344CB8AC3E}">
        <p14:creationId xmlns:p14="http://schemas.microsoft.com/office/powerpoint/2010/main" val="20642999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D537BA-58F4-FE0B-E191-0B9A0AFEB86E}"/>
              </a:ext>
            </a:extLst>
          </p:cNvPr>
          <p:cNvSpPr>
            <a:spLocks noGrp="1"/>
          </p:cNvSpPr>
          <p:nvPr>
            <p:ph type="title"/>
          </p:nvPr>
        </p:nvSpPr>
        <p:spPr>
          <a:xfrm>
            <a:off x="0" y="125836"/>
            <a:ext cx="11353799" cy="418914"/>
          </a:xfrm>
        </p:spPr>
        <p:txBody>
          <a:bodyPr>
            <a:noAutofit/>
          </a:bodyPr>
          <a:lstStyle/>
          <a:p>
            <a:r>
              <a:rPr lang="en-IN" sz="2800" dirty="0"/>
              <a:t>Adversarial Search</a:t>
            </a:r>
          </a:p>
        </p:txBody>
      </p:sp>
      <p:sp>
        <p:nvSpPr>
          <p:cNvPr id="3" name="Content Placeholder 2">
            <a:extLst>
              <a:ext uri="{FF2B5EF4-FFF2-40B4-BE49-F238E27FC236}">
                <a16:creationId xmlns:a16="http://schemas.microsoft.com/office/drawing/2014/main" xmlns="" id="{3B00D1C0-E24E-EE03-B9EF-00FEF95431BC}"/>
              </a:ext>
            </a:extLst>
          </p:cNvPr>
          <p:cNvSpPr>
            <a:spLocks noGrp="1"/>
          </p:cNvSpPr>
          <p:nvPr>
            <p:ph idx="1"/>
          </p:nvPr>
        </p:nvSpPr>
        <p:spPr>
          <a:xfrm>
            <a:off x="116732" y="544750"/>
            <a:ext cx="11982990" cy="6879507"/>
          </a:xfrm>
        </p:spPr>
        <p:txBody>
          <a:bodyPr>
            <a:normAutofit/>
          </a:bodyPr>
          <a:lstStyle/>
          <a:p>
            <a:pPr algn="just"/>
            <a:r>
              <a:rPr lang="en-US" sz="1800" dirty="0"/>
              <a:t>Adversarial search is a type of search algorithm used in decision-making processes where two or more players with conflicting interests are involved, such as in games like chess or tic-tac-toe. </a:t>
            </a:r>
          </a:p>
          <a:p>
            <a:pPr algn="just"/>
            <a:r>
              <a:rPr lang="en-US" sz="1800" dirty="0"/>
              <a:t>The primary goal is to maximize a player's chances of winning while minimizing the opponent's chances. This search approach assumes that the opponent is also playing optimally to maximize their own chances of winning.</a:t>
            </a:r>
          </a:p>
          <a:p>
            <a:pPr algn="just"/>
            <a:r>
              <a:rPr lang="en-US" sz="1800" dirty="0"/>
              <a:t>S0: The initial state, which specifies how the game is set up at the start. </a:t>
            </a:r>
          </a:p>
          <a:p>
            <a:pPr algn="just"/>
            <a:r>
              <a:rPr lang="en-US" sz="1800" dirty="0"/>
              <a:t> PLAYER(s): Defines which player has the move in a state. </a:t>
            </a:r>
          </a:p>
          <a:p>
            <a:pPr algn="just"/>
            <a:r>
              <a:rPr lang="en-US" sz="1800" dirty="0"/>
              <a:t> ACTIONS(s): Returns the set of legal moves in a state. </a:t>
            </a:r>
          </a:p>
          <a:p>
            <a:pPr algn="just"/>
            <a:r>
              <a:rPr lang="en-US" sz="1800" dirty="0"/>
              <a:t> RESULT(s, a): The transition model, which defines the result of a move. </a:t>
            </a:r>
          </a:p>
          <a:p>
            <a:pPr algn="just"/>
            <a:r>
              <a:rPr lang="en-US" sz="1800" dirty="0"/>
              <a:t>TERMINAL-TEST(s): A terminal test, which is true when the game is over and false TERMINAL STATES otherwise. States where the game has ended are called terminal states.</a:t>
            </a:r>
          </a:p>
          <a:p>
            <a:pPr algn="just"/>
            <a:r>
              <a:rPr lang="en-US" sz="1800" dirty="0"/>
              <a:t>UTILITY(s, p): A utility function (also called an objective function or payoff function), </a:t>
            </a:r>
          </a:p>
          <a:p>
            <a:pPr algn="just"/>
            <a:r>
              <a:rPr lang="en-US" sz="1800" dirty="0"/>
              <a:t>defines the final numeric value for </a:t>
            </a:r>
            <a:r>
              <a:rPr lang="en-US" sz="1800" dirty="0">
                <a:solidFill>
                  <a:srgbClr val="FF0000"/>
                </a:solidFill>
              </a:rPr>
              <a:t>a game that ends in terminal state s</a:t>
            </a:r>
            <a:r>
              <a:rPr lang="en-US" sz="1800" dirty="0"/>
              <a:t> for a player p. </a:t>
            </a:r>
          </a:p>
          <a:p>
            <a:pPr algn="just"/>
            <a:r>
              <a:rPr lang="en-US" sz="1800" dirty="0"/>
              <a:t>In chess, the outcome is a win, loss, or draw, with values +1, 0, or 1 2 . Some games have a wider variety of possible outcomes; the payoffs in backgammon range from 0 to +192. A zero-sum game is (confusingly) defined as one where the total payoff to all players is the same for every instance of the game. Chess is zero-sum because every game has payoff of either 0+1, 1+0 or 1 2 + 1 2 . “Constant-sum” would have been a better term, but zero-sum is traditional and makes sense if you imagine each player is charged an entry fee of 1 2 .</a:t>
            </a:r>
          </a:p>
          <a:p>
            <a:pPr algn="just"/>
            <a:r>
              <a:rPr lang="en-US" sz="1800" dirty="0"/>
              <a:t>For example , in tic toe the outcome is a win, loss, or draw, with values -1,0, or 1</a:t>
            </a:r>
          </a:p>
          <a:p>
            <a:pPr algn="just"/>
            <a:r>
              <a:rPr lang="en-US" sz="1800" dirty="0"/>
              <a:t>The initial state, ACTIONS function, and RESULT function define the game tree for the game</a:t>
            </a:r>
          </a:p>
          <a:p>
            <a:pPr algn="just"/>
            <a:r>
              <a:rPr lang="en-US" sz="1800" dirty="0"/>
              <a:t>Game Tree: a tree where the nodes are game states and the edges are moves.</a:t>
            </a:r>
            <a:endParaRPr lang="en-IN" sz="1800" dirty="0"/>
          </a:p>
        </p:txBody>
      </p:sp>
    </p:spTree>
    <p:extLst>
      <p:ext uri="{BB962C8B-B14F-4D97-AF65-F5344CB8AC3E}">
        <p14:creationId xmlns:p14="http://schemas.microsoft.com/office/powerpoint/2010/main" val="28412192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FD258F3-CE89-E0C9-1021-4E58AD142E17}"/>
              </a:ext>
            </a:extLst>
          </p:cNvPr>
          <p:cNvSpPr>
            <a:spLocks noGrp="1"/>
          </p:cNvSpPr>
          <p:nvPr>
            <p:ph idx="1"/>
          </p:nvPr>
        </p:nvSpPr>
        <p:spPr>
          <a:xfrm>
            <a:off x="125835" y="184558"/>
            <a:ext cx="11962701" cy="5992405"/>
          </a:xfrm>
        </p:spPr>
        <p:txBody>
          <a:bodyPr>
            <a:normAutofit/>
          </a:bodyPr>
          <a:lstStyle/>
          <a:p>
            <a:r>
              <a:rPr lang="en-US" sz="1800" dirty="0"/>
              <a:t>the initial state, MAX has nine possible moves.</a:t>
            </a:r>
          </a:p>
          <a:p>
            <a:r>
              <a:rPr lang="en-US" sz="1800" dirty="0"/>
              <a:t>Play alternates between MAX’s placing an X and MIN’s placing an O until we reach leaf nodes corresponding to terminal states such that one player has three in a row or all the squares are filled.</a:t>
            </a:r>
          </a:p>
          <a:p>
            <a:r>
              <a:rPr lang="en-US" sz="1800" dirty="0"/>
              <a:t>The number on each leaf node indicates the utility value of the terminal state from the point of view of MAX</a:t>
            </a:r>
          </a:p>
          <a:p>
            <a:pPr marL="0" indent="0">
              <a:buNone/>
            </a:pPr>
            <a:r>
              <a:rPr lang="en-US" sz="1800" dirty="0">
                <a:solidFill>
                  <a:srgbClr val="FF0000"/>
                </a:solidFill>
              </a:rPr>
              <a:t>high values are assumed to be good for MAX and bad for MIN</a:t>
            </a:r>
          </a:p>
          <a:p>
            <a:endParaRPr lang="en-IN" sz="1800" dirty="0"/>
          </a:p>
        </p:txBody>
      </p:sp>
      <p:pic>
        <p:nvPicPr>
          <p:cNvPr id="5" name="Picture 4">
            <a:extLst>
              <a:ext uri="{FF2B5EF4-FFF2-40B4-BE49-F238E27FC236}">
                <a16:creationId xmlns:a16="http://schemas.microsoft.com/office/drawing/2014/main" xmlns="" id="{7128BC02-7644-4CE3-D323-817B9F629424}"/>
              </a:ext>
            </a:extLst>
          </p:cNvPr>
          <p:cNvPicPr>
            <a:picLocks noChangeAspect="1"/>
          </p:cNvPicPr>
          <p:nvPr/>
        </p:nvPicPr>
        <p:blipFill>
          <a:blip r:embed="rId2"/>
          <a:stretch>
            <a:fillRect/>
          </a:stretch>
        </p:blipFill>
        <p:spPr>
          <a:xfrm>
            <a:off x="5764282" y="2009267"/>
            <a:ext cx="5857740" cy="4456798"/>
          </a:xfrm>
          <a:prstGeom prst="rect">
            <a:avLst/>
          </a:prstGeom>
        </p:spPr>
      </p:pic>
      <p:sp>
        <p:nvSpPr>
          <p:cNvPr id="7" name="TextBox 6">
            <a:extLst>
              <a:ext uri="{FF2B5EF4-FFF2-40B4-BE49-F238E27FC236}">
                <a16:creationId xmlns:a16="http://schemas.microsoft.com/office/drawing/2014/main" xmlns="" id="{4F8BEC7B-F09F-EE6D-3688-08429C75F4ED}"/>
              </a:ext>
            </a:extLst>
          </p:cNvPr>
          <p:cNvSpPr txBox="1"/>
          <p:nvPr/>
        </p:nvSpPr>
        <p:spPr>
          <a:xfrm>
            <a:off x="125835" y="2369803"/>
            <a:ext cx="5638447" cy="2862322"/>
          </a:xfrm>
          <a:prstGeom prst="rect">
            <a:avLst/>
          </a:prstGeom>
          <a:noFill/>
        </p:spPr>
        <p:txBody>
          <a:bodyPr wrap="square">
            <a:spAutoFit/>
          </a:bodyPr>
          <a:lstStyle/>
          <a:p>
            <a:pPr algn="just"/>
            <a:r>
              <a:rPr lang="en-US" dirty="0"/>
              <a:t>For tic-tac-toe the game tree is relatively small—fewer than 9! = 362, 880 terminal nodes.</a:t>
            </a:r>
          </a:p>
          <a:p>
            <a:pPr algn="just"/>
            <a:r>
              <a:rPr lang="en-US" dirty="0"/>
              <a:t> But for chess there are over 1040 nodes, so the game tree is best thought of as a theoretical construct that we cannot realize in the physical world.</a:t>
            </a:r>
          </a:p>
          <a:p>
            <a:pPr algn="just"/>
            <a:r>
              <a:rPr lang="en-US" dirty="0"/>
              <a:t> But regardless of the size SEARCH TREE of the game tree, it is MAX’s job to search for a good move. We use the term search tree for a tree that is superimposed on the full game tree, and examines enough nodes to allow a player to determine what move to make.</a:t>
            </a:r>
            <a:endParaRPr lang="en-IN" dirty="0"/>
          </a:p>
        </p:txBody>
      </p:sp>
    </p:spTree>
    <p:extLst>
      <p:ext uri="{BB962C8B-B14F-4D97-AF65-F5344CB8AC3E}">
        <p14:creationId xmlns:p14="http://schemas.microsoft.com/office/powerpoint/2010/main" val="4638403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DFC6B6-98A9-F02F-49A3-04311BBFF90D}"/>
              </a:ext>
            </a:extLst>
          </p:cNvPr>
          <p:cNvSpPr>
            <a:spLocks noGrp="1"/>
          </p:cNvSpPr>
          <p:nvPr>
            <p:ph type="title"/>
          </p:nvPr>
        </p:nvSpPr>
        <p:spPr>
          <a:xfrm>
            <a:off x="0" y="136188"/>
            <a:ext cx="11353800" cy="476655"/>
          </a:xfrm>
        </p:spPr>
        <p:txBody>
          <a:bodyPr>
            <a:normAutofit/>
          </a:bodyPr>
          <a:lstStyle/>
          <a:p>
            <a:r>
              <a:rPr lang="en-IN" sz="2800" dirty="0"/>
              <a:t>Optimal decisions in games</a:t>
            </a:r>
          </a:p>
        </p:txBody>
      </p:sp>
      <p:sp>
        <p:nvSpPr>
          <p:cNvPr id="3" name="Content Placeholder 2">
            <a:extLst>
              <a:ext uri="{FF2B5EF4-FFF2-40B4-BE49-F238E27FC236}">
                <a16:creationId xmlns:a16="http://schemas.microsoft.com/office/drawing/2014/main" xmlns="" id="{7BA809E8-E3EF-1455-7CE9-960AB48A3154}"/>
              </a:ext>
            </a:extLst>
          </p:cNvPr>
          <p:cNvSpPr>
            <a:spLocks noGrp="1"/>
          </p:cNvSpPr>
          <p:nvPr>
            <p:ph idx="1"/>
          </p:nvPr>
        </p:nvSpPr>
        <p:spPr>
          <a:xfrm>
            <a:off x="97277" y="636057"/>
            <a:ext cx="11256523" cy="5408478"/>
          </a:xfrm>
        </p:spPr>
        <p:txBody>
          <a:bodyPr/>
          <a:lstStyle/>
          <a:p>
            <a:r>
              <a:rPr lang="en-US" sz="1800" dirty="0"/>
              <a:t>In a normal search problem: </a:t>
            </a:r>
          </a:p>
          <a:p>
            <a:pPr marL="0" indent="0">
              <a:buNone/>
            </a:pPr>
            <a:r>
              <a:rPr lang="en-US" sz="1800" dirty="0"/>
              <a:t> the optimal solution would be a sequence of actions leading to a goal state</a:t>
            </a:r>
          </a:p>
          <a:p>
            <a:pPr marL="0" indent="0">
              <a:buNone/>
            </a:pPr>
            <a:r>
              <a:rPr lang="en-IN" sz="1800" dirty="0">
                <a:solidFill>
                  <a:srgbClr val="FF0000"/>
                </a:solidFill>
              </a:rPr>
              <a:t>In adversarial search</a:t>
            </a:r>
            <a:r>
              <a:rPr lang="en-US" sz="1800" dirty="0">
                <a:solidFill>
                  <a:srgbClr val="FF0000"/>
                </a:solidFill>
              </a:rPr>
              <a:t>Problem:</a:t>
            </a:r>
          </a:p>
          <a:p>
            <a:pPr marL="0" indent="0">
              <a:buNone/>
            </a:pPr>
            <a:r>
              <a:rPr lang="en-IN" sz="1800" dirty="0"/>
              <a:t>-MIN interferes the sequence of actions</a:t>
            </a:r>
          </a:p>
          <a:p>
            <a:pPr marL="0" indent="0">
              <a:buNone/>
            </a:pPr>
            <a:r>
              <a:rPr lang="en-IN" sz="1800" dirty="0"/>
              <a:t>-Strategy for Max:</a:t>
            </a:r>
          </a:p>
          <a:p>
            <a:pPr>
              <a:buFont typeface="Wingdings" panose="05000000000000000000" pitchFamily="2" charset="2"/>
              <a:buChar char="ü"/>
            </a:pPr>
            <a:r>
              <a:rPr lang="en-IN" sz="1800" dirty="0"/>
              <a:t>Specify moves in the initial state </a:t>
            </a:r>
          </a:p>
          <a:p>
            <a:pPr>
              <a:buFont typeface="Wingdings" panose="05000000000000000000" pitchFamily="2" charset="2"/>
              <a:buChar char="ü"/>
            </a:pPr>
            <a:r>
              <a:rPr lang="en-IN" sz="1800" dirty="0"/>
              <a:t>observe every possible response by MIN</a:t>
            </a:r>
          </a:p>
          <a:p>
            <a:pPr>
              <a:buFont typeface="Wingdings" panose="05000000000000000000" pitchFamily="2" charset="2"/>
              <a:buChar char="ü"/>
            </a:pPr>
            <a:r>
              <a:rPr lang="en-IN" sz="1800" dirty="0"/>
              <a:t> specify moves in response</a:t>
            </a:r>
          </a:p>
          <a:p>
            <a:pPr>
              <a:buFont typeface="Wingdings" panose="05000000000000000000" pitchFamily="2" charset="2"/>
              <a:buChar char="ü"/>
            </a:pPr>
            <a:r>
              <a:rPr lang="en-IN" sz="1800" dirty="0"/>
              <a:t> and so on..</a:t>
            </a:r>
          </a:p>
          <a:p>
            <a:pPr marL="0" indent="0">
              <a:buNone/>
            </a:pPr>
            <a:r>
              <a:rPr lang="en-IN" sz="1800" dirty="0"/>
              <a:t>This optimum strategy can be determined from the Min Max value of each node </a:t>
            </a:r>
          </a:p>
          <a:p>
            <a:pPr marL="0" indent="0">
              <a:buNone/>
            </a:pPr>
            <a:r>
              <a:rPr lang="en-IN" sz="1800" dirty="0"/>
              <a:t>This number tells you if a state is Gold or brass</a:t>
            </a:r>
          </a:p>
          <a:p>
            <a:pPr marL="0" indent="0">
              <a:buNone/>
            </a:pPr>
            <a:endParaRPr lang="en-IN" sz="1800" dirty="0"/>
          </a:p>
        </p:txBody>
      </p:sp>
      <p:pic>
        <p:nvPicPr>
          <p:cNvPr id="5" name="Picture 4">
            <a:extLst>
              <a:ext uri="{FF2B5EF4-FFF2-40B4-BE49-F238E27FC236}">
                <a16:creationId xmlns:a16="http://schemas.microsoft.com/office/drawing/2014/main" xmlns="" id="{23974675-7B59-78D2-E91C-CFAE5BE025D6}"/>
              </a:ext>
            </a:extLst>
          </p:cNvPr>
          <p:cNvPicPr>
            <a:picLocks noChangeAspect="1"/>
          </p:cNvPicPr>
          <p:nvPr/>
        </p:nvPicPr>
        <p:blipFill>
          <a:blip r:embed="rId2"/>
          <a:stretch>
            <a:fillRect/>
          </a:stretch>
        </p:blipFill>
        <p:spPr>
          <a:xfrm>
            <a:off x="838199" y="5643488"/>
            <a:ext cx="757311" cy="757311"/>
          </a:xfrm>
          <a:prstGeom prst="rect">
            <a:avLst/>
          </a:prstGeom>
        </p:spPr>
      </p:pic>
      <p:pic>
        <p:nvPicPr>
          <p:cNvPr id="7" name="Picture 6">
            <a:extLst>
              <a:ext uri="{FF2B5EF4-FFF2-40B4-BE49-F238E27FC236}">
                <a16:creationId xmlns:a16="http://schemas.microsoft.com/office/drawing/2014/main" xmlns="" id="{9AAE1B4C-DE12-DEBE-0239-50664E72153E}"/>
              </a:ext>
            </a:extLst>
          </p:cNvPr>
          <p:cNvPicPr>
            <a:picLocks noChangeAspect="1"/>
          </p:cNvPicPr>
          <p:nvPr/>
        </p:nvPicPr>
        <p:blipFill>
          <a:blip r:embed="rId3"/>
          <a:stretch>
            <a:fillRect/>
          </a:stretch>
        </p:blipFill>
        <p:spPr>
          <a:xfrm>
            <a:off x="3639139" y="5688271"/>
            <a:ext cx="834588" cy="802488"/>
          </a:xfrm>
          <a:prstGeom prst="rect">
            <a:avLst/>
          </a:prstGeom>
        </p:spPr>
      </p:pic>
      <p:sp>
        <p:nvSpPr>
          <p:cNvPr id="9" name="TextBox 8">
            <a:extLst>
              <a:ext uri="{FF2B5EF4-FFF2-40B4-BE49-F238E27FC236}">
                <a16:creationId xmlns:a16="http://schemas.microsoft.com/office/drawing/2014/main" xmlns="" id="{A95BFE3D-67D2-814A-DE5B-5CD4F1DE58F3}"/>
              </a:ext>
            </a:extLst>
          </p:cNvPr>
          <p:cNvSpPr txBox="1"/>
          <p:nvPr/>
        </p:nvSpPr>
        <p:spPr>
          <a:xfrm>
            <a:off x="977629" y="6400799"/>
            <a:ext cx="6157608" cy="369332"/>
          </a:xfrm>
          <a:prstGeom prst="rect">
            <a:avLst/>
          </a:prstGeom>
          <a:noFill/>
        </p:spPr>
        <p:txBody>
          <a:bodyPr wrap="square">
            <a:spAutoFit/>
          </a:bodyPr>
          <a:lstStyle/>
          <a:p>
            <a:r>
              <a:rPr lang="en-IN" sz="1800" dirty="0"/>
              <a:t>Gold 			brass</a:t>
            </a:r>
            <a:endParaRPr lang="en-IN" dirty="0"/>
          </a:p>
        </p:txBody>
      </p:sp>
    </p:spTree>
    <p:extLst>
      <p:ext uri="{BB962C8B-B14F-4D97-AF65-F5344CB8AC3E}">
        <p14:creationId xmlns:p14="http://schemas.microsoft.com/office/powerpoint/2010/main" val="42935380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404732-B566-1945-7AA4-3010292B3E0A}"/>
              </a:ext>
            </a:extLst>
          </p:cNvPr>
          <p:cNvSpPr>
            <a:spLocks noGrp="1"/>
          </p:cNvSpPr>
          <p:nvPr>
            <p:ph type="title"/>
          </p:nvPr>
        </p:nvSpPr>
        <p:spPr>
          <a:xfrm>
            <a:off x="126460" y="107004"/>
            <a:ext cx="11227340" cy="700392"/>
          </a:xfrm>
        </p:spPr>
        <p:txBody>
          <a:bodyPr>
            <a:normAutofit/>
          </a:bodyPr>
          <a:lstStyle/>
          <a:p>
            <a:r>
              <a:rPr lang="en-IN" sz="2800" dirty="0"/>
              <a:t>How to calculate utility of non terminal nodes</a:t>
            </a:r>
          </a:p>
        </p:txBody>
      </p:sp>
      <p:pic>
        <p:nvPicPr>
          <p:cNvPr id="8" name="Content Placeholder 7">
            <a:extLst>
              <a:ext uri="{FF2B5EF4-FFF2-40B4-BE49-F238E27FC236}">
                <a16:creationId xmlns:a16="http://schemas.microsoft.com/office/drawing/2014/main" xmlns="" id="{94A89111-8E82-6B7D-3219-2F92325DA897}"/>
              </a:ext>
            </a:extLst>
          </p:cNvPr>
          <p:cNvPicPr>
            <a:picLocks noGrp="1" noChangeAspect="1"/>
          </p:cNvPicPr>
          <p:nvPr>
            <p:ph idx="1"/>
          </p:nvPr>
        </p:nvPicPr>
        <p:blipFill>
          <a:blip r:embed="rId2"/>
          <a:stretch>
            <a:fillRect/>
          </a:stretch>
        </p:blipFill>
        <p:spPr>
          <a:xfrm>
            <a:off x="1500428" y="1343989"/>
            <a:ext cx="7993767" cy="4463099"/>
          </a:xfrm>
          <a:prstGeom prst="rect">
            <a:avLst/>
          </a:prstGeom>
        </p:spPr>
      </p:pic>
    </p:spTree>
    <p:extLst>
      <p:ext uri="{BB962C8B-B14F-4D97-AF65-F5344CB8AC3E}">
        <p14:creationId xmlns:p14="http://schemas.microsoft.com/office/powerpoint/2010/main" val="20647338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8C1FCA-526C-A764-DB25-E40A3A80838E}"/>
              </a:ext>
            </a:extLst>
          </p:cNvPr>
          <p:cNvSpPr>
            <a:spLocks noGrp="1"/>
          </p:cNvSpPr>
          <p:nvPr>
            <p:ph type="title"/>
          </p:nvPr>
        </p:nvSpPr>
        <p:spPr>
          <a:xfrm>
            <a:off x="68094" y="77821"/>
            <a:ext cx="11285707" cy="741129"/>
          </a:xfrm>
        </p:spPr>
        <p:txBody>
          <a:bodyPr>
            <a:normAutofit/>
          </a:bodyPr>
          <a:lstStyle/>
          <a:p>
            <a:r>
              <a:rPr lang="en-IN" sz="2800" dirty="0"/>
              <a:t>How to calculate </a:t>
            </a:r>
            <a:r>
              <a:rPr lang="en-IN" sz="2800" dirty="0">
                <a:solidFill>
                  <a:srgbClr val="FF0000"/>
                </a:solidFill>
              </a:rPr>
              <a:t>minimax</a:t>
            </a:r>
            <a:r>
              <a:rPr lang="en-IN" sz="2800" dirty="0"/>
              <a:t> value?</a:t>
            </a:r>
          </a:p>
        </p:txBody>
      </p:sp>
      <p:pic>
        <p:nvPicPr>
          <p:cNvPr id="5" name="Content Placeholder 4">
            <a:extLst>
              <a:ext uri="{FF2B5EF4-FFF2-40B4-BE49-F238E27FC236}">
                <a16:creationId xmlns:a16="http://schemas.microsoft.com/office/drawing/2014/main" xmlns="" id="{0C1C021E-18B3-44D9-F70C-DEFE26A6346E}"/>
              </a:ext>
            </a:extLst>
          </p:cNvPr>
          <p:cNvPicPr>
            <a:picLocks noGrp="1" noChangeAspect="1"/>
          </p:cNvPicPr>
          <p:nvPr>
            <p:ph idx="1"/>
          </p:nvPr>
        </p:nvPicPr>
        <p:blipFill rotWithShape="1">
          <a:blip r:embed="rId2"/>
          <a:srcRect l="7802" t="21950" r="1555"/>
          <a:stretch/>
        </p:blipFill>
        <p:spPr>
          <a:xfrm>
            <a:off x="7422216" y="4416364"/>
            <a:ext cx="4286390" cy="2012289"/>
          </a:xfrm>
        </p:spPr>
      </p:pic>
      <p:sp>
        <p:nvSpPr>
          <p:cNvPr id="7" name="TextBox 6">
            <a:extLst>
              <a:ext uri="{FF2B5EF4-FFF2-40B4-BE49-F238E27FC236}">
                <a16:creationId xmlns:a16="http://schemas.microsoft.com/office/drawing/2014/main" xmlns="" id="{DBA5171F-177A-FDC6-68E8-ABE274F8A303}"/>
              </a:ext>
            </a:extLst>
          </p:cNvPr>
          <p:cNvSpPr txBox="1"/>
          <p:nvPr/>
        </p:nvSpPr>
        <p:spPr>
          <a:xfrm>
            <a:off x="145914" y="818950"/>
            <a:ext cx="11977991" cy="2862322"/>
          </a:xfrm>
          <a:prstGeom prst="rect">
            <a:avLst/>
          </a:prstGeom>
          <a:noFill/>
        </p:spPr>
        <p:txBody>
          <a:bodyPr wrap="square">
            <a:spAutoFit/>
          </a:bodyPr>
          <a:lstStyle/>
          <a:p>
            <a:r>
              <a:rPr lang="en-IN" dirty="0"/>
              <a:t>Consider a </a:t>
            </a:r>
            <a:r>
              <a:rPr lang="en-IN" dirty="0">
                <a:solidFill>
                  <a:srgbClr val="FF0000"/>
                </a:solidFill>
              </a:rPr>
              <a:t>reduced</a:t>
            </a:r>
            <a:r>
              <a:rPr lang="en-IN" dirty="0"/>
              <a:t> tic tac toe game(Because game tree for full tic tac toe is too big).</a:t>
            </a:r>
            <a:endParaRPr lang="en-US" dirty="0"/>
          </a:p>
          <a:p>
            <a:r>
              <a:rPr lang="en-US" dirty="0"/>
              <a:t>              -The possible moves for MAX at the root node are labeled a1, a2, and a3</a:t>
            </a:r>
          </a:p>
          <a:p>
            <a:r>
              <a:rPr lang="en-US" dirty="0"/>
              <a:t>              -The possible replies to a1 for MIN are b1, b2, b3, and so on.</a:t>
            </a:r>
          </a:p>
          <a:p>
            <a:r>
              <a:rPr lang="en-US" b="1" dirty="0"/>
              <a:t>the optimal strategy can be determined from the minimax value of each node, MINIMAX(n).</a:t>
            </a:r>
          </a:p>
          <a:p>
            <a:r>
              <a:rPr lang="en-US" dirty="0"/>
              <a:t>         -The minimax value of a node is the utility (for MAX) of being in the corresponding state, assuming that both players play optimally from there to the end of the game. </a:t>
            </a:r>
          </a:p>
          <a:p>
            <a:r>
              <a:rPr lang="en-US" dirty="0"/>
              <a:t>         -Obviously, the minimax value of a terminal state is just its utility. Furthermore, given a choice, MAX prefers to move to a state of maximum value, whereas MIN prefers a state of minimum value.</a:t>
            </a:r>
          </a:p>
          <a:p>
            <a:r>
              <a:rPr lang="en-US" dirty="0"/>
              <a:t> So we have the following:</a:t>
            </a:r>
          </a:p>
          <a:p>
            <a:endParaRPr lang="en-IN" dirty="0"/>
          </a:p>
        </p:txBody>
      </p:sp>
      <p:pic>
        <p:nvPicPr>
          <p:cNvPr id="9" name="Picture 8">
            <a:extLst>
              <a:ext uri="{FF2B5EF4-FFF2-40B4-BE49-F238E27FC236}">
                <a16:creationId xmlns:a16="http://schemas.microsoft.com/office/drawing/2014/main" xmlns="" id="{A4E21DA3-49C3-6B52-72ED-E01E76E6B52B}"/>
              </a:ext>
            </a:extLst>
          </p:cNvPr>
          <p:cNvPicPr>
            <a:picLocks noChangeAspect="1"/>
          </p:cNvPicPr>
          <p:nvPr/>
        </p:nvPicPr>
        <p:blipFill>
          <a:blip r:embed="rId3"/>
          <a:stretch>
            <a:fillRect/>
          </a:stretch>
        </p:blipFill>
        <p:spPr>
          <a:xfrm>
            <a:off x="483394" y="3681272"/>
            <a:ext cx="5468113" cy="1019317"/>
          </a:xfrm>
          <a:prstGeom prst="rect">
            <a:avLst/>
          </a:prstGeom>
        </p:spPr>
      </p:pic>
    </p:spTree>
    <p:extLst>
      <p:ext uri="{BB962C8B-B14F-4D97-AF65-F5344CB8AC3E}">
        <p14:creationId xmlns:p14="http://schemas.microsoft.com/office/powerpoint/2010/main" val="28322395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82DFAB-C11F-2A03-1103-120E15A0831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68583982-038B-6FDF-1DC3-25E8FADFB60C}"/>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xmlns="" id="{4ECFD881-15BF-4C2C-4919-6BDADC568B5B}"/>
              </a:ext>
            </a:extLst>
          </p:cNvPr>
          <p:cNvPicPr>
            <a:picLocks noChangeAspect="1"/>
          </p:cNvPicPr>
          <p:nvPr/>
        </p:nvPicPr>
        <p:blipFill>
          <a:blip r:embed="rId2"/>
          <a:stretch>
            <a:fillRect/>
          </a:stretch>
        </p:blipFill>
        <p:spPr>
          <a:xfrm>
            <a:off x="0" y="179858"/>
            <a:ext cx="12192000" cy="6678142"/>
          </a:xfrm>
          <a:prstGeom prst="rect">
            <a:avLst/>
          </a:prstGeom>
        </p:spPr>
      </p:pic>
    </p:spTree>
    <p:extLst>
      <p:ext uri="{BB962C8B-B14F-4D97-AF65-F5344CB8AC3E}">
        <p14:creationId xmlns:p14="http://schemas.microsoft.com/office/powerpoint/2010/main" val="2292383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12A0BF-CC2B-BBFB-BF3F-9571E294C0CC}"/>
              </a:ext>
            </a:extLst>
          </p:cNvPr>
          <p:cNvSpPr>
            <a:spLocks noGrp="1"/>
          </p:cNvSpPr>
          <p:nvPr>
            <p:ph type="title"/>
          </p:nvPr>
        </p:nvSpPr>
        <p:spPr>
          <a:xfrm>
            <a:off x="0" y="0"/>
            <a:ext cx="11353800" cy="681038"/>
          </a:xfrm>
        </p:spPr>
        <p:txBody>
          <a:bodyPr>
            <a:normAutofit/>
          </a:bodyPr>
          <a:lstStyle/>
          <a:p>
            <a:r>
              <a:rPr lang="en-IN" sz="2800" dirty="0"/>
              <a:t>Utility function Vs Minimax function</a:t>
            </a:r>
          </a:p>
        </p:txBody>
      </p:sp>
      <p:sp>
        <p:nvSpPr>
          <p:cNvPr id="3" name="Content Placeholder 2">
            <a:extLst>
              <a:ext uri="{FF2B5EF4-FFF2-40B4-BE49-F238E27FC236}">
                <a16:creationId xmlns:a16="http://schemas.microsoft.com/office/drawing/2014/main" xmlns="" id="{9444A548-59A6-1BCD-3E20-9EBD25EAC5EF}"/>
              </a:ext>
            </a:extLst>
          </p:cNvPr>
          <p:cNvSpPr>
            <a:spLocks noGrp="1"/>
          </p:cNvSpPr>
          <p:nvPr>
            <p:ph idx="1"/>
          </p:nvPr>
        </p:nvSpPr>
        <p:spPr>
          <a:xfrm>
            <a:off x="233464" y="681038"/>
            <a:ext cx="11653736" cy="5495925"/>
          </a:xfrm>
        </p:spPr>
        <p:txBody>
          <a:bodyPr/>
          <a:lstStyle/>
          <a:p>
            <a:r>
              <a:rPr lang="en-IN" sz="1800" dirty="0"/>
              <a:t>Utility(</a:t>
            </a:r>
            <a:r>
              <a:rPr lang="en-IN" sz="1800" dirty="0" err="1"/>
              <a:t>s,p</a:t>
            </a:r>
            <a:r>
              <a:rPr lang="en-IN" sz="1800" dirty="0"/>
              <a:t>): Defines the numeric value for a game that ends in a </a:t>
            </a:r>
            <a:r>
              <a:rPr lang="en-IN" sz="1800" dirty="0">
                <a:solidFill>
                  <a:srgbClr val="FF0000"/>
                </a:solidFill>
              </a:rPr>
              <a:t>terminal state s </a:t>
            </a:r>
            <a:r>
              <a:rPr lang="en-IN" sz="1800" dirty="0"/>
              <a:t>for player p.</a:t>
            </a:r>
          </a:p>
          <a:p>
            <a:r>
              <a:rPr lang="en-IN" sz="1800" dirty="0"/>
              <a:t>Minimax(</a:t>
            </a:r>
            <a:r>
              <a:rPr lang="en-IN" sz="1800" dirty="0" err="1"/>
              <a:t>s,p</a:t>
            </a:r>
            <a:r>
              <a:rPr lang="en-IN" sz="1800" dirty="0"/>
              <a:t>) : defines the numeric values at all other nodes.(Terminal and non terminal)</a:t>
            </a:r>
          </a:p>
          <a:p>
            <a:endParaRPr lang="en-IN" dirty="0"/>
          </a:p>
          <a:p>
            <a:endParaRPr lang="en-IN" dirty="0"/>
          </a:p>
        </p:txBody>
      </p:sp>
      <p:pic>
        <p:nvPicPr>
          <p:cNvPr id="4" name="Picture 3">
            <a:extLst>
              <a:ext uri="{FF2B5EF4-FFF2-40B4-BE49-F238E27FC236}">
                <a16:creationId xmlns:a16="http://schemas.microsoft.com/office/drawing/2014/main" xmlns="" id="{F661C4C3-F2F7-C8F6-9054-34C3A3656D39}"/>
              </a:ext>
            </a:extLst>
          </p:cNvPr>
          <p:cNvPicPr>
            <a:picLocks noChangeAspect="1"/>
          </p:cNvPicPr>
          <p:nvPr/>
        </p:nvPicPr>
        <p:blipFill>
          <a:blip r:embed="rId2"/>
          <a:stretch>
            <a:fillRect/>
          </a:stretch>
        </p:blipFill>
        <p:spPr>
          <a:xfrm>
            <a:off x="112888" y="1855047"/>
            <a:ext cx="5239966" cy="1019317"/>
          </a:xfrm>
          <a:prstGeom prst="rect">
            <a:avLst/>
          </a:prstGeom>
        </p:spPr>
      </p:pic>
      <p:pic>
        <p:nvPicPr>
          <p:cNvPr id="7" name="Picture 6">
            <a:extLst>
              <a:ext uri="{FF2B5EF4-FFF2-40B4-BE49-F238E27FC236}">
                <a16:creationId xmlns:a16="http://schemas.microsoft.com/office/drawing/2014/main" xmlns="" id="{8B0B0534-4834-B746-67F9-0B1F0057534B}"/>
              </a:ext>
            </a:extLst>
          </p:cNvPr>
          <p:cNvPicPr>
            <a:picLocks noChangeAspect="1"/>
          </p:cNvPicPr>
          <p:nvPr/>
        </p:nvPicPr>
        <p:blipFill>
          <a:blip r:embed="rId3"/>
          <a:stretch>
            <a:fillRect/>
          </a:stretch>
        </p:blipFill>
        <p:spPr>
          <a:xfrm>
            <a:off x="5232277" y="1816184"/>
            <a:ext cx="6726259" cy="4526249"/>
          </a:xfrm>
          <a:prstGeom prst="rect">
            <a:avLst/>
          </a:prstGeom>
        </p:spPr>
      </p:pic>
      <p:sp>
        <p:nvSpPr>
          <p:cNvPr id="9" name="TextBox 8">
            <a:extLst>
              <a:ext uri="{FF2B5EF4-FFF2-40B4-BE49-F238E27FC236}">
                <a16:creationId xmlns:a16="http://schemas.microsoft.com/office/drawing/2014/main" xmlns="" id="{9DE04338-EA65-B711-3B30-5AC5D344507D}"/>
              </a:ext>
            </a:extLst>
          </p:cNvPr>
          <p:cNvSpPr txBox="1"/>
          <p:nvPr/>
        </p:nvSpPr>
        <p:spPr>
          <a:xfrm>
            <a:off x="6376481" y="1485715"/>
            <a:ext cx="6157608" cy="369332"/>
          </a:xfrm>
          <a:prstGeom prst="rect">
            <a:avLst/>
          </a:prstGeom>
          <a:noFill/>
        </p:spPr>
        <p:txBody>
          <a:bodyPr wrap="square">
            <a:spAutoFit/>
          </a:bodyPr>
          <a:lstStyle/>
          <a:p>
            <a:r>
              <a:rPr lang="en-IN" sz="1800" dirty="0"/>
              <a:t>The minimax algorithm</a:t>
            </a:r>
            <a:endParaRPr lang="en-IN" dirty="0"/>
          </a:p>
        </p:txBody>
      </p:sp>
      <p:pic>
        <p:nvPicPr>
          <p:cNvPr id="11" name="Picture 10">
            <a:extLst>
              <a:ext uri="{FF2B5EF4-FFF2-40B4-BE49-F238E27FC236}">
                <a16:creationId xmlns:a16="http://schemas.microsoft.com/office/drawing/2014/main" xmlns="" id="{AA7C3BB6-42D7-9F45-F828-F2651E4A486C}"/>
              </a:ext>
            </a:extLst>
          </p:cNvPr>
          <p:cNvPicPr>
            <a:picLocks noChangeAspect="1"/>
          </p:cNvPicPr>
          <p:nvPr/>
        </p:nvPicPr>
        <p:blipFill>
          <a:blip r:embed="rId4"/>
          <a:stretch>
            <a:fillRect/>
          </a:stretch>
        </p:blipFill>
        <p:spPr>
          <a:xfrm>
            <a:off x="603115" y="3061859"/>
            <a:ext cx="4377447" cy="3637920"/>
          </a:xfrm>
          <a:prstGeom prst="rect">
            <a:avLst/>
          </a:prstGeom>
        </p:spPr>
      </p:pic>
    </p:spTree>
    <p:extLst>
      <p:ext uri="{BB962C8B-B14F-4D97-AF65-F5344CB8AC3E}">
        <p14:creationId xmlns:p14="http://schemas.microsoft.com/office/powerpoint/2010/main" val="16216795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50DB2D-E4D2-4AEA-CC99-853E23E66030}"/>
              </a:ext>
            </a:extLst>
          </p:cNvPr>
          <p:cNvSpPr>
            <a:spLocks noGrp="1"/>
          </p:cNvSpPr>
          <p:nvPr>
            <p:ph type="title"/>
          </p:nvPr>
        </p:nvSpPr>
        <p:spPr>
          <a:xfrm>
            <a:off x="0" y="141567"/>
            <a:ext cx="11353799" cy="749030"/>
          </a:xfrm>
        </p:spPr>
        <p:txBody>
          <a:bodyPr>
            <a:normAutofit/>
          </a:bodyPr>
          <a:lstStyle/>
          <a:p>
            <a:r>
              <a:rPr lang="en-IN" sz="2800" dirty="0"/>
              <a:t>Do we need to compute all ‘MINIMAX’ values?</a:t>
            </a:r>
          </a:p>
        </p:txBody>
      </p:sp>
      <p:sp>
        <p:nvSpPr>
          <p:cNvPr id="3" name="Content Placeholder 2">
            <a:extLst>
              <a:ext uri="{FF2B5EF4-FFF2-40B4-BE49-F238E27FC236}">
                <a16:creationId xmlns:a16="http://schemas.microsoft.com/office/drawing/2014/main" xmlns="" id="{9681D278-0E1A-8192-2694-B736DC24E4D8}"/>
              </a:ext>
            </a:extLst>
          </p:cNvPr>
          <p:cNvSpPr>
            <a:spLocks noGrp="1"/>
          </p:cNvSpPr>
          <p:nvPr>
            <p:ph idx="1"/>
          </p:nvPr>
        </p:nvSpPr>
        <p:spPr>
          <a:xfrm>
            <a:off x="77821" y="890597"/>
            <a:ext cx="11275979" cy="5325277"/>
          </a:xfrm>
        </p:spPr>
        <p:txBody>
          <a:bodyPr>
            <a:normAutofit/>
          </a:bodyPr>
          <a:lstStyle/>
          <a:p>
            <a:r>
              <a:rPr lang="en-IN" sz="1800" dirty="0"/>
              <a:t>Let the two unevaluated successors of C have values x and y.</a:t>
            </a:r>
          </a:p>
          <a:p>
            <a:r>
              <a:rPr lang="en-IN" sz="1800" dirty="0"/>
              <a:t>Calculate the MINIMAX(root) or Node A( in terms of x and y):</a:t>
            </a:r>
          </a:p>
        </p:txBody>
      </p:sp>
      <p:pic>
        <p:nvPicPr>
          <p:cNvPr id="5" name="Picture 4">
            <a:extLst>
              <a:ext uri="{FF2B5EF4-FFF2-40B4-BE49-F238E27FC236}">
                <a16:creationId xmlns:a16="http://schemas.microsoft.com/office/drawing/2014/main" xmlns="" id="{0547E231-556A-623D-2AA2-8EE8DA982416}"/>
              </a:ext>
            </a:extLst>
          </p:cNvPr>
          <p:cNvPicPr>
            <a:picLocks noChangeAspect="1"/>
          </p:cNvPicPr>
          <p:nvPr/>
        </p:nvPicPr>
        <p:blipFill>
          <a:blip r:embed="rId2"/>
          <a:stretch>
            <a:fillRect/>
          </a:stretch>
        </p:blipFill>
        <p:spPr>
          <a:xfrm>
            <a:off x="6547381" y="1069213"/>
            <a:ext cx="4972744" cy="3143689"/>
          </a:xfrm>
          <a:prstGeom prst="rect">
            <a:avLst/>
          </a:prstGeom>
        </p:spPr>
      </p:pic>
      <p:pic>
        <p:nvPicPr>
          <p:cNvPr id="7" name="Picture 6">
            <a:extLst>
              <a:ext uri="{FF2B5EF4-FFF2-40B4-BE49-F238E27FC236}">
                <a16:creationId xmlns:a16="http://schemas.microsoft.com/office/drawing/2014/main" xmlns="" id="{3F0D8475-2488-2405-4D02-2639C0DEED42}"/>
              </a:ext>
            </a:extLst>
          </p:cNvPr>
          <p:cNvPicPr>
            <a:picLocks noChangeAspect="1"/>
          </p:cNvPicPr>
          <p:nvPr/>
        </p:nvPicPr>
        <p:blipFill>
          <a:blip r:embed="rId3"/>
          <a:stretch>
            <a:fillRect/>
          </a:stretch>
        </p:blipFill>
        <p:spPr>
          <a:xfrm>
            <a:off x="559492" y="2074242"/>
            <a:ext cx="5506218" cy="1133633"/>
          </a:xfrm>
          <a:prstGeom prst="rect">
            <a:avLst/>
          </a:prstGeom>
        </p:spPr>
      </p:pic>
      <p:sp>
        <p:nvSpPr>
          <p:cNvPr id="9" name="TextBox 8">
            <a:extLst>
              <a:ext uri="{FF2B5EF4-FFF2-40B4-BE49-F238E27FC236}">
                <a16:creationId xmlns:a16="http://schemas.microsoft.com/office/drawing/2014/main" xmlns="" id="{C08E4D18-C660-9DDF-50C8-949648302B20}"/>
              </a:ext>
            </a:extLst>
          </p:cNvPr>
          <p:cNvSpPr txBox="1"/>
          <p:nvPr/>
        </p:nvSpPr>
        <p:spPr>
          <a:xfrm>
            <a:off x="389773" y="3872755"/>
            <a:ext cx="6157608" cy="1846659"/>
          </a:xfrm>
          <a:prstGeom prst="rect">
            <a:avLst/>
          </a:prstGeom>
          <a:noFill/>
        </p:spPr>
        <p:txBody>
          <a:bodyPr wrap="square">
            <a:spAutoFit/>
          </a:bodyPr>
          <a:lstStyle/>
          <a:p>
            <a:r>
              <a:rPr lang="en-IN" sz="1800" dirty="0"/>
              <a:t>Is the minimax dependent on the values of x and y?</a:t>
            </a:r>
          </a:p>
          <a:p>
            <a:r>
              <a:rPr lang="en-IN" dirty="0"/>
              <a:t>NO</a:t>
            </a:r>
          </a:p>
          <a:p>
            <a:r>
              <a:rPr lang="en-US" dirty="0"/>
              <a:t>the value of the root and hence the minimax decision are independent of the values of the pruned leaves x and y.</a:t>
            </a:r>
          </a:p>
          <a:p>
            <a:endParaRPr lang="en-US" sz="1800" dirty="0"/>
          </a:p>
          <a:p>
            <a:r>
              <a:rPr lang="en-US" sz="2400" dirty="0">
                <a:solidFill>
                  <a:srgbClr val="FF0000"/>
                </a:solidFill>
              </a:rPr>
              <a:t>Which nodes to ignore or Prune?</a:t>
            </a:r>
            <a:endParaRPr lang="en-IN" sz="2400" dirty="0">
              <a:solidFill>
                <a:srgbClr val="FF0000"/>
              </a:solidFill>
            </a:endParaRPr>
          </a:p>
        </p:txBody>
      </p:sp>
    </p:spTree>
    <p:extLst>
      <p:ext uri="{BB962C8B-B14F-4D97-AF65-F5344CB8AC3E}">
        <p14:creationId xmlns:p14="http://schemas.microsoft.com/office/powerpoint/2010/main" val="9685899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D99AC4-0F08-0907-8C95-B491CB3688A8}"/>
              </a:ext>
            </a:extLst>
          </p:cNvPr>
          <p:cNvSpPr>
            <a:spLocks noGrp="1"/>
          </p:cNvSpPr>
          <p:nvPr>
            <p:ph type="title"/>
          </p:nvPr>
        </p:nvSpPr>
        <p:spPr/>
        <p:txBody>
          <a:bodyPr/>
          <a:lstStyle/>
          <a:p>
            <a:r>
              <a:rPr lang="en-IN" b="0" i="0" dirty="0">
                <a:solidFill>
                  <a:srgbClr val="610B38"/>
                </a:solidFill>
                <a:effectLst/>
                <a:highlight>
                  <a:srgbClr val="FFFFFF"/>
                </a:highlight>
                <a:latin typeface="erdana"/>
              </a:rPr>
              <a:t>Properties of Mini-Max algorithm:</a:t>
            </a:r>
            <a:br>
              <a:rPr lang="en-IN" b="0" i="0" dirty="0">
                <a:solidFill>
                  <a:srgbClr val="610B38"/>
                </a:solidFill>
                <a:effectLst/>
                <a:highlight>
                  <a:srgbClr val="FFFFFF"/>
                </a:highlight>
                <a:latin typeface="erdana"/>
              </a:rPr>
            </a:br>
            <a:endParaRPr lang="en-IN" dirty="0"/>
          </a:p>
        </p:txBody>
      </p:sp>
      <p:sp>
        <p:nvSpPr>
          <p:cNvPr id="3" name="Content Placeholder 2">
            <a:extLst>
              <a:ext uri="{FF2B5EF4-FFF2-40B4-BE49-F238E27FC236}">
                <a16:creationId xmlns:a16="http://schemas.microsoft.com/office/drawing/2014/main" xmlns="" id="{772EC13B-4887-D587-2C4E-9749E4942C02}"/>
              </a:ext>
            </a:extLst>
          </p:cNvPr>
          <p:cNvSpPr>
            <a:spLocks noGrp="1"/>
          </p:cNvSpPr>
          <p:nvPr>
            <p:ph idx="1"/>
          </p:nvPr>
        </p:nvSpPr>
        <p:spPr>
          <a:xfrm>
            <a:off x="184826" y="1079770"/>
            <a:ext cx="12007174" cy="5097193"/>
          </a:xfrm>
        </p:spPr>
        <p:txBody>
          <a:bodyPr>
            <a:normAutofit/>
          </a:bodyPr>
          <a:lstStyle/>
          <a:p>
            <a:pPr algn="just">
              <a:buFont typeface="Arial" panose="020B0604020202020204" pitchFamily="34" charset="0"/>
              <a:buChar char="•"/>
            </a:pPr>
            <a:r>
              <a:rPr lang="en-US" sz="1800" b="1" i="0" dirty="0">
                <a:solidFill>
                  <a:srgbClr val="000000"/>
                </a:solidFill>
                <a:effectLst/>
                <a:highlight>
                  <a:srgbClr val="FFFFFF"/>
                </a:highlight>
              </a:rPr>
              <a:t>Complete-</a:t>
            </a:r>
            <a:r>
              <a:rPr lang="en-US" sz="1800" b="0" i="0" dirty="0">
                <a:solidFill>
                  <a:srgbClr val="000000"/>
                </a:solidFill>
                <a:effectLst/>
                <a:highlight>
                  <a:srgbClr val="FFFFFF"/>
                </a:highlight>
              </a:rPr>
              <a:t> Min-Max algorithm is Complete. It will definitely find a solution (if exist), in the finite search tree.</a:t>
            </a:r>
          </a:p>
          <a:p>
            <a:pPr algn="just">
              <a:buFont typeface="Arial" panose="020B0604020202020204" pitchFamily="34" charset="0"/>
              <a:buChar char="•"/>
            </a:pPr>
            <a:r>
              <a:rPr lang="en-US" sz="1800" b="1" i="0" dirty="0">
                <a:solidFill>
                  <a:srgbClr val="000000"/>
                </a:solidFill>
                <a:effectLst/>
                <a:highlight>
                  <a:srgbClr val="FFFFFF"/>
                </a:highlight>
              </a:rPr>
              <a:t>Optimal-</a:t>
            </a:r>
            <a:r>
              <a:rPr lang="en-US" sz="1800" b="0" i="0" dirty="0">
                <a:solidFill>
                  <a:srgbClr val="000000"/>
                </a:solidFill>
                <a:effectLst/>
                <a:highlight>
                  <a:srgbClr val="FFFFFF"/>
                </a:highlight>
              </a:rPr>
              <a:t> Min-Max algorithm is optimal if both opponents are playing optimally.</a:t>
            </a:r>
          </a:p>
          <a:p>
            <a:pPr algn="just">
              <a:buFont typeface="Arial" panose="020B0604020202020204" pitchFamily="34" charset="0"/>
              <a:buChar char="•"/>
            </a:pPr>
            <a:r>
              <a:rPr lang="en-US" sz="1800" b="1" i="0" dirty="0">
                <a:solidFill>
                  <a:srgbClr val="000000"/>
                </a:solidFill>
                <a:effectLst/>
                <a:highlight>
                  <a:srgbClr val="FFFFFF"/>
                </a:highlight>
              </a:rPr>
              <a:t>Time complexity-</a:t>
            </a:r>
            <a:r>
              <a:rPr lang="en-US" sz="1800" b="0" i="0" dirty="0">
                <a:solidFill>
                  <a:srgbClr val="000000"/>
                </a:solidFill>
                <a:effectLst/>
                <a:highlight>
                  <a:srgbClr val="FFFFFF"/>
                </a:highlight>
              </a:rPr>
              <a:t> As it performs DFS for the game-tree, so the time complexity of Min-Max algorithm is </a:t>
            </a:r>
            <a:r>
              <a:rPr lang="en-US" sz="1800" b="1" i="0" dirty="0">
                <a:solidFill>
                  <a:srgbClr val="000000"/>
                </a:solidFill>
                <a:effectLst/>
                <a:highlight>
                  <a:srgbClr val="FFFFFF"/>
                </a:highlight>
              </a:rPr>
              <a:t>O(b</a:t>
            </a:r>
            <a:r>
              <a:rPr lang="en-US" sz="1800" b="1" i="0" baseline="30000" dirty="0">
                <a:solidFill>
                  <a:srgbClr val="000000"/>
                </a:solidFill>
                <a:effectLst/>
                <a:highlight>
                  <a:srgbClr val="FFFFFF"/>
                </a:highlight>
              </a:rPr>
              <a:t>m</a:t>
            </a:r>
            <a:r>
              <a:rPr lang="en-US" sz="1800" b="1" i="0" dirty="0">
                <a:solidFill>
                  <a:srgbClr val="000000"/>
                </a:solidFill>
                <a:effectLst/>
                <a:highlight>
                  <a:srgbClr val="FFFFFF"/>
                </a:highlight>
              </a:rPr>
              <a:t>)</a:t>
            </a:r>
            <a:r>
              <a:rPr lang="en-US" sz="1800" b="0" i="0" dirty="0">
                <a:solidFill>
                  <a:srgbClr val="000000"/>
                </a:solidFill>
                <a:effectLst/>
                <a:highlight>
                  <a:srgbClr val="FFFFFF"/>
                </a:highlight>
              </a:rPr>
              <a:t>, where b is branching factor of the game-tree, and m is the maximum depth of the tree.</a:t>
            </a:r>
          </a:p>
          <a:p>
            <a:pPr algn="just">
              <a:buFont typeface="Arial" panose="020B0604020202020204" pitchFamily="34" charset="0"/>
              <a:buChar char="•"/>
            </a:pPr>
            <a:r>
              <a:rPr lang="en-US" sz="1800" b="1" i="0" dirty="0">
                <a:solidFill>
                  <a:srgbClr val="000000"/>
                </a:solidFill>
                <a:effectLst/>
                <a:highlight>
                  <a:srgbClr val="FFFFFF"/>
                </a:highlight>
              </a:rPr>
              <a:t>Space Complexity-</a:t>
            </a:r>
            <a:r>
              <a:rPr lang="en-US" sz="1800" b="0" i="0" dirty="0">
                <a:solidFill>
                  <a:srgbClr val="000000"/>
                </a:solidFill>
                <a:effectLst/>
                <a:highlight>
                  <a:srgbClr val="FFFFFF"/>
                </a:highlight>
              </a:rPr>
              <a:t> Space complexity of Mini-max algorithm is also similar to DFS which is </a:t>
            </a:r>
            <a:r>
              <a:rPr lang="en-US" sz="1800" b="1" i="0" dirty="0">
                <a:solidFill>
                  <a:srgbClr val="000000"/>
                </a:solidFill>
                <a:effectLst/>
                <a:highlight>
                  <a:srgbClr val="FFFFFF"/>
                </a:highlight>
              </a:rPr>
              <a:t>O(bm)</a:t>
            </a:r>
            <a:r>
              <a:rPr lang="en-US" sz="1800" b="0" i="0" dirty="0">
                <a:solidFill>
                  <a:srgbClr val="000000"/>
                </a:solidFill>
                <a:effectLst/>
                <a:highlight>
                  <a:srgbClr val="FFFFFF"/>
                </a:highlight>
              </a:rPr>
              <a:t>.</a:t>
            </a:r>
          </a:p>
          <a:p>
            <a:pPr algn="just"/>
            <a:r>
              <a:rPr lang="en-US" sz="1800" b="0" i="0" dirty="0">
                <a:solidFill>
                  <a:srgbClr val="610B38"/>
                </a:solidFill>
                <a:effectLst/>
                <a:highlight>
                  <a:srgbClr val="FFFFFF"/>
                </a:highlight>
              </a:rPr>
              <a:t>Limitation of the minimax Algorithm:</a:t>
            </a:r>
          </a:p>
          <a:p>
            <a:pPr algn="just"/>
            <a:r>
              <a:rPr lang="en-US" sz="1800" b="0" i="0" dirty="0">
                <a:solidFill>
                  <a:srgbClr val="333333"/>
                </a:solidFill>
                <a:effectLst/>
                <a:highlight>
                  <a:srgbClr val="FFFFFF"/>
                </a:highlight>
              </a:rPr>
              <a:t>The main drawback of the minimax algorithm is that it gets really slow for complex games such as Chess, go, etc. This type of games has a huge branching factor, and the player has lots of choices to decide. This limitation of the minimax algorithm can be improved from </a:t>
            </a:r>
            <a:r>
              <a:rPr lang="en-US" sz="1800" b="1" i="0" dirty="0">
                <a:solidFill>
                  <a:srgbClr val="333333"/>
                </a:solidFill>
                <a:effectLst/>
                <a:highlight>
                  <a:srgbClr val="FFFFFF"/>
                </a:highlight>
              </a:rPr>
              <a:t>alpha-beta pruning</a:t>
            </a:r>
            <a:endParaRPr lang="en-US" sz="1800" b="0" i="0" dirty="0">
              <a:solidFill>
                <a:srgbClr val="333333"/>
              </a:solidFill>
              <a:effectLst/>
              <a:highlight>
                <a:srgbClr val="FFFFFF"/>
              </a:highlight>
            </a:endParaRPr>
          </a:p>
          <a:p>
            <a:endParaRPr lang="en-IN" sz="1800" dirty="0"/>
          </a:p>
        </p:txBody>
      </p:sp>
    </p:spTree>
    <p:extLst>
      <p:ext uri="{BB962C8B-B14F-4D97-AF65-F5344CB8AC3E}">
        <p14:creationId xmlns:p14="http://schemas.microsoft.com/office/powerpoint/2010/main" val="33334510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7BEBB7-795B-3F5F-EB2D-E256EBA0D7F2}"/>
              </a:ext>
            </a:extLst>
          </p:cNvPr>
          <p:cNvSpPr>
            <a:spLocks noGrp="1"/>
          </p:cNvSpPr>
          <p:nvPr>
            <p:ph type="title"/>
          </p:nvPr>
        </p:nvSpPr>
        <p:spPr/>
        <p:txBody>
          <a:bodyPr>
            <a:normAutofit/>
          </a:bodyPr>
          <a:lstStyle/>
          <a:p>
            <a:endParaRPr lang="en-IN" sz="1800" dirty="0">
              <a:latin typeface="+mn-lt"/>
            </a:endParaRPr>
          </a:p>
        </p:txBody>
      </p:sp>
      <p:pic>
        <p:nvPicPr>
          <p:cNvPr id="5" name="Content Placeholder 4">
            <a:extLst>
              <a:ext uri="{FF2B5EF4-FFF2-40B4-BE49-F238E27FC236}">
                <a16:creationId xmlns:a16="http://schemas.microsoft.com/office/drawing/2014/main" xmlns="" id="{FBAA7456-0293-722D-73A0-465B0B0E2DE5}"/>
              </a:ext>
            </a:extLst>
          </p:cNvPr>
          <p:cNvPicPr>
            <a:picLocks noGrp="1" noChangeAspect="1"/>
          </p:cNvPicPr>
          <p:nvPr>
            <p:ph idx="1"/>
          </p:nvPr>
        </p:nvPicPr>
        <p:blipFill>
          <a:blip r:embed="rId2"/>
          <a:stretch>
            <a:fillRect/>
          </a:stretch>
        </p:blipFill>
        <p:spPr>
          <a:xfrm>
            <a:off x="147291" y="219210"/>
            <a:ext cx="6056793" cy="4313879"/>
          </a:xfrm>
        </p:spPr>
      </p:pic>
      <p:pic>
        <p:nvPicPr>
          <p:cNvPr id="7" name="Picture 6">
            <a:extLst>
              <a:ext uri="{FF2B5EF4-FFF2-40B4-BE49-F238E27FC236}">
                <a16:creationId xmlns:a16="http://schemas.microsoft.com/office/drawing/2014/main" xmlns="" id="{03E00FDF-D1E1-5B8D-94F2-58BAF88482F5}"/>
              </a:ext>
            </a:extLst>
          </p:cNvPr>
          <p:cNvPicPr>
            <a:picLocks noChangeAspect="1"/>
          </p:cNvPicPr>
          <p:nvPr/>
        </p:nvPicPr>
        <p:blipFill>
          <a:blip r:embed="rId3"/>
          <a:stretch>
            <a:fillRect/>
          </a:stretch>
        </p:blipFill>
        <p:spPr>
          <a:xfrm>
            <a:off x="6386750" y="219210"/>
            <a:ext cx="5805250" cy="4428028"/>
          </a:xfrm>
          <a:prstGeom prst="rect">
            <a:avLst/>
          </a:prstGeom>
        </p:spPr>
      </p:pic>
      <p:sp>
        <p:nvSpPr>
          <p:cNvPr id="9" name="TextBox 8">
            <a:extLst>
              <a:ext uri="{FF2B5EF4-FFF2-40B4-BE49-F238E27FC236}">
                <a16:creationId xmlns:a16="http://schemas.microsoft.com/office/drawing/2014/main" xmlns="" id="{B4782A4F-FA66-A28A-7C12-EBCAF0ED93C3}"/>
              </a:ext>
            </a:extLst>
          </p:cNvPr>
          <p:cNvSpPr txBox="1"/>
          <p:nvPr/>
        </p:nvSpPr>
        <p:spPr>
          <a:xfrm>
            <a:off x="6386750" y="5208426"/>
            <a:ext cx="6157608" cy="369332"/>
          </a:xfrm>
          <a:prstGeom prst="rect">
            <a:avLst/>
          </a:prstGeom>
          <a:noFill/>
        </p:spPr>
        <p:txBody>
          <a:bodyPr wrap="square">
            <a:spAutoFit/>
          </a:bodyPr>
          <a:lstStyle/>
          <a:p>
            <a:r>
              <a:rPr lang="en-IN" sz="1800" dirty="0">
                <a:solidFill>
                  <a:srgbClr val="FF0000"/>
                </a:solidFill>
                <a:latin typeface="+mn-lt"/>
              </a:rPr>
              <a:t>Also find the most convenient path for MAX node </a:t>
            </a:r>
            <a:endParaRPr lang="en-IN" dirty="0">
              <a:solidFill>
                <a:srgbClr val="FF0000"/>
              </a:solidFill>
            </a:endParaRPr>
          </a:p>
        </p:txBody>
      </p:sp>
    </p:spTree>
    <p:extLst>
      <p:ext uri="{BB962C8B-B14F-4D97-AF65-F5344CB8AC3E}">
        <p14:creationId xmlns:p14="http://schemas.microsoft.com/office/powerpoint/2010/main" val="19335367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AA5ADA-D692-DBB4-16B0-154B118F8F28}"/>
              </a:ext>
            </a:extLst>
          </p:cNvPr>
          <p:cNvSpPr>
            <a:spLocks noGrp="1"/>
          </p:cNvSpPr>
          <p:nvPr>
            <p:ph type="title"/>
          </p:nvPr>
        </p:nvSpPr>
        <p:spPr>
          <a:xfrm>
            <a:off x="0" y="77822"/>
            <a:ext cx="11353801" cy="509407"/>
          </a:xfrm>
        </p:spPr>
        <p:txBody>
          <a:bodyPr>
            <a:normAutofit/>
          </a:bodyPr>
          <a:lstStyle/>
          <a:p>
            <a:r>
              <a:rPr lang="sv-SE" sz="2800" dirty="0"/>
              <a:t>ALPHA–BETA PRUNING</a:t>
            </a:r>
            <a:endParaRPr lang="en-IN" sz="2800" dirty="0"/>
          </a:p>
        </p:txBody>
      </p:sp>
      <p:sp>
        <p:nvSpPr>
          <p:cNvPr id="4" name="Rectangle 1">
            <a:extLst>
              <a:ext uri="{FF2B5EF4-FFF2-40B4-BE49-F238E27FC236}">
                <a16:creationId xmlns:a16="http://schemas.microsoft.com/office/drawing/2014/main" xmlns="" id="{00937CC1-AFE4-8B47-5C01-403B298898F4}"/>
              </a:ext>
            </a:extLst>
          </p:cNvPr>
          <p:cNvSpPr>
            <a:spLocks noGrp="1" noChangeArrowheads="1"/>
          </p:cNvSpPr>
          <p:nvPr>
            <p:ph idx="1"/>
          </p:nvPr>
        </p:nvSpPr>
        <p:spPr bwMode="auto">
          <a:xfrm>
            <a:off x="67113" y="660006"/>
            <a:ext cx="1056972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rPr>
              <a:t>Problem with Minimax Search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Exponential Growth:</a:t>
            </a:r>
            <a:r>
              <a:rPr kumimoji="0" lang="en-US" altLang="en-US" sz="1800" b="0" i="0" u="none" strike="noStrike" cap="none" normalizeH="0" baseline="0" dirty="0">
                <a:ln>
                  <a:noFill/>
                </a:ln>
                <a:solidFill>
                  <a:schemeClr val="tx1"/>
                </a:solidFill>
                <a:effectLst/>
              </a:rPr>
              <a:t> The number of nodes in the game tree grows exponentially with each additional level.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Example:</a:t>
            </a:r>
            <a:r>
              <a:rPr kumimoji="0" lang="en-US" altLang="en-US" sz="1800" b="0" i="0" u="none" strike="noStrike" cap="none" normalizeH="0" baseline="0" dirty="0">
                <a:ln>
                  <a:noFill/>
                </a:ln>
                <a:solidFill>
                  <a:schemeClr val="tx1"/>
                </a:solidFill>
                <a:effectLst/>
              </a:rPr>
              <a:t> A game tree with depth d and branching factor b results in </a:t>
            </a:r>
            <a:r>
              <a:rPr kumimoji="0" lang="en-US" altLang="en-US" sz="1800" b="0" i="0" u="none" strike="noStrike" cap="none" normalizeH="0" baseline="0" dirty="0" err="1">
                <a:ln>
                  <a:noFill/>
                </a:ln>
                <a:solidFill>
                  <a:schemeClr val="tx1"/>
                </a:solidFill>
                <a:effectLst/>
              </a:rPr>
              <a:t>b^d</a:t>
            </a:r>
            <a:r>
              <a:rPr kumimoji="0" lang="en-US" altLang="en-US" sz="1800" b="0" i="0" u="none" strike="noStrike" cap="none" normalizeH="0" baseline="0" dirty="0">
                <a:ln>
                  <a:noFill/>
                </a:ln>
                <a:solidFill>
                  <a:schemeClr val="tx1"/>
                </a:solidFill>
                <a:effectLst/>
              </a:rPr>
              <a:t> leaf nodes to evaluate.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Key Issue:</a:t>
            </a:r>
            <a:r>
              <a:rPr kumimoji="0" lang="en-US" altLang="en-US" sz="1800" b="0" i="0" u="none" strike="noStrike" cap="none" normalizeH="0" baseline="0" dirty="0">
                <a:ln>
                  <a:noFill/>
                </a:ln>
                <a:solidFill>
                  <a:schemeClr val="tx1"/>
                </a:solidFill>
                <a:effectLst/>
              </a:rPr>
              <a:t> High computational cost for deep trees.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xmlns="" id="{4F2D85D7-7908-95DF-EDDB-CA53A003C006}"/>
              </a:ext>
            </a:extLst>
          </p:cNvPr>
          <p:cNvSpPr>
            <a:spLocks noChangeArrowheads="1"/>
          </p:cNvSpPr>
          <p:nvPr/>
        </p:nvSpPr>
        <p:spPr bwMode="auto">
          <a:xfrm>
            <a:off x="67113" y="1890475"/>
            <a:ext cx="1212488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Alpha-Beta Pruning:</a:t>
            </a:r>
            <a:r>
              <a:rPr kumimoji="0" lang="en-US" altLang="en-US" sz="1800" b="0" i="0" u="none" strike="noStrike" cap="none" normalizeH="0" baseline="0" dirty="0">
                <a:ln>
                  <a:noFill/>
                </a:ln>
                <a:solidFill>
                  <a:schemeClr val="tx1"/>
                </a:solidFill>
                <a:effectLst/>
                <a:latin typeface="Arial" panose="020B0604020202020204" pitchFamily="34" charset="0"/>
              </a:rPr>
              <a:t> A search algorithm that reduces the number of nodes evaluated in the minimax algorithm.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Prunes branches in the game tree that cannot influence the final decision, effectively cutting the search space.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IN" altLang="en-US" sz="2400" dirty="0">
                <a:latin typeface="Arial" panose="020B0604020202020204" pitchFamily="34" charset="0"/>
              </a:rPr>
              <a:t>Principle for </a:t>
            </a:r>
            <a:r>
              <a:rPr lang="sv-SE" sz="2400" dirty="0"/>
              <a:t>PRUNING: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IN" altLang="en-US" dirty="0">
                <a:latin typeface="Arial" panose="020B0604020202020204" pitchFamily="34" charset="0"/>
              </a:rPr>
              <a:t>Consider a node ‘n’ somewhere in the </a:t>
            </a:r>
            <a:r>
              <a:rPr lang="en-IN" altLang="en-US" dirty="0" err="1">
                <a:latin typeface="Arial" panose="020B0604020202020204" pitchFamily="34" charset="0"/>
              </a:rPr>
              <a:t>tree.,Such</a:t>
            </a:r>
            <a:r>
              <a:rPr lang="en-IN" altLang="en-US" dirty="0">
                <a:latin typeface="Arial" panose="020B0604020202020204" pitchFamily="34" charset="0"/>
              </a:rPr>
              <a:t> that the ‘player’ has a choice of moving to that node.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IN" altLang="en-US" sz="1800" b="0" i="0" u="none" strike="noStrike" cap="none" normalizeH="0" baseline="0" dirty="0">
                <a:ln>
                  <a:noFill/>
                </a:ln>
                <a:solidFill>
                  <a:schemeClr val="tx1"/>
                </a:solidFill>
                <a:effectLst/>
                <a:latin typeface="Arial" panose="020B0604020202020204" pitchFamily="34" charset="0"/>
              </a:rPr>
              <a:t>If the ‘player’ has a better choice ‘M’ either at the parent node ‘N’ or at any choice point, further up, then N will never be reached in actual play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xmlns="" id="{14C12B9E-7C2C-A7AA-2AB1-B1189ADC1E59}"/>
              </a:ext>
            </a:extLst>
          </p:cNvPr>
          <p:cNvPicPr>
            <a:picLocks noChangeAspect="1"/>
          </p:cNvPicPr>
          <p:nvPr/>
        </p:nvPicPr>
        <p:blipFill rotWithShape="1">
          <a:blip r:embed="rId2"/>
          <a:srcRect l="2854" t="4586" r="3643"/>
          <a:stretch/>
        </p:blipFill>
        <p:spPr>
          <a:xfrm>
            <a:off x="6286275" y="4331814"/>
            <a:ext cx="5067527" cy="2564239"/>
          </a:xfrm>
          <a:prstGeom prst="rect">
            <a:avLst/>
          </a:prstGeom>
        </p:spPr>
      </p:pic>
      <p:sp>
        <p:nvSpPr>
          <p:cNvPr id="10" name="TextBox 9">
            <a:extLst>
              <a:ext uri="{FF2B5EF4-FFF2-40B4-BE49-F238E27FC236}">
                <a16:creationId xmlns:a16="http://schemas.microsoft.com/office/drawing/2014/main" xmlns="" id="{12C787C9-9826-3A51-A65D-881DF1A2D880}"/>
              </a:ext>
            </a:extLst>
          </p:cNvPr>
          <p:cNvSpPr txBox="1"/>
          <p:nvPr/>
        </p:nvSpPr>
        <p:spPr>
          <a:xfrm>
            <a:off x="425801" y="5152269"/>
            <a:ext cx="5479926" cy="923330"/>
          </a:xfrm>
          <a:prstGeom prst="rect">
            <a:avLst/>
          </a:prstGeom>
          <a:noFill/>
        </p:spPr>
        <p:txBody>
          <a:bodyPr wrap="square">
            <a:spAutoFit/>
          </a:bodyPr>
          <a:lstStyle/>
          <a:p>
            <a:r>
              <a:rPr lang="en-US" dirty="0"/>
              <a:t>once we have found out enough about n (by examining some of its descendants) to reach this conclusion, we can prune it.</a:t>
            </a:r>
            <a:endParaRPr lang="en-IN" dirty="0"/>
          </a:p>
        </p:txBody>
      </p:sp>
    </p:spTree>
    <p:extLst>
      <p:ext uri="{BB962C8B-B14F-4D97-AF65-F5344CB8AC3E}">
        <p14:creationId xmlns:p14="http://schemas.microsoft.com/office/powerpoint/2010/main" val="37327253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E5D8F6-8E49-0591-B991-3FC7C97C7ADB}"/>
              </a:ext>
            </a:extLst>
          </p:cNvPr>
          <p:cNvSpPr>
            <a:spLocks noGrp="1"/>
          </p:cNvSpPr>
          <p:nvPr>
            <p:ph type="title"/>
          </p:nvPr>
        </p:nvSpPr>
        <p:spPr>
          <a:xfrm>
            <a:off x="184825" y="153850"/>
            <a:ext cx="10449128" cy="802194"/>
          </a:xfrm>
        </p:spPr>
        <p:txBody>
          <a:bodyPr>
            <a:normAutofit/>
          </a:bodyPr>
          <a:lstStyle/>
          <a:p>
            <a:r>
              <a:rPr lang="en-US" sz="2800" dirty="0"/>
              <a:t>The alpha–beta search algorithm</a:t>
            </a:r>
            <a:endParaRPr lang="en-IN" sz="2800" dirty="0"/>
          </a:p>
        </p:txBody>
      </p:sp>
      <p:pic>
        <p:nvPicPr>
          <p:cNvPr id="5" name="Content Placeholder 4">
            <a:extLst>
              <a:ext uri="{FF2B5EF4-FFF2-40B4-BE49-F238E27FC236}">
                <a16:creationId xmlns:a16="http://schemas.microsoft.com/office/drawing/2014/main" xmlns="" id="{233CEA97-0DF8-9C41-4437-CE14317549A7}"/>
              </a:ext>
            </a:extLst>
          </p:cNvPr>
          <p:cNvPicPr>
            <a:picLocks noGrp="1" noChangeAspect="1"/>
          </p:cNvPicPr>
          <p:nvPr>
            <p:ph idx="1"/>
          </p:nvPr>
        </p:nvPicPr>
        <p:blipFill rotWithShape="1">
          <a:blip r:embed="rId2"/>
          <a:srcRect r="30442"/>
          <a:stretch/>
        </p:blipFill>
        <p:spPr>
          <a:xfrm>
            <a:off x="7336998" y="1204667"/>
            <a:ext cx="4466806" cy="4321143"/>
          </a:xfrm>
        </p:spPr>
      </p:pic>
      <p:pic>
        <p:nvPicPr>
          <p:cNvPr id="7" name="Picture 6">
            <a:extLst>
              <a:ext uri="{FF2B5EF4-FFF2-40B4-BE49-F238E27FC236}">
                <a16:creationId xmlns:a16="http://schemas.microsoft.com/office/drawing/2014/main" xmlns="" id="{924AA701-068C-DAB7-3F6F-C5A14F32778E}"/>
              </a:ext>
            </a:extLst>
          </p:cNvPr>
          <p:cNvPicPr>
            <a:picLocks noChangeAspect="1"/>
          </p:cNvPicPr>
          <p:nvPr/>
        </p:nvPicPr>
        <p:blipFill rotWithShape="1">
          <a:blip r:embed="rId3"/>
          <a:srcRect r="19074"/>
          <a:stretch/>
        </p:blipFill>
        <p:spPr>
          <a:xfrm>
            <a:off x="388196" y="1141437"/>
            <a:ext cx="5245393" cy="3374607"/>
          </a:xfrm>
          <a:prstGeom prst="rect">
            <a:avLst/>
          </a:prstGeom>
        </p:spPr>
      </p:pic>
      <p:pic>
        <p:nvPicPr>
          <p:cNvPr id="8" name="Picture 7">
            <a:extLst>
              <a:ext uri="{FF2B5EF4-FFF2-40B4-BE49-F238E27FC236}">
                <a16:creationId xmlns:a16="http://schemas.microsoft.com/office/drawing/2014/main" xmlns="" id="{DFF7D314-BFF4-665A-69A3-88249A52A3B2}"/>
              </a:ext>
            </a:extLst>
          </p:cNvPr>
          <p:cNvPicPr>
            <a:picLocks noChangeAspect="1"/>
          </p:cNvPicPr>
          <p:nvPr/>
        </p:nvPicPr>
        <p:blipFill>
          <a:blip r:embed="rId4"/>
          <a:stretch>
            <a:fillRect/>
          </a:stretch>
        </p:blipFill>
        <p:spPr>
          <a:xfrm>
            <a:off x="3432197" y="4331208"/>
            <a:ext cx="3779285" cy="2389204"/>
          </a:xfrm>
          <a:prstGeom prst="rect">
            <a:avLst/>
          </a:prstGeom>
        </p:spPr>
      </p:pic>
    </p:spTree>
    <p:extLst>
      <p:ext uri="{BB962C8B-B14F-4D97-AF65-F5344CB8AC3E}">
        <p14:creationId xmlns:p14="http://schemas.microsoft.com/office/powerpoint/2010/main" val="40067306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9CD196-0B44-CE43-C16E-5C045119F89C}"/>
              </a:ext>
            </a:extLst>
          </p:cNvPr>
          <p:cNvSpPr>
            <a:spLocks noGrp="1"/>
          </p:cNvSpPr>
          <p:nvPr>
            <p:ph type="title"/>
          </p:nvPr>
        </p:nvSpPr>
        <p:spPr>
          <a:xfrm>
            <a:off x="214009" y="1"/>
            <a:ext cx="11139791" cy="690663"/>
          </a:xfrm>
        </p:spPr>
        <p:txBody>
          <a:bodyPr>
            <a:normAutofit/>
          </a:bodyPr>
          <a:lstStyle/>
          <a:p>
            <a:r>
              <a:rPr lang="en-US" sz="2800" dirty="0"/>
              <a:t>The alpha–beta Pruning algorithm</a:t>
            </a:r>
            <a:endParaRPr lang="en-IN" sz="2800" dirty="0"/>
          </a:p>
        </p:txBody>
      </p:sp>
      <p:pic>
        <p:nvPicPr>
          <p:cNvPr id="4" name="Content Placeholder 4">
            <a:extLst>
              <a:ext uri="{FF2B5EF4-FFF2-40B4-BE49-F238E27FC236}">
                <a16:creationId xmlns:a16="http://schemas.microsoft.com/office/drawing/2014/main" xmlns="" id="{DC9811E8-569C-9E7A-A3B9-6AB95A36E9EA}"/>
              </a:ext>
            </a:extLst>
          </p:cNvPr>
          <p:cNvPicPr>
            <a:picLocks noGrp="1" noChangeAspect="1"/>
          </p:cNvPicPr>
          <p:nvPr>
            <p:ph idx="1"/>
          </p:nvPr>
        </p:nvPicPr>
        <p:blipFill rotWithShape="1">
          <a:blip r:embed="rId2"/>
          <a:srcRect r="30442"/>
          <a:stretch/>
        </p:blipFill>
        <p:spPr>
          <a:xfrm>
            <a:off x="305499" y="690664"/>
            <a:ext cx="4254101" cy="4115374"/>
          </a:xfrm>
        </p:spPr>
      </p:pic>
      <p:pic>
        <p:nvPicPr>
          <p:cNvPr id="6" name="Picture 5">
            <a:extLst>
              <a:ext uri="{FF2B5EF4-FFF2-40B4-BE49-F238E27FC236}">
                <a16:creationId xmlns:a16="http://schemas.microsoft.com/office/drawing/2014/main" xmlns="" id="{5CB1B10C-1599-C6AC-AE0E-C87568502E4A}"/>
              </a:ext>
            </a:extLst>
          </p:cNvPr>
          <p:cNvPicPr>
            <a:picLocks noChangeAspect="1"/>
          </p:cNvPicPr>
          <p:nvPr/>
        </p:nvPicPr>
        <p:blipFill>
          <a:blip r:embed="rId3"/>
          <a:stretch>
            <a:fillRect/>
          </a:stretch>
        </p:blipFill>
        <p:spPr>
          <a:xfrm>
            <a:off x="5930131" y="524765"/>
            <a:ext cx="5700270" cy="4195681"/>
          </a:xfrm>
          <a:prstGeom prst="rect">
            <a:avLst/>
          </a:prstGeom>
        </p:spPr>
      </p:pic>
      <p:sp>
        <p:nvSpPr>
          <p:cNvPr id="8" name="TextBox 7">
            <a:extLst>
              <a:ext uri="{FF2B5EF4-FFF2-40B4-BE49-F238E27FC236}">
                <a16:creationId xmlns:a16="http://schemas.microsoft.com/office/drawing/2014/main" xmlns="" id="{2FEB5DB1-9B80-C8FB-FE64-B2C91E3F4091}"/>
              </a:ext>
            </a:extLst>
          </p:cNvPr>
          <p:cNvSpPr txBox="1"/>
          <p:nvPr/>
        </p:nvSpPr>
        <p:spPr>
          <a:xfrm>
            <a:off x="214009" y="5068110"/>
            <a:ext cx="11702374" cy="1477328"/>
          </a:xfrm>
          <a:prstGeom prst="rect">
            <a:avLst/>
          </a:prstGeom>
          <a:noFill/>
        </p:spPr>
        <p:txBody>
          <a:bodyPr wrap="square">
            <a:spAutoFit/>
          </a:bodyPr>
          <a:lstStyle/>
          <a:p>
            <a:r>
              <a:rPr lang="en-US" dirty="0"/>
              <a:t>α = the value of the best (i.e., highest-value) choice we have found so far at any choice point along the path for MAX.</a:t>
            </a:r>
          </a:p>
          <a:p>
            <a:r>
              <a:rPr lang="en-US" dirty="0"/>
              <a:t> β = the value of the best (i.e., lowest-value) choice we have found so far at any choice point along the path for MIN. </a:t>
            </a:r>
          </a:p>
          <a:p>
            <a:r>
              <a:rPr lang="en-US" dirty="0"/>
              <a:t>Alpha–beta search updates the values of α and β as it goes along and prunes the remaining branches at a node (i.e., terminates the recursive call) as soon as the value of the current node is known to be worse than the current α or β value for MAX or MIN, respectively</a:t>
            </a:r>
            <a:endParaRPr lang="en-IN" dirty="0"/>
          </a:p>
        </p:txBody>
      </p:sp>
    </p:spTree>
    <p:extLst>
      <p:ext uri="{BB962C8B-B14F-4D97-AF65-F5344CB8AC3E}">
        <p14:creationId xmlns:p14="http://schemas.microsoft.com/office/powerpoint/2010/main" val="2035715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C6551A-6966-4577-F16F-403150AF5C09}"/>
              </a:ext>
            </a:extLst>
          </p:cNvPr>
          <p:cNvSpPr>
            <a:spLocks noGrp="1"/>
          </p:cNvSpPr>
          <p:nvPr>
            <p:ph type="title"/>
          </p:nvPr>
        </p:nvSpPr>
        <p:spPr>
          <a:xfrm>
            <a:off x="0" y="121934"/>
            <a:ext cx="10371306" cy="734101"/>
          </a:xfrm>
        </p:spPr>
        <p:txBody>
          <a:bodyPr>
            <a:normAutofit/>
          </a:bodyPr>
          <a:lstStyle/>
          <a:p>
            <a:r>
              <a:rPr lang="en-IN" sz="2800" dirty="0"/>
              <a:t> Constraint Satisfaction Problems</a:t>
            </a:r>
          </a:p>
        </p:txBody>
      </p:sp>
      <p:sp>
        <p:nvSpPr>
          <p:cNvPr id="3" name="Content Placeholder 2">
            <a:extLst>
              <a:ext uri="{FF2B5EF4-FFF2-40B4-BE49-F238E27FC236}">
                <a16:creationId xmlns:a16="http://schemas.microsoft.com/office/drawing/2014/main" xmlns="" id="{4E9E6B1E-32EC-2DA4-F7B2-5D3335FA6347}"/>
              </a:ext>
            </a:extLst>
          </p:cNvPr>
          <p:cNvSpPr>
            <a:spLocks noGrp="1"/>
          </p:cNvSpPr>
          <p:nvPr>
            <p:ph idx="1"/>
          </p:nvPr>
        </p:nvSpPr>
        <p:spPr>
          <a:xfrm>
            <a:off x="67113" y="1057140"/>
            <a:ext cx="11929144" cy="5800860"/>
          </a:xfrm>
        </p:spPr>
        <p:txBody>
          <a:bodyPr>
            <a:normAutofit fontScale="92500" lnSpcReduction="10000"/>
          </a:bodyPr>
          <a:lstStyle/>
          <a:p>
            <a:r>
              <a:rPr lang="en-IN" sz="2800" dirty="0"/>
              <a:t> </a:t>
            </a:r>
            <a:r>
              <a:rPr lang="en-IN" sz="1800" dirty="0"/>
              <a:t>Constraint Satisfaction Problems are mathematical questions defined as a set of objects whose state must satisfy a number of constraints or limitations</a:t>
            </a:r>
          </a:p>
          <a:p>
            <a:r>
              <a:rPr lang="en-IN" sz="1800" dirty="0" err="1"/>
              <a:t>Csps</a:t>
            </a:r>
            <a:r>
              <a:rPr lang="en-IN" sz="1800" dirty="0"/>
              <a:t> represent the objects in a problem as a collection of finite constraints over variables which is solved by constraint satisfaction method.</a:t>
            </a:r>
          </a:p>
          <a:p>
            <a:pPr marL="0" indent="0">
              <a:buNone/>
            </a:pPr>
            <a:r>
              <a:rPr lang="en-IN" sz="1800" b="1" dirty="0"/>
              <a:t>Assignment and solution of CSP</a:t>
            </a:r>
          </a:p>
          <a:p>
            <a:r>
              <a:rPr lang="en-IN" sz="1800" dirty="0">
                <a:solidFill>
                  <a:srgbClr val="FF0000"/>
                </a:solidFill>
              </a:rPr>
              <a:t>An assignment </a:t>
            </a:r>
            <a:r>
              <a:rPr lang="en-IN" sz="1800" dirty="0"/>
              <a:t>is complete when every variable is assigned a value</a:t>
            </a:r>
          </a:p>
          <a:p>
            <a:r>
              <a:rPr lang="en-IN" sz="1800" dirty="0">
                <a:solidFill>
                  <a:srgbClr val="FF0000"/>
                </a:solidFill>
              </a:rPr>
              <a:t>The solution </a:t>
            </a:r>
            <a:r>
              <a:rPr lang="en-IN" sz="1800" dirty="0"/>
              <a:t>to ACSP is a complete assignment that satisfies all constraints.</a:t>
            </a:r>
          </a:p>
          <a:p>
            <a:r>
              <a:rPr lang="en-IN" sz="1800" dirty="0"/>
              <a:t>Applications :</a:t>
            </a:r>
          </a:p>
          <a:p>
            <a:r>
              <a:rPr lang="en-IN" sz="1800" dirty="0"/>
              <a:t>map colouring</a:t>
            </a:r>
          </a:p>
          <a:p>
            <a:r>
              <a:rPr lang="en-IN" sz="1800" dirty="0"/>
              <a:t> line drawing interpretation </a:t>
            </a:r>
          </a:p>
          <a:p>
            <a:r>
              <a:rPr lang="en-IN" sz="1800" dirty="0"/>
              <a:t>scheduling problems</a:t>
            </a:r>
          </a:p>
          <a:p>
            <a:r>
              <a:rPr lang="en-IN" sz="1800" dirty="0"/>
              <a:t> floor planning for VLSI</a:t>
            </a:r>
          </a:p>
          <a:p>
            <a:endParaRPr lang="en-IN" sz="1800" dirty="0"/>
          </a:p>
          <a:p>
            <a:r>
              <a:rPr lang="en-US" sz="1800" dirty="0"/>
              <a:t>A constraint satisfaction problem consists of three components, X, D, and C:</a:t>
            </a:r>
          </a:p>
          <a:p>
            <a:r>
              <a:rPr lang="en-US" sz="1800" dirty="0"/>
              <a:t> X is a set of variables, {X1,...,</a:t>
            </a:r>
            <a:r>
              <a:rPr lang="en-US" sz="1800" dirty="0" err="1"/>
              <a:t>Xn</a:t>
            </a:r>
            <a:r>
              <a:rPr lang="en-US" sz="1800" dirty="0"/>
              <a:t>}. </a:t>
            </a:r>
          </a:p>
          <a:p>
            <a:r>
              <a:rPr lang="en-US" sz="1800" dirty="0"/>
              <a:t>D is a set of domains, {D1,...,</a:t>
            </a:r>
            <a:r>
              <a:rPr lang="en-US" sz="1800" dirty="0" err="1"/>
              <a:t>Dn</a:t>
            </a:r>
            <a:r>
              <a:rPr lang="en-US" sz="1800" dirty="0"/>
              <a:t>}, one for each variable.</a:t>
            </a:r>
          </a:p>
          <a:p>
            <a:r>
              <a:rPr lang="en-US" sz="1800" dirty="0"/>
              <a:t> C is a set of constraints that specify allowable combinations of values. Each domain Di consists of a set of allowable values, {v1,...,</a:t>
            </a:r>
            <a:r>
              <a:rPr lang="en-US" sz="1800" dirty="0" err="1"/>
              <a:t>vk</a:t>
            </a:r>
            <a:r>
              <a:rPr lang="en-US" sz="1800" dirty="0"/>
              <a:t>} for variable Xi.</a:t>
            </a:r>
            <a:endParaRPr lang="en-IN" sz="1800" dirty="0"/>
          </a:p>
          <a:p>
            <a:pPr marL="0" indent="0">
              <a:buNone/>
            </a:pPr>
            <a:endParaRPr lang="en-IN" sz="1800" b="1" dirty="0"/>
          </a:p>
        </p:txBody>
      </p:sp>
    </p:spTree>
    <p:extLst>
      <p:ext uri="{BB962C8B-B14F-4D97-AF65-F5344CB8AC3E}">
        <p14:creationId xmlns:p14="http://schemas.microsoft.com/office/powerpoint/2010/main" val="21291040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50A5178-C719-AFA1-5375-640229323244}"/>
              </a:ext>
            </a:extLst>
          </p:cNvPr>
          <p:cNvSpPr>
            <a:spLocks noGrp="1"/>
          </p:cNvSpPr>
          <p:nvPr>
            <p:ph idx="1"/>
          </p:nvPr>
        </p:nvSpPr>
        <p:spPr>
          <a:xfrm>
            <a:off x="-1" y="227012"/>
            <a:ext cx="12013036" cy="6630988"/>
          </a:xfrm>
        </p:spPr>
        <p:txBody>
          <a:bodyPr>
            <a:normAutofit/>
          </a:bodyPr>
          <a:lstStyle/>
          <a:p>
            <a:r>
              <a:rPr lang="en-US" sz="1800" dirty="0"/>
              <a:t>To solve a CSP, we need to define a state space and the notion of a solution.</a:t>
            </a:r>
          </a:p>
          <a:p>
            <a:r>
              <a:rPr lang="en-US" sz="1800" dirty="0"/>
              <a:t> Each ASSIGNMENT state in a CSP is defined by an assignment of values to some or all of the variables, {Xi = vi CONSISTENT , </a:t>
            </a:r>
            <a:r>
              <a:rPr lang="en-US" sz="1800" dirty="0" err="1"/>
              <a:t>Xj</a:t>
            </a:r>
            <a:r>
              <a:rPr lang="en-US" sz="1800" dirty="0"/>
              <a:t> = </a:t>
            </a:r>
            <a:r>
              <a:rPr lang="en-US" sz="1800" dirty="0" err="1"/>
              <a:t>vj</a:t>
            </a:r>
            <a:r>
              <a:rPr lang="en-US" sz="1800" dirty="0"/>
              <a:t> ,...}. </a:t>
            </a:r>
          </a:p>
          <a:p>
            <a:r>
              <a:rPr lang="en-US" sz="1800" dirty="0"/>
              <a:t>An assignment that does not violate any constraints is called a consistent or legal assignment.</a:t>
            </a:r>
          </a:p>
          <a:p>
            <a:r>
              <a:rPr lang="en-US" sz="1800" dirty="0"/>
              <a:t> A </a:t>
            </a:r>
            <a:r>
              <a:rPr lang="en-US" sz="1800" dirty="0">
                <a:solidFill>
                  <a:srgbClr val="FF0000"/>
                </a:solidFill>
              </a:rPr>
              <a:t>complete assignment </a:t>
            </a:r>
            <a:r>
              <a:rPr lang="en-IN" sz="1800" dirty="0"/>
              <a:t>Is one in which every variable is maintained and a solution to CSP That is a complete assignment that satisfies all the constraints.</a:t>
            </a:r>
          </a:p>
          <a:p>
            <a:r>
              <a:rPr lang="en-IN" sz="1800" dirty="0"/>
              <a:t>Some CSP also required a solution that maximise an objective function</a:t>
            </a:r>
            <a:endParaRPr lang="en-US" sz="1800" dirty="0"/>
          </a:p>
          <a:p>
            <a:r>
              <a:rPr lang="en-US" sz="1800" dirty="0"/>
              <a:t>A partial assignment is one that assigns values to only some of the variables.</a:t>
            </a:r>
          </a:p>
          <a:p>
            <a:pPr marL="0" indent="0">
              <a:buNone/>
            </a:pPr>
            <a:r>
              <a:rPr lang="en-IN" sz="1800" b="1" dirty="0"/>
              <a:t>Types of constraints in CSP</a:t>
            </a:r>
          </a:p>
          <a:p>
            <a:pPr>
              <a:buFont typeface="+mj-lt"/>
              <a:buAutoNum type="arabicPeriod"/>
            </a:pPr>
            <a:r>
              <a:rPr lang="en-US" sz="1800" b="1" dirty="0"/>
              <a:t>Unary Constraints</a:t>
            </a:r>
            <a:r>
              <a:rPr lang="en-US" sz="1800" dirty="0"/>
              <a:t>:</a:t>
            </a:r>
          </a:p>
          <a:p>
            <a:pPr marL="742950" lvl="1" indent="-285750">
              <a:buFont typeface="+mj-lt"/>
              <a:buAutoNum type="arabicPeriod"/>
            </a:pPr>
            <a:r>
              <a:rPr lang="en-US" sz="1800" dirty="0"/>
              <a:t>Apply to a single variable.</a:t>
            </a:r>
          </a:p>
          <a:p>
            <a:pPr marL="742950" lvl="1" indent="-285750">
              <a:buFont typeface="+mj-lt"/>
              <a:buAutoNum type="arabicPeriod"/>
            </a:pPr>
            <a:r>
              <a:rPr lang="en-US" sz="1800" dirty="0"/>
              <a:t>Restrict the value that a variable can take.</a:t>
            </a:r>
          </a:p>
          <a:p>
            <a:pPr>
              <a:buFont typeface="Arial" panose="020B0604020202020204" pitchFamily="34" charset="0"/>
              <a:buChar char="•"/>
            </a:pPr>
            <a:r>
              <a:rPr lang="en-US" sz="1800" b="1" dirty="0"/>
              <a:t>Example:</a:t>
            </a:r>
            <a:r>
              <a:rPr lang="en-US" sz="1800" dirty="0"/>
              <a:t> Suppose you have a variable X that represents a color. A unary constraint might specify that X can only be the color "Red."</a:t>
            </a:r>
          </a:p>
          <a:p>
            <a:pPr>
              <a:buFont typeface="Arial" panose="020B0604020202020204" pitchFamily="34" charset="0"/>
              <a:buChar char="•"/>
            </a:pPr>
            <a:r>
              <a:rPr lang="en-US" sz="1800" b="1" dirty="0"/>
              <a:t>Formalization:</a:t>
            </a:r>
            <a:r>
              <a:rPr lang="en-US" sz="1800" dirty="0"/>
              <a:t> X="Red"</a:t>
            </a:r>
          </a:p>
          <a:p>
            <a:pPr>
              <a:buFont typeface="Arial" panose="020B0604020202020204" pitchFamily="34" charset="0"/>
              <a:buChar char="•"/>
            </a:pPr>
            <a:r>
              <a:rPr lang="en-US" sz="1800" b="1" dirty="0"/>
              <a:t>Context:</a:t>
            </a:r>
            <a:r>
              <a:rPr lang="en-US" sz="1800" dirty="0"/>
              <a:t> In a scheduling problem, a unary constraint could be that a particular task must occur on Monday.</a:t>
            </a:r>
          </a:p>
          <a:p>
            <a:endParaRPr lang="en-IN" sz="1800" dirty="0"/>
          </a:p>
        </p:txBody>
      </p:sp>
    </p:spTree>
    <p:extLst>
      <p:ext uri="{BB962C8B-B14F-4D97-AF65-F5344CB8AC3E}">
        <p14:creationId xmlns:p14="http://schemas.microsoft.com/office/powerpoint/2010/main" val="16036449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362E256-A9E4-2C31-1373-654B72D8B1CB}"/>
              </a:ext>
            </a:extLst>
          </p:cNvPr>
          <p:cNvSpPr>
            <a:spLocks noGrp="1"/>
          </p:cNvSpPr>
          <p:nvPr>
            <p:ph idx="1"/>
          </p:nvPr>
        </p:nvSpPr>
        <p:spPr>
          <a:xfrm>
            <a:off x="1" y="142614"/>
            <a:ext cx="11971090" cy="6715386"/>
          </a:xfrm>
        </p:spPr>
        <p:txBody>
          <a:bodyPr>
            <a:noAutofit/>
          </a:bodyPr>
          <a:lstStyle/>
          <a:p>
            <a:pPr algn="just"/>
            <a:r>
              <a:rPr lang="en-US" sz="1600" b="1" dirty="0"/>
              <a:t>2. Binary Constraints</a:t>
            </a:r>
          </a:p>
          <a:p>
            <a:pPr marL="742950" lvl="1" indent="-285750" algn="just">
              <a:buFont typeface="+mj-lt"/>
              <a:buAutoNum type="arabicPeriod"/>
            </a:pPr>
            <a:r>
              <a:rPr lang="en-US" sz="1600" dirty="0"/>
              <a:t>Involve two variables.</a:t>
            </a:r>
          </a:p>
          <a:p>
            <a:pPr marL="742950" lvl="1" indent="-285750" algn="just">
              <a:buFont typeface="+mj-lt"/>
              <a:buAutoNum type="arabicPeriod"/>
            </a:pPr>
            <a:r>
              <a:rPr lang="en-US" sz="1600" dirty="0"/>
              <a:t>Define restrictions between the values of these two variables.</a:t>
            </a:r>
          </a:p>
          <a:p>
            <a:pPr marL="742950" lvl="1" indent="-285750" algn="just">
              <a:buFont typeface="+mj-lt"/>
              <a:buAutoNum type="arabicPeriod"/>
            </a:pPr>
            <a:r>
              <a:rPr lang="en-IN" sz="1600" dirty="0"/>
              <a:t>, graph colouring</a:t>
            </a:r>
            <a:endParaRPr lang="en-US" sz="1600" dirty="0"/>
          </a:p>
          <a:p>
            <a:pPr algn="just">
              <a:buFont typeface="Arial" panose="020B0604020202020204" pitchFamily="34" charset="0"/>
              <a:buChar char="•"/>
            </a:pPr>
            <a:r>
              <a:rPr lang="en-US" sz="1600" b="1" dirty="0"/>
              <a:t>Example:</a:t>
            </a:r>
            <a:r>
              <a:rPr lang="en-US" sz="1600" dirty="0"/>
              <a:t> Consider two variables, X1​ and X2​, representing two different colors. A binary constraint could be that X1and X2​ cannot have the same color.</a:t>
            </a:r>
          </a:p>
          <a:p>
            <a:pPr algn="just">
              <a:buFont typeface="Arial" panose="020B0604020202020204" pitchFamily="34" charset="0"/>
              <a:buChar char="•"/>
            </a:pPr>
            <a:r>
              <a:rPr lang="en-US" sz="1600" b="1" dirty="0"/>
              <a:t>Formalization:</a:t>
            </a:r>
            <a:r>
              <a:rPr lang="en-US" sz="1600" dirty="0"/>
              <a:t> X1≠X2</a:t>
            </a:r>
          </a:p>
          <a:p>
            <a:pPr algn="just">
              <a:buFont typeface="Arial" panose="020B0604020202020204" pitchFamily="34" charset="0"/>
              <a:buChar char="•"/>
            </a:pPr>
            <a:r>
              <a:rPr lang="en-US" sz="1600" b="1" dirty="0"/>
              <a:t>Context:</a:t>
            </a:r>
            <a:r>
              <a:rPr lang="en-US" sz="1600" dirty="0"/>
              <a:t> In the classic map-coloring problem, neighboring regions (represented by X1 and X2) must be colored differently.</a:t>
            </a:r>
          </a:p>
          <a:p>
            <a:pPr algn="just"/>
            <a:r>
              <a:rPr lang="en-US" sz="1600" b="1" dirty="0"/>
              <a:t>3. Higher-Order Constraints</a:t>
            </a:r>
          </a:p>
          <a:p>
            <a:pPr marL="742950" lvl="1" indent="-285750" algn="just">
              <a:buFont typeface="+mj-lt"/>
              <a:buAutoNum type="arabicPeriod"/>
            </a:pPr>
            <a:r>
              <a:rPr lang="en-US" sz="1600" dirty="0"/>
              <a:t>Involve three or more variables.</a:t>
            </a:r>
          </a:p>
          <a:p>
            <a:pPr marL="742950" lvl="1" indent="-285750" algn="just">
              <a:buFont typeface="+mj-lt"/>
              <a:buAutoNum type="arabicPeriod"/>
            </a:pPr>
            <a:r>
              <a:rPr lang="en-US" sz="1600" dirty="0"/>
              <a:t>Define restrictions among the values of these multiple variables.</a:t>
            </a:r>
          </a:p>
          <a:p>
            <a:pPr algn="just">
              <a:buFont typeface="Arial" panose="020B0604020202020204" pitchFamily="34" charset="0"/>
              <a:buChar char="•"/>
            </a:pPr>
            <a:r>
              <a:rPr lang="en-US" sz="1600" b="1" dirty="0"/>
              <a:t>Example:</a:t>
            </a:r>
            <a:r>
              <a:rPr lang="en-US" sz="1600" dirty="0"/>
              <a:t> Consider three variables X1,X2​, and X3, each representing a different person. A higher-order constraint could be that these three people must be assigned different tasks.</a:t>
            </a:r>
          </a:p>
          <a:p>
            <a:pPr algn="just">
              <a:buFont typeface="Arial" panose="020B0604020202020204" pitchFamily="34" charset="0"/>
              <a:buChar char="•"/>
            </a:pPr>
            <a:r>
              <a:rPr lang="en-US" sz="1600" b="1" dirty="0"/>
              <a:t>Formalization:</a:t>
            </a:r>
            <a:r>
              <a:rPr lang="en-US" sz="1600" dirty="0"/>
              <a:t> X1≠X2≠X3</a:t>
            </a:r>
          </a:p>
          <a:p>
            <a:pPr algn="just">
              <a:buFont typeface="Arial" panose="020B0604020202020204" pitchFamily="34" charset="0"/>
              <a:buChar char="•"/>
            </a:pPr>
            <a:r>
              <a:rPr lang="en-US" sz="1600" b="1" dirty="0"/>
              <a:t>Context:</a:t>
            </a:r>
            <a:r>
              <a:rPr lang="en-US" sz="1600" dirty="0"/>
              <a:t> In a resource allocation problem, three tasks cannot be assigned to the same resource.</a:t>
            </a:r>
          </a:p>
          <a:p>
            <a:pPr algn="just"/>
            <a:r>
              <a:rPr lang="en-US" sz="1600" b="1" dirty="0"/>
              <a:t>4. Global Constraints</a:t>
            </a:r>
          </a:p>
          <a:p>
            <a:pPr marL="742950" lvl="1" indent="-285750" algn="just">
              <a:buFont typeface="+mj-lt"/>
              <a:buAutoNum type="arabicPeriod"/>
            </a:pPr>
            <a:r>
              <a:rPr lang="en-US" sz="1600" dirty="0"/>
              <a:t>Involve a large number of variables.</a:t>
            </a:r>
          </a:p>
          <a:p>
            <a:pPr marL="742950" lvl="1" indent="-285750" algn="just">
              <a:buFont typeface="+mj-lt"/>
              <a:buAutoNum type="arabicPeriod"/>
            </a:pPr>
            <a:r>
              <a:rPr lang="en-US" sz="1600" dirty="0"/>
              <a:t>Express complex relationships that hold over many variables</a:t>
            </a:r>
            <a:endParaRPr lang="en-US" sz="1600" b="1" dirty="0"/>
          </a:p>
          <a:p>
            <a:pPr algn="just">
              <a:buFont typeface="Arial" panose="020B0604020202020204" pitchFamily="34" charset="0"/>
              <a:buChar char="•"/>
            </a:pPr>
            <a:r>
              <a:rPr lang="en-US" sz="1600" b="1" dirty="0"/>
              <a:t>Example:</a:t>
            </a:r>
            <a:r>
              <a:rPr lang="en-US" sz="1600" dirty="0"/>
              <a:t> A common global constraint is the "All-Different" constraint, which specifies that all variables in a set must take different values.</a:t>
            </a:r>
          </a:p>
          <a:p>
            <a:pPr algn="just">
              <a:buFont typeface="Arial" panose="020B0604020202020204" pitchFamily="34" charset="0"/>
              <a:buChar char="•"/>
            </a:pPr>
            <a:r>
              <a:rPr lang="en-US" sz="1600" b="1" dirty="0"/>
              <a:t>Formalization:</a:t>
            </a:r>
            <a:r>
              <a:rPr lang="en-US" sz="1600" dirty="0"/>
              <a:t> All-Different(X1,X2,…,</a:t>
            </a:r>
            <a:r>
              <a:rPr lang="en-US" sz="1600" dirty="0" err="1"/>
              <a:t>Xn</a:t>
            </a:r>
            <a:r>
              <a:rPr lang="en-US" sz="1600" dirty="0"/>
              <a:t>).</a:t>
            </a:r>
          </a:p>
          <a:p>
            <a:pPr algn="just">
              <a:buFont typeface="Arial" panose="020B0604020202020204" pitchFamily="34" charset="0"/>
              <a:buChar char="•"/>
            </a:pPr>
            <a:r>
              <a:rPr lang="en-US" sz="1600" b="1" dirty="0"/>
              <a:t>Context:</a:t>
            </a:r>
            <a:r>
              <a:rPr lang="en-US" sz="1600" dirty="0"/>
              <a:t> In a Sudoku puzzle, each row, column, and 3x3 </a:t>
            </a:r>
            <a:r>
              <a:rPr lang="en-US" sz="1600" dirty="0" err="1"/>
              <a:t>subgrid</a:t>
            </a:r>
            <a:r>
              <a:rPr lang="en-US" sz="1600" dirty="0"/>
              <a:t> must contain all different numbers from 1 to 9.</a:t>
            </a:r>
          </a:p>
          <a:p>
            <a:pPr algn="just"/>
            <a:endParaRPr lang="en-IN" sz="1600" dirty="0"/>
          </a:p>
        </p:txBody>
      </p:sp>
    </p:spTree>
    <p:extLst>
      <p:ext uri="{BB962C8B-B14F-4D97-AF65-F5344CB8AC3E}">
        <p14:creationId xmlns:p14="http://schemas.microsoft.com/office/powerpoint/2010/main" val="36375659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E938D9-52C5-CE2E-B451-7296D0D6CBD7}"/>
              </a:ext>
            </a:extLst>
          </p:cNvPr>
          <p:cNvSpPr>
            <a:spLocks noGrp="1"/>
          </p:cNvSpPr>
          <p:nvPr>
            <p:ph type="title"/>
          </p:nvPr>
        </p:nvSpPr>
        <p:spPr>
          <a:xfrm>
            <a:off x="58723" y="83891"/>
            <a:ext cx="11295076" cy="597146"/>
          </a:xfrm>
        </p:spPr>
        <p:txBody>
          <a:bodyPr>
            <a:normAutofit/>
          </a:bodyPr>
          <a:lstStyle/>
          <a:p>
            <a:r>
              <a:rPr lang="en-US" sz="2800" dirty="0"/>
              <a:t>examples of Constraint Satisfaction Problems (CSPs)</a:t>
            </a:r>
            <a:endParaRPr lang="en-IN" sz="2800" dirty="0"/>
          </a:p>
        </p:txBody>
      </p:sp>
      <p:sp>
        <p:nvSpPr>
          <p:cNvPr id="3" name="Content Placeholder 2">
            <a:extLst>
              <a:ext uri="{FF2B5EF4-FFF2-40B4-BE49-F238E27FC236}">
                <a16:creationId xmlns:a16="http://schemas.microsoft.com/office/drawing/2014/main" xmlns="" id="{7ECAC789-23B2-A564-BAE7-A9654DDD1342}"/>
              </a:ext>
            </a:extLst>
          </p:cNvPr>
          <p:cNvSpPr>
            <a:spLocks noGrp="1"/>
          </p:cNvSpPr>
          <p:nvPr>
            <p:ph idx="1"/>
          </p:nvPr>
        </p:nvSpPr>
        <p:spPr>
          <a:xfrm>
            <a:off x="134224" y="681037"/>
            <a:ext cx="11219576" cy="5495926"/>
          </a:xfrm>
        </p:spPr>
        <p:txBody>
          <a:bodyPr>
            <a:normAutofit fontScale="70000" lnSpcReduction="20000"/>
          </a:bodyPr>
          <a:lstStyle/>
          <a:p>
            <a:pPr marL="0" indent="0">
              <a:buNone/>
            </a:pPr>
            <a:r>
              <a:rPr lang="en-US" b="1" dirty="0"/>
              <a:t>Map Coloring Problem</a:t>
            </a:r>
          </a:p>
          <a:p>
            <a:pPr>
              <a:buFont typeface="Arial" panose="020B0604020202020204" pitchFamily="34" charset="0"/>
              <a:buChar char="•"/>
            </a:pPr>
            <a:r>
              <a:rPr lang="en-US" b="1" dirty="0"/>
              <a:t>Problem:</a:t>
            </a:r>
            <a:r>
              <a:rPr lang="en-US" dirty="0"/>
              <a:t> You are given a map with different regions. The goal is to color the regions such that no two adjacent regions have the same color, using a limited set of colors (e.g., Red, Green, Blue).</a:t>
            </a:r>
          </a:p>
          <a:p>
            <a:pPr>
              <a:buFont typeface="Arial" panose="020B0604020202020204" pitchFamily="34" charset="0"/>
              <a:buChar char="•"/>
            </a:pPr>
            <a:r>
              <a:rPr lang="en-US" b="1" dirty="0"/>
              <a:t>Variables:</a:t>
            </a:r>
            <a:r>
              <a:rPr lang="en-US" dirty="0"/>
              <a:t> Each region on the map.</a:t>
            </a:r>
          </a:p>
          <a:p>
            <a:pPr>
              <a:buFont typeface="Arial" panose="020B0604020202020204" pitchFamily="34" charset="0"/>
              <a:buChar char="•"/>
            </a:pPr>
            <a:r>
              <a:rPr lang="en-US" b="1" dirty="0"/>
              <a:t>Domain:</a:t>
            </a:r>
            <a:r>
              <a:rPr lang="en-US" dirty="0"/>
              <a:t> The set of colors (e.g., {Red, Green, Blue}).</a:t>
            </a:r>
          </a:p>
          <a:p>
            <a:pPr>
              <a:buFont typeface="Arial" panose="020B0604020202020204" pitchFamily="34" charset="0"/>
              <a:buChar char="•"/>
            </a:pPr>
            <a:r>
              <a:rPr lang="en-US" b="1" dirty="0"/>
              <a:t>Constraints:</a:t>
            </a:r>
            <a:r>
              <a:rPr lang="en-US" dirty="0"/>
              <a:t> No two adjacent regions can have the same color (binary constraints).</a:t>
            </a:r>
          </a:p>
          <a:p>
            <a:pPr>
              <a:buFont typeface="Arial" panose="020B0604020202020204" pitchFamily="34" charset="0"/>
              <a:buChar char="•"/>
            </a:pPr>
            <a:r>
              <a:rPr lang="en-US" b="1" dirty="0"/>
              <a:t>Example:</a:t>
            </a:r>
            <a:r>
              <a:rPr lang="en-US" dirty="0"/>
              <a:t> If regions A and B share a border, then the constraint is A≠B</a:t>
            </a:r>
          </a:p>
          <a:p>
            <a:pPr marL="0" indent="0">
              <a:buNone/>
            </a:pPr>
            <a:r>
              <a:rPr lang="en-US" b="1" dirty="0"/>
              <a:t> N-Queens Problem</a:t>
            </a:r>
          </a:p>
          <a:p>
            <a:pPr>
              <a:buFont typeface="Arial" panose="020B0604020202020204" pitchFamily="34" charset="0"/>
              <a:buChar char="•"/>
            </a:pPr>
            <a:r>
              <a:rPr lang="en-US" b="1" dirty="0"/>
              <a:t>Problem:</a:t>
            </a:r>
            <a:r>
              <a:rPr lang="en-US" dirty="0"/>
              <a:t> Place N queens on an N×N chessboard such that no two queens can attack each other (i.e., no two queens are in the same row, column, or diagonal).</a:t>
            </a:r>
          </a:p>
          <a:p>
            <a:pPr>
              <a:buFont typeface="Arial" panose="020B0604020202020204" pitchFamily="34" charset="0"/>
              <a:buChar char="•"/>
            </a:pPr>
            <a:r>
              <a:rPr lang="en-US" b="1" dirty="0"/>
              <a:t>Variables:</a:t>
            </a:r>
            <a:r>
              <a:rPr lang="en-US" dirty="0"/>
              <a:t> Each queen (or row on the board).</a:t>
            </a:r>
          </a:p>
          <a:p>
            <a:pPr>
              <a:buFont typeface="Arial" panose="020B0604020202020204" pitchFamily="34" charset="0"/>
              <a:buChar char="•"/>
            </a:pPr>
            <a:r>
              <a:rPr lang="en-US" b="1" dirty="0"/>
              <a:t>Domain:</a:t>
            </a:r>
            <a:r>
              <a:rPr lang="en-US" dirty="0"/>
              <a:t> The possible columns in which a queen can be placed (e.g., for a 4x4 board, the domain is {1, 2, 3, 4}).</a:t>
            </a:r>
          </a:p>
          <a:p>
            <a:pPr>
              <a:buFont typeface="Arial" panose="020B0604020202020204" pitchFamily="34" charset="0"/>
              <a:buChar char="•"/>
            </a:pPr>
            <a:r>
              <a:rPr lang="en-US" b="1" dirty="0"/>
              <a:t>Constraints:</a:t>
            </a:r>
            <a:r>
              <a:rPr lang="en-US" dirty="0"/>
              <a:t> No two queens can share the same row, column, or diagonal (higher-order constraints).</a:t>
            </a:r>
          </a:p>
          <a:p>
            <a:pPr>
              <a:buFont typeface="Arial" panose="020B0604020202020204" pitchFamily="34" charset="0"/>
              <a:buChar char="•"/>
            </a:pPr>
            <a:r>
              <a:rPr lang="en-US" b="1" dirty="0"/>
              <a:t>Example:</a:t>
            </a:r>
            <a:r>
              <a:rPr lang="en-US" dirty="0"/>
              <a:t> For a 4-queen problem, if one queen is placed at position (1,1), another queen cannot be in row 1, column 1, or diagonal from (1,1).</a:t>
            </a:r>
          </a:p>
          <a:p>
            <a:endParaRPr lang="en-IN" dirty="0"/>
          </a:p>
        </p:txBody>
      </p:sp>
    </p:spTree>
    <p:extLst>
      <p:ext uri="{BB962C8B-B14F-4D97-AF65-F5344CB8AC3E}">
        <p14:creationId xmlns:p14="http://schemas.microsoft.com/office/powerpoint/2010/main" val="18652801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1137C3C-CACB-EAEC-1A82-6C5D6A40931A}"/>
              </a:ext>
            </a:extLst>
          </p:cNvPr>
          <p:cNvSpPr>
            <a:spLocks noGrp="1"/>
          </p:cNvSpPr>
          <p:nvPr>
            <p:ph idx="1"/>
          </p:nvPr>
        </p:nvSpPr>
        <p:spPr>
          <a:xfrm>
            <a:off x="1" y="142612"/>
            <a:ext cx="12029812" cy="6715387"/>
          </a:xfrm>
        </p:spPr>
        <p:txBody>
          <a:bodyPr>
            <a:normAutofit fontScale="92500" lnSpcReduction="20000"/>
          </a:bodyPr>
          <a:lstStyle/>
          <a:p>
            <a:pPr marL="0" indent="0">
              <a:buNone/>
            </a:pPr>
            <a:r>
              <a:rPr lang="en-US" sz="1800" b="1" dirty="0"/>
              <a:t>Sudoku Puzzle</a:t>
            </a:r>
          </a:p>
          <a:p>
            <a:pPr>
              <a:buFont typeface="Arial" panose="020B0604020202020204" pitchFamily="34" charset="0"/>
              <a:buChar char="•"/>
            </a:pPr>
            <a:r>
              <a:rPr lang="en-US" sz="1800" b="1" dirty="0"/>
              <a:t>Problem:</a:t>
            </a:r>
            <a:r>
              <a:rPr lang="en-US" sz="1800" dirty="0"/>
              <a:t> Fill a 9x9 grid so that each row, each column, and each of the nine 3x3 </a:t>
            </a:r>
            <a:r>
              <a:rPr lang="en-US" sz="1800" dirty="0" err="1"/>
              <a:t>subgrids</a:t>
            </a:r>
            <a:r>
              <a:rPr lang="en-US" sz="1800" dirty="0"/>
              <a:t> contain all the digits from 1 to 9 without repetition.</a:t>
            </a:r>
          </a:p>
          <a:p>
            <a:pPr>
              <a:buFont typeface="Arial" panose="020B0604020202020204" pitchFamily="34" charset="0"/>
              <a:buChar char="•"/>
            </a:pPr>
            <a:r>
              <a:rPr lang="en-US" sz="1800" b="1" dirty="0"/>
              <a:t>Variables:</a:t>
            </a:r>
            <a:r>
              <a:rPr lang="en-US" sz="1800" dirty="0"/>
              <a:t> Each cell in the 9x9 grid.</a:t>
            </a:r>
          </a:p>
          <a:p>
            <a:pPr>
              <a:buFont typeface="Arial" panose="020B0604020202020204" pitchFamily="34" charset="0"/>
              <a:buChar char="•"/>
            </a:pPr>
            <a:r>
              <a:rPr lang="en-US" sz="1800" b="1" dirty="0"/>
              <a:t>Domain:</a:t>
            </a:r>
            <a:r>
              <a:rPr lang="en-US" sz="1800" dirty="0"/>
              <a:t> The digits {1, 2, 3, 4, 5, 6, 7, 8, 9}.</a:t>
            </a:r>
          </a:p>
          <a:p>
            <a:pPr>
              <a:buFont typeface="Arial" panose="020B0604020202020204" pitchFamily="34" charset="0"/>
              <a:buChar char="•"/>
            </a:pPr>
            <a:r>
              <a:rPr lang="en-US" sz="1800" b="1" dirty="0"/>
              <a:t>Constraints:</a:t>
            </a:r>
            <a:endParaRPr lang="en-US" sz="1800" dirty="0"/>
          </a:p>
          <a:p>
            <a:pPr marL="742950" lvl="1" indent="-285750">
              <a:buFont typeface="Arial" panose="020B0604020202020204" pitchFamily="34" charset="0"/>
              <a:buChar char="•"/>
            </a:pPr>
            <a:r>
              <a:rPr lang="en-US" sz="1800" dirty="0"/>
              <a:t>Each row must contain all different numbers (global constraint).</a:t>
            </a:r>
          </a:p>
          <a:p>
            <a:pPr marL="742950" lvl="1" indent="-285750">
              <a:buFont typeface="Arial" panose="020B0604020202020204" pitchFamily="34" charset="0"/>
              <a:buChar char="•"/>
            </a:pPr>
            <a:r>
              <a:rPr lang="en-US" sz="1800" dirty="0"/>
              <a:t>Each column must contain all different numbers (global constraint).</a:t>
            </a:r>
          </a:p>
          <a:p>
            <a:pPr marL="742950" lvl="1" indent="-285750">
              <a:buFont typeface="Arial" panose="020B0604020202020204" pitchFamily="34" charset="0"/>
              <a:buChar char="•"/>
            </a:pPr>
            <a:r>
              <a:rPr lang="en-US" sz="1800" dirty="0"/>
              <a:t>Each 3x3 </a:t>
            </a:r>
            <a:r>
              <a:rPr lang="en-US" sz="1800" dirty="0" err="1"/>
              <a:t>subgrid</a:t>
            </a:r>
            <a:r>
              <a:rPr lang="en-US" sz="1800" dirty="0"/>
              <a:t> must contain all different numbers (global constraint).</a:t>
            </a:r>
          </a:p>
          <a:p>
            <a:pPr marL="0" indent="0">
              <a:buNone/>
            </a:pPr>
            <a:r>
              <a:rPr lang="en-US" sz="1800" b="1" dirty="0"/>
              <a:t> Job Scheduling Problem</a:t>
            </a:r>
          </a:p>
          <a:p>
            <a:pPr>
              <a:buFont typeface="Arial" panose="020B0604020202020204" pitchFamily="34" charset="0"/>
              <a:buChar char="•"/>
            </a:pPr>
            <a:r>
              <a:rPr lang="en-US" sz="1800" b="1" dirty="0"/>
              <a:t>Problem:</a:t>
            </a:r>
            <a:r>
              <a:rPr lang="en-US" sz="1800" dirty="0"/>
              <a:t> Assign a set of jobs to a set of time slots or machines such that no two jobs overlap in time or use the same machine simultaneously.</a:t>
            </a:r>
          </a:p>
          <a:p>
            <a:pPr>
              <a:buFont typeface="Arial" panose="020B0604020202020204" pitchFamily="34" charset="0"/>
              <a:buChar char="•"/>
            </a:pPr>
            <a:r>
              <a:rPr lang="en-US" sz="1800" b="1" dirty="0"/>
              <a:t>Variables:</a:t>
            </a:r>
            <a:r>
              <a:rPr lang="en-US" sz="1800" dirty="0"/>
              <a:t> Each job.</a:t>
            </a:r>
          </a:p>
          <a:p>
            <a:pPr>
              <a:buFont typeface="Arial" panose="020B0604020202020204" pitchFamily="34" charset="0"/>
              <a:buChar char="•"/>
            </a:pPr>
            <a:r>
              <a:rPr lang="en-US" sz="1800" b="1" dirty="0"/>
              <a:t>Domain:</a:t>
            </a:r>
            <a:r>
              <a:rPr lang="en-US" sz="1800" dirty="0"/>
              <a:t> The possible time slots or machines available.</a:t>
            </a:r>
          </a:p>
          <a:p>
            <a:pPr>
              <a:buFont typeface="Arial" panose="020B0604020202020204" pitchFamily="34" charset="0"/>
              <a:buChar char="•"/>
            </a:pPr>
            <a:r>
              <a:rPr lang="en-US" sz="1800" b="1" dirty="0"/>
              <a:t>Constraints:</a:t>
            </a:r>
            <a:endParaRPr lang="en-US" sz="1800" dirty="0"/>
          </a:p>
          <a:p>
            <a:pPr marL="742950" lvl="1" indent="-285750">
              <a:buFont typeface="Arial" panose="020B0604020202020204" pitchFamily="34" charset="0"/>
              <a:buChar char="•"/>
            </a:pPr>
            <a:r>
              <a:rPr lang="en-US" sz="1800" dirty="0"/>
              <a:t>No two jobs can overlap in the same time slot (binary constraint).</a:t>
            </a:r>
          </a:p>
          <a:p>
            <a:pPr marL="742950" lvl="1" indent="-285750">
              <a:buFont typeface="Arial" panose="020B0604020202020204" pitchFamily="34" charset="0"/>
              <a:buChar char="•"/>
            </a:pPr>
            <a:r>
              <a:rPr lang="en-US" sz="1800" dirty="0"/>
              <a:t>If jobs share a resource (e.g., a machine), they cannot be scheduled at the same time (binary constraint).</a:t>
            </a:r>
          </a:p>
          <a:p>
            <a:pPr marL="0" indent="0">
              <a:buNone/>
            </a:pPr>
            <a:r>
              <a:rPr lang="en-US" sz="1800" b="1" dirty="0"/>
              <a:t>Cryptarithmetic Puzzle (SEND + MORE = MONEY)</a:t>
            </a:r>
          </a:p>
          <a:p>
            <a:pPr>
              <a:buFont typeface="Arial" panose="020B0604020202020204" pitchFamily="34" charset="0"/>
              <a:buChar char="•"/>
            </a:pPr>
            <a:r>
              <a:rPr lang="en-US" sz="1800" b="1" dirty="0"/>
              <a:t>Problem:</a:t>
            </a:r>
            <a:r>
              <a:rPr lang="en-US" sz="1800" dirty="0"/>
              <a:t> Assign digits to letters in such a way that the arithmetic sum is correct, with each letter representing a unique digit.</a:t>
            </a:r>
          </a:p>
          <a:p>
            <a:pPr>
              <a:buFont typeface="Arial" panose="020B0604020202020204" pitchFamily="34" charset="0"/>
              <a:buChar char="•"/>
            </a:pPr>
            <a:r>
              <a:rPr lang="en-US" sz="1800" b="1" dirty="0"/>
              <a:t>Variables:</a:t>
            </a:r>
            <a:r>
              <a:rPr lang="en-US" sz="1800" dirty="0"/>
              <a:t> The letters (S, E, N, D, M, O, R, Y).</a:t>
            </a:r>
          </a:p>
          <a:p>
            <a:pPr>
              <a:buFont typeface="Arial" panose="020B0604020202020204" pitchFamily="34" charset="0"/>
              <a:buChar char="•"/>
            </a:pPr>
            <a:r>
              <a:rPr lang="en-US" sz="1800" b="1" dirty="0"/>
              <a:t>Domain:</a:t>
            </a:r>
            <a:r>
              <a:rPr lang="en-US" sz="1800" dirty="0"/>
              <a:t> The digits {0, 1, 2, 3, 4, 5, 6, 7, 8, 9}.</a:t>
            </a:r>
          </a:p>
          <a:p>
            <a:pPr>
              <a:buFont typeface="Arial" panose="020B0604020202020204" pitchFamily="34" charset="0"/>
              <a:buChar char="•"/>
            </a:pPr>
            <a:r>
              <a:rPr lang="en-US" sz="1800" b="1" dirty="0"/>
              <a:t>Constraints:</a:t>
            </a:r>
            <a:endParaRPr lang="en-US" sz="1800" dirty="0"/>
          </a:p>
          <a:p>
            <a:pPr marL="742950" lvl="1" indent="-285750">
              <a:buFont typeface="Arial" panose="020B0604020202020204" pitchFamily="34" charset="0"/>
              <a:buChar char="•"/>
            </a:pPr>
            <a:r>
              <a:rPr lang="en-US" sz="1800" dirty="0"/>
              <a:t>Each letter must represent a different digit (global constraint).</a:t>
            </a:r>
          </a:p>
          <a:p>
            <a:pPr marL="742950" lvl="1" indent="-285750">
              <a:buFont typeface="Arial" panose="020B0604020202020204" pitchFamily="34" charset="0"/>
              <a:buChar char="•"/>
            </a:pPr>
            <a:r>
              <a:rPr lang="en-US" sz="1800" dirty="0"/>
              <a:t>The sum SEND + MORE must equal MONEY (higher-order constraint).</a:t>
            </a:r>
          </a:p>
          <a:p>
            <a:pPr marL="742950" lvl="1" indent="-285750">
              <a:buFont typeface="Arial" panose="020B0604020202020204" pitchFamily="34" charset="0"/>
              <a:buChar char="•"/>
            </a:pPr>
            <a:endParaRPr lang="en-US" sz="1800" dirty="0"/>
          </a:p>
          <a:p>
            <a:endParaRPr lang="en-IN" sz="1800" dirty="0"/>
          </a:p>
        </p:txBody>
      </p:sp>
    </p:spTree>
    <p:extLst>
      <p:ext uri="{BB962C8B-B14F-4D97-AF65-F5344CB8AC3E}">
        <p14:creationId xmlns:p14="http://schemas.microsoft.com/office/powerpoint/2010/main" val="41268175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1300D2-AE81-F280-957E-B9A7D8B86B7A}"/>
              </a:ext>
            </a:extLst>
          </p:cNvPr>
          <p:cNvSpPr>
            <a:spLocks noGrp="1"/>
          </p:cNvSpPr>
          <p:nvPr>
            <p:ph type="title"/>
          </p:nvPr>
        </p:nvSpPr>
        <p:spPr>
          <a:xfrm>
            <a:off x="68094" y="0"/>
            <a:ext cx="10283757" cy="681038"/>
          </a:xfrm>
        </p:spPr>
        <p:txBody>
          <a:bodyPr>
            <a:normAutofit/>
          </a:bodyPr>
          <a:lstStyle/>
          <a:p>
            <a:r>
              <a:rPr lang="en-IN" sz="2800" dirty="0"/>
              <a:t>Example problem: Map </a:t>
            </a:r>
            <a:r>
              <a:rPr lang="en-IN" sz="2800" dirty="0" err="1"/>
              <a:t>coloring</a:t>
            </a:r>
            <a:endParaRPr lang="en-IN" sz="2800" dirty="0"/>
          </a:p>
        </p:txBody>
      </p:sp>
      <p:sp>
        <p:nvSpPr>
          <p:cNvPr id="3" name="Content Placeholder 2">
            <a:extLst>
              <a:ext uri="{FF2B5EF4-FFF2-40B4-BE49-F238E27FC236}">
                <a16:creationId xmlns:a16="http://schemas.microsoft.com/office/drawing/2014/main" xmlns="" id="{05C0A4DF-4669-3B3B-06EF-DEFE78EE1C53}"/>
              </a:ext>
            </a:extLst>
          </p:cNvPr>
          <p:cNvSpPr>
            <a:spLocks noGrp="1"/>
          </p:cNvSpPr>
          <p:nvPr>
            <p:ph idx="1"/>
          </p:nvPr>
        </p:nvSpPr>
        <p:spPr>
          <a:xfrm>
            <a:off x="68094" y="681038"/>
            <a:ext cx="11285706" cy="5495925"/>
          </a:xfrm>
        </p:spPr>
        <p:txBody>
          <a:bodyPr>
            <a:normAutofit/>
          </a:bodyPr>
          <a:lstStyle/>
          <a:p>
            <a:r>
              <a:rPr lang="en-IN" sz="1800" dirty="0"/>
              <a:t>The problem is to colour the reasons of a given map such that no two adjacent regions have the same colours.</a:t>
            </a:r>
          </a:p>
          <a:p>
            <a:r>
              <a:rPr lang="en-IN" sz="1800" dirty="0"/>
              <a:t>The reasons in the map are the variables and the set of possible colours for region. Is the domain.</a:t>
            </a:r>
          </a:p>
          <a:p>
            <a:r>
              <a:rPr lang="en-IN" sz="1800" dirty="0"/>
              <a:t>Representation of problem</a:t>
            </a:r>
          </a:p>
          <a:p>
            <a:r>
              <a:rPr lang="en-IN" sz="1800" dirty="0"/>
              <a:t>X = {WA, NT, Q, NSW ,V, SA, T}</a:t>
            </a:r>
          </a:p>
          <a:p>
            <a:r>
              <a:rPr lang="en-US" sz="1800" dirty="0"/>
              <a:t>The domain of each variable is the set Di = {red, green, blue}</a:t>
            </a:r>
            <a:endParaRPr lang="en-IN" sz="1800" dirty="0"/>
          </a:p>
          <a:p>
            <a:r>
              <a:rPr lang="en-IN" sz="1800" dirty="0"/>
              <a:t>Constraints adjacent regions must have different colours</a:t>
            </a:r>
          </a:p>
          <a:p>
            <a:endParaRPr lang="en-IN" sz="1800" dirty="0"/>
          </a:p>
        </p:txBody>
      </p:sp>
      <p:pic>
        <p:nvPicPr>
          <p:cNvPr id="5" name="Picture 4">
            <a:extLst>
              <a:ext uri="{FF2B5EF4-FFF2-40B4-BE49-F238E27FC236}">
                <a16:creationId xmlns:a16="http://schemas.microsoft.com/office/drawing/2014/main" xmlns="" id="{49A40D4E-0104-6435-79FD-AF63CE09AF5F}"/>
              </a:ext>
            </a:extLst>
          </p:cNvPr>
          <p:cNvPicPr>
            <a:picLocks noChangeAspect="1"/>
          </p:cNvPicPr>
          <p:nvPr/>
        </p:nvPicPr>
        <p:blipFill>
          <a:blip r:embed="rId2"/>
          <a:stretch>
            <a:fillRect/>
          </a:stretch>
        </p:blipFill>
        <p:spPr>
          <a:xfrm>
            <a:off x="7130373" y="1622294"/>
            <a:ext cx="4837147" cy="2278418"/>
          </a:xfrm>
          <a:prstGeom prst="rect">
            <a:avLst/>
          </a:prstGeom>
        </p:spPr>
      </p:pic>
      <p:pic>
        <p:nvPicPr>
          <p:cNvPr id="9" name="Picture 8">
            <a:extLst>
              <a:ext uri="{FF2B5EF4-FFF2-40B4-BE49-F238E27FC236}">
                <a16:creationId xmlns:a16="http://schemas.microsoft.com/office/drawing/2014/main" xmlns="" id="{05EE8706-32AD-01A6-D15E-C950CDB343C0}"/>
              </a:ext>
            </a:extLst>
          </p:cNvPr>
          <p:cNvPicPr>
            <a:picLocks noChangeAspect="1"/>
          </p:cNvPicPr>
          <p:nvPr/>
        </p:nvPicPr>
        <p:blipFill>
          <a:blip r:embed="rId3"/>
          <a:stretch>
            <a:fillRect/>
          </a:stretch>
        </p:blipFill>
        <p:spPr>
          <a:xfrm>
            <a:off x="68094" y="2938394"/>
            <a:ext cx="6916115" cy="981212"/>
          </a:xfrm>
          <a:prstGeom prst="rect">
            <a:avLst/>
          </a:prstGeom>
        </p:spPr>
      </p:pic>
      <p:sp>
        <p:nvSpPr>
          <p:cNvPr id="11" name="TextBox 10">
            <a:extLst>
              <a:ext uri="{FF2B5EF4-FFF2-40B4-BE49-F238E27FC236}">
                <a16:creationId xmlns:a16="http://schemas.microsoft.com/office/drawing/2014/main" xmlns="" id="{0C2AFE15-DA9D-56F2-B2BD-DD612983CC01}"/>
              </a:ext>
            </a:extLst>
          </p:cNvPr>
          <p:cNvSpPr txBox="1"/>
          <p:nvPr/>
        </p:nvSpPr>
        <p:spPr>
          <a:xfrm>
            <a:off x="145915" y="4280170"/>
            <a:ext cx="11977991" cy="646331"/>
          </a:xfrm>
          <a:prstGeom prst="rect">
            <a:avLst/>
          </a:prstGeom>
          <a:noFill/>
        </p:spPr>
        <p:txBody>
          <a:bodyPr wrap="square">
            <a:spAutoFit/>
          </a:bodyPr>
          <a:lstStyle/>
          <a:p>
            <a:r>
              <a:rPr lang="en-US" dirty="0"/>
              <a:t>{(red, green),(red, blue),(green, red),(green, blue),(blue, red),(blue, green)} . There are many possible solutions to this problem, such as {WA = red, NT = green, Q = red, NSW = green, V = red, SA = blue, T = red }.</a:t>
            </a:r>
            <a:endParaRPr lang="en-IN" dirty="0"/>
          </a:p>
        </p:txBody>
      </p:sp>
      <p:sp>
        <p:nvSpPr>
          <p:cNvPr id="13" name="TextBox 12">
            <a:extLst>
              <a:ext uri="{FF2B5EF4-FFF2-40B4-BE49-F238E27FC236}">
                <a16:creationId xmlns:a16="http://schemas.microsoft.com/office/drawing/2014/main" xmlns="" id="{6CA704E8-3C70-A8FB-E9E2-94C1B1E11CDB}"/>
              </a:ext>
            </a:extLst>
          </p:cNvPr>
          <p:cNvSpPr txBox="1"/>
          <p:nvPr/>
        </p:nvSpPr>
        <p:spPr>
          <a:xfrm>
            <a:off x="461483" y="4968625"/>
            <a:ext cx="6129336" cy="646331"/>
          </a:xfrm>
          <a:prstGeom prst="rect">
            <a:avLst/>
          </a:prstGeom>
          <a:noFill/>
        </p:spPr>
        <p:txBody>
          <a:bodyPr wrap="square">
            <a:spAutoFit/>
          </a:bodyPr>
          <a:lstStyle/>
          <a:p>
            <a:r>
              <a:rPr lang="en-US" dirty="0"/>
              <a:t>It can be helpful to visualize a CSP as a constraint graph</a:t>
            </a:r>
          </a:p>
          <a:p>
            <a:r>
              <a:rPr lang="en-IN" dirty="0"/>
              <a:t>Solutions are complete and consistent assignments</a:t>
            </a:r>
          </a:p>
        </p:txBody>
      </p:sp>
    </p:spTree>
    <p:extLst>
      <p:ext uri="{BB962C8B-B14F-4D97-AF65-F5344CB8AC3E}">
        <p14:creationId xmlns:p14="http://schemas.microsoft.com/office/powerpoint/2010/main" val="30710981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8BE7A00-783B-80C0-4C7E-207A4D9A4B5F}"/>
              </a:ext>
            </a:extLst>
          </p:cNvPr>
          <p:cNvSpPr>
            <a:spLocks noGrp="1"/>
          </p:cNvSpPr>
          <p:nvPr>
            <p:ph idx="1"/>
          </p:nvPr>
        </p:nvSpPr>
        <p:spPr>
          <a:xfrm>
            <a:off x="457201" y="3429000"/>
            <a:ext cx="11471944" cy="2747962"/>
          </a:xfrm>
        </p:spPr>
        <p:txBody>
          <a:bodyPr>
            <a:normAutofit/>
          </a:bodyPr>
          <a:lstStyle/>
          <a:p>
            <a:r>
              <a:rPr lang="en-IN" sz="1800" dirty="0"/>
              <a:t>Most of the time, these problems has many solution The topology of constant graph can be used to identify solutions easily </a:t>
            </a:r>
            <a:r>
              <a:rPr lang="en-IN" sz="1800" dirty="0" err="1"/>
              <a:t>Mapcrating</a:t>
            </a:r>
            <a:r>
              <a:rPr lang="en-IN" sz="1800" dirty="0"/>
              <a:t> can be sometimes represented as graph colouring problem</a:t>
            </a:r>
          </a:p>
        </p:txBody>
      </p:sp>
      <p:pic>
        <p:nvPicPr>
          <p:cNvPr id="5" name="Picture 4">
            <a:extLst>
              <a:ext uri="{FF2B5EF4-FFF2-40B4-BE49-F238E27FC236}">
                <a16:creationId xmlns:a16="http://schemas.microsoft.com/office/drawing/2014/main" xmlns="" id="{F4EB0B2E-0110-08D9-C221-1688F19DC387}"/>
              </a:ext>
            </a:extLst>
          </p:cNvPr>
          <p:cNvPicPr>
            <a:picLocks noChangeAspect="1"/>
          </p:cNvPicPr>
          <p:nvPr/>
        </p:nvPicPr>
        <p:blipFill>
          <a:blip r:embed="rId2"/>
          <a:stretch>
            <a:fillRect/>
          </a:stretch>
        </p:blipFill>
        <p:spPr>
          <a:xfrm>
            <a:off x="457201" y="0"/>
            <a:ext cx="6420746" cy="2572109"/>
          </a:xfrm>
          <a:prstGeom prst="rect">
            <a:avLst/>
          </a:prstGeom>
        </p:spPr>
      </p:pic>
    </p:spTree>
    <p:extLst>
      <p:ext uri="{BB962C8B-B14F-4D97-AF65-F5344CB8AC3E}">
        <p14:creationId xmlns:p14="http://schemas.microsoft.com/office/powerpoint/2010/main" val="11485073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7D4193-5A6F-48CA-013C-6ACE70AF9EB0}"/>
              </a:ext>
            </a:extLst>
          </p:cNvPr>
          <p:cNvSpPr>
            <a:spLocks noGrp="1"/>
          </p:cNvSpPr>
          <p:nvPr>
            <p:ph type="title"/>
          </p:nvPr>
        </p:nvSpPr>
        <p:spPr>
          <a:xfrm>
            <a:off x="0" y="58723"/>
            <a:ext cx="11353800" cy="788565"/>
          </a:xfrm>
        </p:spPr>
        <p:txBody>
          <a:bodyPr>
            <a:normAutofit/>
          </a:bodyPr>
          <a:lstStyle/>
          <a:p>
            <a:r>
              <a:rPr lang="en-IN" sz="2800" dirty="0"/>
              <a:t>Searching for goal state in CSP</a:t>
            </a:r>
          </a:p>
        </p:txBody>
      </p:sp>
      <p:sp>
        <p:nvSpPr>
          <p:cNvPr id="3" name="Content Placeholder 2">
            <a:extLst>
              <a:ext uri="{FF2B5EF4-FFF2-40B4-BE49-F238E27FC236}">
                <a16:creationId xmlns:a16="http://schemas.microsoft.com/office/drawing/2014/main" xmlns="" id="{D2F78E31-C1DA-D05C-93FF-C60354A6B702}"/>
              </a:ext>
            </a:extLst>
          </p:cNvPr>
          <p:cNvSpPr>
            <a:spLocks noGrp="1"/>
          </p:cNvSpPr>
          <p:nvPr>
            <p:ph idx="1"/>
          </p:nvPr>
        </p:nvSpPr>
        <p:spPr>
          <a:xfrm>
            <a:off x="0" y="847288"/>
            <a:ext cx="12192000" cy="6010712"/>
          </a:xfrm>
        </p:spPr>
        <p:txBody>
          <a:bodyPr>
            <a:normAutofit/>
          </a:bodyPr>
          <a:lstStyle/>
          <a:p>
            <a:r>
              <a:rPr lang="en-IN" sz="1800" dirty="0"/>
              <a:t>Every solution must be a complete assignment, and therefore appears in depth. ‘</a:t>
            </a:r>
            <a:r>
              <a:rPr lang="en-IN" sz="1800" dirty="0" err="1"/>
              <a:t>n’if</a:t>
            </a:r>
            <a:r>
              <a:rPr lang="en-IN" sz="1800" dirty="0"/>
              <a:t> there are N variables </a:t>
            </a:r>
          </a:p>
          <a:p>
            <a:r>
              <a:rPr lang="en-IN" sz="1800" dirty="0"/>
              <a:t>the search tree extends only  to depth ‘n’</a:t>
            </a:r>
          </a:p>
          <a:p>
            <a:r>
              <a:rPr lang="en-IN" sz="1800" dirty="0"/>
              <a:t>Depth first search algorithms are popular for CSP </a:t>
            </a:r>
          </a:p>
          <a:p>
            <a:r>
              <a:rPr lang="en-IN" sz="1800" dirty="0"/>
              <a:t>The path by which a solution to be reached is irrelevant</a:t>
            </a:r>
          </a:p>
          <a:p>
            <a:r>
              <a:rPr lang="en-IN" sz="1800" dirty="0"/>
              <a:t> Locals search methods work well for this formulation</a:t>
            </a:r>
          </a:p>
          <a:p>
            <a:endParaRPr lang="en-IN" sz="1800" dirty="0"/>
          </a:p>
        </p:txBody>
      </p:sp>
    </p:spTree>
    <p:extLst>
      <p:ext uri="{BB962C8B-B14F-4D97-AF65-F5344CB8AC3E}">
        <p14:creationId xmlns:p14="http://schemas.microsoft.com/office/powerpoint/2010/main" val="40775401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9DC3912-FB12-0318-471F-91B7B2B571C3}"/>
              </a:ext>
            </a:extLst>
          </p:cNvPr>
          <p:cNvSpPr>
            <a:spLocks noGrp="1"/>
          </p:cNvSpPr>
          <p:nvPr>
            <p:ph idx="1"/>
          </p:nvPr>
        </p:nvSpPr>
        <p:spPr>
          <a:xfrm>
            <a:off x="67113" y="218114"/>
            <a:ext cx="11286688" cy="5958849"/>
          </a:xfrm>
        </p:spPr>
        <p:txBody>
          <a:bodyPr>
            <a:normAutofit fontScale="85000" lnSpcReduction="20000"/>
          </a:bodyPr>
          <a:lstStyle/>
          <a:p>
            <a:pPr marL="0" indent="0">
              <a:buNone/>
            </a:pPr>
            <a:r>
              <a:rPr lang="en-IN" dirty="0"/>
              <a:t>1)Solve the cryptarithmetic puzzle: </a:t>
            </a:r>
            <a:r>
              <a:rPr lang="en-US" dirty="0" err="1"/>
              <a:t>ts</a:t>
            </a:r>
            <a:r>
              <a:rPr lang="en-US" dirty="0"/>
              <a:t> a unique digit, and no two letters can share the same digit.</a:t>
            </a:r>
          </a:p>
          <a:p>
            <a:pPr marL="0" indent="0">
              <a:buNone/>
            </a:pPr>
            <a:r>
              <a:rPr lang="en-US" dirty="0"/>
              <a:t>SEND + MORE = MONEY</a:t>
            </a:r>
          </a:p>
          <a:p>
            <a:pPr marL="0" indent="0">
              <a:buNone/>
            </a:pPr>
            <a:r>
              <a:rPr lang="en-IN" dirty="0"/>
              <a:t>2)Solve the cryptarithmetic puzzle: </a:t>
            </a:r>
            <a:r>
              <a:rPr lang="en-US" dirty="0" err="1"/>
              <a:t>ts</a:t>
            </a:r>
            <a:r>
              <a:rPr lang="en-US" dirty="0"/>
              <a:t> a unique digit, and no two letters can share the same digit.</a:t>
            </a:r>
          </a:p>
          <a:p>
            <a:pPr marL="0" indent="0">
              <a:buNone/>
            </a:pPr>
            <a:r>
              <a:rPr lang="en-IN" dirty="0"/>
              <a:t>BASE+ BALL = GAMES</a:t>
            </a:r>
          </a:p>
          <a:p>
            <a:pPr marL="0" indent="0">
              <a:buNone/>
            </a:pPr>
            <a:r>
              <a:rPr lang="en-IN" dirty="0"/>
              <a:t>3)Consider the cryptarithmetic puzzle:</a:t>
            </a:r>
          </a:p>
          <a:p>
            <a:pPr marL="0" indent="0">
              <a:buNone/>
            </a:pPr>
            <a:r>
              <a:rPr lang="en-IN" dirty="0"/>
              <a:t>   ABCD</a:t>
            </a:r>
          </a:p>
          <a:p>
            <a:pPr marL="0" indent="0">
              <a:buNone/>
            </a:pPr>
            <a:r>
              <a:rPr lang="en-IN" dirty="0"/>
              <a:t>+ EFGH</a:t>
            </a:r>
          </a:p>
          <a:p>
            <a:pPr marL="0" indent="0">
              <a:buNone/>
            </a:pPr>
            <a:r>
              <a:rPr lang="en-IN" dirty="0"/>
              <a:t>   ------</a:t>
            </a:r>
          </a:p>
          <a:p>
            <a:pPr marL="0" indent="0">
              <a:buNone/>
            </a:pPr>
            <a:r>
              <a:rPr lang="en-IN" dirty="0"/>
              <a:t>   IJKL</a:t>
            </a:r>
          </a:p>
          <a:p>
            <a:pPr marL="0" indent="0">
              <a:buNone/>
            </a:pPr>
            <a:r>
              <a:rPr lang="en-IN" dirty="0"/>
              <a:t>  ------</a:t>
            </a:r>
          </a:p>
          <a:p>
            <a:pPr marL="0" indent="0">
              <a:buNone/>
            </a:pPr>
            <a:r>
              <a:rPr lang="en-IN" dirty="0"/>
              <a:t>  4) CROSS</a:t>
            </a:r>
          </a:p>
          <a:p>
            <a:pPr marL="0" indent="0">
              <a:buNone/>
            </a:pPr>
            <a:r>
              <a:rPr lang="en-IN" dirty="0"/>
              <a:t>    + ROADS</a:t>
            </a:r>
          </a:p>
          <a:p>
            <a:pPr marL="0" indent="0">
              <a:buNone/>
            </a:pPr>
            <a:r>
              <a:rPr lang="en-IN" dirty="0"/>
              <a:t>      -------</a:t>
            </a:r>
          </a:p>
          <a:p>
            <a:pPr marL="0" indent="0">
              <a:buNone/>
            </a:pPr>
            <a:r>
              <a:rPr lang="en-IN" dirty="0"/>
              <a:t>    DANGER</a:t>
            </a:r>
          </a:p>
        </p:txBody>
      </p:sp>
      <p:sp>
        <p:nvSpPr>
          <p:cNvPr id="6" name="TextBox 5">
            <a:extLst>
              <a:ext uri="{FF2B5EF4-FFF2-40B4-BE49-F238E27FC236}">
                <a16:creationId xmlns:a16="http://schemas.microsoft.com/office/drawing/2014/main" xmlns="" id="{10931891-A095-E96B-6930-2CA1D40031FA}"/>
              </a:ext>
            </a:extLst>
          </p:cNvPr>
          <p:cNvSpPr txBox="1"/>
          <p:nvPr/>
        </p:nvSpPr>
        <p:spPr>
          <a:xfrm>
            <a:off x="3022133" y="3107932"/>
            <a:ext cx="7145323"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sz="1800" dirty="0">
                <a:solidFill>
                  <a:srgbClr val="FF0000"/>
                </a:solidFill>
              </a:rPr>
              <a:t>discussed in class—please refer to the class notes for details.</a:t>
            </a:r>
            <a:endParaRPr kumimoji="0" lang="en-US" altLang="en-US" sz="1800" b="0" i="0" u="none" strike="noStrike" cap="none" normalizeH="0" baseline="0" dirty="0">
              <a:ln>
                <a:noFill/>
              </a:ln>
              <a:solidFill>
                <a:srgbClr val="FF0000"/>
              </a:solidFill>
              <a:effectLst/>
              <a:latin typeface="Arial" panose="020B0604020202020204" pitchFamily="34" charset="0"/>
            </a:endParaRPr>
          </a:p>
        </p:txBody>
      </p:sp>
    </p:spTree>
    <p:extLst>
      <p:ext uri="{BB962C8B-B14F-4D97-AF65-F5344CB8AC3E}">
        <p14:creationId xmlns:p14="http://schemas.microsoft.com/office/powerpoint/2010/main" val="2368621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A71FF2-C6A2-7B78-DC16-4E177E170923}"/>
              </a:ext>
            </a:extLst>
          </p:cNvPr>
          <p:cNvSpPr>
            <a:spLocks noGrp="1"/>
          </p:cNvSpPr>
          <p:nvPr>
            <p:ph type="title"/>
          </p:nvPr>
        </p:nvSpPr>
        <p:spPr>
          <a:xfrm>
            <a:off x="58723" y="136525"/>
            <a:ext cx="11295077" cy="668819"/>
          </a:xfrm>
        </p:spPr>
        <p:txBody>
          <a:bodyPr>
            <a:normAutofit/>
          </a:bodyPr>
          <a:lstStyle/>
          <a:p>
            <a:r>
              <a:rPr lang="en-US" sz="2800" dirty="0"/>
              <a:t>Basic Steps to Solve Cryptarithmetic Puzzles:</a:t>
            </a:r>
            <a:endParaRPr lang="en-IN" sz="2800" dirty="0"/>
          </a:p>
        </p:txBody>
      </p:sp>
      <p:sp>
        <p:nvSpPr>
          <p:cNvPr id="3" name="Content Placeholder 2">
            <a:extLst>
              <a:ext uri="{FF2B5EF4-FFF2-40B4-BE49-F238E27FC236}">
                <a16:creationId xmlns:a16="http://schemas.microsoft.com/office/drawing/2014/main" xmlns="" id="{3DA90A53-A6C7-B34E-AE51-92EF7E5D5681}"/>
              </a:ext>
            </a:extLst>
          </p:cNvPr>
          <p:cNvSpPr>
            <a:spLocks noGrp="1"/>
          </p:cNvSpPr>
          <p:nvPr>
            <p:ph idx="1"/>
          </p:nvPr>
        </p:nvSpPr>
        <p:spPr>
          <a:xfrm>
            <a:off x="134223" y="805344"/>
            <a:ext cx="11999053" cy="5371619"/>
          </a:xfrm>
        </p:spPr>
        <p:txBody>
          <a:bodyPr>
            <a:normAutofit/>
          </a:bodyPr>
          <a:lstStyle/>
          <a:p>
            <a:pPr algn="just"/>
            <a:r>
              <a:rPr lang="en-US" sz="1800" b="1" dirty="0"/>
              <a:t>Identify Unique Letters:</a:t>
            </a:r>
            <a:r>
              <a:rPr lang="en-US" sz="1800" dirty="0"/>
              <a:t> First, list all unique letters in the puzzle.</a:t>
            </a:r>
          </a:p>
          <a:p>
            <a:pPr algn="just"/>
            <a:r>
              <a:rPr lang="en-US" sz="1800" b="1" dirty="0"/>
              <a:t>Analyze the Arithmetic:</a:t>
            </a:r>
            <a:r>
              <a:rPr lang="en-US" sz="1800" dirty="0"/>
              <a:t> Consider how the letters contribute to the arithmetic operations. For example, in addition puzzles, look for carries between columns.</a:t>
            </a:r>
          </a:p>
          <a:p>
            <a:pPr algn="just"/>
            <a:r>
              <a:rPr lang="en-US" sz="1800" b="1" dirty="0"/>
              <a:t>Assign Digits Systematically:</a:t>
            </a:r>
            <a:r>
              <a:rPr lang="en-US" sz="1800" dirty="0"/>
              <a:t> Start assigning digits to letters based on constraints (like leading digits cannot be zero) and logical deduction from the arithmetic structure.</a:t>
            </a:r>
          </a:p>
          <a:p>
            <a:pPr algn="just"/>
            <a:r>
              <a:rPr lang="en-US" sz="1800" b="1" dirty="0"/>
              <a:t>Check for Consistency:</a:t>
            </a:r>
            <a:r>
              <a:rPr lang="en-US" sz="1800" dirty="0"/>
              <a:t> Ensure that no two letters are assigned the same digit and that all operations are correct.</a:t>
            </a:r>
          </a:p>
          <a:p>
            <a:pPr algn="just"/>
            <a:endParaRPr lang="en-IN" sz="1800" dirty="0"/>
          </a:p>
        </p:txBody>
      </p:sp>
    </p:spTree>
    <p:extLst>
      <p:ext uri="{BB962C8B-B14F-4D97-AF65-F5344CB8AC3E}">
        <p14:creationId xmlns:p14="http://schemas.microsoft.com/office/powerpoint/2010/main" val="9868468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290AC8-DFDA-B421-D649-34A44A970C5C}"/>
              </a:ext>
            </a:extLst>
          </p:cNvPr>
          <p:cNvSpPr>
            <a:spLocks noGrp="1"/>
          </p:cNvSpPr>
          <p:nvPr>
            <p:ph type="title"/>
          </p:nvPr>
        </p:nvSpPr>
        <p:spPr>
          <a:xfrm>
            <a:off x="0" y="1"/>
            <a:ext cx="11353800" cy="525294"/>
          </a:xfrm>
        </p:spPr>
        <p:txBody>
          <a:bodyPr>
            <a:noAutofit/>
          </a:bodyPr>
          <a:lstStyle/>
          <a:p>
            <a:r>
              <a:rPr lang="en-US" sz="2800" dirty="0"/>
              <a:t>Tricks for Solving Cryptarithmetic Puzzles:</a:t>
            </a:r>
            <a:endParaRPr lang="en-IN" sz="2800" dirty="0"/>
          </a:p>
        </p:txBody>
      </p:sp>
      <p:sp>
        <p:nvSpPr>
          <p:cNvPr id="3" name="Content Placeholder 2">
            <a:extLst>
              <a:ext uri="{FF2B5EF4-FFF2-40B4-BE49-F238E27FC236}">
                <a16:creationId xmlns:a16="http://schemas.microsoft.com/office/drawing/2014/main" xmlns="" id="{A8FCD9F3-6F94-BA65-24D8-1EE43786256F}"/>
              </a:ext>
            </a:extLst>
          </p:cNvPr>
          <p:cNvSpPr>
            <a:spLocks noGrp="1"/>
          </p:cNvSpPr>
          <p:nvPr>
            <p:ph idx="1"/>
          </p:nvPr>
        </p:nvSpPr>
        <p:spPr>
          <a:xfrm>
            <a:off x="-1" y="885218"/>
            <a:ext cx="12033115" cy="5291746"/>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rPr>
              <a:t>Look for the Highest Digit:</a:t>
            </a:r>
            <a:r>
              <a:rPr kumimoji="0" lang="en-US" altLang="en-US" sz="1800" b="0" i="0" u="none" strike="noStrike" cap="none" normalizeH="0" baseline="0" dirty="0">
                <a:ln>
                  <a:noFill/>
                </a:ln>
                <a:solidFill>
                  <a:schemeClr val="tx1"/>
                </a:solidFill>
                <a:effectLst/>
              </a:rPr>
              <a:t> Often, the letter that represents the highest digit can be deduced by looking at the structure of the addition. For example, in the addition puzzle where SEND + MORE = MONEY, M must be 1 because it results from a carry from the thousands place. </a:t>
            </a:r>
          </a:p>
          <a:p>
            <a:pPr marL="0" marR="0" lvl="0" indent="0" algn="just" defTabSz="914400" rtl="0" eaLnBrk="0" fontAlgn="base" latinLnBrk="0" hangingPunct="0">
              <a:lnSpc>
                <a:spcPct val="100000"/>
              </a:lnSpc>
              <a:spcBef>
                <a:spcPct val="0"/>
              </a:spcBef>
              <a:spcAft>
                <a:spcPct val="0"/>
              </a:spcAft>
              <a:buClrTx/>
              <a:buSzTx/>
              <a:buFontTx/>
              <a:buNone/>
              <a:tabLst/>
            </a:pPr>
            <a:r>
              <a:rPr lang="en-US" sz="1800" b="1" dirty="0"/>
              <a:t>Analyze the Carry:</a:t>
            </a:r>
            <a:r>
              <a:rPr lang="en-US" sz="1800" dirty="0"/>
              <a:t> Consider how carries affect the digits. This is crucial in multi-column arithmetic puzzles.</a:t>
            </a:r>
          </a:p>
          <a:p>
            <a:pPr marL="0" marR="0" lvl="0" indent="0" algn="just" defTabSz="914400" rtl="0" eaLnBrk="0" fontAlgn="base" latinLnBrk="0" hangingPunct="0">
              <a:lnSpc>
                <a:spcPct val="100000"/>
              </a:lnSpc>
              <a:spcBef>
                <a:spcPct val="0"/>
              </a:spcBef>
              <a:spcAft>
                <a:spcPct val="0"/>
              </a:spcAft>
              <a:buClrTx/>
              <a:buSzTx/>
              <a:buFontTx/>
              <a:buNone/>
              <a:tabLst/>
            </a:pPr>
            <a:r>
              <a:rPr lang="en-US" sz="1800" b="1" dirty="0"/>
              <a:t>Use Constraints to Narrow Down Possibilities:</a:t>
            </a:r>
            <a:r>
              <a:rPr lang="en-US" sz="1800" dirty="0"/>
              <a:t> For example, if you know a letter must be an odd digit or cannot be zero, use that to reduce possibilities.</a:t>
            </a:r>
          </a:p>
          <a:p>
            <a:pPr marL="0" marR="0" lvl="0" indent="0" algn="just" defTabSz="914400" rtl="0" eaLnBrk="0" fontAlgn="base" latinLnBrk="0" hangingPunct="0">
              <a:lnSpc>
                <a:spcPct val="100000"/>
              </a:lnSpc>
              <a:spcBef>
                <a:spcPct val="0"/>
              </a:spcBef>
              <a:spcAft>
                <a:spcPct val="0"/>
              </a:spcAft>
              <a:buClrTx/>
              <a:buSzTx/>
              <a:buFontTx/>
              <a:buNone/>
              <a:tabLst/>
            </a:pPr>
            <a:r>
              <a:rPr lang="en-US" sz="1800" b="1" dirty="0"/>
              <a:t>Iterative Testing:</a:t>
            </a:r>
            <a:r>
              <a:rPr lang="en-US" sz="1800" dirty="0"/>
              <a:t> Start with one plausible solution and test it through all conditions. If it fails, backtrack and try another.</a:t>
            </a:r>
          </a:p>
          <a:p>
            <a:pPr marL="0" marR="0" lvl="0" indent="0" algn="just" defTabSz="914400" rtl="0" eaLnBrk="0" fontAlgn="base" latinLnBrk="0" hangingPunct="0">
              <a:lnSpc>
                <a:spcPct val="100000"/>
              </a:lnSpc>
              <a:spcBef>
                <a:spcPct val="0"/>
              </a:spcBef>
              <a:spcAft>
                <a:spcPct val="0"/>
              </a:spcAft>
              <a:buClrTx/>
              <a:buSzTx/>
              <a:buFontTx/>
              <a:buNone/>
              <a:tabLst/>
            </a:pPr>
            <a:r>
              <a:rPr lang="en-US" sz="1800" dirty="0"/>
              <a:t>CSP (Constraint Satisfaction Problems) Approach:</a:t>
            </a:r>
          </a:p>
          <a:p>
            <a:pPr marL="0" indent="0" algn="just" eaLnBrk="0" fontAlgn="base" hangingPunct="0">
              <a:lnSpc>
                <a:spcPct val="100000"/>
              </a:lnSpc>
              <a:spcBef>
                <a:spcPct val="0"/>
              </a:spcBef>
              <a:spcAft>
                <a:spcPct val="0"/>
              </a:spcAft>
              <a:buNone/>
            </a:pPr>
            <a:r>
              <a:rPr kumimoji="0" lang="en-US" altLang="en-US" sz="1800" b="1" i="0" u="none" strike="noStrike" cap="none" normalizeH="0" baseline="0" dirty="0">
                <a:ln>
                  <a:noFill/>
                </a:ln>
                <a:solidFill>
                  <a:schemeClr val="tx1"/>
                </a:solidFill>
                <a:effectLst/>
              </a:rPr>
              <a:t>Define Variables:</a:t>
            </a:r>
            <a:r>
              <a:rPr kumimoji="0" lang="en-US" altLang="en-US" sz="1800" b="0" i="0" u="none" strike="noStrike" cap="none" normalizeH="0" baseline="0" dirty="0">
                <a:ln>
                  <a:noFill/>
                </a:ln>
                <a:solidFill>
                  <a:schemeClr val="tx1"/>
                </a:solidFill>
                <a:effectLst/>
              </a:rPr>
              <a:t> Each unique letter is a variable.</a:t>
            </a:r>
          </a:p>
          <a:p>
            <a:pPr marL="0" indent="0" algn="just" eaLnBrk="0" fontAlgn="base" hangingPunct="0">
              <a:lnSpc>
                <a:spcPct val="100000"/>
              </a:lnSpc>
              <a:spcBef>
                <a:spcPct val="0"/>
              </a:spcBef>
              <a:spcAft>
                <a:spcPct val="0"/>
              </a:spcAft>
              <a:buNone/>
            </a:pPr>
            <a:r>
              <a:rPr kumimoji="0" lang="en-US" altLang="en-US" sz="1800" b="1" i="0" u="none" strike="noStrike" cap="none" normalizeH="0" baseline="0" dirty="0">
                <a:ln>
                  <a:noFill/>
                </a:ln>
                <a:solidFill>
                  <a:schemeClr val="tx1"/>
                </a:solidFill>
                <a:effectLst/>
              </a:rPr>
              <a:t>Define Domains:</a:t>
            </a:r>
            <a:r>
              <a:rPr kumimoji="0" lang="en-US" altLang="en-US" sz="1800" b="0" i="0" u="none" strike="noStrike" cap="none" normalizeH="0" baseline="0" dirty="0">
                <a:ln>
                  <a:noFill/>
                </a:ln>
                <a:solidFill>
                  <a:schemeClr val="tx1"/>
                </a:solidFill>
                <a:effectLst/>
              </a:rPr>
              <a:t> The domain for each variable is usually digits 0-9, except for leading digits which cannot be 0.</a:t>
            </a:r>
          </a:p>
          <a:p>
            <a:pPr marL="0" indent="0" algn="just"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rPr>
              <a:t>Define Constraints:</a:t>
            </a:r>
            <a:r>
              <a:rPr kumimoji="0" lang="en-US" altLang="en-US" sz="1800" b="0" i="0" u="none" strike="noStrike" cap="none" normalizeH="0" baseline="0" dirty="0">
                <a:ln>
                  <a:noFill/>
                </a:ln>
                <a:solidFill>
                  <a:schemeClr val="tx1"/>
                </a:solidFill>
                <a:effectLst/>
              </a:rPr>
              <a:t> Constraints are arithmetic rules that the solution must satisfy. For example, the sum or multiplication across columns must be correct considering carries</a:t>
            </a:r>
          </a:p>
          <a:p>
            <a:pPr marL="0" indent="0" algn="just" eaLnBrk="0" fontAlgn="base" hangingPunct="0">
              <a:lnSpc>
                <a:spcPct val="100000"/>
              </a:lnSpc>
              <a:spcBef>
                <a:spcPct val="0"/>
              </a:spcBef>
              <a:spcAft>
                <a:spcPct val="0"/>
              </a:spcAft>
              <a:buNone/>
            </a:pPr>
            <a:r>
              <a:rPr kumimoji="0" lang="en-US" altLang="en-US" sz="1800" b="1" i="0" u="none" strike="noStrike" cap="none" normalizeH="0" baseline="0" dirty="0">
                <a:ln>
                  <a:noFill/>
                </a:ln>
                <a:solidFill>
                  <a:schemeClr val="tx1"/>
                </a:solidFill>
                <a:effectLst/>
              </a:rPr>
              <a:t>Use Backtracking:</a:t>
            </a:r>
            <a:r>
              <a:rPr kumimoji="0" lang="en-US" altLang="en-US" sz="1800" b="0" i="0" u="none" strike="noStrike" cap="none" normalizeH="0" baseline="0" dirty="0">
                <a:ln>
                  <a:noFill/>
                </a:ln>
                <a:solidFill>
                  <a:schemeClr val="tx1"/>
                </a:solidFill>
                <a:effectLst/>
              </a:rPr>
              <a:t> This is a common method to solve CSPs. Start assigning values to variables and backtrack whenever a conflict arises.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endParaRPr lang="en-IN" sz="1800" dirty="0"/>
          </a:p>
        </p:txBody>
      </p:sp>
    </p:spTree>
    <p:extLst>
      <p:ext uri="{BB962C8B-B14F-4D97-AF65-F5344CB8AC3E}">
        <p14:creationId xmlns:p14="http://schemas.microsoft.com/office/powerpoint/2010/main" val="6298986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1080</TotalTime>
  <Words>8166</Words>
  <Application>Microsoft Office PowerPoint</Application>
  <PresentationFormat>Custom</PresentationFormat>
  <Paragraphs>647</Paragraphs>
  <Slides>58</Slides>
  <Notes>0</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Office Theme</vt:lpstr>
      <vt:lpstr>Unit – II </vt:lpstr>
      <vt:lpstr>PowerPoint Presentation</vt:lpstr>
      <vt:lpstr>Differences between Uninformed and Informed Search Strategies</vt:lpstr>
      <vt:lpstr>Breadth-first search</vt:lpstr>
      <vt:lpstr>PowerPoint Presentation</vt:lpstr>
      <vt:lpstr>PowerPoint Presentation</vt:lpstr>
      <vt:lpstr>PowerPoint Presentation</vt:lpstr>
      <vt:lpstr>Uniform-cost search</vt:lpstr>
      <vt:lpstr>Pseudocode of Uniform-Cost Search</vt:lpstr>
      <vt:lpstr>PowerPoint Presentation</vt:lpstr>
      <vt:lpstr>PowerPoint Presentation</vt:lpstr>
      <vt:lpstr>Depth-first search</vt:lpstr>
      <vt:lpstr>PowerPoint Presentation</vt:lpstr>
      <vt:lpstr>PowerPoint Presentation</vt:lpstr>
      <vt:lpstr>PowerPoint Presentation</vt:lpstr>
      <vt:lpstr>Iterative deepening depth-first search</vt:lpstr>
      <vt:lpstr>PowerPoint Presentation</vt:lpstr>
      <vt:lpstr>PowerPoint Presentation</vt:lpstr>
      <vt:lpstr>PowerPoint Presentation</vt:lpstr>
      <vt:lpstr>Bidirectional search</vt:lpstr>
      <vt:lpstr>Comparing uninformed search strategies</vt:lpstr>
      <vt:lpstr>INFORMED (HEURISTIC) SEARCH STRATEGIES</vt:lpstr>
      <vt:lpstr>Greedy best-first search</vt:lpstr>
      <vt:lpstr>PowerPoint Presentation</vt:lpstr>
      <vt:lpstr>PowerPoint Presentation</vt:lpstr>
      <vt:lpstr>A* search: Minimizing the total estimated solution cost</vt:lpstr>
      <vt:lpstr>PowerPoint Presentation</vt:lpstr>
      <vt:lpstr>Practical Example</vt:lpstr>
      <vt:lpstr>PowerPoint Presentation</vt:lpstr>
      <vt:lpstr>HEURISTIC FUNCTIONS</vt:lpstr>
      <vt:lpstr>Local Search Algorithms</vt:lpstr>
      <vt:lpstr>PowerPoint Presentation</vt:lpstr>
      <vt:lpstr>Hill-Climbing Search Algorithm </vt:lpstr>
      <vt:lpstr>PowerPoint Presentation</vt:lpstr>
      <vt:lpstr>Adversarial Search</vt:lpstr>
      <vt:lpstr>PowerPoint Presentation</vt:lpstr>
      <vt:lpstr>Optimal decisions in games</vt:lpstr>
      <vt:lpstr>How to calculate utility of non terminal nodes</vt:lpstr>
      <vt:lpstr>How to calculate minimax value?</vt:lpstr>
      <vt:lpstr>PowerPoint Presentation</vt:lpstr>
      <vt:lpstr>Utility function Vs Minimax function</vt:lpstr>
      <vt:lpstr>Do we need to compute all ‘MINIMAX’ values?</vt:lpstr>
      <vt:lpstr>Properties of Mini-Max algorithm: </vt:lpstr>
      <vt:lpstr>PowerPoint Presentation</vt:lpstr>
      <vt:lpstr>ALPHA–BETA PRUNING</vt:lpstr>
      <vt:lpstr>The alpha–beta search algorithm</vt:lpstr>
      <vt:lpstr>The alpha–beta Pruning algorithm</vt:lpstr>
      <vt:lpstr> Constraint Satisfaction Problems</vt:lpstr>
      <vt:lpstr>PowerPoint Presentation</vt:lpstr>
      <vt:lpstr>PowerPoint Presentation</vt:lpstr>
      <vt:lpstr>examples of Constraint Satisfaction Problems (CSPs)</vt:lpstr>
      <vt:lpstr>PowerPoint Presentation</vt:lpstr>
      <vt:lpstr>Example problem: Map coloring</vt:lpstr>
      <vt:lpstr>PowerPoint Presentation</vt:lpstr>
      <vt:lpstr>Searching for goal state in CSP</vt:lpstr>
      <vt:lpstr>PowerPoint Presentation</vt:lpstr>
      <vt:lpstr>Basic Steps to Solve Cryptarithmetic Puzzles:</vt:lpstr>
      <vt:lpstr>Tricks for Solving Cryptarithmetic Puzzles: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 II </dc:title>
  <dc:creator>mamathagouni20@outlook.com</dc:creator>
  <cp:lastModifiedBy>CC4</cp:lastModifiedBy>
  <cp:revision>17</cp:revision>
  <dcterms:created xsi:type="dcterms:W3CDTF">2024-07-22T07:35:30Z</dcterms:created>
  <dcterms:modified xsi:type="dcterms:W3CDTF">2025-03-03T05:11:18Z</dcterms:modified>
</cp:coreProperties>
</file>